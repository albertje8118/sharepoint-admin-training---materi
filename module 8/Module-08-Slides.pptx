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Day 3. Module 8 introduces Microsoft Purview governance features that SharePoint admins need to understand: retention, sensitivity labels, eDiscovery, and DLP. Many of these settings are tenant-wide — we'll stress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tone: compliance features are powerful but potentially disruptive. In shared training tenants, the trainer leads policy creation while participants observe. In production, always pilot before rolling out broadly.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learning outcomes covering the four Purview pillars for this module: retention, sensitivity labels, eDiscovery, and DLP.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 Purview is the unified governance and compliance portal. In Module 8 we focus on these four pillars. Each has admin implications for SharePoint and OneDrive content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distinction: policies target locations broadly, labels target individual items. From Microsoft docs: 'An item can have only one retention label applied at a time.' Both can be used together — they complement each other for a comprehensive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sourced from Microsoft Learn: retention policies vs labels capabilities comparison. Key differences: labels support records management, disposition review, and event-based retention. Policies are simpler and best for broad baseline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Four-step publishing flow. Emphasize step 4: replication delay. From Microsoft docs: 'When retention labels are published to SharePoint or OneDrive, those labels typically appear for users to select within one day. However, allow up to seven days.' In a training environment, pre-publish labels the day before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Replication timing is a common source of frustration. From Microsoft docs: if labels don't appear after 7 days, check the policy status. If you see '(Error)', run Set-RetentionCompliancePolicy -RetryDistribution via PowerShell.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labels are different from retention labels: they classify and protect content. Labels support visual markings, encryption, and scope across files/emails/meetings/sites. Key difference from retention: sensitivity labels persist with content when shared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comparison. Participants often confuse retention and sensitivity labels. Retention = lifecycle (keep/delete). Sensitivity = classification + protection. A document can have BOTH one retention label AND one sensitivity label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Five-step process. Note that sensitivity labels are published to USERS and GROUPS, not locations like retention labels. From Microsoft docs: 'Publish new labels to just a few test users first, wait for at least one hour, then verify the label behavior on SharePoint and OneDrive.' For training, avoid encryption complexity unless the tenant is pre-configured.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Microsoft docs: 'Publish new labels to just a few test users first, wait for at least one hour, then verify the label behavior on SharePoint and OneDrive. Wait at least a day before making the label available to more users.' Always pilot before broad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building blocks of the eDiscovery workflow. Case is the container, Hold preserves content, Search finds it, and Export produces it for legal teams. Classic eDiscovery experiences have been retired — use the modern experience in the Purview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Five-step workflow. Note that Hold is optional but recommended when preservation is critical. Classic eDiscovery has been retired per Microsoft guidance. eDiscovery permissions are separate — eDiscovery Manager role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Very important safety slide. eDiscovery is powerful — participants must not search or hold content outside their own NW-Pxx sites. In a shared training tenant, default to trainer-led demo. Hands-on only if the trainer explicitly assigns eDiscovery Manager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Four-phase DLP deployment. From Microsoft docs: 'Make sure you understand the data you're protecting and the goals you want to achieve. Take time to design a policy before you implement it.' Simulation mode is essential — it lets you see what WOULD be flagged without blocking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Microsoft docs: 'The simulated deployment runs like the WhatIf parameter for PowerShell, for a specific point in time.' Simulation can take up to 12 hours. Use it to iteratively refine rules and reduce false positives before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overarching principles applying to all Purview features: pilot first, plan for replication delays, and use least privilege. These apply to retention, sensitivity labels, eDiscovery, and DLP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Tasks 1-3 are hands-on if labels have been pre-published. Tasks 4-5 are trainer-led demos. Remind participants to use only FAKE sample content — never upload real sensitive data. If labels are not yet visible, explain the replication timing and move to the demo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validation checkpoints. The first three depend on label availability. The last three are knowledge checks — every participant should be able to answer these. If labels weren't available, focus discussion on the conceptual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key takeaways covering all four Purview pillars. Emphasize: retention ≠ sensitivity labels (different purpose, different publish targets). DLP is the most impactful if mis-configured — simulation mode is not optional, it's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Q1 — Policies target locations broadly; labels target individual items and support records. Q2 — Typically within 1 day, but allow up to 7 days. Q3 — To users and groups (retention labels are published to locations). Q4 — Case, Hold, Search, Export. Q5 — To understand impact and reduce false positives before blocking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8 complete. Next is Module 9: OneDrive for Business administration. Remind participants that compliance settings take effect over time — encourage them to revisit their labels after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46120"/>
            <a:ext cx="1371600" cy="64008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Content Governance &amp; Compliance</a:t>
            </a:r>
            <a:br/>
            <a:r>
              <a:t>with Microsoft Purview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Scenario: Project Northwind Intranet Modernization  ·  Day 3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Why SharePoint Admins Care About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Tenant-Wide</a:t>
            </a:r>
            <a:br/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Compliance policies often</a:t>
            </a:r>
            <a:br/>
            <a:r>
              <a:t>apply across the entire</a:t>
            </a:r>
            <a:br/>
            <a:r>
              <a:t>tenant — one mistake</a:t>
            </a:r>
            <a:br/>
            <a:r>
              <a:t>affects everyone.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Regulatory</a:t>
            </a:r>
            <a:br/>
            <a: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Retention, classification,</a:t>
            </a:r>
            <a:br/>
            <a:r>
              <a:t>and eDiscovery are required</a:t>
            </a:r>
            <a:br/>
            <a:r>
              <a:t>by law in many industries.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Data</a:t>
            </a:r>
            <a:br/>
            <a:r>
              <a:t>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Sensitivity labels and DLP</a:t>
            </a:r>
            <a:br/>
            <a:r>
              <a:t>prevent accidental sharing</a:t>
            </a:r>
            <a:br/>
            <a:r>
              <a:t>of confidential content.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Shared Tenant</a:t>
            </a:r>
            <a:br/>
            <a: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0175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In training, the trainer</a:t>
            </a:r>
            <a:br/>
            <a:r>
              <a:t>leads policy creation.</a:t>
            </a:r>
            <a:br/>
            <a:r>
              <a:t>Participants observe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Segoe UI"/>
              </a:defRPr>
            </a:pPr>
            <a:r>
              <a:t>Describe what Microsoft Purview is used for in Microsoft 365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23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Segoe UI"/>
              </a:defRPr>
            </a:pPr>
            <a:r>
              <a:t>Explain retention labels, policies, and where they apply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Segoe UI"/>
              </a:defRPr>
            </a:pPr>
            <a:r>
              <a:t>Explain sensitivity labels and label publishing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348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Segoe UI"/>
              </a:defRPr>
            </a:pPr>
            <a:r>
              <a:t>Describe the modern eDiscovery workflow (cases, holds, searches)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40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Segoe UI"/>
              </a:defRPr>
            </a:pPr>
            <a:r>
              <a:t>Explain why DLP is deployed using simulation and pilots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Microsoft Purview: The Four Pillars (Module 8)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0320" cy="4023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032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Segoe UI"/>
              </a:defRPr>
            </a:pPr>
            <a:r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Data lifecycle &amp;</a:t>
            </a:r>
            <a:br/>
            <a:r>
              <a:t>records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560320" cy="4023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560320" cy="64008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68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69D6"/>
                </a:solidFill>
                <a:latin typeface="Segoe UI"/>
              </a:defRPr>
            </a:pPr>
            <a:r>
              <a:t>Sensitivity</a:t>
            </a:r>
            <a:br/>
            <a:r>
              <a:t>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Classification +</a:t>
            </a:r>
            <a:br/>
            <a:r>
              <a:t>protection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560320" cy="4023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560320" cy="64008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eDiscovery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Cases, searches,</a:t>
            </a:r>
            <a:br/>
            <a:r>
              <a:t>holds,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463040"/>
            <a:ext cx="2560320" cy="4023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463040"/>
            <a:ext cx="256032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68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DLP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Data loss prevention</a:t>
            </a:r>
            <a:br/>
            <a:r>
              <a:t>simulation-first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Retention: Policies and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Retention Policies vs Retention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Retention Policies (Broad)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59436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Retention Labels (Item-Level)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Apply to locations (SPO, OneDrive, Exchange…)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Retain and/or delete content at scale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Used for baseline governance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Applied automatically — no user interaction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Cannot mark items as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Applied at the document/email level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Only ONE retention label per item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Must be published via label policies first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Users can apply manually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Can mark items as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Retention: Capabilities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2920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280160"/>
            <a:ext cx="228600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2984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280160"/>
            <a:ext cx="384048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Label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5029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019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Retain and/or delete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828800"/>
            <a:ext cx="22860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901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828800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5420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Applied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46888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542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46888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5420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08960"/>
            <a:ext cx="5029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821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User can apply manually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108960"/>
            <a:ext cx="22860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31821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108960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1821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39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22191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Mark item as a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749039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82219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749039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822191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89120"/>
            <a:ext cx="5029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62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Start period from 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4389120"/>
            <a:ext cx="22860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44622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4389120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4622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02920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102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Disposition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502920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5102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502920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51023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669279"/>
            <a:ext cx="5029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742431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Persists if content moved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5669279"/>
            <a:ext cx="22860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574243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5669279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742431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✅ (within M365)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Publishing Retention Labels: The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Segoe UI"/>
              </a:defRPr>
            </a:pPr>
            <a:r>
              <a:t>Creating a label ≠ making it available. You must publish via a label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65176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65176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1. Create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Purview portal →</a:t>
            </a:r>
            <a:br/>
            <a:r>
              <a:t>Solutions → Records Mgmt</a:t>
            </a:r>
            <a:br/>
            <a:r>
              <a:t>or Data Lifecycle Mgmt</a:t>
            </a:r>
            <a:br/>
            <a:r>
              <a:t>→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194560"/>
            <a:ext cx="265176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94560"/>
            <a:ext cx="265176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2. Create Label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Solutions → Records Mgmt</a:t>
            </a:r>
            <a:br/>
            <a:r>
              <a:t>or Data Lifecycle Mgmt</a:t>
            </a:r>
            <a:br/>
            <a:r>
              <a:t>→ Policies → Label 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94560"/>
            <a:ext cx="265176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65176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3. Choose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SharePoint sites,</a:t>
            </a:r>
            <a:br/>
            <a:r>
              <a:t>OneDrive accounts,</a:t>
            </a:r>
            <a:br/>
            <a:r>
              <a:t>Exchange mailboxes,</a:t>
            </a:r>
            <a:br/>
            <a:r>
              <a:t>M365 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194560"/>
            <a:ext cx="265176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194560"/>
            <a:ext cx="26517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4. Wait for Replication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0175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SPO / OneDrive:</a:t>
            </a:r>
            <a:br/>
            <a:r>
              <a:t>typically within 1 day</a:t>
            </a:r>
            <a:br/>
            <a:r>
              <a:t>(allow up to 7 days)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Retention Label Timing: Plan for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0972800" cy="12801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⏱️  Published retention labels to SharePoint / OneDrive typically appear within 1 day.</a:t>
            </a:r>
            <a:br/>
            <a:r>
              <a:t>Allow up to 7 days for full replication. Exchange labels run on a 7-day process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What If Labels Don't Appear?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→ Check label policy Status in the Purview portal (look for 'Error')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→ Use Set-RetentionCompliancePolicy -RetryDistribution (PowerShell)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→ Verify the label policy includes the correct locations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→ Confirm the user has permissions to the target library/site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Sensitivity Labels: Classification +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Sensitivity Labels: What They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Classify and optionally protect content across Microsoft 365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Visual markings:</a:t>
            </a:r>
            <a:br/>
            <a:r>
              <a:t>headers, footers,</a:t>
            </a:r>
            <a:br/>
            <a:r>
              <a:t>watermarks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Encryption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Restrict who can access</a:t>
            </a:r>
            <a:br/>
            <a:r>
              <a:t>and what actions they</a:t>
            </a:r>
            <a:br/>
            <a:r>
              <a:t>can perform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Files, emails, meetings,</a:t>
            </a:r>
            <a:br/>
            <a:r>
              <a:t>Teams, Groups,</a:t>
            </a:r>
            <a:br/>
            <a:r>
              <a:t>SharePoint sites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Label travels with the</a:t>
            </a:r>
            <a:br/>
            <a:r>
              <a:t>content — even when</a:t>
            </a:r>
            <a:br/>
            <a:r>
              <a:t>shared externally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Sensitivity vs Retention Labels: Key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200400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280160"/>
            <a:ext cx="3931920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Retention Labels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280160"/>
            <a:ext cx="4023360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298448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Sensitivity Labels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32004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1828800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920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Keep / delete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828800"/>
            <a:ext cx="40233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9202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Classify / protect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517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Published to…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25603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Locations (sites, mailboxes)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56032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65176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Users and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32004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832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Persists externally?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291840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No (within M365 only)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291840"/>
            <a:ext cx="40233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38328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Yes (travels with content)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2336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148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Can apply encryption?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402336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402336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11480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54880"/>
            <a:ext cx="32004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463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Items per 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4754880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4846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1 retention label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4754880"/>
            <a:ext cx="40233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484632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1 sensitivity label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48640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5778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Visual markings?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548640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86200" y="5577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548640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55778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Yes (header/footer/watermark)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Sensitivity Labels: Create and Publish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Create the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344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Purview portal → Solutions →</a:t>
            </a:r>
            <a:br/>
            <a:r>
              <a:t>Information Protection → Sensitivity labels → + Create a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Define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860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Files &amp; data assets, Emails, Meetings,</a:t>
            </a:r>
            <a:br/>
            <a:r>
              <a:t>Groups &amp; sites — choose what applies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Configure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3756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Visual markings (header/footer/watermark),</a:t>
            </a:r>
            <a:br/>
            <a:r>
              <a:t>encryption, access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Create publishing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389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Solutions → Information Protection →</a:t>
            </a:r>
            <a:br/>
            <a:r>
              <a:t>Publishing policies → select labels + users/groups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40679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440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Wait &amp;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440679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Allow replication time (~1 hour minimum).</a:t>
            </a:r>
            <a:br/>
            <a:r>
              <a:t>Pilot with test users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Sensitivity Labels: Timing and Pilot-First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Recommended Rollout Strategy: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347472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47472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97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7C10"/>
                </a:solidFill>
                <a:latin typeface="Segoe UI"/>
              </a:defRPr>
            </a:pPr>
            <a:r>
              <a:t>Pilot (few users)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Publish to test group</a:t>
            </a:r>
            <a:br/>
            <a:r>
              <a:t>Validate in SPO/OneDrive</a:t>
            </a:r>
            <a:br/>
            <a:r>
              <a:t>Wait ≥ 1 hour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47472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4747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286000"/>
            <a:ext cx="1097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Add more users to</a:t>
            </a:r>
            <a:br/>
            <a:r>
              <a:t>publishing policy</a:t>
            </a:r>
            <a:br/>
            <a:r>
              <a:t>Monitor audit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47472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47472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2286000"/>
            <a:ext cx="109728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Broad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747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Make available to</a:t>
            </a:r>
            <a:br/>
            <a:r>
              <a:t>all standard users</a:t>
            </a:r>
            <a:br/>
            <a:r>
              <a:t>Labels fully synced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eDiscovery: Modern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eDiscovery: What It Is and Why Admins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eDiscovery helps organizations identify, preserve, and export content</a:t>
            </a:r>
            <a:br/>
            <a:r>
              <a:t>as evidence for legal and regulatory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560320" cy="3108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Container for an</a:t>
            </a:r>
            <a:br/>
            <a:r>
              <a:t>investigation —</a:t>
            </a:r>
            <a:br/>
            <a:r>
              <a:t>scopes all activities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377440"/>
            <a:ext cx="2560320" cy="3108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Preserves content so</a:t>
            </a:r>
            <a:br/>
            <a:r>
              <a:t>it can't be permanently</a:t>
            </a:r>
            <a:br/>
            <a:r>
              <a:t>deleted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2560320" cy="3108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Finds relevant content</a:t>
            </a:r>
            <a:br/>
            <a:r>
              <a:t>across SharePoint,</a:t>
            </a:r>
            <a:br/>
            <a:r>
              <a:t>OneDrive, Exchange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377440"/>
            <a:ext cx="2560320" cy="3108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657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Produces deliverables</a:t>
            </a:r>
            <a:br/>
            <a:r>
              <a:t>for legal / compliance</a:t>
            </a:r>
            <a:br/>
            <a:r>
              <a:t>workflows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eDiscovery Workflow (Modern Experience)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457200" cy="4572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294"/>
                </a:solidFill>
                <a:latin typeface="Segoe UI"/>
              </a:defRPr>
            </a:pPr>
            <a:r>
              <a:t>Create 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Define investigation scope and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Add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402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Assign roles: eDiscovery Manager</a:t>
            </a:r>
            <a:br/>
            <a:r>
              <a:t>or eDiscovery Administrator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Place Content on 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461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Preserve data in SharePoint,</a:t>
            </a:r>
            <a:br/>
            <a:r>
              <a:t>OneDrive, Exchange (optional)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Run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519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Use keywords, date ranges,</a:t>
            </a:r>
            <a:br/>
            <a:r>
              <a:t>location filters to find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4572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7C10"/>
                </a:solidFill>
                <a:latin typeface="Segoe UI"/>
              </a:defRPr>
            </a:pPr>
            <a:r>
              <a:t>Review and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257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Review results, then export</a:t>
            </a:r>
            <a:br/>
            <a:r>
              <a:t>for legal / compliance teams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eDiscovery: 2026 Alignment &amp; Shared Tenant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0972800" cy="109728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⚠️  Classic eDiscovery experiences have been retired (per Microsoft guidance).</a:t>
            </a:r>
            <a:br/>
            <a:r>
              <a:t>Use the modern eDiscovery experience in the Microsoft Purview portal.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13438"/>
                </a:solidFill>
                <a:latin typeface="Segoe UI"/>
              </a:defRPr>
            </a:pPr>
            <a:r>
              <a:t>Shared Tenant Lab Rules: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🔒 Default: trainer-led demonstration (participants observe)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🔒 Hands-on only if eDiscovery permissions are explicitly assigned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🔒 Always scope searches and holds to NW-Pxx locations only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🔒 Never place holds on other participants' content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🔒 Treat eDiscovery as a privileged governance activity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Data Loss Prevention (DLP)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DLP: Data Loss Prevention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DLP policies detect and optionally prevent risky actions — such as sharing</a:t>
            </a:r>
            <a:br/>
            <a:r>
              <a:t>sensitive content externally (credit cards, SSNs, health records, etc.).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Segoe UI"/>
              </a:defRPr>
            </a:pPr>
            <a:r>
              <a:t>The #1 Admin Rule: Don't "turn on and pray"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65176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Define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What data? From whom?</a:t>
            </a:r>
            <a:br/>
            <a:r>
              <a:t>Which locations?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017520"/>
            <a:ext cx="265176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3200400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246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Simulation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8404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Run policy in simulation</a:t>
            </a:r>
            <a:br/>
            <a:r>
              <a:t>to understand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265176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320040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46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69D6"/>
                </a:solidFill>
                <a:latin typeface="Segoe UI"/>
              </a:defRPr>
            </a:pPr>
            <a:r>
              <a:t>Simulation + Tips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Show policy tips to</a:t>
            </a:r>
            <a:br/>
            <a:r>
              <a:t>users — observe reactions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017520"/>
            <a:ext cx="265176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72600" y="3200400"/>
            <a:ext cx="4572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3246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Segoe UI"/>
              </a:defRPr>
            </a:pPr>
            <a:r>
              <a:t>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8404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Enable blocking/restriction</a:t>
            </a:r>
            <a:br/>
            <a:r>
              <a:t>after successful pilot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DLP Simulation Mode: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Simulation mode runs the policy like a WhatIf — you see results without blocking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560320" cy="3017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See Matched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View which files/emails would</a:t>
            </a:r>
            <a:br/>
            <a:r>
              <a:t>trigger the policy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560320" cy="3017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Refine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Adjust conditions to reduce</a:t>
            </a:r>
            <a:br/>
            <a:r>
              <a:t>false positives before going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2560320" cy="3017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Scale Gradually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Start with one SPO site,</a:t>
            </a:r>
            <a:br/>
            <a:r>
              <a:t>then expand to more 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286000"/>
            <a:ext cx="2560320" cy="3017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Plan Timing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66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Simulation can take up to</a:t>
            </a:r>
            <a:br/>
            <a:r>
              <a:t>12 hours to 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Admin Governance Mindset: Purview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Three principles for every Purview feature: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9728" cy="10972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Pilot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Always test with a small group before</a:t>
            </a:r>
            <a:br/>
            <a:r>
              <a:t>tenant-wide rollout. Monitor and refine.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109728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Plan for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66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Replication takes time. Publish labels/policies</a:t>
            </a:r>
            <a:br/>
            <a:r>
              <a:t>well before you need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09728" cy="109728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Segoe UI"/>
              </a:defRPr>
            </a:pPr>
            <a:r>
              <a:t>Least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029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Grant only the permissions needed.</a:t>
            </a:r>
            <a:br/>
            <a:r>
              <a:t>eDiscovery roles are powerful — use carefully.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Lab 8: Implementing Compliance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Lab 8: Hands-On Exercises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97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Upload FAKE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Upload sample docs to your NW-Pxx site for labeling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97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Apply sensitivity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Apply a published sensitivity label to a document (if available)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97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Apply retention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Apply a published retention label to a document (if available)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97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eDiscovery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Trainer-led: walk through Case → Search → Hold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97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DLP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303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Trainer-led: review DLP policy creation in simulation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0972800" cy="8229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607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⚠️  Label availability depends on pre-published policies. Tasks 4-5 are trainer-led by default.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Lab 8: Validation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FAKE sample documents uploaded to NW-Pxx document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39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Sensitivity label applied to at least one document (if published)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Retention label applied to at least one document (if published)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Can explain the difference between retention and sensitivity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Can describe the eDiscovery workflow: Case → Hold → Search →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Can explain why DLP should use simulation mode before enforcement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Microsoft Purview is the unified governance + compliance portal for M365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Retention policies target locations broadly; labels target individual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Retention labels must be published via label policies — plan for replication delays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Sensitivity labels classify + protect; published to users/groups (not locations)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A document can have BOTH one retention label AND one sensitivity label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Classic eDiscovery is retired — use the modern experience in the Purview portal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06440"/>
            <a:ext cx="73152" cy="3200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DLP: always start with simulation mode → pilot → then enforcement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4008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What is the key difference between a retention policy and a retention label?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640080" cy="50292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How long can it take for published retention labels to appear in SharePoint?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640080" cy="50292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Are sensitivity labels published to locations or to users/groups?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6400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What are the four building blocks of the modern eDiscovery workflow?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640080" cy="50292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492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Why should DLP policies start in simulation mode?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294"/>
                </a:solidFill>
                <a:latin typeface="Segoe UI"/>
              </a:defRPr>
            </a:pPr>
            <a:r>
              <a:t>End of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Content Governance &amp; Compliance</a:t>
            </a:r>
            <a:br/>
            <a:r>
              <a:t>with Microsoft Purview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Up Next  →  Module 9: OneDrive Administration &amp; Operational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8 | Content Governance &amp; Compliance with Microsoft Purview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