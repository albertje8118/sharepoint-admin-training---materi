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6 — Search in SharePoint Online and Microsoft Search. Search is only as good as the content quality, metadata, and permissions behind it. In this module we cover security trimming, Microsoft Search answers (Bookmarks &amp; Acronyms), search schema basics, and how to troubleshoot.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Information discovery equals productivity. If users can't find content, it might as well not exist. Search quality depends on four pillars: permissions, content quality, metadata,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learning objectives covering the admin's view of search.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let's start with the core search concepts every admin needs.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search pipeline: content is crawled from lists and libraries, site columns are mapped to managed properties in the index, user queries are matched against the index, and results are security-trimmed before being returned. This is the conceptual foundation.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trimming is non-negotiable. Search NEVER overrides permissions. If a document is missing from search results for a user, the first thing to check is: does that user have access to the item?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search from multiple entry points: the SharePoint search box, Microsoft 365 app bar, Teams, Outlook, and more. The underlying engine is increasingly unified (Microsoft Search), but admin surfaces differ.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big buckets of admin control over search experience.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now let's look at the admin-curated answers that surface at the top of search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admin entry point for Microsoft Search answers is in the Microsoft 365 admin center under Settings → Search &amp; intelligence. Two key roles: Search admin and Search editor.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Bookmarks are admin-curated links triggered by keywords. They appear at the top of search results immediately after publishing. In our shared tenant, use NW-Pxx prefixed keywords to avoid conflicts.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Acronyms can be admin-curated or system-curated. Admin acronyms can be Draft or Published. Published acronyms take up to a day to appear. System-curated acronyms are discovered from emails and documents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answers were historically part of Microsoft Search. With the retirement of Microsoft Search in Bing (March 2025), some answer types may not be available. We teach Q&amp;As as a concept but focus labs on Bookmarks and Acronyms.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comparison table of the three answer types: Bookmarks vs Acronyms vs Q&amp;As.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now let's look under the hood — crawled vs managed properties.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Crawled properties are discovered during crawl — they're raw. Managed properties are what's kept in the index and can be queried. Only managed properties are searchable. Schema changes require reindex.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SharePoint comes with hundreds of pre-mapped managed properties. For custom needs, use the RefinableStringXX or RefinableDateXX properties and rename them via alias.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Reindexing is needed after schema changes or search visibility changes. Caution: reindexing can create heavy load. Only reindex when necessary.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knowing basic query syntax helps admins troubleshoot search issues.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KQL (Keyword Query Language) is the query language behind SharePoint search. Admins don't need to be experts, but knowing basics helps troubleshoot 'why isn't this showing up?' scenarios.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document doesn't appear in search results, follow this troubleshooting flow: 1) Check permissions, 2) Check search visibility, 3) Request reindex if needed, 4) Allow time for indexing.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time for hands-on lab preview and validation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6 overview: upload seed docs, validate search results, reindex a library, create a Bookmark (immediate), and create an Acronym (delayed).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 and post-lab validation checklist. These are the key checkpoints that confirm the lab objectives have been met.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5 lab issues and their resolutions.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search pipeline, security trimming, answers, schema, reindexing, and KQL basics.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discussion questions to check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complete. Next up: Module 7 — Apps and Customization.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457200"/>
          </a:xfrm>
          <a:prstGeom prst="rect">
            <a:avLst/>
          </a:prstGeom>
          <a:noFill/>
        </p:spPr>
        <p:txBody>
          <a:bodyPr wrap="square">
            <a:spAutoFit/>
          </a:bodyPr>
          <a:lstStyle/>
          <a:p>
            <a:pPr algn="ctr">
              <a:defRPr sz="1400" b="1">
                <a:solidFill>
                  <a:srgbClr val="00B294"/>
                </a:solidFill>
                <a:latin typeface="Segoe UI"/>
              </a:defRPr>
            </a:pPr>
            <a:r>
              <a:t>MODERN SHAREPOINT ONLINE FOR ADMINISTRATORS  ·  DAY 2</a:t>
            </a:r>
          </a:p>
        </p:txBody>
      </p:sp>
      <p:sp>
        <p:nvSpPr>
          <p:cNvPr id="5" name="TextBox 4"/>
          <p:cNvSpPr txBox="1"/>
          <p:nvPr/>
        </p:nvSpPr>
        <p:spPr>
          <a:xfrm>
            <a:off x="914400" y="2103120"/>
            <a:ext cx="10058400" cy="1371600"/>
          </a:xfrm>
          <a:prstGeom prst="rect">
            <a:avLst/>
          </a:prstGeom>
          <a:noFill/>
        </p:spPr>
        <p:txBody>
          <a:bodyPr wrap="square">
            <a:spAutoFit/>
          </a:bodyPr>
          <a:lstStyle/>
          <a:p>
            <a:pPr algn="ctr">
              <a:defRPr sz="6000" b="1">
                <a:solidFill>
                  <a:srgbClr val="FFFFFF"/>
                </a:solidFill>
                <a:latin typeface="Segoe UI"/>
              </a:defRPr>
            </a:pPr>
            <a:r>
              <a:t>Module 6</a:t>
            </a:r>
          </a:p>
        </p:txBody>
      </p:sp>
      <p:sp>
        <p:nvSpPr>
          <p:cNvPr id="6" name="TextBox 5"/>
          <p:cNvSpPr txBox="1"/>
          <p:nvPr/>
        </p:nvSpPr>
        <p:spPr>
          <a:xfrm>
            <a:off x="914400" y="3474720"/>
            <a:ext cx="10058400" cy="914400"/>
          </a:xfrm>
          <a:prstGeom prst="rect">
            <a:avLst/>
          </a:prstGeom>
          <a:noFill/>
        </p:spPr>
        <p:txBody>
          <a:bodyPr wrap="square">
            <a:spAutoFit/>
          </a:bodyPr>
          <a:lstStyle/>
          <a:p>
            <a:pPr algn="ctr">
              <a:defRPr sz="3200" b="0">
                <a:solidFill>
                  <a:srgbClr val="00B294"/>
                </a:solidFill>
                <a:latin typeface="Segoe UI"/>
              </a:defRPr>
            </a:pPr>
            <a:r>
              <a:t>Search in SharePoint Online</a:t>
            </a:r>
            <a:br/>
            <a:r>
              <a:t>&amp; Microsoft Search</a:t>
            </a:r>
          </a:p>
        </p:txBody>
      </p:sp>
      <p:sp>
        <p:nvSpPr>
          <p:cNvPr id="7" name="TextBox 6"/>
          <p:cNvSpPr txBox="1"/>
          <p:nvPr/>
        </p:nvSpPr>
        <p:spPr>
          <a:xfrm>
            <a:off x="1828800" y="4937760"/>
            <a:ext cx="8229600" cy="548640"/>
          </a:xfrm>
          <a:prstGeom prst="rect">
            <a:avLst/>
          </a:prstGeom>
          <a:noFill/>
        </p:spPr>
        <p:txBody>
          <a:bodyPr wrap="square">
            <a:spAutoFit/>
          </a:bodyPr>
          <a:lstStyle/>
          <a:p>
            <a:pPr algn="ctr">
              <a:defRPr sz="1600" b="0">
                <a:solidFill>
                  <a:srgbClr val="AAAAAA"/>
                </a:solidFill>
                <a:latin typeface="Segoe UI"/>
              </a:defRPr>
            </a:pPr>
            <a:r>
              <a:t>Find anything  ·  Curate answers  ·  Troubleshoot like a pro</a:t>
            </a:r>
          </a:p>
        </p:txBody>
      </p:sp>
      <p:sp>
        <p:nvSpPr>
          <p:cNvPr id="8" name="Rectangle 7"/>
          <p:cNvSpPr/>
          <p:nvPr/>
        </p:nvSpPr>
        <p:spPr>
          <a:xfrm>
            <a:off x="5029200" y="557784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1B1B2F"/>
                </a:solidFill>
                <a:latin typeface="Segoe UI"/>
              </a:defRPr>
            </a:pPr>
            <a:r>
              <a:t>Why Admins Care About Search</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If users can't find it, it doesn't exist — search is a core admin responsibility</a:t>
            </a:r>
          </a:p>
        </p:txBody>
      </p:sp>
      <p:sp>
        <p:nvSpPr>
          <p:cNvPr id="5" name="Rounded Rectangle 4"/>
          <p:cNvSpPr/>
          <p:nvPr/>
        </p:nvSpPr>
        <p:spPr>
          <a:xfrm>
            <a:off x="73152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7" name="TextBox 6"/>
          <p:cNvSpPr txBox="1"/>
          <p:nvPr/>
        </p:nvSpPr>
        <p:spPr>
          <a:xfrm>
            <a:off x="1005840" y="2468880"/>
            <a:ext cx="2011680" cy="731520"/>
          </a:xfrm>
          <a:prstGeom prst="rect">
            <a:avLst/>
          </a:prstGeom>
          <a:noFill/>
        </p:spPr>
        <p:txBody>
          <a:bodyPr wrap="square">
            <a:spAutoFit/>
          </a:bodyPr>
          <a:lstStyle/>
          <a:p>
            <a:pPr algn="ctr">
              <a:defRPr sz="4400" b="1">
                <a:solidFill>
                  <a:srgbClr val="0078D4"/>
                </a:solidFill>
                <a:latin typeface="Segoe UI"/>
              </a:defRPr>
            </a:pPr>
            <a:r>
              <a:t>Permissions</a:t>
            </a:r>
          </a:p>
        </p:txBody>
      </p:sp>
      <p:sp>
        <p:nvSpPr>
          <p:cNvPr id="8" name="TextBox 7"/>
          <p:cNvSpPr txBox="1"/>
          <p:nvPr/>
        </p:nvSpPr>
        <p:spPr>
          <a:xfrm>
            <a:off x="1005840" y="3200400"/>
            <a:ext cx="2011680" cy="457200"/>
          </a:xfrm>
          <a:prstGeom prst="rect">
            <a:avLst/>
          </a:prstGeom>
          <a:noFill/>
        </p:spPr>
        <p:txBody>
          <a:bodyPr wrap="square">
            <a:spAutoFit/>
          </a:bodyPr>
          <a:lstStyle/>
          <a:p>
            <a:pPr algn="ctr">
              <a:defRPr sz="1600" b="1">
                <a:solidFill>
                  <a:srgbClr val="242424"/>
                </a:solidFill>
                <a:latin typeface="Segoe UI"/>
              </a:defRPr>
            </a:pPr>
            <a:r>
              <a:t>Foundation</a:t>
            </a:r>
          </a:p>
        </p:txBody>
      </p:sp>
      <p:sp>
        <p:nvSpPr>
          <p:cNvPr id="9" name="Rectangle 8"/>
          <p:cNvSpPr/>
          <p:nvPr/>
        </p:nvSpPr>
        <p:spPr>
          <a:xfrm>
            <a:off x="128016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31920"/>
            <a:ext cx="2194560" cy="914400"/>
          </a:xfrm>
          <a:prstGeom prst="rect">
            <a:avLst/>
          </a:prstGeom>
          <a:noFill/>
        </p:spPr>
        <p:txBody>
          <a:bodyPr wrap="square">
            <a:spAutoFit/>
          </a:bodyPr>
          <a:lstStyle/>
          <a:p>
            <a:pPr algn="ctr">
              <a:defRPr sz="1200" b="0">
                <a:solidFill>
                  <a:srgbClr val="606060"/>
                </a:solidFill>
                <a:latin typeface="Segoe UI"/>
              </a:defRPr>
            </a:pPr>
            <a:r>
              <a:t>Security trimming ensures</a:t>
            </a:r>
            <a:br/>
            <a:r>
              <a:t>users only see what they</a:t>
            </a:r>
            <a:br/>
            <a:r>
              <a:t>have access to</a:t>
            </a:r>
          </a:p>
        </p:txBody>
      </p:sp>
      <p:sp>
        <p:nvSpPr>
          <p:cNvPr id="11" name="Rounded Rectangle 10"/>
          <p:cNvSpPr/>
          <p:nvPr/>
        </p:nvSpPr>
        <p:spPr>
          <a:xfrm>
            <a:off x="356616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3" name="TextBox 12"/>
          <p:cNvSpPr txBox="1"/>
          <p:nvPr/>
        </p:nvSpPr>
        <p:spPr>
          <a:xfrm>
            <a:off x="3840480" y="2468880"/>
            <a:ext cx="2011680" cy="731520"/>
          </a:xfrm>
          <a:prstGeom prst="rect">
            <a:avLst/>
          </a:prstGeom>
          <a:noFill/>
        </p:spPr>
        <p:txBody>
          <a:bodyPr wrap="square">
            <a:spAutoFit/>
          </a:bodyPr>
          <a:lstStyle/>
          <a:p>
            <a:pPr algn="ctr">
              <a:defRPr sz="4400" b="1">
                <a:solidFill>
                  <a:srgbClr val="0078D4"/>
                </a:solidFill>
                <a:latin typeface="Segoe UI"/>
              </a:defRPr>
            </a:pPr>
            <a:r>
              <a:t>Content</a:t>
            </a:r>
          </a:p>
        </p:txBody>
      </p:sp>
      <p:sp>
        <p:nvSpPr>
          <p:cNvPr id="14" name="TextBox 13"/>
          <p:cNvSpPr txBox="1"/>
          <p:nvPr/>
        </p:nvSpPr>
        <p:spPr>
          <a:xfrm>
            <a:off x="3840480" y="3200400"/>
            <a:ext cx="2011680" cy="457200"/>
          </a:xfrm>
          <a:prstGeom prst="rect">
            <a:avLst/>
          </a:prstGeom>
          <a:noFill/>
        </p:spPr>
        <p:txBody>
          <a:bodyPr wrap="square">
            <a:spAutoFit/>
          </a:bodyPr>
          <a:lstStyle/>
          <a:p>
            <a:pPr algn="ctr">
              <a:defRPr sz="1600" b="1">
                <a:solidFill>
                  <a:srgbClr val="242424"/>
                </a:solidFill>
                <a:latin typeface="Segoe UI"/>
              </a:defRPr>
            </a:pPr>
            <a:r>
              <a:t>Quality</a:t>
            </a:r>
          </a:p>
        </p:txBody>
      </p:sp>
      <p:sp>
        <p:nvSpPr>
          <p:cNvPr id="15" name="Rectangle 14"/>
          <p:cNvSpPr/>
          <p:nvPr/>
        </p:nvSpPr>
        <p:spPr>
          <a:xfrm>
            <a:off x="411480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3931920"/>
            <a:ext cx="2194560" cy="914400"/>
          </a:xfrm>
          <a:prstGeom prst="rect">
            <a:avLst/>
          </a:prstGeom>
          <a:noFill/>
        </p:spPr>
        <p:txBody>
          <a:bodyPr wrap="square">
            <a:spAutoFit/>
          </a:bodyPr>
          <a:lstStyle/>
          <a:p>
            <a:pPr algn="ctr">
              <a:defRPr sz="1200" b="0">
                <a:solidFill>
                  <a:srgbClr val="606060"/>
                </a:solidFill>
                <a:latin typeface="Segoe UI"/>
              </a:defRPr>
            </a:pPr>
            <a:r>
              <a:t>Well-named files with</a:t>
            </a:r>
            <a:br/>
            <a:r>
              <a:t>consistent metadata are</a:t>
            </a:r>
            <a:br/>
            <a:r>
              <a:t>more discoverable</a:t>
            </a:r>
          </a:p>
        </p:txBody>
      </p:sp>
      <p:sp>
        <p:nvSpPr>
          <p:cNvPr id="17" name="Rounded Rectangle 16"/>
          <p:cNvSpPr/>
          <p:nvPr/>
        </p:nvSpPr>
        <p:spPr>
          <a:xfrm>
            <a:off x="640080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9" name="TextBox 18"/>
          <p:cNvSpPr txBox="1"/>
          <p:nvPr/>
        </p:nvSpPr>
        <p:spPr>
          <a:xfrm>
            <a:off x="6675120" y="2468880"/>
            <a:ext cx="2011680" cy="731520"/>
          </a:xfrm>
          <a:prstGeom prst="rect">
            <a:avLst/>
          </a:prstGeom>
          <a:noFill/>
        </p:spPr>
        <p:txBody>
          <a:bodyPr wrap="square">
            <a:spAutoFit/>
          </a:bodyPr>
          <a:lstStyle/>
          <a:p>
            <a:pPr algn="ctr">
              <a:defRPr sz="4400" b="1">
                <a:solidFill>
                  <a:srgbClr val="0078D4"/>
                </a:solidFill>
                <a:latin typeface="Segoe UI"/>
              </a:defRPr>
            </a:pPr>
            <a:r>
              <a:t>Metadata</a:t>
            </a:r>
          </a:p>
        </p:txBody>
      </p:sp>
      <p:sp>
        <p:nvSpPr>
          <p:cNvPr id="20" name="TextBox 19"/>
          <p:cNvSpPr txBox="1"/>
          <p:nvPr/>
        </p:nvSpPr>
        <p:spPr>
          <a:xfrm>
            <a:off x="6675120" y="3200400"/>
            <a:ext cx="2011680" cy="457200"/>
          </a:xfrm>
          <a:prstGeom prst="rect">
            <a:avLst/>
          </a:prstGeom>
          <a:noFill/>
        </p:spPr>
        <p:txBody>
          <a:bodyPr wrap="square">
            <a:spAutoFit/>
          </a:bodyPr>
          <a:lstStyle/>
          <a:p>
            <a:pPr algn="ctr">
              <a:defRPr sz="1600" b="1">
                <a:solidFill>
                  <a:srgbClr val="242424"/>
                </a:solidFill>
                <a:latin typeface="Segoe UI"/>
              </a:defRPr>
            </a:pPr>
            <a:r>
              <a:t>Drives Refiners</a:t>
            </a:r>
          </a:p>
        </p:txBody>
      </p:sp>
      <p:sp>
        <p:nvSpPr>
          <p:cNvPr id="21" name="Rectangle 20"/>
          <p:cNvSpPr/>
          <p:nvPr/>
        </p:nvSpPr>
        <p:spPr>
          <a:xfrm>
            <a:off x="694944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931920"/>
            <a:ext cx="2194560" cy="914400"/>
          </a:xfrm>
          <a:prstGeom prst="rect">
            <a:avLst/>
          </a:prstGeom>
          <a:noFill/>
        </p:spPr>
        <p:txBody>
          <a:bodyPr wrap="square">
            <a:spAutoFit/>
          </a:bodyPr>
          <a:lstStyle/>
          <a:p>
            <a:pPr algn="ctr">
              <a:defRPr sz="1200" b="0">
                <a:solidFill>
                  <a:srgbClr val="606060"/>
                </a:solidFill>
                <a:latin typeface="Segoe UI"/>
              </a:defRPr>
            </a:pPr>
            <a:r>
              <a:t>Managed metadata from</a:t>
            </a:r>
            <a:br/>
            <a:r>
              <a:t>Module 5 powers search</a:t>
            </a:r>
            <a:br/>
            <a:r>
              <a:t>refinement panels</a:t>
            </a:r>
          </a:p>
        </p:txBody>
      </p:sp>
      <p:sp>
        <p:nvSpPr>
          <p:cNvPr id="23" name="Rounded Rectangle 22"/>
          <p:cNvSpPr/>
          <p:nvPr/>
        </p:nvSpPr>
        <p:spPr>
          <a:xfrm>
            <a:off x="923544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25" name="TextBox 24"/>
          <p:cNvSpPr txBox="1"/>
          <p:nvPr/>
        </p:nvSpPr>
        <p:spPr>
          <a:xfrm>
            <a:off x="9509760" y="2468880"/>
            <a:ext cx="2011680" cy="731520"/>
          </a:xfrm>
          <a:prstGeom prst="rect">
            <a:avLst/>
          </a:prstGeom>
          <a:noFill/>
        </p:spPr>
        <p:txBody>
          <a:bodyPr wrap="square">
            <a:spAutoFit/>
          </a:bodyPr>
          <a:lstStyle/>
          <a:p>
            <a:pPr algn="ctr">
              <a:defRPr sz="4400" b="1">
                <a:solidFill>
                  <a:srgbClr val="0078D4"/>
                </a:solidFill>
                <a:latin typeface="Segoe UI"/>
              </a:defRPr>
            </a:pPr>
            <a:r>
              <a:t>Governance</a:t>
            </a:r>
          </a:p>
        </p:txBody>
      </p:sp>
      <p:sp>
        <p:nvSpPr>
          <p:cNvPr id="26" name="TextBox 25"/>
          <p:cNvSpPr txBox="1"/>
          <p:nvPr/>
        </p:nvSpPr>
        <p:spPr>
          <a:xfrm>
            <a:off x="9509760" y="3200400"/>
            <a:ext cx="2011680" cy="457200"/>
          </a:xfrm>
          <a:prstGeom prst="rect">
            <a:avLst/>
          </a:prstGeom>
          <a:noFill/>
        </p:spPr>
        <p:txBody>
          <a:bodyPr wrap="square">
            <a:spAutoFit/>
          </a:bodyPr>
          <a:lstStyle/>
          <a:p>
            <a:pPr algn="ctr">
              <a:defRPr sz="1600" b="1">
                <a:solidFill>
                  <a:srgbClr val="242424"/>
                </a:solidFill>
                <a:latin typeface="Segoe UI"/>
              </a:defRPr>
            </a:pPr>
            <a:r>
              <a:t>Controls</a:t>
            </a:r>
          </a:p>
        </p:txBody>
      </p:sp>
      <p:sp>
        <p:nvSpPr>
          <p:cNvPr id="27" name="Rectangle 26"/>
          <p:cNvSpPr/>
          <p:nvPr/>
        </p:nvSpPr>
        <p:spPr>
          <a:xfrm>
            <a:off x="978408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0" y="3931920"/>
            <a:ext cx="2194560" cy="914400"/>
          </a:xfrm>
          <a:prstGeom prst="rect">
            <a:avLst/>
          </a:prstGeom>
          <a:noFill/>
        </p:spPr>
        <p:txBody>
          <a:bodyPr wrap="square">
            <a:spAutoFit/>
          </a:bodyPr>
          <a:lstStyle/>
          <a:p>
            <a:pPr algn="ctr">
              <a:defRPr sz="1200" b="0">
                <a:solidFill>
                  <a:srgbClr val="606060"/>
                </a:solidFill>
                <a:latin typeface="Segoe UI"/>
              </a:defRPr>
            </a:pPr>
            <a:r>
              <a:t>Admin-curated answers,</a:t>
            </a:r>
            <a:br/>
            <a:r>
              <a:t>schema settings, and</a:t>
            </a:r>
            <a:br/>
            <a:r>
              <a:t>indexing policies</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Learning Outcomes</a:t>
            </a:r>
          </a:p>
        </p:txBody>
      </p:sp>
      <p:sp>
        <p:nvSpPr>
          <p:cNvPr id="4" name="Rounded Rectangle 3"/>
          <p:cNvSpPr/>
          <p:nvPr/>
        </p:nvSpPr>
        <p:spPr>
          <a:xfrm>
            <a:off x="731520" y="146304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1</a:t>
            </a:r>
          </a:p>
        </p:txBody>
      </p:sp>
      <p:sp>
        <p:nvSpPr>
          <p:cNvPr id="5" name="TextBox 4"/>
          <p:cNvSpPr txBox="1"/>
          <p:nvPr/>
        </p:nvSpPr>
        <p:spPr>
          <a:xfrm>
            <a:off x="1463040" y="1508760"/>
            <a:ext cx="9601200" cy="457200"/>
          </a:xfrm>
          <a:prstGeom prst="rect">
            <a:avLst/>
          </a:prstGeom>
          <a:noFill/>
        </p:spPr>
        <p:txBody>
          <a:bodyPr wrap="square">
            <a:spAutoFit/>
          </a:bodyPr>
          <a:lstStyle/>
          <a:p>
            <a:pPr algn="l">
              <a:defRPr sz="1800" b="0">
                <a:solidFill>
                  <a:srgbClr val="242424"/>
                </a:solidFill>
                <a:latin typeface="Segoe UI"/>
              </a:defRPr>
            </a:pPr>
            <a:r>
              <a:t>Explain how SharePoint Search and Microsoft Search relate, and what security trimming means</a:t>
            </a:r>
          </a:p>
        </p:txBody>
      </p:sp>
      <p:sp>
        <p:nvSpPr>
          <p:cNvPr id="6" name="Rounded Rectangle 5"/>
          <p:cNvSpPr/>
          <p:nvPr/>
        </p:nvSpPr>
        <p:spPr>
          <a:xfrm>
            <a:off x="731520" y="251460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2</a:t>
            </a:r>
          </a:p>
        </p:txBody>
      </p:sp>
      <p:sp>
        <p:nvSpPr>
          <p:cNvPr id="7" name="TextBox 6"/>
          <p:cNvSpPr txBox="1"/>
          <p:nvPr/>
        </p:nvSpPr>
        <p:spPr>
          <a:xfrm>
            <a:off x="1463040" y="2560320"/>
            <a:ext cx="9601200" cy="457200"/>
          </a:xfrm>
          <a:prstGeom prst="rect">
            <a:avLst/>
          </a:prstGeom>
          <a:noFill/>
        </p:spPr>
        <p:txBody>
          <a:bodyPr wrap="square">
            <a:spAutoFit/>
          </a:bodyPr>
          <a:lstStyle/>
          <a:p>
            <a:pPr algn="l">
              <a:defRPr sz="1800" b="0">
                <a:solidFill>
                  <a:srgbClr val="242424"/>
                </a:solidFill>
                <a:latin typeface="Segoe UI"/>
              </a:defRPr>
            </a:pPr>
            <a:r>
              <a:t>Describe Microsoft Search answers (Bookmarks &amp; Acronyms) and who manages them</a:t>
            </a:r>
          </a:p>
        </p:txBody>
      </p:sp>
      <p:sp>
        <p:nvSpPr>
          <p:cNvPr id="8" name="Rounded Rectangle 7"/>
          <p:cNvSpPr/>
          <p:nvPr/>
        </p:nvSpPr>
        <p:spPr>
          <a:xfrm>
            <a:off x="731520" y="356616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3</a:t>
            </a:r>
          </a:p>
        </p:txBody>
      </p:sp>
      <p:sp>
        <p:nvSpPr>
          <p:cNvPr id="9" name="TextBox 8"/>
          <p:cNvSpPr txBox="1"/>
          <p:nvPr/>
        </p:nvSpPr>
        <p:spPr>
          <a:xfrm>
            <a:off x="1463040" y="3611880"/>
            <a:ext cx="9601200" cy="457200"/>
          </a:xfrm>
          <a:prstGeom prst="rect">
            <a:avLst/>
          </a:prstGeom>
          <a:noFill/>
        </p:spPr>
        <p:txBody>
          <a:bodyPr wrap="square">
            <a:spAutoFit/>
          </a:bodyPr>
          <a:lstStyle/>
          <a:p>
            <a:pPr algn="l">
              <a:defRPr sz="1800" b="0">
                <a:solidFill>
                  <a:srgbClr val="242424"/>
                </a:solidFill>
                <a:latin typeface="Segoe UI"/>
              </a:defRPr>
            </a:pPr>
            <a:r>
              <a:t>Validate whether a site/library is searchable and request reindexing when appropriate</a:t>
            </a:r>
          </a:p>
        </p:txBody>
      </p:sp>
      <p:sp>
        <p:nvSpPr>
          <p:cNvPr id="10" name="Rounded Rectangle 9"/>
          <p:cNvSpPr/>
          <p:nvPr/>
        </p:nvSpPr>
        <p:spPr>
          <a:xfrm>
            <a:off x="731520" y="461772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4</a:t>
            </a:r>
          </a:p>
        </p:txBody>
      </p:sp>
      <p:sp>
        <p:nvSpPr>
          <p:cNvPr id="11" name="TextBox 10"/>
          <p:cNvSpPr txBox="1"/>
          <p:nvPr/>
        </p:nvSpPr>
        <p:spPr>
          <a:xfrm>
            <a:off x="1463040" y="4663440"/>
            <a:ext cx="9601200" cy="457200"/>
          </a:xfrm>
          <a:prstGeom prst="rect">
            <a:avLst/>
          </a:prstGeom>
          <a:noFill/>
        </p:spPr>
        <p:txBody>
          <a:bodyPr wrap="square">
            <a:spAutoFit/>
          </a:bodyPr>
          <a:lstStyle/>
          <a:p>
            <a:pPr algn="l">
              <a:defRPr sz="1800" b="0">
                <a:solidFill>
                  <a:srgbClr val="242424"/>
                </a:solidFill>
                <a:latin typeface="Segoe UI"/>
              </a:defRPr>
            </a:pPr>
            <a:r>
              <a:t>Use basic query syntax (phrases, AND/OR/NOT, property restrictions) to troubleshoot</a:t>
            </a:r>
          </a:p>
        </p:txBody>
      </p:sp>
      <p:sp>
        <p:nvSpPr>
          <p:cNvPr id="12" name="Rectangle 11"/>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14" name="TextBox 13"/>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Search Concepts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Security trimming, indexing, and how search really 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How Search Works — The Pipeline</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From content to results — four stages</a:t>
            </a:r>
          </a:p>
        </p:txBody>
      </p:sp>
      <p:sp>
        <p:nvSpPr>
          <p:cNvPr id="5" name="Rounded Rectangle 4"/>
          <p:cNvSpPr/>
          <p:nvPr/>
        </p:nvSpPr>
        <p:spPr>
          <a:xfrm>
            <a:off x="548640"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8" name="TextBox 7"/>
          <p:cNvSpPr txBox="1"/>
          <p:nvPr/>
        </p:nvSpPr>
        <p:spPr>
          <a:xfrm>
            <a:off x="822960" y="2468880"/>
            <a:ext cx="2103120" cy="457200"/>
          </a:xfrm>
          <a:prstGeom prst="rect">
            <a:avLst/>
          </a:prstGeom>
          <a:noFill/>
        </p:spPr>
        <p:txBody>
          <a:bodyPr wrap="square">
            <a:spAutoFit/>
          </a:bodyPr>
          <a:lstStyle/>
          <a:p>
            <a:pPr algn="ctr">
              <a:defRPr sz="2200" b="1">
                <a:solidFill>
                  <a:srgbClr val="0078D4"/>
                </a:solidFill>
                <a:latin typeface="Segoe UI"/>
              </a:defRPr>
            </a:pPr>
            <a:r>
              <a:t>Crawl</a:t>
            </a:r>
          </a:p>
        </p:txBody>
      </p:sp>
      <p:sp>
        <p:nvSpPr>
          <p:cNvPr id="9" name="TextBox 8"/>
          <p:cNvSpPr txBox="1"/>
          <p:nvPr/>
        </p:nvSpPr>
        <p:spPr>
          <a:xfrm>
            <a:off x="731520" y="3017520"/>
            <a:ext cx="2286000" cy="1371600"/>
          </a:xfrm>
          <a:prstGeom prst="rect">
            <a:avLst/>
          </a:prstGeom>
          <a:noFill/>
        </p:spPr>
        <p:txBody>
          <a:bodyPr wrap="square">
            <a:spAutoFit/>
          </a:bodyPr>
          <a:lstStyle/>
          <a:p>
            <a:pPr algn="ctr">
              <a:defRPr sz="1400" b="0">
                <a:solidFill>
                  <a:srgbClr val="242424"/>
                </a:solidFill>
                <a:latin typeface="Segoe UI"/>
              </a:defRPr>
            </a:pPr>
            <a:r>
              <a:t>Content &amp; metadata</a:t>
            </a:r>
            <a:br/>
            <a:r>
              <a:t>discovered from lists,</a:t>
            </a:r>
            <a:br/>
            <a:r>
              <a:t>libraries, and sites</a:t>
            </a:r>
          </a:p>
        </p:txBody>
      </p:sp>
      <p:sp>
        <p:nvSpPr>
          <p:cNvPr id="10" name="TextBox 9"/>
          <p:cNvSpPr txBox="1"/>
          <p:nvPr/>
        </p:nvSpPr>
        <p:spPr>
          <a:xfrm>
            <a:off x="3246120" y="283464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1" name="Rounded Rectangle 10"/>
          <p:cNvSpPr/>
          <p:nvPr/>
        </p:nvSpPr>
        <p:spPr>
          <a:xfrm>
            <a:off x="3429000"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14" name="TextBox 13"/>
          <p:cNvSpPr txBox="1"/>
          <p:nvPr/>
        </p:nvSpPr>
        <p:spPr>
          <a:xfrm>
            <a:off x="3703320" y="2468880"/>
            <a:ext cx="2103120" cy="457200"/>
          </a:xfrm>
          <a:prstGeom prst="rect">
            <a:avLst/>
          </a:prstGeom>
          <a:noFill/>
        </p:spPr>
        <p:txBody>
          <a:bodyPr wrap="square">
            <a:spAutoFit/>
          </a:bodyPr>
          <a:lstStyle/>
          <a:p>
            <a:pPr algn="ctr">
              <a:defRPr sz="2200" b="1">
                <a:solidFill>
                  <a:srgbClr val="00B294"/>
                </a:solidFill>
                <a:latin typeface="Segoe UI"/>
              </a:defRPr>
            </a:pPr>
            <a:r>
              <a:t>Index</a:t>
            </a:r>
          </a:p>
        </p:txBody>
      </p:sp>
      <p:sp>
        <p:nvSpPr>
          <p:cNvPr id="15" name="TextBox 14"/>
          <p:cNvSpPr txBox="1"/>
          <p:nvPr/>
        </p:nvSpPr>
        <p:spPr>
          <a:xfrm>
            <a:off x="3611880" y="3017520"/>
            <a:ext cx="2286000" cy="1371600"/>
          </a:xfrm>
          <a:prstGeom prst="rect">
            <a:avLst/>
          </a:prstGeom>
          <a:noFill/>
        </p:spPr>
        <p:txBody>
          <a:bodyPr wrap="square">
            <a:spAutoFit/>
          </a:bodyPr>
          <a:lstStyle/>
          <a:p>
            <a:pPr algn="ctr">
              <a:defRPr sz="1400" b="0">
                <a:solidFill>
                  <a:srgbClr val="242424"/>
                </a:solidFill>
                <a:latin typeface="Segoe UI"/>
              </a:defRPr>
            </a:pPr>
            <a:r>
              <a:t>Crawled properties mapped</a:t>
            </a:r>
            <a:br/>
            <a:r>
              <a:t>to managed properties;</a:t>
            </a:r>
            <a:br/>
            <a:r>
              <a:t>stored in search index</a:t>
            </a:r>
          </a:p>
        </p:txBody>
      </p:sp>
      <p:sp>
        <p:nvSpPr>
          <p:cNvPr id="16" name="TextBox 15"/>
          <p:cNvSpPr txBox="1"/>
          <p:nvPr/>
        </p:nvSpPr>
        <p:spPr>
          <a:xfrm>
            <a:off x="6126480" y="283464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7" name="Rounded Rectangle 16"/>
          <p:cNvSpPr/>
          <p:nvPr/>
        </p:nvSpPr>
        <p:spPr>
          <a:xfrm>
            <a:off x="6309359"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79"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20" name="TextBox 19"/>
          <p:cNvSpPr txBox="1"/>
          <p:nvPr/>
        </p:nvSpPr>
        <p:spPr>
          <a:xfrm>
            <a:off x="6583679" y="2468880"/>
            <a:ext cx="2103120" cy="457200"/>
          </a:xfrm>
          <a:prstGeom prst="rect">
            <a:avLst/>
          </a:prstGeom>
          <a:noFill/>
        </p:spPr>
        <p:txBody>
          <a:bodyPr wrap="square">
            <a:spAutoFit/>
          </a:bodyPr>
          <a:lstStyle/>
          <a:p>
            <a:pPr algn="ctr">
              <a:defRPr sz="2200" b="1">
                <a:solidFill>
                  <a:srgbClr val="6B69D6"/>
                </a:solidFill>
                <a:latin typeface="Segoe UI"/>
              </a:defRPr>
            </a:pPr>
            <a:r>
              <a:t>Query</a:t>
            </a:r>
          </a:p>
        </p:txBody>
      </p:sp>
      <p:sp>
        <p:nvSpPr>
          <p:cNvPr id="21" name="TextBox 20"/>
          <p:cNvSpPr txBox="1"/>
          <p:nvPr/>
        </p:nvSpPr>
        <p:spPr>
          <a:xfrm>
            <a:off x="6492239" y="3017520"/>
            <a:ext cx="2286000" cy="1371600"/>
          </a:xfrm>
          <a:prstGeom prst="rect">
            <a:avLst/>
          </a:prstGeom>
          <a:noFill/>
        </p:spPr>
        <p:txBody>
          <a:bodyPr wrap="square">
            <a:spAutoFit/>
          </a:bodyPr>
          <a:lstStyle/>
          <a:p>
            <a:pPr algn="ctr">
              <a:defRPr sz="1400" b="0">
                <a:solidFill>
                  <a:srgbClr val="242424"/>
                </a:solidFill>
                <a:latin typeface="Segoe UI"/>
              </a:defRPr>
            </a:pPr>
            <a:r>
              <a:t>User enters search query;</a:t>
            </a:r>
            <a:br/>
            <a:r>
              <a:t>matched against managed</a:t>
            </a:r>
            <a:br/>
            <a:r>
              <a:t>properties in the index</a:t>
            </a:r>
          </a:p>
        </p:txBody>
      </p:sp>
      <p:sp>
        <p:nvSpPr>
          <p:cNvPr id="22" name="TextBox 21"/>
          <p:cNvSpPr txBox="1"/>
          <p:nvPr/>
        </p:nvSpPr>
        <p:spPr>
          <a:xfrm>
            <a:off x="9006839" y="283464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23" name="Rounded Rectangle 22"/>
          <p:cNvSpPr/>
          <p:nvPr/>
        </p:nvSpPr>
        <p:spPr>
          <a:xfrm>
            <a:off x="9189719"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64039"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26" name="TextBox 25"/>
          <p:cNvSpPr txBox="1"/>
          <p:nvPr/>
        </p:nvSpPr>
        <p:spPr>
          <a:xfrm>
            <a:off x="9464039" y="2468880"/>
            <a:ext cx="2103120" cy="457200"/>
          </a:xfrm>
          <a:prstGeom prst="rect">
            <a:avLst/>
          </a:prstGeom>
          <a:noFill/>
        </p:spPr>
        <p:txBody>
          <a:bodyPr wrap="square">
            <a:spAutoFit/>
          </a:bodyPr>
          <a:lstStyle/>
          <a:p>
            <a:pPr algn="ctr">
              <a:defRPr sz="2200" b="1">
                <a:solidFill>
                  <a:srgbClr val="FF8C00"/>
                </a:solidFill>
                <a:latin typeface="Segoe UI"/>
              </a:defRPr>
            </a:pPr>
            <a:r>
              <a:t>Trim &amp; Return</a:t>
            </a:r>
          </a:p>
        </p:txBody>
      </p:sp>
      <p:sp>
        <p:nvSpPr>
          <p:cNvPr id="27" name="TextBox 26"/>
          <p:cNvSpPr txBox="1"/>
          <p:nvPr/>
        </p:nvSpPr>
        <p:spPr>
          <a:xfrm>
            <a:off x="9372599" y="3017520"/>
            <a:ext cx="2286000" cy="1371600"/>
          </a:xfrm>
          <a:prstGeom prst="rect">
            <a:avLst/>
          </a:prstGeom>
          <a:noFill/>
        </p:spPr>
        <p:txBody>
          <a:bodyPr wrap="square">
            <a:spAutoFit/>
          </a:bodyPr>
          <a:lstStyle/>
          <a:p>
            <a:pPr algn="ctr">
              <a:defRPr sz="1400" b="0">
                <a:solidFill>
                  <a:srgbClr val="242424"/>
                </a:solidFill>
                <a:latin typeface="Segoe UI"/>
              </a:defRPr>
            </a:pPr>
            <a:r>
              <a:t>Results filtered by user</a:t>
            </a:r>
            <a:br/>
            <a:r>
              <a:t>permissions (security</a:t>
            </a:r>
            <a:br/>
            <a:r>
              <a:t>trimming) and displayed</a:t>
            </a:r>
          </a:p>
        </p:txBody>
      </p:sp>
      <p:sp>
        <p:nvSpPr>
          <p:cNvPr id="28" name="Rounded Rectangle 27"/>
          <p:cNvSpPr/>
          <p:nvPr/>
        </p:nvSpPr>
        <p:spPr>
          <a:xfrm>
            <a:off x="1371600" y="5120640"/>
            <a:ext cx="9418320" cy="6400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5166360"/>
            <a:ext cx="8869680" cy="548640"/>
          </a:xfrm>
          <a:prstGeom prst="rect">
            <a:avLst/>
          </a:prstGeom>
          <a:noFill/>
        </p:spPr>
        <p:txBody>
          <a:bodyPr wrap="square">
            <a:spAutoFit/>
          </a:bodyPr>
          <a:lstStyle/>
          <a:p>
            <a:pPr algn="l">
              <a:defRPr sz="1400" b="0">
                <a:solidFill>
                  <a:srgbClr val="242424"/>
                </a:solidFill>
                <a:latin typeface="Segoe UI"/>
              </a:defRPr>
            </a:pPr>
            <a:r>
              <a:t>💡  Key Insight:  Search only finds what's in the index, and only shows results the user has permission to see. Both content quality and permissions matter.</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Security Trimming — The #1 Rule</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Search never overrides permissions — this is by design, non-negotiable</a:t>
            </a:r>
          </a:p>
        </p:txBody>
      </p:sp>
      <p:sp>
        <p:nvSpPr>
          <p:cNvPr id="5" name="Rounded Rectangle 4"/>
          <p:cNvSpPr/>
          <p:nvPr/>
        </p:nvSpPr>
        <p:spPr>
          <a:xfrm>
            <a:off x="1371600" y="1645920"/>
            <a:ext cx="9418320" cy="2743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1645920"/>
            <a:ext cx="941832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920240"/>
            <a:ext cx="4114800" cy="457200"/>
          </a:xfrm>
          <a:prstGeom prst="rect">
            <a:avLst/>
          </a:prstGeom>
          <a:noFill/>
        </p:spPr>
        <p:txBody>
          <a:bodyPr wrap="square">
            <a:spAutoFit/>
          </a:bodyPr>
          <a:lstStyle/>
          <a:p>
            <a:pPr algn="l">
              <a:defRPr sz="2000" b="1">
                <a:solidFill>
                  <a:srgbClr val="107C10"/>
                </a:solidFill>
                <a:latin typeface="Segoe UI"/>
              </a:defRPr>
            </a:pPr>
            <a:r>
              <a:t>👤 User A (has access)</a:t>
            </a:r>
          </a:p>
        </p:txBody>
      </p:sp>
      <p:sp>
        <p:nvSpPr>
          <p:cNvPr id="8" name="TextBox 7"/>
          <p:cNvSpPr txBox="1"/>
          <p:nvPr/>
        </p:nvSpPr>
        <p:spPr>
          <a:xfrm>
            <a:off x="1828800" y="2468880"/>
            <a:ext cx="4114800" cy="1645920"/>
          </a:xfrm>
          <a:prstGeom prst="rect">
            <a:avLst/>
          </a:prstGeom>
          <a:noFill/>
        </p:spPr>
        <p:txBody>
          <a:bodyPr wrap="square">
            <a:spAutoFit/>
          </a:bodyPr>
          <a:lstStyle/>
          <a:p>
            <a:pPr>
              <a:spcAft>
                <a:spcPts val="600"/>
              </a:spcAft>
              <a:defRPr sz="1400">
                <a:solidFill>
                  <a:srgbClr val="242424"/>
                </a:solidFill>
                <a:latin typeface="Segoe UI"/>
              </a:defRPr>
            </a:pPr>
            <a:r>
              <a:t> Searches for 'Northwind Contract'</a:t>
            </a:r>
          </a:p>
          <a:p>
            <a:pPr>
              <a:spcAft>
                <a:spcPts val="600"/>
              </a:spcAft>
              <a:defRPr sz="1400">
                <a:solidFill>
                  <a:srgbClr val="242424"/>
                </a:solidFill>
                <a:latin typeface="Segoe UI"/>
              </a:defRPr>
            </a:pPr>
            <a:r>
              <a:t> Has Read access to the library</a:t>
            </a:r>
          </a:p>
          <a:p>
            <a:pPr>
              <a:spcAft>
                <a:spcPts val="600"/>
              </a:spcAft>
              <a:defRPr sz="1400">
                <a:solidFill>
                  <a:srgbClr val="242424"/>
                </a:solidFill>
                <a:latin typeface="Segoe UI"/>
              </a:defRPr>
            </a:pPr>
            <a:r>
              <a:t> ✅ Document appears in results</a:t>
            </a:r>
          </a:p>
          <a:p>
            <a:pPr>
              <a:spcAft>
                <a:spcPts val="600"/>
              </a:spcAft>
              <a:defRPr sz="1400">
                <a:solidFill>
                  <a:srgbClr val="242424"/>
                </a:solidFill>
                <a:latin typeface="Segoe UI"/>
              </a:defRPr>
            </a:pPr>
            <a:r>
              <a:t> Search refiners show metadata</a:t>
            </a:r>
          </a:p>
        </p:txBody>
      </p:sp>
      <p:sp>
        <p:nvSpPr>
          <p:cNvPr id="9" name="Rectangle 8"/>
          <p:cNvSpPr/>
          <p:nvPr/>
        </p:nvSpPr>
        <p:spPr>
          <a:xfrm>
            <a:off x="6035040" y="1920240"/>
            <a:ext cx="36576" cy="21945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114800" cy="457200"/>
          </a:xfrm>
          <a:prstGeom prst="rect">
            <a:avLst/>
          </a:prstGeom>
          <a:noFill/>
        </p:spPr>
        <p:txBody>
          <a:bodyPr wrap="square">
            <a:spAutoFit/>
          </a:bodyPr>
          <a:lstStyle/>
          <a:p>
            <a:pPr algn="l">
              <a:defRPr sz="2000" b="1">
                <a:solidFill>
                  <a:srgbClr val="D13438"/>
                </a:solidFill>
                <a:latin typeface="Segoe UI"/>
              </a:defRPr>
            </a:pPr>
            <a:r>
              <a:t>👤 User B (no access)</a:t>
            </a:r>
          </a:p>
        </p:txBody>
      </p:sp>
      <p:sp>
        <p:nvSpPr>
          <p:cNvPr id="11" name="TextBox 10"/>
          <p:cNvSpPr txBox="1"/>
          <p:nvPr/>
        </p:nvSpPr>
        <p:spPr>
          <a:xfrm>
            <a:off x="6400800" y="2468880"/>
            <a:ext cx="4114800" cy="1645920"/>
          </a:xfrm>
          <a:prstGeom prst="rect">
            <a:avLst/>
          </a:prstGeom>
          <a:noFill/>
        </p:spPr>
        <p:txBody>
          <a:bodyPr wrap="square">
            <a:spAutoFit/>
          </a:bodyPr>
          <a:lstStyle/>
          <a:p>
            <a:pPr>
              <a:spcAft>
                <a:spcPts val="600"/>
              </a:spcAft>
              <a:defRPr sz="1400">
                <a:solidFill>
                  <a:srgbClr val="242424"/>
                </a:solidFill>
                <a:latin typeface="Segoe UI"/>
              </a:defRPr>
            </a:pPr>
            <a:r>
              <a:t> Searches for 'Northwind Contract'</a:t>
            </a:r>
          </a:p>
          <a:p>
            <a:pPr>
              <a:spcAft>
                <a:spcPts val="600"/>
              </a:spcAft>
              <a:defRPr sz="1400">
                <a:solidFill>
                  <a:srgbClr val="242424"/>
                </a:solidFill>
                <a:latin typeface="Segoe UI"/>
              </a:defRPr>
            </a:pPr>
            <a:r>
              <a:t> Has NO access to the library</a:t>
            </a:r>
          </a:p>
          <a:p>
            <a:pPr>
              <a:spcAft>
                <a:spcPts val="600"/>
              </a:spcAft>
              <a:defRPr sz="1400">
                <a:solidFill>
                  <a:srgbClr val="242424"/>
                </a:solidFill>
                <a:latin typeface="Segoe UI"/>
              </a:defRPr>
            </a:pPr>
            <a:r>
              <a:t> ❌ Document does NOT appear</a:t>
            </a:r>
          </a:p>
          <a:p>
            <a:pPr>
              <a:spcAft>
                <a:spcPts val="600"/>
              </a:spcAft>
              <a:defRPr sz="1400">
                <a:solidFill>
                  <a:srgbClr val="242424"/>
                </a:solidFill>
                <a:latin typeface="Segoe UI"/>
              </a:defRPr>
            </a:pPr>
            <a:r>
              <a:t> As if the document doesn't exist</a:t>
            </a:r>
          </a:p>
        </p:txBody>
      </p:sp>
      <p:sp>
        <p:nvSpPr>
          <p:cNvPr id="12" name="Rounded Rectangle 11"/>
          <p:cNvSpPr/>
          <p:nvPr/>
        </p:nvSpPr>
        <p:spPr>
          <a:xfrm>
            <a:off x="731520" y="4754880"/>
            <a:ext cx="35204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754880"/>
            <a:ext cx="352044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92040"/>
            <a:ext cx="457200" cy="365760"/>
          </a:xfrm>
          <a:prstGeom prst="rect">
            <a:avLst/>
          </a:prstGeom>
          <a:noFill/>
        </p:spPr>
        <p:txBody>
          <a:bodyPr wrap="square">
            <a:spAutoFit/>
          </a:bodyPr>
          <a:lstStyle/>
          <a:p>
            <a:pPr algn="ctr">
              <a:defRPr sz="2200" b="0">
                <a:solidFill>
                  <a:srgbClr val="242424"/>
                </a:solidFill>
                <a:latin typeface="Segoe UI"/>
              </a:defRPr>
            </a:pPr>
            <a:r>
              <a:t>🔑</a:t>
            </a:r>
          </a:p>
        </p:txBody>
      </p:sp>
      <p:sp>
        <p:nvSpPr>
          <p:cNvPr id="15" name="TextBox 14"/>
          <p:cNvSpPr txBox="1"/>
          <p:nvPr/>
        </p:nvSpPr>
        <p:spPr>
          <a:xfrm>
            <a:off x="1371600" y="4892040"/>
            <a:ext cx="2651760" cy="320040"/>
          </a:xfrm>
          <a:prstGeom prst="rect">
            <a:avLst/>
          </a:prstGeom>
          <a:noFill/>
        </p:spPr>
        <p:txBody>
          <a:bodyPr wrap="square">
            <a:spAutoFit/>
          </a:bodyPr>
          <a:lstStyle/>
          <a:p>
            <a:pPr algn="l">
              <a:defRPr sz="1400" b="1">
                <a:solidFill>
                  <a:srgbClr val="0078D4"/>
                </a:solidFill>
                <a:latin typeface="Segoe UI"/>
              </a:defRPr>
            </a:pPr>
            <a:r>
              <a:t>Admin Takeaway</a:t>
            </a:r>
          </a:p>
        </p:txBody>
      </p:sp>
      <p:sp>
        <p:nvSpPr>
          <p:cNvPr id="16" name="TextBox 15"/>
          <p:cNvSpPr txBox="1"/>
          <p:nvPr/>
        </p:nvSpPr>
        <p:spPr>
          <a:xfrm>
            <a:off x="1371600" y="5212080"/>
            <a:ext cx="2651760" cy="365760"/>
          </a:xfrm>
          <a:prstGeom prst="rect">
            <a:avLst/>
          </a:prstGeom>
          <a:noFill/>
        </p:spPr>
        <p:txBody>
          <a:bodyPr wrap="square">
            <a:spAutoFit/>
          </a:bodyPr>
          <a:lstStyle/>
          <a:p>
            <a:pPr algn="l">
              <a:defRPr sz="1200" b="0">
                <a:solidFill>
                  <a:srgbClr val="242424"/>
                </a:solidFill>
                <a:latin typeface="Segoe UI"/>
              </a:defRPr>
            </a:pPr>
            <a:r>
              <a:t>'Missing' search results? Check permissions first!</a:t>
            </a:r>
          </a:p>
        </p:txBody>
      </p:sp>
      <p:sp>
        <p:nvSpPr>
          <p:cNvPr id="17" name="Rounded Rectangle 16"/>
          <p:cNvSpPr/>
          <p:nvPr/>
        </p:nvSpPr>
        <p:spPr>
          <a:xfrm>
            <a:off x="4526280" y="4754880"/>
            <a:ext cx="35204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4754880"/>
            <a:ext cx="352044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4892040"/>
            <a:ext cx="457200" cy="365760"/>
          </a:xfrm>
          <a:prstGeom prst="rect">
            <a:avLst/>
          </a:prstGeom>
          <a:noFill/>
        </p:spPr>
        <p:txBody>
          <a:bodyPr wrap="square">
            <a:spAutoFit/>
          </a:bodyPr>
          <a:lstStyle/>
          <a:p>
            <a:pPr algn="ctr">
              <a:defRPr sz="2200" b="0">
                <a:solidFill>
                  <a:srgbClr val="242424"/>
                </a:solidFill>
                <a:latin typeface="Segoe UI"/>
              </a:defRPr>
            </a:pPr>
            <a:r>
              <a:t>⚡</a:t>
            </a:r>
          </a:p>
        </p:txBody>
      </p:sp>
      <p:sp>
        <p:nvSpPr>
          <p:cNvPr id="20" name="TextBox 19"/>
          <p:cNvSpPr txBox="1"/>
          <p:nvPr/>
        </p:nvSpPr>
        <p:spPr>
          <a:xfrm>
            <a:off x="5166360" y="4892040"/>
            <a:ext cx="2651760" cy="320040"/>
          </a:xfrm>
          <a:prstGeom prst="rect">
            <a:avLst/>
          </a:prstGeom>
          <a:noFill/>
        </p:spPr>
        <p:txBody>
          <a:bodyPr wrap="square">
            <a:spAutoFit/>
          </a:bodyPr>
          <a:lstStyle/>
          <a:p>
            <a:pPr algn="l">
              <a:defRPr sz="1400" b="1">
                <a:solidFill>
                  <a:srgbClr val="00B294"/>
                </a:solidFill>
                <a:latin typeface="Segoe UI"/>
              </a:defRPr>
            </a:pPr>
            <a:r>
              <a:t>Performance</a:t>
            </a:r>
          </a:p>
        </p:txBody>
      </p:sp>
      <p:sp>
        <p:nvSpPr>
          <p:cNvPr id="21" name="TextBox 20"/>
          <p:cNvSpPr txBox="1"/>
          <p:nvPr/>
        </p:nvSpPr>
        <p:spPr>
          <a:xfrm>
            <a:off x="5166360" y="5212080"/>
            <a:ext cx="2651760" cy="365760"/>
          </a:xfrm>
          <a:prstGeom prst="rect">
            <a:avLst/>
          </a:prstGeom>
          <a:noFill/>
        </p:spPr>
        <p:txBody>
          <a:bodyPr wrap="square">
            <a:spAutoFit/>
          </a:bodyPr>
          <a:lstStyle/>
          <a:p>
            <a:pPr algn="l">
              <a:defRPr sz="1200" b="0">
                <a:solidFill>
                  <a:srgbClr val="242424"/>
                </a:solidFill>
                <a:latin typeface="Segoe UI"/>
              </a:defRPr>
            </a:pPr>
            <a:r>
              <a:t>Security trimming happens at query time, per user</a:t>
            </a:r>
          </a:p>
        </p:txBody>
      </p:sp>
      <p:sp>
        <p:nvSpPr>
          <p:cNvPr id="22" name="Rounded Rectangle 21"/>
          <p:cNvSpPr/>
          <p:nvPr/>
        </p:nvSpPr>
        <p:spPr>
          <a:xfrm>
            <a:off x="8321040" y="4754880"/>
            <a:ext cx="35204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0" y="4754880"/>
            <a:ext cx="352044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0" y="4892040"/>
            <a:ext cx="457200" cy="365760"/>
          </a:xfrm>
          <a:prstGeom prst="rect">
            <a:avLst/>
          </a:prstGeom>
          <a:noFill/>
        </p:spPr>
        <p:txBody>
          <a:bodyPr wrap="square">
            <a:spAutoFit/>
          </a:bodyPr>
          <a:lstStyle/>
          <a:p>
            <a:pPr algn="ctr">
              <a:defRPr sz="2200" b="0">
                <a:solidFill>
                  <a:srgbClr val="242424"/>
                </a:solidFill>
                <a:latin typeface="Segoe UI"/>
              </a:defRPr>
            </a:pPr>
            <a:r>
              <a:t>🛡️</a:t>
            </a:r>
          </a:p>
        </p:txBody>
      </p:sp>
      <p:sp>
        <p:nvSpPr>
          <p:cNvPr id="25" name="TextBox 24"/>
          <p:cNvSpPr txBox="1"/>
          <p:nvPr/>
        </p:nvSpPr>
        <p:spPr>
          <a:xfrm>
            <a:off x="8961120" y="4892040"/>
            <a:ext cx="2651760" cy="320040"/>
          </a:xfrm>
          <a:prstGeom prst="rect">
            <a:avLst/>
          </a:prstGeom>
          <a:noFill/>
        </p:spPr>
        <p:txBody>
          <a:bodyPr wrap="square">
            <a:spAutoFit/>
          </a:bodyPr>
          <a:lstStyle/>
          <a:p>
            <a:pPr algn="l">
              <a:defRPr sz="1400" b="1">
                <a:solidFill>
                  <a:srgbClr val="6B69D6"/>
                </a:solidFill>
                <a:latin typeface="Segoe UI"/>
              </a:defRPr>
            </a:pPr>
            <a:r>
              <a:t>Compliance</a:t>
            </a:r>
          </a:p>
        </p:txBody>
      </p:sp>
      <p:sp>
        <p:nvSpPr>
          <p:cNvPr id="26" name="TextBox 25"/>
          <p:cNvSpPr txBox="1"/>
          <p:nvPr/>
        </p:nvSpPr>
        <p:spPr>
          <a:xfrm>
            <a:off x="8961120" y="5212080"/>
            <a:ext cx="2651760" cy="365760"/>
          </a:xfrm>
          <a:prstGeom prst="rect">
            <a:avLst/>
          </a:prstGeom>
          <a:noFill/>
        </p:spPr>
        <p:txBody>
          <a:bodyPr wrap="square">
            <a:spAutoFit/>
          </a:bodyPr>
          <a:lstStyle/>
          <a:p>
            <a:pPr algn="l">
              <a:defRPr sz="1200" b="0">
                <a:solidFill>
                  <a:srgbClr val="242424"/>
                </a:solidFill>
                <a:latin typeface="Segoe UI"/>
              </a:defRPr>
            </a:pPr>
            <a:r>
              <a:t>No search backdoor — data classification is enforced</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Search Entry Points — Where Users Search</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Multiple experiences, one underlying engine — Microsoft Search</a:t>
            </a:r>
          </a:p>
        </p:txBody>
      </p:sp>
      <p:sp>
        <p:nvSpPr>
          <p:cNvPr id="5" name="Rounded Rectangle 4"/>
          <p:cNvSpPr/>
          <p:nvPr/>
        </p:nvSpPr>
        <p:spPr>
          <a:xfrm>
            <a:off x="548640" y="1645920"/>
            <a:ext cx="265176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8" name="TextBox 7"/>
          <p:cNvSpPr txBox="1"/>
          <p:nvPr/>
        </p:nvSpPr>
        <p:spPr>
          <a:xfrm>
            <a:off x="731520" y="2468880"/>
            <a:ext cx="2286000" cy="731520"/>
          </a:xfrm>
          <a:prstGeom prst="rect">
            <a:avLst/>
          </a:prstGeom>
          <a:noFill/>
        </p:spPr>
        <p:txBody>
          <a:bodyPr wrap="square">
            <a:spAutoFit/>
          </a:bodyPr>
          <a:lstStyle/>
          <a:p>
            <a:pPr algn="ctr">
              <a:defRPr sz="1800" b="1">
                <a:solidFill>
                  <a:srgbClr val="0078D4"/>
                </a:solidFill>
                <a:latin typeface="Segoe UI"/>
              </a:defRPr>
            </a:pPr>
            <a:r>
              <a:t>SharePoint</a:t>
            </a:r>
            <a:br/>
            <a:r>
              <a:t>Search Box</a:t>
            </a:r>
          </a:p>
        </p:txBody>
      </p:sp>
      <p:sp>
        <p:nvSpPr>
          <p:cNvPr id="9" name="TextBox 8"/>
          <p:cNvSpPr txBox="1"/>
          <p:nvPr/>
        </p:nvSpPr>
        <p:spPr>
          <a:xfrm>
            <a:off x="731520" y="3291840"/>
            <a:ext cx="2286000" cy="1097280"/>
          </a:xfrm>
          <a:prstGeom prst="rect">
            <a:avLst/>
          </a:prstGeom>
          <a:noFill/>
        </p:spPr>
        <p:txBody>
          <a:bodyPr wrap="square">
            <a:spAutoFit/>
          </a:bodyPr>
          <a:lstStyle/>
          <a:p>
            <a:pPr algn="ctr">
              <a:defRPr sz="1300" b="0">
                <a:solidFill>
                  <a:srgbClr val="242424"/>
                </a:solidFill>
                <a:latin typeface="Segoe UI"/>
              </a:defRPr>
            </a:pPr>
            <a:r>
              <a:t>Site-scoped or hub-scoped</a:t>
            </a:r>
            <a:br/>
            <a:r>
              <a:t>search within SharePoint</a:t>
            </a:r>
            <a:br/>
            <a:r>
              <a:t>Online sites</a:t>
            </a:r>
          </a:p>
        </p:txBody>
      </p:sp>
      <p:sp>
        <p:nvSpPr>
          <p:cNvPr id="10" name="Rounded Rectangle 9"/>
          <p:cNvSpPr/>
          <p:nvPr/>
        </p:nvSpPr>
        <p:spPr>
          <a:xfrm>
            <a:off x="3429000" y="1645920"/>
            <a:ext cx="265176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13" name="TextBox 12"/>
          <p:cNvSpPr txBox="1"/>
          <p:nvPr/>
        </p:nvSpPr>
        <p:spPr>
          <a:xfrm>
            <a:off x="3611880" y="2468880"/>
            <a:ext cx="2286000" cy="731520"/>
          </a:xfrm>
          <a:prstGeom prst="rect">
            <a:avLst/>
          </a:prstGeom>
          <a:noFill/>
        </p:spPr>
        <p:txBody>
          <a:bodyPr wrap="square">
            <a:spAutoFit/>
          </a:bodyPr>
          <a:lstStyle/>
          <a:p>
            <a:pPr algn="ctr">
              <a:defRPr sz="1800" b="1">
                <a:solidFill>
                  <a:srgbClr val="00B294"/>
                </a:solidFill>
                <a:latin typeface="Segoe UI"/>
              </a:defRPr>
            </a:pPr>
            <a:r>
              <a:t>Microsoft 365</a:t>
            </a:r>
            <a:br/>
            <a:r>
              <a:t>App Bar</a:t>
            </a:r>
          </a:p>
        </p:txBody>
      </p:sp>
      <p:sp>
        <p:nvSpPr>
          <p:cNvPr id="14" name="TextBox 13"/>
          <p:cNvSpPr txBox="1"/>
          <p:nvPr/>
        </p:nvSpPr>
        <p:spPr>
          <a:xfrm>
            <a:off x="3611880" y="3291840"/>
            <a:ext cx="2286000" cy="1097280"/>
          </a:xfrm>
          <a:prstGeom prst="rect">
            <a:avLst/>
          </a:prstGeom>
          <a:noFill/>
        </p:spPr>
        <p:txBody>
          <a:bodyPr wrap="square">
            <a:spAutoFit/>
          </a:bodyPr>
          <a:lstStyle/>
          <a:p>
            <a:pPr algn="ctr">
              <a:defRPr sz="1300" b="0">
                <a:solidFill>
                  <a:srgbClr val="242424"/>
                </a:solidFill>
                <a:latin typeface="Segoe UI"/>
              </a:defRPr>
            </a:pPr>
            <a:r>
              <a:t>Organization-wide search</a:t>
            </a:r>
            <a:br/>
            <a:r>
              <a:t>across M365 from the</a:t>
            </a:r>
            <a:br/>
            <a:r>
              <a:t>top navigation bar</a:t>
            </a:r>
          </a:p>
        </p:txBody>
      </p:sp>
      <p:sp>
        <p:nvSpPr>
          <p:cNvPr id="15" name="Rounded Rectangle 14"/>
          <p:cNvSpPr/>
          <p:nvPr/>
        </p:nvSpPr>
        <p:spPr>
          <a:xfrm>
            <a:off x="6309359" y="1645920"/>
            <a:ext cx="265176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79"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18" name="TextBox 17"/>
          <p:cNvSpPr txBox="1"/>
          <p:nvPr/>
        </p:nvSpPr>
        <p:spPr>
          <a:xfrm>
            <a:off x="6492239" y="2468880"/>
            <a:ext cx="2286000" cy="731520"/>
          </a:xfrm>
          <a:prstGeom prst="rect">
            <a:avLst/>
          </a:prstGeom>
          <a:noFill/>
        </p:spPr>
        <p:txBody>
          <a:bodyPr wrap="square">
            <a:spAutoFit/>
          </a:bodyPr>
          <a:lstStyle/>
          <a:p>
            <a:pPr algn="ctr">
              <a:defRPr sz="1800" b="1">
                <a:solidFill>
                  <a:srgbClr val="6B69D6"/>
                </a:solidFill>
                <a:latin typeface="Segoe UI"/>
              </a:defRPr>
            </a:pPr>
            <a:r>
              <a:t>Microsoft</a:t>
            </a:r>
            <a:br/>
            <a:r>
              <a:t>Teams</a:t>
            </a:r>
          </a:p>
        </p:txBody>
      </p:sp>
      <p:sp>
        <p:nvSpPr>
          <p:cNvPr id="19" name="TextBox 18"/>
          <p:cNvSpPr txBox="1"/>
          <p:nvPr/>
        </p:nvSpPr>
        <p:spPr>
          <a:xfrm>
            <a:off x="6492239" y="3291840"/>
            <a:ext cx="2286000" cy="1097280"/>
          </a:xfrm>
          <a:prstGeom prst="rect">
            <a:avLst/>
          </a:prstGeom>
          <a:noFill/>
        </p:spPr>
        <p:txBody>
          <a:bodyPr wrap="square">
            <a:spAutoFit/>
          </a:bodyPr>
          <a:lstStyle/>
          <a:p>
            <a:pPr algn="ctr">
              <a:defRPr sz="1300" b="0">
                <a:solidFill>
                  <a:srgbClr val="242424"/>
                </a:solidFill>
                <a:latin typeface="Segoe UI"/>
              </a:defRPr>
            </a:pPr>
            <a:r>
              <a:t>Search files, messages,</a:t>
            </a:r>
            <a:br/>
            <a:r>
              <a:t>and people directly</a:t>
            </a:r>
            <a:br/>
            <a:r>
              <a:t>from Teams</a:t>
            </a:r>
          </a:p>
        </p:txBody>
      </p:sp>
      <p:sp>
        <p:nvSpPr>
          <p:cNvPr id="20" name="Rounded Rectangle 19"/>
          <p:cNvSpPr/>
          <p:nvPr/>
        </p:nvSpPr>
        <p:spPr>
          <a:xfrm>
            <a:off x="9189719" y="1645920"/>
            <a:ext cx="265176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4039" y="1874519"/>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23" name="TextBox 22"/>
          <p:cNvSpPr txBox="1"/>
          <p:nvPr/>
        </p:nvSpPr>
        <p:spPr>
          <a:xfrm>
            <a:off x="9372599" y="2468880"/>
            <a:ext cx="2286000" cy="731520"/>
          </a:xfrm>
          <a:prstGeom prst="rect">
            <a:avLst/>
          </a:prstGeom>
          <a:noFill/>
        </p:spPr>
        <p:txBody>
          <a:bodyPr wrap="square">
            <a:spAutoFit/>
          </a:bodyPr>
          <a:lstStyle/>
          <a:p>
            <a:pPr algn="ctr">
              <a:defRPr sz="1800" b="1">
                <a:solidFill>
                  <a:srgbClr val="FF8C00"/>
                </a:solidFill>
                <a:latin typeface="Segoe UI"/>
              </a:defRPr>
            </a:pPr>
            <a:r>
              <a:t>Outlook &amp;</a:t>
            </a:r>
            <a:br/>
            <a:r>
              <a:t>Other Apps</a:t>
            </a:r>
          </a:p>
        </p:txBody>
      </p:sp>
      <p:sp>
        <p:nvSpPr>
          <p:cNvPr id="24" name="TextBox 23"/>
          <p:cNvSpPr txBox="1"/>
          <p:nvPr/>
        </p:nvSpPr>
        <p:spPr>
          <a:xfrm>
            <a:off x="9372599" y="3291840"/>
            <a:ext cx="2286000" cy="1097280"/>
          </a:xfrm>
          <a:prstGeom prst="rect">
            <a:avLst/>
          </a:prstGeom>
          <a:noFill/>
        </p:spPr>
        <p:txBody>
          <a:bodyPr wrap="square">
            <a:spAutoFit/>
          </a:bodyPr>
          <a:lstStyle/>
          <a:p>
            <a:pPr algn="ctr">
              <a:defRPr sz="1300" b="0">
                <a:solidFill>
                  <a:srgbClr val="242424"/>
                </a:solidFill>
                <a:latin typeface="Segoe UI"/>
              </a:defRPr>
            </a:pPr>
            <a:r>
              <a:t>Find files and people</a:t>
            </a:r>
            <a:br/>
            <a:r>
              <a:t>from Outlook, Word,</a:t>
            </a:r>
            <a:br/>
            <a:r>
              <a:t>and other M365 apps</a:t>
            </a:r>
          </a:p>
        </p:txBody>
      </p:sp>
      <p:sp>
        <p:nvSpPr>
          <p:cNvPr id="25" name="Rounded Rectangle 24"/>
          <p:cNvSpPr/>
          <p:nvPr/>
        </p:nvSpPr>
        <p:spPr>
          <a:xfrm>
            <a:off x="731520" y="5212080"/>
            <a:ext cx="10698480" cy="6400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257800"/>
            <a:ext cx="10149840" cy="548640"/>
          </a:xfrm>
          <a:prstGeom prst="rect">
            <a:avLst/>
          </a:prstGeom>
          <a:noFill/>
        </p:spPr>
        <p:txBody>
          <a:bodyPr wrap="square">
            <a:spAutoFit/>
          </a:bodyPr>
          <a:lstStyle/>
          <a:p>
            <a:pPr algn="l">
              <a:defRPr sz="1400" b="0">
                <a:solidFill>
                  <a:srgbClr val="242424"/>
                </a:solidFill>
                <a:latin typeface="Segoe UI"/>
              </a:defRPr>
            </a:pPr>
            <a:r>
              <a:t>💡  Admin Note:  Some config is site/library-scoped (safe for participant labs). Some config is organization-level (use NW-Pxx naming and trainer governance).</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What Admins Can Tune</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Four levers to improve the search experience</a:t>
            </a:r>
          </a:p>
        </p:txBody>
      </p:sp>
      <p:sp>
        <p:nvSpPr>
          <p:cNvPr id="5" name="Rounded Rectangle 4"/>
          <p:cNvSpPr/>
          <p:nvPr/>
        </p:nvSpPr>
        <p:spPr>
          <a:xfrm>
            <a:off x="548640" y="1645920"/>
            <a:ext cx="265176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2286000" cy="548640"/>
          </a:xfrm>
          <a:prstGeom prst="rect">
            <a:avLst/>
          </a:prstGeom>
          <a:noFill/>
        </p:spPr>
        <p:txBody>
          <a:bodyPr wrap="square">
            <a:spAutoFit/>
          </a:bodyPr>
          <a:lstStyle/>
          <a:p>
            <a:pPr algn="ctr">
              <a:defRPr sz="2000" b="1">
                <a:solidFill>
                  <a:srgbClr val="0078D4"/>
                </a:solidFill>
                <a:latin typeface="Segoe UI"/>
              </a:defRPr>
            </a:pPr>
            <a:r>
              <a:t>📄  Content Quality</a:t>
            </a:r>
          </a:p>
        </p:txBody>
      </p:sp>
      <p:sp>
        <p:nvSpPr>
          <p:cNvPr id="8" name="TextBox 7"/>
          <p:cNvSpPr txBox="1"/>
          <p:nvPr/>
        </p:nvSpPr>
        <p:spPr>
          <a:xfrm>
            <a:off x="822960" y="2468880"/>
            <a:ext cx="2103120" cy="2743200"/>
          </a:xfrm>
          <a:prstGeom prst="rect">
            <a:avLst/>
          </a:prstGeom>
          <a:noFill/>
        </p:spPr>
        <p:txBody>
          <a:bodyPr wrap="square">
            <a:spAutoFit/>
          </a:bodyPr>
          <a:lstStyle/>
          <a:p>
            <a:pPr>
              <a:spcAft>
                <a:spcPts val="600"/>
              </a:spcAft>
              <a:defRPr sz="1300">
                <a:solidFill>
                  <a:srgbClr val="242424"/>
                </a:solidFill>
                <a:latin typeface="Segoe UI"/>
              </a:defRPr>
            </a:pPr>
            <a:r>
              <a:t>• Good file names &amp; descriptions</a:t>
            </a:r>
          </a:p>
          <a:p>
            <a:pPr>
              <a:spcAft>
                <a:spcPts val="600"/>
              </a:spcAft>
              <a:defRPr sz="1300">
                <a:solidFill>
                  <a:srgbClr val="242424"/>
                </a:solidFill>
                <a:latin typeface="Segoe UI"/>
              </a:defRPr>
            </a:pPr>
            <a:r>
              <a:t>• Consistent metadata (Module 5)</a:t>
            </a:r>
          </a:p>
          <a:p>
            <a:pPr>
              <a:spcAft>
                <a:spcPts val="600"/>
              </a:spcAft>
              <a:defRPr sz="1300">
                <a:solidFill>
                  <a:srgbClr val="242424"/>
                </a:solidFill>
                <a:latin typeface="Segoe UI"/>
              </a:defRPr>
            </a:pPr>
            <a:r>
              <a:t>• Clean information architecture</a:t>
            </a:r>
          </a:p>
          <a:p>
            <a:pPr>
              <a:spcAft>
                <a:spcPts val="600"/>
              </a:spcAft>
              <a:defRPr sz="1300">
                <a:solidFill>
                  <a:srgbClr val="242424"/>
                </a:solidFill>
                <a:latin typeface="Segoe UI"/>
              </a:defRPr>
            </a:pPr>
            <a:r>
              <a:t>• Avoid duplicate / outdated content</a:t>
            </a:r>
          </a:p>
        </p:txBody>
      </p:sp>
      <p:sp>
        <p:nvSpPr>
          <p:cNvPr id="9" name="Rounded Rectangle 8"/>
          <p:cNvSpPr/>
          <p:nvPr/>
        </p:nvSpPr>
        <p:spPr>
          <a:xfrm>
            <a:off x="3429000" y="1645920"/>
            <a:ext cx="265176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828800"/>
            <a:ext cx="2286000" cy="548640"/>
          </a:xfrm>
          <a:prstGeom prst="rect">
            <a:avLst/>
          </a:prstGeom>
          <a:noFill/>
        </p:spPr>
        <p:txBody>
          <a:bodyPr wrap="square">
            <a:spAutoFit/>
          </a:bodyPr>
          <a:lstStyle/>
          <a:p>
            <a:pPr algn="ctr">
              <a:defRPr sz="2000" b="1">
                <a:solidFill>
                  <a:srgbClr val="00B294"/>
                </a:solidFill>
                <a:latin typeface="Segoe UI"/>
              </a:defRPr>
            </a:pPr>
            <a:r>
              <a:t>👁️  Search Visibility</a:t>
            </a:r>
          </a:p>
        </p:txBody>
      </p:sp>
      <p:sp>
        <p:nvSpPr>
          <p:cNvPr id="12" name="TextBox 11"/>
          <p:cNvSpPr txBox="1"/>
          <p:nvPr/>
        </p:nvSpPr>
        <p:spPr>
          <a:xfrm>
            <a:off x="3703320" y="2468880"/>
            <a:ext cx="2103120" cy="2743200"/>
          </a:xfrm>
          <a:prstGeom prst="rect">
            <a:avLst/>
          </a:prstGeom>
          <a:noFill/>
        </p:spPr>
        <p:txBody>
          <a:bodyPr wrap="square">
            <a:spAutoFit/>
          </a:bodyPr>
          <a:lstStyle/>
          <a:p>
            <a:pPr>
              <a:spcAft>
                <a:spcPts val="600"/>
              </a:spcAft>
              <a:defRPr sz="1300">
                <a:solidFill>
                  <a:srgbClr val="242424"/>
                </a:solidFill>
                <a:latin typeface="Segoe UI"/>
              </a:defRPr>
            </a:pPr>
            <a:r>
              <a:t>• Site/library search settings</a:t>
            </a:r>
          </a:p>
          <a:p>
            <a:pPr>
              <a:spcAft>
                <a:spcPts val="600"/>
              </a:spcAft>
              <a:defRPr sz="1300">
                <a:solidFill>
                  <a:srgbClr val="242424"/>
                </a:solidFill>
                <a:latin typeface="Segoe UI"/>
              </a:defRPr>
            </a:pPr>
            <a:r>
              <a:t>• Control what appears in results</a:t>
            </a:r>
          </a:p>
          <a:p>
            <a:pPr>
              <a:spcAft>
                <a:spcPts val="600"/>
              </a:spcAft>
              <a:defRPr sz="1300">
                <a:solidFill>
                  <a:srgbClr val="242424"/>
                </a:solidFill>
                <a:latin typeface="Segoe UI"/>
              </a:defRPr>
            </a:pPr>
            <a:r>
              <a:t>• 'Allow items to appear in search'</a:t>
            </a:r>
          </a:p>
          <a:p>
            <a:pPr>
              <a:spcAft>
                <a:spcPts val="600"/>
              </a:spcAft>
              <a:defRPr sz="1300">
                <a:solidFill>
                  <a:srgbClr val="242424"/>
                </a:solidFill>
                <a:latin typeface="Segoe UI"/>
              </a:defRPr>
            </a:pPr>
            <a:r>
              <a:t>• Site-level search visibility toggle</a:t>
            </a:r>
          </a:p>
        </p:txBody>
      </p:sp>
      <p:sp>
        <p:nvSpPr>
          <p:cNvPr id="13" name="Rounded Rectangle 12"/>
          <p:cNvSpPr/>
          <p:nvPr/>
        </p:nvSpPr>
        <p:spPr>
          <a:xfrm>
            <a:off x="6309359" y="1645920"/>
            <a:ext cx="265176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39" y="1828800"/>
            <a:ext cx="2286000" cy="548640"/>
          </a:xfrm>
          <a:prstGeom prst="rect">
            <a:avLst/>
          </a:prstGeom>
          <a:noFill/>
        </p:spPr>
        <p:txBody>
          <a:bodyPr wrap="square">
            <a:spAutoFit/>
          </a:bodyPr>
          <a:lstStyle/>
          <a:p>
            <a:pPr algn="ctr">
              <a:defRPr sz="2000" b="1">
                <a:solidFill>
                  <a:srgbClr val="6B69D6"/>
                </a:solidFill>
                <a:latin typeface="Segoe UI"/>
              </a:defRPr>
            </a:pPr>
            <a:r>
              <a:t>📌  Curated Answers</a:t>
            </a:r>
          </a:p>
        </p:txBody>
      </p:sp>
      <p:sp>
        <p:nvSpPr>
          <p:cNvPr id="16" name="TextBox 15"/>
          <p:cNvSpPr txBox="1"/>
          <p:nvPr/>
        </p:nvSpPr>
        <p:spPr>
          <a:xfrm>
            <a:off x="6583679" y="2468880"/>
            <a:ext cx="2103120" cy="2743200"/>
          </a:xfrm>
          <a:prstGeom prst="rect">
            <a:avLst/>
          </a:prstGeom>
          <a:noFill/>
        </p:spPr>
        <p:txBody>
          <a:bodyPr wrap="square">
            <a:spAutoFit/>
          </a:bodyPr>
          <a:lstStyle/>
          <a:p>
            <a:pPr>
              <a:spcAft>
                <a:spcPts val="600"/>
              </a:spcAft>
              <a:defRPr sz="1300">
                <a:solidFill>
                  <a:srgbClr val="242424"/>
                </a:solidFill>
                <a:latin typeface="Segoe UI"/>
              </a:defRPr>
            </a:pPr>
            <a:r>
              <a:t>• Bookmarks (promoted links)</a:t>
            </a:r>
          </a:p>
          <a:p>
            <a:pPr>
              <a:spcAft>
                <a:spcPts val="600"/>
              </a:spcAft>
              <a:defRPr sz="1300">
                <a:solidFill>
                  <a:srgbClr val="242424"/>
                </a:solidFill>
                <a:latin typeface="Segoe UI"/>
              </a:defRPr>
            </a:pPr>
            <a:r>
              <a:t>• Acronyms (definitions)</a:t>
            </a:r>
          </a:p>
          <a:p>
            <a:pPr>
              <a:spcAft>
                <a:spcPts val="600"/>
              </a:spcAft>
              <a:defRPr sz="1300">
                <a:solidFill>
                  <a:srgbClr val="242424"/>
                </a:solidFill>
                <a:latin typeface="Segoe UI"/>
              </a:defRPr>
            </a:pPr>
            <a:r>
              <a:t>• Org-wide answers at top of results</a:t>
            </a:r>
          </a:p>
          <a:p>
            <a:pPr>
              <a:spcAft>
                <a:spcPts val="600"/>
              </a:spcAft>
              <a:defRPr sz="1300">
                <a:solidFill>
                  <a:srgbClr val="242424"/>
                </a:solidFill>
                <a:latin typeface="Segoe UI"/>
              </a:defRPr>
            </a:pPr>
            <a:r>
              <a:t>• Managed in Search &amp; intelligence</a:t>
            </a:r>
          </a:p>
        </p:txBody>
      </p:sp>
      <p:sp>
        <p:nvSpPr>
          <p:cNvPr id="17" name="Rounded Rectangle 16"/>
          <p:cNvSpPr/>
          <p:nvPr/>
        </p:nvSpPr>
        <p:spPr>
          <a:xfrm>
            <a:off x="9189719" y="1645920"/>
            <a:ext cx="265176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599" y="1828800"/>
            <a:ext cx="2286000" cy="548640"/>
          </a:xfrm>
          <a:prstGeom prst="rect">
            <a:avLst/>
          </a:prstGeom>
          <a:noFill/>
        </p:spPr>
        <p:txBody>
          <a:bodyPr wrap="square">
            <a:spAutoFit/>
          </a:bodyPr>
          <a:lstStyle/>
          <a:p>
            <a:pPr algn="ctr">
              <a:defRPr sz="2000" b="1">
                <a:solidFill>
                  <a:srgbClr val="FF8C00"/>
                </a:solidFill>
                <a:latin typeface="Segoe UI"/>
              </a:defRPr>
            </a:pPr>
            <a:r>
              <a:t>⚙️  Search Schema</a:t>
            </a:r>
          </a:p>
        </p:txBody>
      </p:sp>
      <p:sp>
        <p:nvSpPr>
          <p:cNvPr id="20" name="TextBox 19"/>
          <p:cNvSpPr txBox="1"/>
          <p:nvPr/>
        </p:nvSpPr>
        <p:spPr>
          <a:xfrm>
            <a:off x="9464039" y="2468880"/>
            <a:ext cx="2103120" cy="2743200"/>
          </a:xfrm>
          <a:prstGeom prst="rect">
            <a:avLst/>
          </a:prstGeom>
          <a:noFill/>
        </p:spPr>
        <p:txBody>
          <a:bodyPr wrap="square">
            <a:spAutoFit/>
          </a:bodyPr>
          <a:lstStyle/>
          <a:p>
            <a:pPr>
              <a:spcAft>
                <a:spcPts val="600"/>
              </a:spcAft>
              <a:defRPr sz="1300">
                <a:solidFill>
                  <a:srgbClr val="242424"/>
                </a:solidFill>
                <a:latin typeface="Segoe UI"/>
              </a:defRPr>
            </a:pPr>
            <a:r>
              <a:t>• Crawled → managed property mapping</a:t>
            </a:r>
          </a:p>
          <a:p>
            <a:pPr>
              <a:spcAft>
                <a:spcPts val="600"/>
              </a:spcAft>
              <a:defRPr sz="1300">
                <a:solidFill>
                  <a:srgbClr val="242424"/>
                </a:solidFill>
                <a:latin typeface="Segoe UI"/>
              </a:defRPr>
            </a:pPr>
            <a:r>
              <a:t>• Custom refiners for navigation</a:t>
            </a:r>
          </a:p>
          <a:p>
            <a:pPr>
              <a:spcAft>
                <a:spcPts val="600"/>
              </a:spcAft>
              <a:defRPr sz="1300">
                <a:solidFill>
                  <a:srgbClr val="242424"/>
                </a:solidFill>
                <a:latin typeface="Segoe UI"/>
              </a:defRPr>
            </a:pPr>
            <a:r>
              <a:t>• Advanced: requires reindex</a:t>
            </a:r>
          </a:p>
          <a:p>
            <a:pPr>
              <a:spcAft>
                <a:spcPts val="600"/>
              </a:spcAft>
              <a:defRPr sz="1300">
                <a:solidFill>
                  <a:srgbClr val="242424"/>
                </a:solidFill>
                <a:latin typeface="Segoe UI"/>
              </a:defRPr>
            </a:pPr>
            <a:r>
              <a:t>• Treat as trainer-led in this course</a:t>
            </a:r>
          </a:p>
        </p:txBody>
      </p:sp>
      <p:sp>
        <p:nvSpPr>
          <p:cNvPr id="21" name="Rectangle 20"/>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23" name="TextBox 22"/>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Microsoft Search Answers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Bookmarks, Acronyms, and curated content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Microsoft Search Admin Surface</a:t>
            </a:r>
          </a:p>
        </p:txBody>
      </p:sp>
      <p:sp>
        <p:nvSpPr>
          <p:cNvPr id="4" name="Rounded Rectangle 3"/>
          <p:cNvSpPr/>
          <p:nvPr/>
        </p:nvSpPr>
        <p:spPr>
          <a:xfrm>
            <a:off x="731520" y="1280160"/>
            <a:ext cx="10698480" cy="10972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280160"/>
            <a:ext cx="106984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463040"/>
            <a:ext cx="9966960" cy="365760"/>
          </a:xfrm>
          <a:prstGeom prst="rect">
            <a:avLst/>
          </a:prstGeom>
          <a:noFill/>
        </p:spPr>
        <p:txBody>
          <a:bodyPr wrap="square">
            <a:spAutoFit/>
          </a:bodyPr>
          <a:lstStyle/>
          <a:p>
            <a:pPr algn="l">
              <a:defRPr sz="1800" b="1">
                <a:solidFill>
                  <a:srgbClr val="0078D4"/>
                </a:solidFill>
                <a:latin typeface="Segoe UI"/>
              </a:defRPr>
            </a:pPr>
            <a:r>
              <a:t>📍  Microsoft 365 admin center → Settings → Search &amp; intelligence</a:t>
            </a:r>
          </a:p>
        </p:txBody>
      </p:sp>
      <p:sp>
        <p:nvSpPr>
          <p:cNvPr id="7" name="TextBox 6"/>
          <p:cNvSpPr txBox="1"/>
          <p:nvPr/>
        </p:nvSpPr>
        <p:spPr>
          <a:xfrm>
            <a:off x="1097280" y="1920240"/>
            <a:ext cx="9966960" cy="365760"/>
          </a:xfrm>
          <a:prstGeom prst="rect">
            <a:avLst/>
          </a:prstGeom>
          <a:noFill/>
        </p:spPr>
        <p:txBody>
          <a:bodyPr wrap="square">
            <a:spAutoFit/>
          </a:bodyPr>
          <a:lstStyle/>
          <a:p>
            <a:pPr algn="l">
              <a:defRPr sz="1400" b="0">
                <a:solidFill>
                  <a:srgbClr val="606060"/>
                </a:solidFill>
                <a:latin typeface="Segoe UI"/>
              </a:defRPr>
            </a:pPr>
            <a:r>
              <a:t>Also accessible via:  Copilot → Search  (in updated tenants, June 2025+)</a:t>
            </a:r>
          </a:p>
        </p:txBody>
      </p:sp>
      <p:sp>
        <p:nvSpPr>
          <p:cNvPr id="8" name="Rounded Rectangle 7"/>
          <p:cNvSpPr/>
          <p:nvPr/>
        </p:nvSpPr>
        <p:spPr>
          <a:xfrm>
            <a:off x="731520" y="2743200"/>
            <a:ext cx="530352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743200"/>
            <a:ext cx="53035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4754880" cy="457200"/>
          </a:xfrm>
          <a:prstGeom prst="rect">
            <a:avLst/>
          </a:prstGeom>
          <a:noFill/>
        </p:spPr>
        <p:txBody>
          <a:bodyPr wrap="square">
            <a:spAutoFit/>
          </a:bodyPr>
          <a:lstStyle/>
          <a:p>
            <a:pPr algn="ctr">
              <a:defRPr sz="2200" b="1">
                <a:solidFill>
                  <a:srgbClr val="0078D4"/>
                </a:solidFill>
                <a:latin typeface="Segoe UI"/>
              </a:defRPr>
            </a:pPr>
            <a:r>
              <a:t>🔧  Search Admin</a:t>
            </a:r>
          </a:p>
        </p:txBody>
      </p:sp>
      <p:sp>
        <p:nvSpPr>
          <p:cNvPr id="11" name="TextBox 10"/>
          <p:cNvSpPr txBox="1"/>
          <p:nvPr/>
        </p:nvSpPr>
        <p:spPr>
          <a:xfrm>
            <a:off x="1188720" y="3474720"/>
            <a:ext cx="4389120" cy="2286000"/>
          </a:xfrm>
          <a:prstGeom prst="rect">
            <a:avLst/>
          </a:prstGeom>
          <a:noFill/>
        </p:spPr>
        <p:txBody>
          <a:bodyPr wrap="square">
            <a:spAutoFit/>
          </a:bodyPr>
          <a:lstStyle/>
          <a:p>
            <a:pPr>
              <a:spcAft>
                <a:spcPts val="600"/>
              </a:spcAft>
              <a:defRPr sz="1400">
                <a:solidFill>
                  <a:srgbClr val="242424"/>
                </a:solidFill>
                <a:latin typeface="Segoe UI"/>
              </a:defRPr>
            </a:pPr>
            <a:r>
              <a:t>▸ Full access to Search &amp; intelligence</a:t>
            </a:r>
          </a:p>
          <a:p>
            <a:pPr>
              <a:spcAft>
                <a:spcPts val="600"/>
              </a:spcAft>
              <a:defRPr sz="1400">
                <a:solidFill>
                  <a:srgbClr val="242424"/>
                </a:solidFill>
                <a:latin typeface="Segoe UI"/>
              </a:defRPr>
            </a:pPr>
            <a:r>
              <a:t>▸ Create/manage all answer types</a:t>
            </a:r>
          </a:p>
          <a:p>
            <a:pPr>
              <a:spcAft>
                <a:spcPts val="600"/>
              </a:spcAft>
              <a:defRPr sz="1400">
                <a:solidFill>
                  <a:srgbClr val="242424"/>
                </a:solidFill>
                <a:latin typeface="Segoe UI"/>
              </a:defRPr>
            </a:pPr>
            <a:r>
              <a:t>▸ Manage search schema settings</a:t>
            </a:r>
          </a:p>
          <a:p>
            <a:pPr>
              <a:spcAft>
                <a:spcPts val="600"/>
              </a:spcAft>
              <a:defRPr sz="1400">
                <a:solidFill>
                  <a:srgbClr val="242424"/>
                </a:solidFill>
                <a:latin typeface="Segoe UI"/>
              </a:defRPr>
            </a:pPr>
            <a:r>
              <a:t>▸ Assign Search editor role</a:t>
            </a:r>
          </a:p>
          <a:p>
            <a:pPr>
              <a:spcAft>
                <a:spcPts val="600"/>
              </a:spcAft>
              <a:defRPr sz="1400">
                <a:solidFill>
                  <a:srgbClr val="242424"/>
                </a:solidFill>
                <a:latin typeface="Segoe UI"/>
              </a:defRPr>
            </a:pPr>
            <a:r>
              <a:t>▸ View search analytics</a:t>
            </a:r>
          </a:p>
        </p:txBody>
      </p:sp>
      <p:sp>
        <p:nvSpPr>
          <p:cNvPr id="12" name="Rounded Rectangle 11"/>
          <p:cNvSpPr/>
          <p:nvPr/>
        </p:nvSpPr>
        <p:spPr>
          <a:xfrm>
            <a:off x="6400800" y="2743200"/>
            <a:ext cx="530352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743200"/>
            <a:ext cx="530352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2926080"/>
            <a:ext cx="4754880" cy="457200"/>
          </a:xfrm>
          <a:prstGeom prst="rect">
            <a:avLst/>
          </a:prstGeom>
          <a:noFill/>
        </p:spPr>
        <p:txBody>
          <a:bodyPr wrap="square">
            <a:spAutoFit/>
          </a:bodyPr>
          <a:lstStyle/>
          <a:p>
            <a:pPr algn="ctr">
              <a:defRPr sz="2200" b="1">
                <a:solidFill>
                  <a:srgbClr val="00B294"/>
                </a:solidFill>
                <a:latin typeface="Segoe UI"/>
              </a:defRPr>
            </a:pPr>
            <a:r>
              <a:t>✏️  Search Editor</a:t>
            </a:r>
          </a:p>
        </p:txBody>
      </p:sp>
      <p:sp>
        <p:nvSpPr>
          <p:cNvPr id="15" name="TextBox 14"/>
          <p:cNvSpPr txBox="1"/>
          <p:nvPr/>
        </p:nvSpPr>
        <p:spPr>
          <a:xfrm>
            <a:off x="6858000" y="3474720"/>
            <a:ext cx="4389120" cy="2286000"/>
          </a:xfrm>
          <a:prstGeom prst="rect">
            <a:avLst/>
          </a:prstGeom>
          <a:noFill/>
        </p:spPr>
        <p:txBody>
          <a:bodyPr wrap="square">
            <a:spAutoFit/>
          </a:bodyPr>
          <a:lstStyle/>
          <a:p>
            <a:pPr>
              <a:spcAft>
                <a:spcPts val="600"/>
              </a:spcAft>
              <a:defRPr sz="1400">
                <a:solidFill>
                  <a:srgbClr val="242424"/>
                </a:solidFill>
                <a:latin typeface="Segoe UI"/>
              </a:defRPr>
            </a:pPr>
            <a:r>
              <a:t>▸ Create &amp; manage Bookmarks</a:t>
            </a:r>
          </a:p>
          <a:p>
            <a:pPr>
              <a:spcAft>
                <a:spcPts val="600"/>
              </a:spcAft>
              <a:defRPr sz="1400">
                <a:solidFill>
                  <a:srgbClr val="242424"/>
                </a:solidFill>
                <a:latin typeface="Segoe UI"/>
              </a:defRPr>
            </a:pPr>
            <a:r>
              <a:t>▸ Create &amp; manage Acronyms</a:t>
            </a:r>
          </a:p>
          <a:p>
            <a:pPr>
              <a:spcAft>
                <a:spcPts val="600"/>
              </a:spcAft>
              <a:defRPr sz="1400">
                <a:solidFill>
                  <a:srgbClr val="242424"/>
                </a:solidFill>
                <a:latin typeface="Segoe UI"/>
              </a:defRPr>
            </a:pPr>
            <a:r>
              <a:t>▸ Create &amp; manage Q&amp;As</a:t>
            </a:r>
          </a:p>
          <a:p>
            <a:pPr>
              <a:spcAft>
                <a:spcPts val="600"/>
              </a:spcAft>
              <a:defRPr sz="1400">
                <a:solidFill>
                  <a:srgbClr val="242424"/>
                </a:solidFill>
                <a:latin typeface="Segoe UI"/>
              </a:defRPr>
            </a:pPr>
            <a:r>
              <a:t>▸ Cannot manage schema or roles</a:t>
            </a:r>
          </a:p>
          <a:p>
            <a:pPr>
              <a:spcAft>
                <a:spcPts val="600"/>
              </a:spcAft>
              <a:defRPr sz="1400">
                <a:solidFill>
                  <a:srgbClr val="242424"/>
                </a:solidFill>
                <a:latin typeface="Segoe UI"/>
              </a:defRPr>
            </a:pPr>
            <a:r>
              <a:t>▸ Ideal for content stewards</a:t>
            </a:r>
          </a:p>
        </p:txBody>
      </p:sp>
      <p:sp>
        <p:nvSpPr>
          <p:cNvPr id="16" name="Rectangle 1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18" name="TextBox 1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Bookmarks — Curated Links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Promoted answers triggered by keywords — visible immediately</a:t>
            </a:r>
          </a:p>
        </p:txBody>
      </p:sp>
      <p:sp>
        <p:nvSpPr>
          <p:cNvPr id="5" name="Rounded Rectangle 4"/>
          <p:cNvSpPr/>
          <p:nvPr/>
        </p:nvSpPr>
        <p:spPr>
          <a:xfrm>
            <a:off x="731520" y="1645920"/>
            <a:ext cx="5120640" cy="2560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457200"/>
          </a:xfrm>
          <a:prstGeom prst="rect">
            <a:avLst/>
          </a:prstGeom>
          <a:noFill/>
        </p:spPr>
        <p:txBody>
          <a:bodyPr wrap="square">
            <a:spAutoFit/>
          </a:bodyPr>
          <a:lstStyle/>
          <a:p>
            <a:pPr algn="l">
              <a:defRPr sz="2000" b="1">
                <a:solidFill>
                  <a:srgbClr val="0078D4"/>
                </a:solidFill>
                <a:latin typeface="Segoe UI"/>
              </a:defRPr>
            </a:pPr>
            <a:r>
              <a:t>What Are Bookmarks?</a:t>
            </a:r>
          </a:p>
        </p:txBody>
      </p:sp>
      <p:sp>
        <p:nvSpPr>
          <p:cNvPr id="8" name="TextBox 7"/>
          <p:cNvSpPr txBox="1"/>
          <p:nvPr/>
        </p:nvSpPr>
        <p:spPr>
          <a:xfrm>
            <a:off x="1097280" y="2377440"/>
            <a:ext cx="4572000" cy="1645920"/>
          </a:xfrm>
          <a:prstGeom prst="rect">
            <a:avLst/>
          </a:prstGeom>
          <a:noFill/>
        </p:spPr>
        <p:txBody>
          <a:bodyPr wrap="square">
            <a:spAutoFit/>
          </a:bodyPr>
          <a:lstStyle/>
          <a:p>
            <a:pPr>
              <a:spcAft>
                <a:spcPts val="600"/>
              </a:spcAft>
              <a:defRPr sz="1400">
                <a:solidFill>
                  <a:srgbClr val="242424"/>
                </a:solidFill>
                <a:latin typeface="Segoe UI"/>
              </a:defRPr>
            </a:pPr>
            <a:r>
              <a:t>▸ Admin-curated links triggered by keywords</a:t>
            </a:r>
          </a:p>
          <a:p>
            <a:pPr>
              <a:spcAft>
                <a:spcPts val="600"/>
              </a:spcAft>
              <a:defRPr sz="1400">
                <a:solidFill>
                  <a:srgbClr val="242424"/>
                </a:solidFill>
                <a:latin typeface="Segoe UI"/>
              </a:defRPr>
            </a:pPr>
            <a:r>
              <a:t>▸ Appear at TOP of search results</a:t>
            </a:r>
          </a:p>
          <a:p>
            <a:pPr>
              <a:spcAft>
                <a:spcPts val="600"/>
              </a:spcAft>
              <a:defRPr sz="1400">
                <a:solidFill>
                  <a:srgbClr val="242424"/>
                </a:solidFill>
                <a:latin typeface="Segoe UI"/>
              </a:defRPr>
            </a:pPr>
            <a:r>
              <a:t>▸ Available immediately after publishing</a:t>
            </a:r>
          </a:p>
          <a:p>
            <a:pPr>
              <a:spcAft>
                <a:spcPts val="600"/>
              </a:spcAft>
              <a:defRPr sz="1400">
                <a:solidFill>
                  <a:srgbClr val="242424"/>
                </a:solidFill>
                <a:latin typeface="Segoe UI"/>
              </a:defRPr>
            </a:pPr>
            <a:r>
              <a:t>▸ Can be Draft, Published, or Scheduled</a:t>
            </a:r>
          </a:p>
          <a:p>
            <a:pPr>
              <a:spcAft>
                <a:spcPts val="600"/>
              </a:spcAft>
              <a:defRPr sz="1400">
                <a:solidFill>
                  <a:srgbClr val="242424"/>
                </a:solidFill>
                <a:latin typeface="Segoe UI"/>
              </a:defRPr>
            </a:pPr>
            <a:r>
              <a:t>▸ Customizable: title, URL, description, audience</a:t>
            </a:r>
          </a:p>
        </p:txBody>
      </p:sp>
      <p:sp>
        <p:nvSpPr>
          <p:cNvPr id="9" name="Rounded Rectangle 8"/>
          <p:cNvSpPr/>
          <p:nvPr/>
        </p:nvSpPr>
        <p:spPr>
          <a:xfrm>
            <a:off x="6309360" y="1645920"/>
            <a:ext cx="5120640" cy="2560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64592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754880" cy="457200"/>
          </a:xfrm>
          <a:prstGeom prst="rect">
            <a:avLst/>
          </a:prstGeom>
          <a:noFill/>
        </p:spPr>
        <p:txBody>
          <a:bodyPr wrap="square">
            <a:spAutoFit/>
          </a:bodyPr>
          <a:lstStyle/>
          <a:p>
            <a:pPr algn="l">
              <a:defRPr sz="2000" b="1">
                <a:solidFill>
                  <a:srgbClr val="00B294"/>
                </a:solidFill>
                <a:latin typeface="Segoe UI"/>
              </a:defRPr>
            </a:pPr>
            <a:r>
              <a:t>How to Create</a:t>
            </a:r>
          </a:p>
        </p:txBody>
      </p:sp>
      <p:sp>
        <p:nvSpPr>
          <p:cNvPr id="12" name="TextBox 11"/>
          <p:cNvSpPr txBox="1"/>
          <p:nvPr/>
        </p:nvSpPr>
        <p:spPr>
          <a:xfrm>
            <a:off x="6675120" y="2377440"/>
            <a:ext cx="4572000" cy="1645920"/>
          </a:xfrm>
          <a:prstGeom prst="rect">
            <a:avLst/>
          </a:prstGeom>
          <a:noFill/>
        </p:spPr>
        <p:txBody>
          <a:bodyPr wrap="square">
            <a:spAutoFit/>
          </a:bodyPr>
          <a:lstStyle/>
          <a:p>
            <a:pPr>
              <a:spcAft>
                <a:spcPts val="600"/>
              </a:spcAft>
              <a:defRPr sz="1400">
                <a:solidFill>
                  <a:srgbClr val="242424"/>
                </a:solidFill>
                <a:latin typeface="Segoe UI"/>
              </a:defRPr>
            </a:pPr>
            <a:r>
              <a:t> 1. Go to M365 admin center → Search &amp; intelligence</a:t>
            </a:r>
          </a:p>
          <a:p>
            <a:pPr>
              <a:spcAft>
                <a:spcPts val="600"/>
              </a:spcAft>
              <a:defRPr sz="1400">
                <a:solidFill>
                  <a:srgbClr val="242424"/>
                </a:solidFill>
                <a:latin typeface="Segoe UI"/>
              </a:defRPr>
            </a:pPr>
            <a:r>
              <a:t> 2. Select Bookmarks → Add bookmark</a:t>
            </a:r>
          </a:p>
          <a:p>
            <a:pPr>
              <a:spcAft>
                <a:spcPts val="600"/>
              </a:spcAft>
              <a:defRPr sz="1400">
                <a:solidFill>
                  <a:srgbClr val="242424"/>
                </a:solidFill>
                <a:latin typeface="Segoe UI"/>
              </a:defRPr>
            </a:pPr>
            <a:r>
              <a:t> 3. Enter title, URL, description</a:t>
            </a:r>
          </a:p>
          <a:p>
            <a:pPr>
              <a:spcAft>
                <a:spcPts val="600"/>
              </a:spcAft>
              <a:defRPr sz="1400">
                <a:solidFill>
                  <a:srgbClr val="242424"/>
                </a:solidFill>
                <a:latin typeface="Segoe UI"/>
              </a:defRPr>
            </a:pPr>
            <a:r>
              <a:t> 4. Add trigger keywords (use NW-Pxx-…)</a:t>
            </a:r>
          </a:p>
          <a:p>
            <a:pPr>
              <a:spcAft>
                <a:spcPts val="600"/>
              </a:spcAft>
              <a:defRPr sz="1400">
                <a:solidFill>
                  <a:srgbClr val="242424"/>
                </a:solidFill>
                <a:latin typeface="Segoe UI"/>
              </a:defRPr>
            </a:pPr>
            <a:r>
              <a:t> 5. Publish → available immediately</a:t>
            </a:r>
          </a:p>
        </p:txBody>
      </p:sp>
      <p:sp>
        <p:nvSpPr>
          <p:cNvPr id="13" name="Rounded Rectangle 12"/>
          <p:cNvSpPr/>
          <p:nvPr/>
        </p:nvSpPr>
        <p:spPr>
          <a:xfrm>
            <a:off x="731520" y="4572000"/>
            <a:ext cx="10698480" cy="64008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17720"/>
            <a:ext cx="10149840" cy="548640"/>
          </a:xfrm>
          <a:prstGeom prst="rect">
            <a:avLst/>
          </a:prstGeom>
          <a:noFill/>
        </p:spPr>
        <p:txBody>
          <a:bodyPr wrap="square">
            <a:spAutoFit/>
          </a:bodyPr>
          <a:lstStyle/>
          <a:p>
            <a:pPr algn="l">
              <a:defRPr sz="1400" b="0">
                <a:solidFill>
                  <a:srgbClr val="D13438"/>
                </a:solidFill>
                <a:latin typeface="Segoe UI"/>
              </a:defRPr>
            </a:pPr>
            <a:r>
              <a:t>⚠️  Shared Tenant:  Only use training-specific keywords with NW-Pxx prefix. Never use generic terms like 'HR', 'IT', or 'Benefits' — they affect the whole organization.</a:t>
            </a:r>
          </a:p>
        </p:txBody>
      </p:sp>
      <p:sp>
        <p:nvSpPr>
          <p:cNvPr id="15" name="Rectangle 1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17" name="TextBox 1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Acronyms — Definitions at a Glance</a:t>
            </a:r>
          </a:p>
        </p:txBody>
      </p:sp>
      <p:sp>
        <p:nvSpPr>
          <p:cNvPr id="4" name="Rounded Rectangle 3"/>
          <p:cNvSpPr/>
          <p:nvPr/>
        </p:nvSpPr>
        <p:spPr>
          <a:xfrm>
            <a:off x="731520" y="1280160"/>
            <a:ext cx="530352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280160"/>
            <a:ext cx="53035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4754880" cy="457200"/>
          </a:xfrm>
          <a:prstGeom prst="rect">
            <a:avLst/>
          </a:prstGeom>
          <a:noFill/>
        </p:spPr>
        <p:txBody>
          <a:bodyPr wrap="square">
            <a:spAutoFit/>
          </a:bodyPr>
          <a:lstStyle/>
          <a:p>
            <a:pPr algn="ctr">
              <a:defRPr sz="2200" b="1">
                <a:solidFill>
                  <a:srgbClr val="0078D4"/>
                </a:solidFill>
                <a:latin typeface="Segoe UI"/>
              </a:defRPr>
            </a:pPr>
            <a:r>
              <a:t>👤  Admin-Curated</a:t>
            </a:r>
          </a:p>
        </p:txBody>
      </p:sp>
      <p:sp>
        <p:nvSpPr>
          <p:cNvPr id="7" name="TextBox 6"/>
          <p:cNvSpPr txBox="1"/>
          <p:nvPr/>
        </p:nvSpPr>
        <p:spPr>
          <a:xfrm>
            <a:off x="1188720" y="2011680"/>
            <a:ext cx="4389120" cy="2560320"/>
          </a:xfrm>
          <a:prstGeom prst="rect">
            <a:avLst/>
          </a:prstGeom>
          <a:noFill/>
        </p:spPr>
        <p:txBody>
          <a:bodyPr wrap="square">
            <a:spAutoFit/>
          </a:bodyPr>
          <a:lstStyle/>
          <a:p>
            <a:pPr>
              <a:spcAft>
                <a:spcPts val="600"/>
              </a:spcAft>
              <a:defRPr sz="1400">
                <a:solidFill>
                  <a:srgbClr val="242424"/>
                </a:solidFill>
                <a:latin typeface="Segoe UI"/>
              </a:defRPr>
            </a:pPr>
            <a:r>
              <a:t>▸ Manually created by Search admin/editor</a:t>
            </a:r>
          </a:p>
          <a:p>
            <a:pPr>
              <a:spcAft>
                <a:spcPts val="600"/>
              </a:spcAft>
              <a:defRPr sz="1400">
                <a:solidFill>
                  <a:srgbClr val="242424"/>
                </a:solidFill>
                <a:latin typeface="Segoe UI"/>
              </a:defRPr>
            </a:pPr>
            <a:r>
              <a:t>▸ Set to Draft or Published state</a:t>
            </a:r>
          </a:p>
          <a:p>
            <a:pPr>
              <a:spcAft>
                <a:spcPts val="600"/>
              </a:spcAft>
              <a:defRPr sz="1400">
                <a:solidFill>
                  <a:srgbClr val="242424"/>
                </a:solidFill>
                <a:latin typeface="Segoe UI"/>
              </a:defRPr>
            </a:pPr>
            <a:r>
              <a:t>▸ Published → available within ~24 hours</a:t>
            </a:r>
          </a:p>
          <a:p>
            <a:pPr>
              <a:spcAft>
                <a:spcPts val="600"/>
              </a:spcAft>
              <a:defRPr sz="1400">
                <a:solidFill>
                  <a:srgbClr val="242424"/>
                </a:solidFill>
                <a:latin typeface="Segoe UI"/>
              </a:defRPr>
            </a:pPr>
            <a:r>
              <a:t>▸ Can also be Excluded (blocked)</a:t>
            </a:r>
          </a:p>
          <a:p>
            <a:pPr>
              <a:spcAft>
                <a:spcPts val="600"/>
              </a:spcAft>
              <a:defRPr sz="1400">
                <a:solidFill>
                  <a:srgbClr val="242424"/>
                </a:solidFill>
                <a:latin typeface="Segoe UI"/>
              </a:defRPr>
            </a:pPr>
            <a:r>
              <a:t>▸ Bulk import via CSV supported</a:t>
            </a:r>
          </a:p>
        </p:txBody>
      </p:sp>
      <p:sp>
        <p:nvSpPr>
          <p:cNvPr id="8" name="Rounded Rectangle 7"/>
          <p:cNvSpPr/>
          <p:nvPr/>
        </p:nvSpPr>
        <p:spPr>
          <a:xfrm>
            <a:off x="6400800" y="1280160"/>
            <a:ext cx="530352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280160"/>
            <a:ext cx="530352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463040"/>
            <a:ext cx="4754880" cy="457200"/>
          </a:xfrm>
          <a:prstGeom prst="rect">
            <a:avLst/>
          </a:prstGeom>
          <a:noFill/>
        </p:spPr>
        <p:txBody>
          <a:bodyPr wrap="square">
            <a:spAutoFit/>
          </a:bodyPr>
          <a:lstStyle/>
          <a:p>
            <a:pPr algn="ctr">
              <a:defRPr sz="2200" b="1">
                <a:solidFill>
                  <a:srgbClr val="00B294"/>
                </a:solidFill>
                <a:latin typeface="Segoe UI"/>
              </a:defRPr>
            </a:pPr>
            <a:r>
              <a:t>🤖  System-Curated</a:t>
            </a:r>
          </a:p>
        </p:txBody>
      </p:sp>
      <p:sp>
        <p:nvSpPr>
          <p:cNvPr id="11" name="TextBox 10"/>
          <p:cNvSpPr txBox="1"/>
          <p:nvPr/>
        </p:nvSpPr>
        <p:spPr>
          <a:xfrm>
            <a:off x="6858000" y="2011680"/>
            <a:ext cx="4389120" cy="2560320"/>
          </a:xfrm>
          <a:prstGeom prst="rect">
            <a:avLst/>
          </a:prstGeom>
          <a:noFill/>
        </p:spPr>
        <p:txBody>
          <a:bodyPr wrap="square">
            <a:spAutoFit/>
          </a:bodyPr>
          <a:lstStyle/>
          <a:p>
            <a:pPr>
              <a:spcAft>
                <a:spcPts val="600"/>
              </a:spcAft>
              <a:defRPr sz="1400">
                <a:solidFill>
                  <a:srgbClr val="242424"/>
                </a:solidFill>
                <a:latin typeface="Segoe UI"/>
              </a:defRPr>
            </a:pPr>
            <a:r>
              <a:t>▸ Automatically discovered by Microsoft Search</a:t>
            </a:r>
          </a:p>
          <a:p>
            <a:pPr>
              <a:spcAft>
                <a:spcPts val="600"/>
              </a:spcAft>
              <a:defRPr sz="1400">
                <a:solidFill>
                  <a:srgbClr val="242424"/>
                </a:solidFill>
                <a:latin typeface="Segoe UI"/>
              </a:defRPr>
            </a:pPr>
            <a:r>
              <a:t>▸ Mined from emails, documents, public data</a:t>
            </a:r>
          </a:p>
          <a:p>
            <a:pPr>
              <a:spcAft>
                <a:spcPts val="600"/>
              </a:spcAft>
              <a:defRPr sz="1400">
                <a:solidFill>
                  <a:srgbClr val="242424"/>
                </a:solidFill>
                <a:latin typeface="Segoe UI"/>
              </a:defRPr>
            </a:pPr>
            <a:r>
              <a:t>▸ No admin action required</a:t>
            </a:r>
          </a:p>
          <a:p>
            <a:pPr>
              <a:spcAft>
                <a:spcPts val="600"/>
              </a:spcAft>
              <a:defRPr sz="1400">
                <a:solidFill>
                  <a:srgbClr val="242424"/>
                </a:solidFill>
                <a:latin typeface="Segoe UI"/>
              </a:defRPr>
            </a:pPr>
            <a:r>
              <a:t>▸ Admins can exclude unwanted acronyms</a:t>
            </a:r>
          </a:p>
          <a:p>
            <a:pPr>
              <a:spcAft>
                <a:spcPts val="600"/>
              </a:spcAft>
              <a:defRPr sz="1400">
                <a:solidFill>
                  <a:srgbClr val="242424"/>
                </a:solidFill>
                <a:latin typeface="Segoe UI"/>
              </a:defRPr>
            </a:pPr>
            <a:r>
              <a:t>▸ Supplements admin-curated definitions</a:t>
            </a:r>
          </a:p>
        </p:txBody>
      </p:sp>
      <p:sp>
        <p:nvSpPr>
          <p:cNvPr id="12" name="Rounded Rectangle 11"/>
          <p:cNvSpPr/>
          <p:nvPr/>
        </p:nvSpPr>
        <p:spPr>
          <a:xfrm>
            <a:off x="731520" y="5120640"/>
            <a:ext cx="10698480" cy="6400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166360"/>
            <a:ext cx="10149840" cy="548640"/>
          </a:xfrm>
          <a:prstGeom prst="rect">
            <a:avLst/>
          </a:prstGeom>
          <a:noFill/>
        </p:spPr>
        <p:txBody>
          <a:bodyPr wrap="square">
            <a:spAutoFit/>
          </a:bodyPr>
          <a:lstStyle/>
          <a:p>
            <a:pPr algn="l">
              <a:defRPr sz="1400" b="0">
                <a:solidFill>
                  <a:srgbClr val="242424"/>
                </a:solidFill>
                <a:latin typeface="Segoe UI"/>
              </a:defRPr>
            </a:pPr>
            <a:r>
              <a:t>⏱️  Important:  Published acronyms take up to a day to appear in search results. Plan accordingly during labs — Bookmarks (immediate) are easier to validate.</a:t>
            </a:r>
          </a:p>
        </p:txBody>
      </p:sp>
      <p:sp>
        <p:nvSpPr>
          <p:cNvPr id="14" name="Rectangle 1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16" name="TextBox 1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  Q&amp;A Answers — Status Note (2026)</a:t>
            </a:r>
          </a:p>
        </p:txBody>
      </p:sp>
      <p:sp>
        <p:nvSpPr>
          <p:cNvPr id="4" name="Rounded Rectangle 3"/>
          <p:cNvSpPr/>
          <p:nvPr/>
        </p:nvSpPr>
        <p:spPr>
          <a:xfrm>
            <a:off x="1371600" y="1371600"/>
            <a:ext cx="941832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371600"/>
            <a:ext cx="941832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1645920"/>
            <a:ext cx="8503920" cy="457200"/>
          </a:xfrm>
          <a:prstGeom prst="rect">
            <a:avLst/>
          </a:prstGeom>
          <a:noFill/>
        </p:spPr>
        <p:txBody>
          <a:bodyPr wrap="square">
            <a:spAutoFit/>
          </a:bodyPr>
          <a:lstStyle/>
          <a:p>
            <a:pPr algn="l">
              <a:defRPr sz="2200" b="1">
                <a:solidFill>
                  <a:srgbClr val="FF8C00"/>
                </a:solidFill>
                <a:latin typeface="Segoe UI"/>
              </a:defRPr>
            </a:pPr>
            <a:r>
              <a:t>📋  What You Need to Know</a:t>
            </a:r>
          </a:p>
        </p:txBody>
      </p:sp>
      <p:sp>
        <p:nvSpPr>
          <p:cNvPr id="7" name="TextBox 6"/>
          <p:cNvSpPr txBox="1"/>
          <p:nvPr/>
        </p:nvSpPr>
        <p:spPr>
          <a:xfrm>
            <a:off x="1828800" y="2286000"/>
            <a:ext cx="457200" cy="365760"/>
          </a:xfrm>
          <a:prstGeom prst="rect">
            <a:avLst/>
          </a:prstGeom>
          <a:noFill/>
        </p:spPr>
        <p:txBody>
          <a:bodyPr wrap="square">
            <a:spAutoFit/>
          </a:bodyPr>
          <a:lstStyle/>
          <a:p>
            <a:pPr algn="ctr">
              <a:defRPr sz="2200" b="0">
                <a:solidFill>
                  <a:srgbClr val="242424"/>
                </a:solidFill>
                <a:latin typeface="Segoe UI"/>
              </a:defRPr>
            </a:pPr>
            <a:r>
              <a:t>📖</a:t>
            </a:r>
          </a:p>
        </p:txBody>
      </p:sp>
      <p:sp>
        <p:nvSpPr>
          <p:cNvPr id="8" name="TextBox 7"/>
          <p:cNvSpPr txBox="1"/>
          <p:nvPr/>
        </p:nvSpPr>
        <p:spPr>
          <a:xfrm>
            <a:off x="2377440" y="2286000"/>
            <a:ext cx="1371600" cy="365760"/>
          </a:xfrm>
          <a:prstGeom prst="rect">
            <a:avLst/>
          </a:prstGeom>
          <a:noFill/>
        </p:spPr>
        <p:txBody>
          <a:bodyPr wrap="square">
            <a:spAutoFit/>
          </a:bodyPr>
          <a:lstStyle/>
          <a:p>
            <a:pPr algn="l">
              <a:defRPr sz="1600" b="1">
                <a:solidFill>
                  <a:srgbClr val="FF8C00"/>
                </a:solidFill>
                <a:latin typeface="Segoe UI"/>
              </a:defRPr>
            </a:pPr>
            <a:r>
              <a:t>Concept</a:t>
            </a:r>
          </a:p>
        </p:txBody>
      </p:sp>
      <p:sp>
        <p:nvSpPr>
          <p:cNvPr id="9" name="TextBox 8"/>
          <p:cNvSpPr txBox="1"/>
          <p:nvPr/>
        </p:nvSpPr>
        <p:spPr>
          <a:xfrm>
            <a:off x="3931920" y="2286000"/>
            <a:ext cx="6400800" cy="640080"/>
          </a:xfrm>
          <a:prstGeom prst="rect">
            <a:avLst/>
          </a:prstGeom>
          <a:noFill/>
        </p:spPr>
        <p:txBody>
          <a:bodyPr wrap="square">
            <a:spAutoFit/>
          </a:bodyPr>
          <a:lstStyle/>
          <a:p>
            <a:pPr algn="l">
              <a:defRPr sz="1300" b="0">
                <a:solidFill>
                  <a:srgbClr val="242424"/>
                </a:solidFill>
                <a:latin typeface="Segoe UI"/>
              </a:defRPr>
            </a:pPr>
            <a:r>
              <a:t>Q&amp;As are question-answer pairs curated by admins,</a:t>
            </a:r>
            <a:br/>
            <a:r>
              <a:t>historically shown at the top of search results</a:t>
            </a:r>
          </a:p>
        </p:txBody>
      </p:sp>
      <p:sp>
        <p:nvSpPr>
          <p:cNvPr id="10" name="TextBox 9"/>
          <p:cNvSpPr txBox="1"/>
          <p:nvPr/>
        </p:nvSpPr>
        <p:spPr>
          <a:xfrm>
            <a:off x="1828800" y="2971800"/>
            <a:ext cx="457200" cy="365760"/>
          </a:xfrm>
          <a:prstGeom prst="rect">
            <a:avLst/>
          </a:prstGeom>
          <a:noFill/>
        </p:spPr>
        <p:txBody>
          <a:bodyPr wrap="square">
            <a:spAutoFit/>
          </a:bodyPr>
          <a:lstStyle/>
          <a:p>
            <a:pPr algn="ctr">
              <a:defRPr sz="2200" b="0">
                <a:solidFill>
                  <a:srgbClr val="242424"/>
                </a:solidFill>
                <a:latin typeface="Segoe UI"/>
              </a:defRPr>
            </a:pPr>
            <a:r>
              <a:t>🔄</a:t>
            </a:r>
          </a:p>
        </p:txBody>
      </p:sp>
      <p:sp>
        <p:nvSpPr>
          <p:cNvPr id="11" name="TextBox 10"/>
          <p:cNvSpPr txBox="1"/>
          <p:nvPr/>
        </p:nvSpPr>
        <p:spPr>
          <a:xfrm>
            <a:off x="2377440" y="2971800"/>
            <a:ext cx="1371600" cy="365760"/>
          </a:xfrm>
          <a:prstGeom prst="rect">
            <a:avLst/>
          </a:prstGeom>
          <a:noFill/>
        </p:spPr>
        <p:txBody>
          <a:bodyPr wrap="square">
            <a:spAutoFit/>
          </a:bodyPr>
          <a:lstStyle/>
          <a:p>
            <a:pPr algn="l">
              <a:defRPr sz="1600" b="1">
                <a:solidFill>
                  <a:srgbClr val="FF8C00"/>
                </a:solidFill>
                <a:latin typeface="Segoe UI"/>
              </a:defRPr>
            </a:pPr>
            <a:r>
              <a:t>Status</a:t>
            </a:r>
          </a:p>
        </p:txBody>
      </p:sp>
      <p:sp>
        <p:nvSpPr>
          <p:cNvPr id="12" name="TextBox 11"/>
          <p:cNvSpPr txBox="1"/>
          <p:nvPr/>
        </p:nvSpPr>
        <p:spPr>
          <a:xfrm>
            <a:off x="3931920" y="2971800"/>
            <a:ext cx="6400800" cy="640080"/>
          </a:xfrm>
          <a:prstGeom prst="rect">
            <a:avLst/>
          </a:prstGeom>
          <a:noFill/>
        </p:spPr>
        <p:txBody>
          <a:bodyPr wrap="square">
            <a:spAutoFit/>
          </a:bodyPr>
          <a:lstStyle/>
          <a:p>
            <a:pPr algn="l">
              <a:defRPr sz="1300" b="0">
                <a:solidFill>
                  <a:srgbClr val="242424"/>
                </a:solidFill>
                <a:latin typeface="Segoe UI"/>
              </a:defRPr>
            </a:pPr>
            <a:r>
              <a:t>Microsoft Search in Bing retired (March 2025). Q&amp;A availability</a:t>
            </a:r>
            <a:br/>
            <a:r>
              <a:t>varies by tenant — check your admin center</a:t>
            </a:r>
          </a:p>
        </p:txBody>
      </p:sp>
      <p:sp>
        <p:nvSpPr>
          <p:cNvPr id="13" name="TextBox 12"/>
          <p:cNvSpPr txBox="1"/>
          <p:nvPr/>
        </p:nvSpPr>
        <p:spPr>
          <a:xfrm>
            <a:off x="1828800" y="3657600"/>
            <a:ext cx="457200" cy="365760"/>
          </a:xfrm>
          <a:prstGeom prst="rect">
            <a:avLst/>
          </a:prstGeom>
          <a:noFill/>
        </p:spPr>
        <p:txBody>
          <a:bodyPr wrap="square">
            <a:spAutoFit/>
          </a:bodyPr>
          <a:lstStyle/>
          <a:p>
            <a:pPr algn="ctr">
              <a:defRPr sz="2200" b="0">
                <a:solidFill>
                  <a:srgbClr val="242424"/>
                </a:solidFill>
                <a:latin typeface="Segoe UI"/>
              </a:defRPr>
            </a:pPr>
            <a:r>
              <a:t>🎯</a:t>
            </a:r>
          </a:p>
        </p:txBody>
      </p:sp>
      <p:sp>
        <p:nvSpPr>
          <p:cNvPr id="14" name="TextBox 13"/>
          <p:cNvSpPr txBox="1"/>
          <p:nvPr/>
        </p:nvSpPr>
        <p:spPr>
          <a:xfrm>
            <a:off x="2377440" y="3657600"/>
            <a:ext cx="1371600" cy="365760"/>
          </a:xfrm>
          <a:prstGeom prst="rect">
            <a:avLst/>
          </a:prstGeom>
          <a:noFill/>
        </p:spPr>
        <p:txBody>
          <a:bodyPr wrap="square">
            <a:spAutoFit/>
          </a:bodyPr>
          <a:lstStyle/>
          <a:p>
            <a:pPr algn="l">
              <a:defRPr sz="1600" b="1">
                <a:solidFill>
                  <a:srgbClr val="FF8C00"/>
                </a:solidFill>
                <a:latin typeface="Segoe UI"/>
              </a:defRPr>
            </a:pPr>
            <a:r>
              <a:t>Our Approach</a:t>
            </a:r>
          </a:p>
        </p:txBody>
      </p:sp>
      <p:sp>
        <p:nvSpPr>
          <p:cNvPr id="15" name="TextBox 14"/>
          <p:cNvSpPr txBox="1"/>
          <p:nvPr/>
        </p:nvSpPr>
        <p:spPr>
          <a:xfrm>
            <a:off x="3931920" y="3657600"/>
            <a:ext cx="6400800" cy="640080"/>
          </a:xfrm>
          <a:prstGeom prst="rect">
            <a:avLst/>
          </a:prstGeom>
          <a:noFill/>
        </p:spPr>
        <p:txBody>
          <a:bodyPr wrap="square">
            <a:spAutoFit/>
          </a:bodyPr>
          <a:lstStyle/>
          <a:p>
            <a:pPr algn="l">
              <a:defRPr sz="1300" b="0">
                <a:solidFill>
                  <a:srgbClr val="242424"/>
                </a:solidFill>
                <a:latin typeface="Segoe UI"/>
              </a:defRPr>
            </a:pPr>
            <a:r>
              <a:t>Teach Q&amp;As as a concept for exam/knowledge purposes.</a:t>
            </a:r>
            <a:br/>
            <a:r>
              <a:t>Design hands-on labs around Bookmarks + Acronyms</a:t>
            </a:r>
          </a:p>
        </p:txBody>
      </p:sp>
      <p:sp>
        <p:nvSpPr>
          <p:cNvPr id="16" name="TextBox 15"/>
          <p:cNvSpPr txBox="1"/>
          <p:nvPr/>
        </p:nvSpPr>
        <p:spPr>
          <a:xfrm>
            <a:off x="1828800" y="4343400"/>
            <a:ext cx="457200" cy="365760"/>
          </a:xfrm>
          <a:prstGeom prst="rect">
            <a:avLst/>
          </a:prstGeom>
          <a:noFill/>
        </p:spPr>
        <p:txBody>
          <a:bodyPr wrap="square">
            <a:spAutoFit/>
          </a:bodyPr>
          <a:lstStyle/>
          <a:p>
            <a:pPr algn="ctr">
              <a:defRPr sz="2200" b="0">
                <a:solidFill>
                  <a:srgbClr val="242424"/>
                </a:solidFill>
                <a:latin typeface="Segoe UI"/>
              </a:defRPr>
            </a:pPr>
            <a:r>
              <a:t>✅</a:t>
            </a:r>
          </a:p>
        </p:txBody>
      </p:sp>
      <p:sp>
        <p:nvSpPr>
          <p:cNvPr id="17" name="TextBox 16"/>
          <p:cNvSpPr txBox="1"/>
          <p:nvPr/>
        </p:nvSpPr>
        <p:spPr>
          <a:xfrm>
            <a:off x="2377440" y="4343400"/>
            <a:ext cx="1371600" cy="365760"/>
          </a:xfrm>
          <a:prstGeom prst="rect">
            <a:avLst/>
          </a:prstGeom>
          <a:noFill/>
        </p:spPr>
        <p:txBody>
          <a:bodyPr wrap="square">
            <a:spAutoFit/>
          </a:bodyPr>
          <a:lstStyle/>
          <a:p>
            <a:pPr algn="l">
              <a:defRPr sz="1600" b="1">
                <a:solidFill>
                  <a:srgbClr val="FF8C00"/>
                </a:solidFill>
                <a:latin typeface="Segoe UI"/>
              </a:defRPr>
            </a:pPr>
            <a:r>
              <a:t>If Available</a:t>
            </a:r>
          </a:p>
        </p:txBody>
      </p:sp>
      <p:sp>
        <p:nvSpPr>
          <p:cNvPr id="18" name="TextBox 17"/>
          <p:cNvSpPr txBox="1"/>
          <p:nvPr/>
        </p:nvSpPr>
        <p:spPr>
          <a:xfrm>
            <a:off x="3931920" y="4343400"/>
            <a:ext cx="6400800" cy="640080"/>
          </a:xfrm>
          <a:prstGeom prst="rect">
            <a:avLst/>
          </a:prstGeom>
          <a:noFill/>
        </p:spPr>
        <p:txBody>
          <a:bodyPr wrap="square">
            <a:spAutoFit/>
          </a:bodyPr>
          <a:lstStyle/>
          <a:p>
            <a:pPr algn="l">
              <a:defRPr sz="1300" b="0">
                <a:solidFill>
                  <a:srgbClr val="242424"/>
                </a:solidFill>
                <a:latin typeface="Segoe UI"/>
              </a:defRPr>
            </a:pPr>
            <a:r>
              <a:t>If your tenant still shows Q&amp;As in Search &amp; intelligence,</a:t>
            </a:r>
            <a:br/>
            <a:r>
              <a:t>they work similarly to Bookmarks (keyword-triggered)</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Answer Types Comparison</a:t>
            </a:r>
          </a:p>
        </p:txBody>
      </p:sp>
      <p:sp>
        <p:nvSpPr>
          <p:cNvPr id="4" name="Rectangle 3"/>
          <p:cNvSpPr/>
          <p:nvPr/>
        </p:nvSpPr>
        <p:spPr>
          <a:xfrm>
            <a:off x="731520" y="1280160"/>
            <a:ext cx="228600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25880"/>
            <a:ext cx="2103120" cy="365760"/>
          </a:xfrm>
          <a:prstGeom prst="rect">
            <a:avLst/>
          </a:prstGeom>
          <a:noFill/>
        </p:spPr>
        <p:txBody>
          <a:bodyPr wrap="square">
            <a:spAutoFit/>
          </a:bodyPr>
          <a:lstStyle/>
          <a:p>
            <a:pPr algn="ctr">
              <a:defRPr sz="1400" b="1">
                <a:solidFill>
                  <a:srgbClr val="FFFFFF"/>
                </a:solidFill>
                <a:latin typeface="Segoe UI"/>
              </a:defRPr>
            </a:pPr>
            <a:r>
              <a:t>Feature</a:t>
            </a:r>
          </a:p>
        </p:txBody>
      </p:sp>
      <p:sp>
        <p:nvSpPr>
          <p:cNvPr id="6" name="Rectangle 5"/>
          <p:cNvSpPr/>
          <p:nvPr/>
        </p:nvSpPr>
        <p:spPr>
          <a:xfrm>
            <a:off x="3017520" y="1280160"/>
            <a:ext cx="301752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0" y="1325880"/>
            <a:ext cx="2834640" cy="365760"/>
          </a:xfrm>
          <a:prstGeom prst="rect">
            <a:avLst/>
          </a:prstGeom>
          <a:noFill/>
        </p:spPr>
        <p:txBody>
          <a:bodyPr wrap="square">
            <a:spAutoFit/>
          </a:bodyPr>
          <a:lstStyle/>
          <a:p>
            <a:pPr algn="ctr">
              <a:defRPr sz="1400" b="1">
                <a:solidFill>
                  <a:srgbClr val="FFFFFF"/>
                </a:solidFill>
                <a:latin typeface="Segoe UI"/>
              </a:defRPr>
            </a:pPr>
            <a:r>
              <a:t>📌 Bookmarks</a:t>
            </a:r>
          </a:p>
        </p:txBody>
      </p:sp>
      <p:sp>
        <p:nvSpPr>
          <p:cNvPr id="8" name="Rectangle 7"/>
          <p:cNvSpPr/>
          <p:nvPr/>
        </p:nvSpPr>
        <p:spPr>
          <a:xfrm>
            <a:off x="6035040" y="1280160"/>
            <a:ext cx="301752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325880"/>
            <a:ext cx="2834640" cy="365760"/>
          </a:xfrm>
          <a:prstGeom prst="rect">
            <a:avLst/>
          </a:prstGeom>
          <a:noFill/>
        </p:spPr>
        <p:txBody>
          <a:bodyPr wrap="square">
            <a:spAutoFit/>
          </a:bodyPr>
          <a:lstStyle/>
          <a:p>
            <a:pPr algn="ctr">
              <a:defRPr sz="1400" b="1">
                <a:solidFill>
                  <a:srgbClr val="FFFFFF"/>
                </a:solidFill>
                <a:latin typeface="Segoe UI"/>
              </a:defRPr>
            </a:pPr>
            <a:r>
              <a:t>📝 Acronyms</a:t>
            </a:r>
          </a:p>
        </p:txBody>
      </p:sp>
      <p:sp>
        <p:nvSpPr>
          <p:cNvPr id="10" name="Rectangle 9"/>
          <p:cNvSpPr/>
          <p:nvPr/>
        </p:nvSpPr>
        <p:spPr>
          <a:xfrm>
            <a:off x="9052560" y="1280160"/>
            <a:ext cx="265176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325880"/>
            <a:ext cx="2468880" cy="365760"/>
          </a:xfrm>
          <a:prstGeom prst="rect">
            <a:avLst/>
          </a:prstGeom>
          <a:noFill/>
        </p:spPr>
        <p:txBody>
          <a:bodyPr wrap="square">
            <a:spAutoFit/>
          </a:bodyPr>
          <a:lstStyle/>
          <a:p>
            <a:pPr algn="ctr">
              <a:defRPr sz="1400" b="1">
                <a:solidFill>
                  <a:srgbClr val="FFFFFF"/>
                </a:solidFill>
                <a:latin typeface="Segoe UI"/>
              </a:defRPr>
            </a:pPr>
            <a:r>
              <a:t>❓ Q&amp;As</a:t>
            </a:r>
          </a:p>
        </p:txBody>
      </p:sp>
      <p:sp>
        <p:nvSpPr>
          <p:cNvPr id="12" name="Rectangle 11"/>
          <p:cNvSpPr/>
          <p:nvPr/>
        </p:nvSpPr>
        <p:spPr>
          <a:xfrm>
            <a:off x="731520" y="1783080"/>
            <a:ext cx="228600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828800"/>
            <a:ext cx="2103120" cy="457200"/>
          </a:xfrm>
          <a:prstGeom prst="rect">
            <a:avLst/>
          </a:prstGeom>
          <a:noFill/>
        </p:spPr>
        <p:txBody>
          <a:bodyPr wrap="square">
            <a:spAutoFit/>
          </a:bodyPr>
          <a:lstStyle/>
          <a:p>
            <a:pPr algn="ctr">
              <a:defRPr sz="1300" b="1">
                <a:solidFill>
                  <a:srgbClr val="242424"/>
                </a:solidFill>
                <a:latin typeface="Segoe UI"/>
              </a:defRPr>
            </a:pPr>
            <a:r>
              <a:t>Purpose</a:t>
            </a:r>
          </a:p>
        </p:txBody>
      </p:sp>
      <p:sp>
        <p:nvSpPr>
          <p:cNvPr id="14" name="Rectangle 13"/>
          <p:cNvSpPr/>
          <p:nvPr/>
        </p:nvSpPr>
        <p:spPr>
          <a:xfrm>
            <a:off x="3017520" y="1783080"/>
            <a:ext cx="301752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1828800"/>
            <a:ext cx="2834640" cy="457200"/>
          </a:xfrm>
          <a:prstGeom prst="rect">
            <a:avLst/>
          </a:prstGeom>
          <a:noFill/>
        </p:spPr>
        <p:txBody>
          <a:bodyPr wrap="square">
            <a:spAutoFit/>
          </a:bodyPr>
          <a:lstStyle/>
          <a:p>
            <a:pPr algn="ctr">
              <a:defRPr sz="1200" b="0">
                <a:solidFill>
                  <a:srgbClr val="242424"/>
                </a:solidFill>
                <a:latin typeface="Segoe UI"/>
              </a:defRPr>
            </a:pPr>
            <a:r>
              <a:t>Promoted links</a:t>
            </a:r>
          </a:p>
        </p:txBody>
      </p:sp>
      <p:sp>
        <p:nvSpPr>
          <p:cNvPr id="16" name="Rectangle 15"/>
          <p:cNvSpPr/>
          <p:nvPr/>
        </p:nvSpPr>
        <p:spPr>
          <a:xfrm>
            <a:off x="6035040" y="1783080"/>
            <a:ext cx="301752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828800"/>
            <a:ext cx="2834640" cy="457200"/>
          </a:xfrm>
          <a:prstGeom prst="rect">
            <a:avLst/>
          </a:prstGeom>
          <a:noFill/>
        </p:spPr>
        <p:txBody>
          <a:bodyPr wrap="square">
            <a:spAutoFit/>
          </a:bodyPr>
          <a:lstStyle/>
          <a:p>
            <a:pPr algn="ctr">
              <a:defRPr sz="1200" b="0">
                <a:solidFill>
                  <a:srgbClr val="242424"/>
                </a:solidFill>
                <a:latin typeface="Segoe UI"/>
              </a:defRPr>
            </a:pPr>
            <a:r>
              <a:t>Definitions</a:t>
            </a:r>
          </a:p>
        </p:txBody>
      </p:sp>
      <p:sp>
        <p:nvSpPr>
          <p:cNvPr id="18" name="Rectangle 17"/>
          <p:cNvSpPr/>
          <p:nvPr/>
        </p:nvSpPr>
        <p:spPr>
          <a:xfrm>
            <a:off x="9052560" y="1783080"/>
            <a:ext cx="265176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1828800"/>
            <a:ext cx="2468880" cy="457200"/>
          </a:xfrm>
          <a:prstGeom prst="rect">
            <a:avLst/>
          </a:prstGeom>
          <a:noFill/>
        </p:spPr>
        <p:txBody>
          <a:bodyPr wrap="square">
            <a:spAutoFit/>
          </a:bodyPr>
          <a:lstStyle/>
          <a:p>
            <a:pPr algn="ctr">
              <a:defRPr sz="1200" b="0">
                <a:solidFill>
                  <a:srgbClr val="242424"/>
                </a:solidFill>
                <a:latin typeface="Segoe UI"/>
              </a:defRPr>
            </a:pPr>
            <a:r>
              <a:t>FAQ answers</a:t>
            </a:r>
          </a:p>
        </p:txBody>
      </p:sp>
      <p:sp>
        <p:nvSpPr>
          <p:cNvPr id="20" name="Rectangle 19"/>
          <p:cNvSpPr/>
          <p:nvPr/>
        </p:nvSpPr>
        <p:spPr>
          <a:xfrm>
            <a:off x="731520" y="2377440"/>
            <a:ext cx="228600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2423160"/>
            <a:ext cx="2103120" cy="457200"/>
          </a:xfrm>
          <a:prstGeom prst="rect">
            <a:avLst/>
          </a:prstGeom>
          <a:noFill/>
        </p:spPr>
        <p:txBody>
          <a:bodyPr wrap="square">
            <a:spAutoFit/>
          </a:bodyPr>
          <a:lstStyle/>
          <a:p>
            <a:pPr algn="ctr">
              <a:defRPr sz="1300" b="1">
                <a:solidFill>
                  <a:srgbClr val="242424"/>
                </a:solidFill>
                <a:latin typeface="Segoe UI"/>
              </a:defRPr>
            </a:pPr>
            <a:r>
              <a:t>Trigger</a:t>
            </a:r>
          </a:p>
        </p:txBody>
      </p:sp>
      <p:sp>
        <p:nvSpPr>
          <p:cNvPr id="22" name="Rectangle 21"/>
          <p:cNvSpPr/>
          <p:nvPr/>
        </p:nvSpPr>
        <p:spPr>
          <a:xfrm>
            <a:off x="3017520" y="2377440"/>
            <a:ext cx="301752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0" y="2423160"/>
            <a:ext cx="2834640" cy="457200"/>
          </a:xfrm>
          <a:prstGeom prst="rect">
            <a:avLst/>
          </a:prstGeom>
          <a:noFill/>
        </p:spPr>
        <p:txBody>
          <a:bodyPr wrap="square">
            <a:spAutoFit/>
          </a:bodyPr>
          <a:lstStyle/>
          <a:p>
            <a:pPr algn="ctr">
              <a:defRPr sz="1200" b="0">
                <a:solidFill>
                  <a:srgbClr val="242424"/>
                </a:solidFill>
                <a:latin typeface="Segoe UI"/>
              </a:defRPr>
            </a:pPr>
            <a:r>
              <a:t>Keyword match</a:t>
            </a:r>
          </a:p>
        </p:txBody>
      </p:sp>
      <p:sp>
        <p:nvSpPr>
          <p:cNvPr id="24" name="Rectangle 23"/>
          <p:cNvSpPr/>
          <p:nvPr/>
        </p:nvSpPr>
        <p:spPr>
          <a:xfrm>
            <a:off x="6035040" y="2377440"/>
            <a:ext cx="301752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0" y="2423160"/>
            <a:ext cx="2834640" cy="457200"/>
          </a:xfrm>
          <a:prstGeom prst="rect">
            <a:avLst/>
          </a:prstGeom>
          <a:noFill/>
        </p:spPr>
        <p:txBody>
          <a:bodyPr wrap="square">
            <a:spAutoFit/>
          </a:bodyPr>
          <a:lstStyle/>
          <a:p>
            <a:pPr algn="ctr">
              <a:defRPr sz="1200" b="0">
                <a:solidFill>
                  <a:srgbClr val="242424"/>
                </a:solidFill>
                <a:latin typeface="Segoe UI"/>
              </a:defRPr>
            </a:pPr>
            <a:r>
              <a:t>Acronym query</a:t>
            </a:r>
          </a:p>
        </p:txBody>
      </p:sp>
      <p:sp>
        <p:nvSpPr>
          <p:cNvPr id="26" name="Rectangle 25"/>
          <p:cNvSpPr/>
          <p:nvPr/>
        </p:nvSpPr>
        <p:spPr>
          <a:xfrm>
            <a:off x="9052560" y="2377440"/>
            <a:ext cx="265176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2423160"/>
            <a:ext cx="2468880" cy="457200"/>
          </a:xfrm>
          <a:prstGeom prst="rect">
            <a:avLst/>
          </a:prstGeom>
          <a:noFill/>
        </p:spPr>
        <p:txBody>
          <a:bodyPr wrap="square">
            <a:spAutoFit/>
          </a:bodyPr>
          <a:lstStyle/>
          <a:p>
            <a:pPr algn="ctr">
              <a:defRPr sz="1200" b="0">
                <a:solidFill>
                  <a:srgbClr val="242424"/>
                </a:solidFill>
                <a:latin typeface="Segoe UI"/>
              </a:defRPr>
            </a:pPr>
            <a:r>
              <a:t>Keyword match</a:t>
            </a:r>
          </a:p>
        </p:txBody>
      </p:sp>
      <p:sp>
        <p:nvSpPr>
          <p:cNvPr id="28" name="Rectangle 27"/>
          <p:cNvSpPr/>
          <p:nvPr/>
        </p:nvSpPr>
        <p:spPr>
          <a:xfrm>
            <a:off x="731520" y="2971800"/>
            <a:ext cx="228600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017520"/>
            <a:ext cx="2103120" cy="457200"/>
          </a:xfrm>
          <a:prstGeom prst="rect">
            <a:avLst/>
          </a:prstGeom>
          <a:noFill/>
        </p:spPr>
        <p:txBody>
          <a:bodyPr wrap="square">
            <a:spAutoFit/>
          </a:bodyPr>
          <a:lstStyle/>
          <a:p>
            <a:pPr algn="ctr">
              <a:defRPr sz="1300" b="1">
                <a:solidFill>
                  <a:srgbClr val="242424"/>
                </a:solidFill>
                <a:latin typeface="Segoe UI"/>
              </a:defRPr>
            </a:pPr>
            <a:r>
              <a:t>Created by</a:t>
            </a:r>
          </a:p>
        </p:txBody>
      </p:sp>
      <p:sp>
        <p:nvSpPr>
          <p:cNvPr id="30" name="Rectangle 29"/>
          <p:cNvSpPr/>
          <p:nvPr/>
        </p:nvSpPr>
        <p:spPr>
          <a:xfrm>
            <a:off x="3017520" y="2971800"/>
            <a:ext cx="301752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0" y="3017520"/>
            <a:ext cx="2834640" cy="457200"/>
          </a:xfrm>
          <a:prstGeom prst="rect">
            <a:avLst/>
          </a:prstGeom>
          <a:noFill/>
        </p:spPr>
        <p:txBody>
          <a:bodyPr wrap="square">
            <a:spAutoFit/>
          </a:bodyPr>
          <a:lstStyle/>
          <a:p>
            <a:pPr algn="ctr">
              <a:defRPr sz="1200" b="0">
                <a:solidFill>
                  <a:srgbClr val="242424"/>
                </a:solidFill>
                <a:latin typeface="Segoe UI"/>
              </a:defRPr>
            </a:pPr>
            <a:r>
              <a:t>Search admin/editor</a:t>
            </a:r>
          </a:p>
        </p:txBody>
      </p:sp>
      <p:sp>
        <p:nvSpPr>
          <p:cNvPr id="32" name="Rectangle 31"/>
          <p:cNvSpPr/>
          <p:nvPr/>
        </p:nvSpPr>
        <p:spPr>
          <a:xfrm>
            <a:off x="6035040" y="2971800"/>
            <a:ext cx="301752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0" y="3017520"/>
            <a:ext cx="2834640" cy="457200"/>
          </a:xfrm>
          <a:prstGeom prst="rect">
            <a:avLst/>
          </a:prstGeom>
          <a:noFill/>
        </p:spPr>
        <p:txBody>
          <a:bodyPr wrap="square">
            <a:spAutoFit/>
          </a:bodyPr>
          <a:lstStyle/>
          <a:p>
            <a:pPr algn="ctr">
              <a:defRPr sz="1200" b="0">
                <a:solidFill>
                  <a:srgbClr val="242424"/>
                </a:solidFill>
                <a:latin typeface="Segoe UI"/>
              </a:defRPr>
            </a:pPr>
            <a:r>
              <a:t>Admin or system</a:t>
            </a:r>
          </a:p>
        </p:txBody>
      </p:sp>
      <p:sp>
        <p:nvSpPr>
          <p:cNvPr id="34" name="Rectangle 33"/>
          <p:cNvSpPr/>
          <p:nvPr/>
        </p:nvSpPr>
        <p:spPr>
          <a:xfrm>
            <a:off x="9052560" y="2971800"/>
            <a:ext cx="265176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0" y="3017520"/>
            <a:ext cx="2468880" cy="457200"/>
          </a:xfrm>
          <a:prstGeom prst="rect">
            <a:avLst/>
          </a:prstGeom>
          <a:noFill/>
        </p:spPr>
        <p:txBody>
          <a:bodyPr wrap="square">
            <a:spAutoFit/>
          </a:bodyPr>
          <a:lstStyle/>
          <a:p>
            <a:pPr algn="ctr">
              <a:defRPr sz="1200" b="0">
                <a:solidFill>
                  <a:srgbClr val="242424"/>
                </a:solidFill>
                <a:latin typeface="Segoe UI"/>
              </a:defRPr>
            </a:pPr>
            <a:r>
              <a:t>Search admin/editor</a:t>
            </a:r>
          </a:p>
        </p:txBody>
      </p:sp>
      <p:sp>
        <p:nvSpPr>
          <p:cNvPr id="36" name="Rectangle 35"/>
          <p:cNvSpPr/>
          <p:nvPr/>
        </p:nvSpPr>
        <p:spPr>
          <a:xfrm>
            <a:off x="731520" y="3566160"/>
            <a:ext cx="228600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3611880"/>
            <a:ext cx="2103120" cy="457200"/>
          </a:xfrm>
          <a:prstGeom prst="rect">
            <a:avLst/>
          </a:prstGeom>
          <a:noFill/>
        </p:spPr>
        <p:txBody>
          <a:bodyPr wrap="square">
            <a:spAutoFit/>
          </a:bodyPr>
          <a:lstStyle/>
          <a:p>
            <a:pPr algn="ctr">
              <a:defRPr sz="1300" b="1">
                <a:solidFill>
                  <a:srgbClr val="242424"/>
                </a:solidFill>
                <a:latin typeface="Segoe UI"/>
              </a:defRPr>
            </a:pPr>
            <a:r>
              <a:t>Availability</a:t>
            </a:r>
          </a:p>
        </p:txBody>
      </p:sp>
      <p:sp>
        <p:nvSpPr>
          <p:cNvPr id="38" name="Rectangle 37"/>
          <p:cNvSpPr/>
          <p:nvPr/>
        </p:nvSpPr>
        <p:spPr>
          <a:xfrm>
            <a:off x="3017520" y="3566160"/>
            <a:ext cx="301752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0" y="3611880"/>
            <a:ext cx="2834640" cy="457200"/>
          </a:xfrm>
          <a:prstGeom prst="rect">
            <a:avLst/>
          </a:prstGeom>
          <a:noFill/>
        </p:spPr>
        <p:txBody>
          <a:bodyPr wrap="square">
            <a:spAutoFit/>
          </a:bodyPr>
          <a:lstStyle/>
          <a:p>
            <a:pPr algn="ctr">
              <a:defRPr sz="1200" b="0">
                <a:solidFill>
                  <a:srgbClr val="242424"/>
                </a:solidFill>
                <a:latin typeface="Segoe UI"/>
              </a:defRPr>
            </a:pPr>
            <a:r>
              <a:t>Immediate</a:t>
            </a:r>
          </a:p>
        </p:txBody>
      </p:sp>
      <p:sp>
        <p:nvSpPr>
          <p:cNvPr id="40" name="Rectangle 39"/>
          <p:cNvSpPr/>
          <p:nvPr/>
        </p:nvSpPr>
        <p:spPr>
          <a:xfrm>
            <a:off x="6035040" y="3566160"/>
            <a:ext cx="301752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0" y="3611880"/>
            <a:ext cx="2834640" cy="457200"/>
          </a:xfrm>
          <a:prstGeom prst="rect">
            <a:avLst/>
          </a:prstGeom>
          <a:noFill/>
        </p:spPr>
        <p:txBody>
          <a:bodyPr wrap="square">
            <a:spAutoFit/>
          </a:bodyPr>
          <a:lstStyle/>
          <a:p>
            <a:pPr algn="ctr">
              <a:defRPr sz="1200" b="0">
                <a:solidFill>
                  <a:srgbClr val="242424"/>
                </a:solidFill>
                <a:latin typeface="Segoe UI"/>
              </a:defRPr>
            </a:pPr>
            <a:r>
              <a:t>Up to 24 hours</a:t>
            </a:r>
          </a:p>
        </p:txBody>
      </p:sp>
      <p:sp>
        <p:nvSpPr>
          <p:cNvPr id="42" name="Rectangle 41"/>
          <p:cNvSpPr/>
          <p:nvPr/>
        </p:nvSpPr>
        <p:spPr>
          <a:xfrm>
            <a:off x="9052560" y="3566160"/>
            <a:ext cx="265176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0" y="3611880"/>
            <a:ext cx="2468880" cy="457200"/>
          </a:xfrm>
          <a:prstGeom prst="rect">
            <a:avLst/>
          </a:prstGeom>
          <a:noFill/>
        </p:spPr>
        <p:txBody>
          <a:bodyPr wrap="square">
            <a:spAutoFit/>
          </a:bodyPr>
          <a:lstStyle/>
          <a:p>
            <a:pPr algn="ctr">
              <a:defRPr sz="1200" b="0">
                <a:solidFill>
                  <a:srgbClr val="242424"/>
                </a:solidFill>
                <a:latin typeface="Segoe UI"/>
              </a:defRPr>
            </a:pPr>
            <a:r>
              <a:t>Varies by tenant</a:t>
            </a:r>
          </a:p>
        </p:txBody>
      </p:sp>
      <p:sp>
        <p:nvSpPr>
          <p:cNvPr id="44" name="Rectangle 43"/>
          <p:cNvSpPr/>
          <p:nvPr/>
        </p:nvSpPr>
        <p:spPr>
          <a:xfrm>
            <a:off x="731520" y="4160520"/>
            <a:ext cx="228600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4206240"/>
            <a:ext cx="2103120" cy="457200"/>
          </a:xfrm>
          <a:prstGeom prst="rect">
            <a:avLst/>
          </a:prstGeom>
          <a:noFill/>
        </p:spPr>
        <p:txBody>
          <a:bodyPr wrap="square">
            <a:spAutoFit/>
          </a:bodyPr>
          <a:lstStyle/>
          <a:p>
            <a:pPr algn="ctr">
              <a:defRPr sz="1300" b="1">
                <a:solidFill>
                  <a:srgbClr val="242424"/>
                </a:solidFill>
                <a:latin typeface="Segoe UI"/>
              </a:defRPr>
            </a:pPr>
            <a:r>
              <a:t>States</a:t>
            </a:r>
          </a:p>
        </p:txBody>
      </p:sp>
      <p:sp>
        <p:nvSpPr>
          <p:cNvPr id="46" name="Rectangle 45"/>
          <p:cNvSpPr/>
          <p:nvPr/>
        </p:nvSpPr>
        <p:spPr>
          <a:xfrm>
            <a:off x="3017520" y="4160520"/>
            <a:ext cx="301752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08960" y="4206240"/>
            <a:ext cx="2834640" cy="457200"/>
          </a:xfrm>
          <a:prstGeom prst="rect">
            <a:avLst/>
          </a:prstGeom>
          <a:noFill/>
        </p:spPr>
        <p:txBody>
          <a:bodyPr wrap="square">
            <a:spAutoFit/>
          </a:bodyPr>
          <a:lstStyle/>
          <a:p>
            <a:pPr algn="ctr">
              <a:defRPr sz="1200" b="0">
                <a:solidFill>
                  <a:srgbClr val="242424"/>
                </a:solidFill>
                <a:latin typeface="Segoe UI"/>
              </a:defRPr>
            </a:pPr>
            <a:r>
              <a:t>Draft / Published /</a:t>
            </a:r>
            <a:br/>
            <a:r>
              <a:t>Scheduled</a:t>
            </a:r>
          </a:p>
        </p:txBody>
      </p:sp>
      <p:sp>
        <p:nvSpPr>
          <p:cNvPr id="48" name="Rectangle 47"/>
          <p:cNvSpPr/>
          <p:nvPr/>
        </p:nvSpPr>
        <p:spPr>
          <a:xfrm>
            <a:off x="6035040" y="4160520"/>
            <a:ext cx="301752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26480" y="4206240"/>
            <a:ext cx="2834640" cy="457200"/>
          </a:xfrm>
          <a:prstGeom prst="rect">
            <a:avLst/>
          </a:prstGeom>
          <a:noFill/>
        </p:spPr>
        <p:txBody>
          <a:bodyPr wrap="square">
            <a:spAutoFit/>
          </a:bodyPr>
          <a:lstStyle/>
          <a:p>
            <a:pPr algn="ctr">
              <a:defRPr sz="1200" b="0">
                <a:solidFill>
                  <a:srgbClr val="242424"/>
                </a:solidFill>
                <a:latin typeface="Segoe UI"/>
              </a:defRPr>
            </a:pPr>
            <a:r>
              <a:t>Draft / Published /</a:t>
            </a:r>
            <a:br/>
            <a:r>
              <a:t>Excluded</a:t>
            </a:r>
          </a:p>
        </p:txBody>
      </p:sp>
      <p:sp>
        <p:nvSpPr>
          <p:cNvPr id="50" name="Rectangle 49"/>
          <p:cNvSpPr/>
          <p:nvPr/>
        </p:nvSpPr>
        <p:spPr>
          <a:xfrm>
            <a:off x="9052560" y="4160520"/>
            <a:ext cx="2651760" cy="5486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0" y="4206240"/>
            <a:ext cx="2468880" cy="457200"/>
          </a:xfrm>
          <a:prstGeom prst="rect">
            <a:avLst/>
          </a:prstGeom>
          <a:noFill/>
        </p:spPr>
        <p:txBody>
          <a:bodyPr wrap="square">
            <a:spAutoFit/>
          </a:bodyPr>
          <a:lstStyle/>
          <a:p>
            <a:pPr algn="ctr">
              <a:defRPr sz="1200" b="0">
                <a:solidFill>
                  <a:srgbClr val="242424"/>
                </a:solidFill>
                <a:latin typeface="Segoe UI"/>
              </a:defRPr>
            </a:pPr>
            <a:r>
              <a:t>Draft / Published</a:t>
            </a:r>
          </a:p>
        </p:txBody>
      </p:sp>
      <p:sp>
        <p:nvSpPr>
          <p:cNvPr id="52" name="Rectangle 51"/>
          <p:cNvSpPr/>
          <p:nvPr/>
        </p:nvSpPr>
        <p:spPr>
          <a:xfrm>
            <a:off x="731520" y="4754880"/>
            <a:ext cx="228600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2960" y="4800600"/>
            <a:ext cx="2103120" cy="457200"/>
          </a:xfrm>
          <a:prstGeom prst="rect">
            <a:avLst/>
          </a:prstGeom>
          <a:noFill/>
        </p:spPr>
        <p:txBody>
          <a:bodyPr wrap="square">
            <a:spAutoFit/>
          </a:bodyPr>
          <a:lstStyle/>
          <a:p>
            <a:pPr algn="ctr">
              <a:defRPr sz="1300" b="1">
                <a:solidFill>
                  <a:srgbClr val="242424"/>
                </a:solidFill>
                <a:latin typeface="Segoe UI"/>
              </a:defRPr>
            </a:pPr>
            <a:r>
              <a:t>Lab focus</a:t>
            </a:r>
          </a:p>
        </p:txBody>
      </p:sp>
      <p:sp>
        <p:nvSpPr>
          <p:cNvPr id="54" name="Rectangle 53"/>
          <p:cNvSpPr/>
          <p:nvPr/>
        </p:nvSpPr>
        <p:spPr>
          <a:xfrm>
            <a:off x="3017520" y="4754880"/>
            <a:ext cx="301752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108960" y="4800600"/>
            <a:ext cx="2834640" cy="457200"/>
          </a:xfrm>
          <a:prstGeom prst="rect">
            <a:avLst/>
          </a:prstGeom>
          <a:noFill/>
        </p:spPr>
        <p:txBody>
          <a:bodyPr wrap="square">
            <a:spAutoFit/>
          </a:bodyPr>
          <a:lstStyle/>
          <a:p>
            <a:pPr algn="ctr">
              <a:defRPr sz="1200" b="0">
                <a:solidFill>
                  <a:srgbClr val="242424"/>
                </a:solidFill>
                <a:latin typeface="Segoe UI"/>
              </a:defRPr>
            </a:pPr>
            <a:r>
              <a:t>✅ Primary</a:t>
            </a:r>
          </a:p>
        </p:txBody>
      </p:sp>
      <p:sp>
        <p:nvSpPr>
          <p:cNvPr id="56" name="Rectangle 55"/>
          <p:cNvSpPr/>
          <p:nvPr/>
        </p:nvSpPr>
        <p:spPr>
          <a:xfrm>
            <a:off x="6035040" y="4754880"/>
            <a:ext cx="301752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26480" y="4800600"/>
            <a:ext cx="2834640" cy="457200"/>
          </a:xfrm>
          <a:prstGeom prst="rect">
            <a:avLst/>
          </a:prstGeom>
          <a:noFill/>
        </p:spPr>
        <p:txBody>
          <a:bodyPr wrap="square">
            <a:spAutoFit/>
          </a:bodyPr>
          <a:lstStyle/>
          <a:p>
            <a:pPr algn="ctr">
              <a:defRPr sz="1200" b="0">
                <a:solidFill>
                  <a:srgbClr val="242424"/>
                </a:solidFill>
                <a:latin typeface="Segoe UI"/>
              </a:defRPr>
            </a:pPr>
            <a:r>
              <a:t>✅ Secondary</a:t>
            </a:r>
          </a:p>
        </p:txBody>
      </p:sp>
      <p:sp>
        <p:nvSpPr>
          <p:cNvPr id="58" name="Rectangle 57"/>
          <p:cNvSpPr/>
          <p:nvPr/>
        </p:nvSpPr>
        <p:spPr>
          <a:xfrm>
            <a:off x="9052560" y="4754880"/>
            <a:ext cx="2651760" cy="5486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44000" y="4800600"/>
            <a:ext cx="2468880" cy="457200"/>
          </a:xfrm>
          <a:prstGeom prst="rect">
            <a:avLst/>
          </a:prstGeom>
          <a:noFill/>
        </p:spPr>
        <p:txBody>
          <a:bodyPr wrap="square">
            <a:spAutoFit/>
          </a:bodyPr>
          <a:lstStyle/>
          <a:p>
            <a:pPr algn="ctr">
              <a:defRPr sz="1200" b="0">
                <a:solidFill>
                  <a:srgbClr val="242424"/>
                </a:solidFill>
                <a:latin typeface="Segoe UI"/>
              </a:defRPr>
            </a:pPr>
            <a:r>
              <a:t>⚪ Concept only</a:t>
            </a:r>
          </a:p>
        </p:txBody>
      </p:sp>
      <p:sp>
        <p:nvSpPr>
          <p:cNvPr id="60" name="Rectangle 5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62" name="TextBox 6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Search Schema &amp; Indexing</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Crawled properties, managed properties, and reindexing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Crawled vs Managed Properties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The bridge between content and searchable index</a:t>
            </a:r>
          </a:p>
        </p:txBody>
      </p:sp>
      <p:sp>
        <p:nvSpPr>
          <p:cNvPr id="5" name="Rounded Rectangle 4"/>
          <p:cNvSpPr/>
          <p:nvPr/>
        </p:nvSpPr>
        <p:spPr>
          <a:xfrm>
            <a:off x="731520" y="164592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457200"/>
          </a:xfrm>
          <a:prstGeom prst="rect">
            <a:avLst/>
          </a:prstGeom>
          <a:noFill/>
        </p:spPr>
        <p:txBody>
          <a:bodyPr wrap="square">
            <a:spAutoFit/>
          </a:bodyPr>
          <a:lstStyle/>
          <a:p>
            <a:pPr algn="ctr">
              <a:defRPr sz="2200" b="1">
                <a:solidFill>
                  <a:srgbClr val="0078D4"/>
                </a:solidFill>
                <a:latin typeface="Segoe UI"/>
              </a:defRPr>
            </a:pPr>
            <a:r>
              <a:t>📥  Crawled Properties</a:t>
            </a:r>
          </a:p>
        </p:txBody>
      </p:sp>
      <p:sp>
        <p:nvSpPr>
          <p:cNvPr id="8" name="TextBox 7"/>
          <p:cNvSpPr txBox="1"/>
          <p:nvPr/>
        </p:nvSpPr>
        <p:spPr>
          <a:xfrm>
            <a:off x="1097280" y="2377440"/>
            <a:ext cx="4572000" cy="2743200"/>
          </a:xfrm>
          <a:prstGeom prst="rect">
            <a:avLst/>
          </a:prstGeom>
          <a:noFill/>
        </p:spPr>
        <p:txBody>
          <a:bodyPr wrap="square">
            <a:spAutoFit/>
          </a:bodyPr>
          <a:lstStyle/>
          <a:p>
            <a:pPr>
              <a:spcAft>
                <a:spcPts val="600"/>
              </a:spcAft>
              <a:defRPr sz="1400">
                <a:solidFill>
                  <a:srgbClr val="242424"/>
                </a:solidFill>
                <a:latin typeface="Segoe UI"/>
              </a:defRPr>
            </a:pPr>
            <a:r>
              <a:t>▸ Discovered automatically during content crawl</a:t>
            </a:r>
          </a:p>
          <a:p>
            <a:pPr>
              <a:spcAft>
                <a:spcPts val="600"/>
              </a:spcAft>
              <a:defRPr sz="1400">
                <a:solidFill>
                  <a:srgbClr val="242424"/>
                </a:solidFill>
                <a:latin typeface="Segoe UI"/>
              </a:defRPr>
            </a:pPr>
            <a:r>
              <a:t>▸ Raw metadata from documents, lists, libraries</a:t>
            </a:r>
          </a:p>
          <a:p>
            <a:pPr>
              <a:spcAft>
                <a:spcPts val="600"/>
              </a:spcAft>
              <a:defRPr sz="1400">
                <a:solidFill>
                  <a:srgbClr val="242424"/>
                </a:solidFill>
                <a:latin typeface="Segoe UI"/>
              </a:defRPr>
            </a:pPr>
            <a:r>
              <a:t>▸ Examples: ows_Title, ows_Author, ows_Created</a:t>
            </a:r>
          </a:p>
          <a:p>
            <a:pPr>
              <a:spcAft>
                <a:spcPts val="600"/>
              </a:spcAft>
              <a:defRPr sz="1400">
                <a:solidFill>
                  <a:srgbClr val="242424"/>
                </a:solidFill>
                <a:latin typeface="Segoe UI"/>
              </a:defRPr>
            </a:pPr>
            <a:r>
              <a:t>▸ Not directly searchable by users</a:t>
            </a:r>
          </a:p>
          <a:p>
            <a:pPr>
              <a:spcAft>
                <a:spcPts val="600"/>
              </a:spcAft>
              <a:defRPr sz="1400">
                <a:solidFill>
                  <a:srgbClr val="242424"/>
                </a:solidFill>
                <a:latin typeface="Segoe UI"/>
              </a:defRPr>
            </a:pPr>
            <a:r>
              <a:t>▸ Must be mapped to managed properties</a:t>
            </a:r>
          </a:p>
        </p:txBody>
      </p:sp>
      <p:sp>
        <p:nvSpPr>
          <p:cNvPr id="9" name="TextBox 8"/>
          <p:cNvSpPr txBox="1"/>
          <p:nvPr/>
        </p:nvSpPr>
        <p:spPr>
          <a:xfrm>
            <a:off x="5852160" y="3200400"/>
            <a:ext cx="457200" cy="548640"/>
          </a:xfrm>
          <a:prstGeom prst="rect">
            <a:avLst/>
          </a:prstGeom>
          <a:noFill/>
        </p:spPr>
        <p:txBody>
          <a:bodyPr wrap="square">
            <a:spAutoFit/>
          </a:bodyPr>
          <a:lstStyle/>
          <a:p>
            <a:pPr algn="ctr">
              <a:defRPr sz="3600" b="1">
                <a:solidFill>
                  <a:srgbClr val="00B294"/>
                </a:solidFill>
                <a:latin typeface="Segoe UI"/>
              </a:defRPr>
            </a:pPr>
            <a:r>
              <a:t>→</a:t>
            </a:r>
          </a:p>
        </p:txBody>
      </p:sp>
      <p:sp>
        <p:nvSpPr>
          <p:cNvPr id="10" name="Rounded Rectangle 9"/>
          <p:cNvSpPr/>
          <p:nvPr/>
        </p:nvSpPr>
        <p:spPr>
          <a:xfrm>
            <a:off x="6309360" y="164592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64592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28800"/>
            <a:ext cx="4754880" cy="457200"/>
          </a:xfrm>
          <a:prstGeom prst="rect">
            <a:avLst/>
          </a:prstGeom>
          <a:noFill/>
        </p:spPr>
        <p:txBody>
          <a:bodyPr wrap="square">
            <a:spAutoFit/>
          </a:bodyPr>
          <a:lstStyle/>
          <a:p>
            <a:pPr algn="ctr">
              <a:defRPr sz="2200" b="1">
                <a:solidFill>
                  <a:srgbClr val="00B294"/>
                </a:solidFill>
                <a:latin typeface="Segoe UI"/>
              </a:defRPr>
            </a:pPr>
            <a:r>
              <a:t>📤  Managed Properties</a:t>
            </a:r>
          </a:p>
        </p:txBody>
      </p:sp>
      <p:sp>
        <p:nvSpPr>
          <p:cNvPr id="13" name="TextBox 12"/>
          <p:cNvSpPr txBox="1"/>
          <p:nvPr/>
        </p:nvSpPr>
        <p:spPr>
          <a:xfrm>
            <a:off x="6675120" y="2377440"/>
            <a:ext cx="4572000" cy="2743200"/>
          </a:xfrm>
          <a:prstGeom prst="rect">
            <a:avLst/>
          </a:prstGeom>
          <a:noFill/>
        </p:spPr>
        <p:txBody>
          <a:bodyPr wrap="square">
            <a:spAutoFit/>
          </a:bodyPr>
          <a:lstStyle/>
          <a:p>
            <a:pPr>
              <a:spcAft>
                <a:spcPts val="600"/>
              </a:spcAft>
              <a:defRPr sz="1400">
                <a:solidFill>
                  <a:srgbClr val="242424"/>
                </a:solidFill>
                <a:latin typeface="Segoe UI"/>
              </a:defRPr>
            </a:pPr>
            <a:r>
              <a:t>▸ Kept in the search index (queryable/retrievable)</a:t>
            </a:r>
          </a:p>
          <a:p>
            <a:pPr>
              <a:spcAft>
                <a:spcPts val="600"/>
              </a:spcAft>
              <a:defRPr sz="1400">
                <a:solidFill>
                  <a:srgbClr val="242424"/>
                </a:solidFill>
                <a:latin typeface="Segoe UI"/>
              </a:defRPr>
            </a:pPr>
            <a:r>
              <a:t>▸ Users search against managed properties</a:t>
            </a:r>
          </a:p>
          <a:p>
            <a:pPr>
              <a:spcAft>
                <a:spcPts val="600"/>
              </a:spcAft>
              <a:defRPr sz="1400">
                <a:solidFill>
                  <a:srgbClr val="242424"/>
                </a:solidFill>
                <a:latin typeface="Segoe UI"/>
              </a:defRPr>
            </a:pPr>
            <a:r>
              <a:t>▸ Settings: queryable, searchable, retrievable, refinable, sortable</a:t>
            </a:r>
          </a:p>
          <a:p>
            <a:pPr>
              <a:spcAft>
                <a:spcPts val="600"/>
              </a:spcAft>
              <a:defRPr sz="1400">
                <a:solidFill>
                  <a:srgbClr val="242424"/>
                </a:solidFill>
                <a:latin typeface="Segoe UI"/>
              </a:defRPr>
            </a:pPr>
            <a:r>
              <a:t>▸ Built-in (e.g. Author, Title) or custom (RefinableString00…)</a:t>
            </a:r>
          </a:p>
          <a:p>
            <a:pPr>
              <a:spcAft>
                <a:spcPts val="600"/>
              </a:spcAft>
              <a:defRPr sz="1400">
                <a:solidFill>
                  <a:srgbClr val="242424"/>
                </a:solidFill>
                <a:latin typeface="Segoe UI"/>
              </a:defRPr>
            </a:pPr>
            <a:r>
              <a:t>▸ Changes require reindexing the affected content</a:t>
            </a:r>
          </a:p>
        </p:txBody>
      </p:sp>
      <p:sp>
        <p:nvSpPr>
          <p:cNvPr id="14" name="Rounded Rectangle 13"/>
          <p:cNvSpPr/>
          <p:nvPr/>
        </p:nvSpPr>
        <p:spPr>
          <a:xfrm>
            <a:off x="731520" y="5760720"/>
            <a:ext cx="10698480" cy="54864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806440"/>
            <a:ext cx="10149840" cy="457200"/>
          </a:xfrm>
          <a:prstGeom prst="rect">
            <a:avLst/>
          </a:prstGeom>
          <a:noFill/>
        </p:spPr>
        <p:txBody>
          <a:bodyPr wrap="square">
            <a:spAutoFit/>
          </a:bodyPr>
          <a:lstStyle/>
          <a:p>
            <a:pPr algn="l">
              <a:defRPr sz="1400" b="0">
                <a:solidFill>
                  <a:srgbClr val="D13438"/>
                </a:solidFill>
                <a:latin typeface="Segoe UI"/>
              </a:defRPr>
            </a:pPr>
            <a:r>
              <a:t>⚠️  Warning:  Changing managed property mappings can affect other M365 experiences. In this course, treat schema changes as trainer-led unless explicitly assigned.</a:t>
            </a:r>
          </a:p>
        </p:txBody>
      </p:sp>
      <p:sp>
        <p:nvSpPr>
          <p:cNvPr id="16" name="Rectangle 1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18" name="TextBox 1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Built-in Managed Properties (Quick Reference)</a:t>
            </a:r>
          </a:p>
        </p:txBody>
      </p:sp>
      <p:sp>
        <p:nvSpPr>
          <p:cNvPr id="4" name="Rectangle 3"/>
          <p:cNvSpPr/>
          <p:nvPr/>
        </p:nvSpPr>
        <p:spPr>
          <a:xfrm>
            <a:off x="731520" y="1188720"/>
            <a:ext cx="274320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234440"/>
            <a:ext cx="2651760" cy="365760"/>
          </a:xfrm>
          <a:prstGeom prst="rect">
            <a:avLst/>
          </a:prstGeom>
          <a:noFill/>
        </p:spPr>
        <p:txBody>
          <a:bodyPr wrap="square">
            <a:spAutoFit/>
          </a:bodyPr>
          <a:lstStyle/>
          <a:p>
            <a:pPr algn="ctr">
              <a:defRPr sz="1200" b="1">
                <a:solidFill>
                  <a:srgbClr val="FFFFFF"/>
                </a:solidFill>
                <a:latin typeface="Segoe UI"/>
              </a:defRPr>
            </a:pPr>
            <a:r>
              <a:t>Property</a:t>
            </a:r>
          </a:p>
        </p:txBody>
      </p:sp>
      <p:sp>
        <p:nvSpPr>
          <p:cNvPr id="6" name="Rectangle 5"/>
          <p:cNvSpPr/>
          <p:nvPr/>
        </p:nvSpPr>
        <p:spPr>
          <a:xfrm>
            <a:off x="3474720" y="1188720"/>
            <a:ext cx="228600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20440" y="1234440"/>
            <a:ext cx="2194560" cy="365760"/>
          </a:xfrm>
          <a:prstGeom prst="rect">
            <a:avLst/>
          </a:prstGeom>
          <a:noFill/>
        </p:spPr>
        <p:txBody>
          <a:bodyPr wrap="square">
            <a:spAutoFit/>
          </a:bodyPr>
          <a:lstStyle/>
          <a:p>
            <a:pPr algn="ctr">
              <a:defRPr sz="1200" b="1">
                <a:solidFill>
                  <a:srgbClr val="FFFFFF"/>
                </a:solidFill>
                <a:latin typeface="Segoe UI"/>
              </a:defRPr>
            </a:pPr>
            <a:r>
              <a:t>Description</a:t>
            </a:r>
          </a:p>
        </p:txBody>
      </p:sp>
      <p:sp>
        <p:nvSpPr>
          <p:cNvPr id="8" name="Rectangle 7"/>
          <p:cNvSpPr/>
          <p:nvPr/>
        </p:nvSpPr>
        <p:spPr>
          <a:xfrm>
            <a:off x="5760720" y="1188720"/>
            <a:ext cx="128016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1234440"/>
            <a:ext cx="1188720" cy="365760"/>
          </a:xfrm>
          <a:prstGeom prst="rect">
            <a:avLst/>
          </a:prstGeom>
          <a:noFill/>
        </p:spPr>
        <p:txBody>
          <a:bodyPr wrap="square">
            <a:spAutoFit/>
          </a:bodyPr>
          <a:lstStyle/>
          <a:p>
            <a:pPr algn="ctr">
              <a:defRPr sz="1200" b="1">
                <a:solidFill>
                  <a:srgbClr val="FFFFFF"/>
                </a:solidFill>
                <a:latin typeface="Segoe UI"/>
              </a:defRPr>
            </a:pPr>
            <a:r>
              <a:t>Queryable</a:t>
            </a:r>
          </a:p>
        </p:txBody>
      </p:sp>
      <p:sp>
        <p:nvSpPr>
          <p:cNvPr id="10" name="Rectangle 9"/>
          <p:cNvSpPr/>
          <p:nvPr/>
        </p:nvSpPr>
        <p:spPr>
          <a:xfrm>
            <a:off x="7040880" y="1188720"/>
            <a:ext cx="128016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1234440"/>
            <a:ext cx="1188720" cy="365760"/>
          </a:xfrm>
          <a:prstGeom prst="rect">
            <a:avLst/>
          </a:prstGeom>
          <a:noFill/>
        </p:spPr>
        <p:txBody>
          <a:bodyPr wrap="square">
            <a:spAutoFit/>
          </a:bodyPr>
          <a:lstStyle/>
          <a:p>
            <a:pPr algn="ctr">
              <a:defRPr sz="1200" b="1">
                <a:solidFill>
                  <a:srgbClr val="FFFFFF"/>
                </a:solidFill>
                <a:latin typeface="Segoe UI"/>
              </a:defRPr>
            </a:pPr>
            <a:r>
              <a:t>Searchable</a:t>
            </a:r>
          </a:p>
        </p:txBody>
      </p:sp>
      <p:sp>
        <p:nvSpPr>
          <p:cNvPr id="12" name="Rectangle 11"/>
          <p:cNvSpPr/>
          <p:nvPr/>
        </p:nvSpPr>
        <p:spPr>
          <a:xfrm>
            <a:off x="8321040" y="1188720"/>
            <a:ext cx="137160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234440"/>
            <a:ext cx="1280160" cy="365760"/>
          </a:xfrm>
          <a:prstGeom prst="rect">
            <a:avLst/>
          </a:prstGeom>
          <a:noFill/>
        </p:spPr>
        <p:txBody>
          <a:bodyPr wrap="square">
            <a:spAutoFit/>
          </a:bodyPr>
          <a:lstStyle/>
          <a:p>
            <a:pPr algn="ctr">
              <a:defRPr sz="1200" b="1">
                <a:solidFill>
                  <a:srgbClr val="FFFFFF"/>
                </a:solidFill>
                <a:latin typeface="Segoe UI"/>
              </a:defRPr>
            </a:pPr>
            <a:r>
              <a:t>Retrievable</a:t>
            </a:r>
          </a:p>
        </p:txBody>
      </p:sp>
      <p:sp>
        <p:nvSpPr>
          <p:cNvPr id="14" name="Rectangle 13"/>
          <p:cNvSpPr/>
          <p:nvPr/>
        </p:nvSpPr>
        <p:spPr>
          <a:xfrm>
            <a:off x="9692640" y="1188720"/>
            <a:ext cx="1371600"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38360" y="1234440"/>
            <a:ext cx="1280160" cy="365760"/>
          </a:xfrm>
          <a:prstGeom prst="rect">
            <a:avLst/>
          </a:prstGeom>
          <a:noFill/>
        </p:spPr>
        <p:txBody>
          <a:bodyPr wrap="square">
            <a:spAutoFit/>
          </a:bodyPr>
          <a:lstStyle/>
          <a:p>
            <a:pPr algn="ctr">
              <a:defRPr sz="1200" b="1">
                <a:solidFill>
                  <a:srgbClr val="FFFFFF"/>
                </a:solidFill>
                <a:latin typeface="Segoe UI"/>
              </a:defRPr>
            </a:pPr>
            <a:r>
              <a:t>Refinable</a:t>
            </a:r>
          </a:p>
        </p:txBody>
      </p:sp>
      <p:sp>
        <p:nvSpPr>
          <p:cNvPr id="16" name="Rectangle 15"/>
          <p:cNvSpPr/>
          <p:nvPr/>
        </p:nvSpPr>
        <p:spPr>
          <a:xfrm>
            <a:off x="731520" y="1691640"/>
            <a:ext cx="27432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1737360"/>
            <a:ext cx="2651760" cy="393192"/>
          </a:xfrm>
          <a:prstGeom prst="rect">
            <a:avLst/>
          </a:prstGeom>
          <a:noFill/>
        </p:spPr>
        <p:txBody>
          <a:bodyPr wrap="square">
            <a:spAutoFit/>
          </a:bodyPr>
          <a:lstStyle/>
          <a:p>
            <a:pPr algn="ctr">
              <a:defRPr sz="1200" b="1">
                <a:solidFill>
                  <a:srgbClr val="0078D4"/>
                </a:solidFill>
                <a:latin typeface="Cascadia Code"/>
              </a:defRPr>
            </a:pPr>
            <a:r>
              <a:t>Author</a:t>
            </a:r>
          </a:p>
        </p:txBody>
      </p:sp>
      <p:sp>
        <p:nvSpPr>
          <p:cNvPr id="18" name="Rectangle 17"/>
          <p:cNvSpPr/>
          <p:nvPr/>
        </p:nvSpPr>
        <p:spPr>
          <a:xfrm>
            <a:off x="3474720" y="1691640"/>
            <a:ext cx="22860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1737360"/>
            <a:ext cx="2194560" cy="393192"/>
          </a:xfrm>
          <a:prstGeom prst="rect">
            <a:avLst/>
          </a:prstGeom>
          <a:noFill/>
        </p:spPr>
        <p:txBody>
          <a:bodyPr wrap="square">
            <a:spAutoFit/>
          </a:bodyPr>
          <a:lstStyle/>
          <a:p>
            <a:pPr algn="ctr">
              <a:defRPr sz="1200" b="0">
                <a:solidFill>
                  <a:srgbClr val="242424"/>
                </a:solidFill>
                <a:latin typeface="Segoe UI"/>
              </a:defRPr>
            </a:pPr>
            <a:r>
              <a:t>Document author</a:t>
            </a:r>
          </a:p>
        </p:txBody>
      </p:sp>
      <p:sp>
        <p:nvSpPr>
          <p:cNvPr id="20" name="Rectangle 19"/>
          <p:cNvSpPr/>
          <p:nvPr/>
        </p:nvSpPr>
        <p:spPr>
          <a:xfrm>
            <a:off x="5760720" y="1691640"/>
            <a:ext cx="128016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06440" y="1737360"/>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22" name="Rectangle 21"/>
          <p:cNvSpPr/>
          <p:nvPr/>
        </p:nvSpPr>
        <p:spPr>
          <a:xfrm>
            <a:off x="7040880" y="1691640"/>
            <a:ext cx="128016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86600" y="1737360"/>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24" name="Rectangle 23"/>
          <p:cNvSpPr/>
          <p:nvPr/>
        </p:nvSpPr>
        <p:spPr>
          <a:xfrm>
            <a:off x="8321040" y="1691640"/>
            <a:ext cx="13716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1737360"/>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26" name="Rectangle 25"/>
          <p:cNvSpPr/>
          <p:nvPr/>
        </p:nvSpPr>
        <p:spPr>
          <a:xfrm>
            <a:off x="9692640" y="1691640"/>
            <a:ext cx="13716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60" y="1737360"/>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28" name="Rectangle 27"/>
          <p:cNvSpPr/>
          <p:nvPr/>
        </p:nvSpPr>
        <p:spPr>
          <a:xfrm>
            <a:off x="731520" y="2221992"/>
            <a:ext cx="27432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2267712"/>
            <a:ext cx="2651760" cy="393192"/>
          </a:xfrm>
          <a:prstGeom prst="rect">
            <a:avLst/>
          </a:prstGeom>
          <a:noFill/>
        </p:spPr>
        <p:txBody>
          <a:bodyPr wrap="square">
            <a:spAutoFit/>
          </a:bodyPr>
          <a:lstStyle/>
          <a:p>
            <a:pPr algn="ctr">
              <a:defRPr sz="1200" b="1">
                <a:solidFill>
                  <a:srgbClr val="0078D4"/>
                </a:solidFill>
                <a:latin typeface="Cascadia Code"/>
              </a:defRPr>
            </a:pPr>
            <a:r>
              <a:t>Title</a:t>
            </a:r>
          </a:p>
        </p:txBody>
      </p:sp>
      <p:sp>
        <p:nvSpPr>
          <p:cNvPr id="30" name="Rectangle 29"/>
          <p:cNvSpPr/>
          <p:nvPr/>
        </p:nvSpPr>
        <p:spPr>
          <a:xfrm>
            <a:off x="3474720" y="2221992"/>
            <a:ext cx="22860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20440" y="2267712"/>
            <a:ext cx="2194560" cy="393192"/>
          </a:xfrm>
          <a:prstGeom prst="rect">
            <a:avLst/>
          </a:prstGeom>
          <a:noFill/>
        </p:spPr>
        <p:txBody>
          <a:bodyPr wrap="square">
            <a:spAutoFit/>
          </a:bodyPr>
          <a:lstStyle/>
          <a:p>
            <a:pPr algn="ctr">
              <a:defRPr sz="1200" b="0">
                <a:solidFill>
                  <a:srgbClr val="242424"/>
                </a:solidFill>
                <a:latin typeface="Segoe UI"/>
              </a:defRPr>
            </a:pPr>
            <a:r>
              <a:t>Document title</a:t>
            </a:r>
          </a:p>
        </p:txBody>
      </p:sp>
      <p:sp>
        <p:nvSpPr>
          <p:cNvPr id="32" name="Rectangle 31"/>
          <p:cNvSpPr/>
          <p:nvPr/>
        </p:nvSpPr>
        <p:spPr>
          <a:xfrm>
            <a:off x="5760720" y="2221992"/>
            <a:ext cx="128016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06440" y="2267712"/>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34" name="Rectangle 33"/>
          <p:cNvSpPr/>
          <p:nvPr/>
        </p:nvSpPr>
        <p:spPr>
          <a:xfrm>
            <a:off x="7040880" y="2221992"/>
            <a:ext cx="128016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86600" y="2267712"/>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36" name="Rectangle 35"/>
          <p:cNvSpPr/>
          <p:nvPr/>
        </p:nvSpPr>
        <p:spPr>
          <a:xfrm>
            <a:off x="8321040" y="2221992"/>
            <a:ext cx="13716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60" y="2267712"/>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38" name="Rectangle 37"/>
          <p:cNvSpPr/>
          <p:nvPr/>
        </p:nvSpPr>
        <p:spPr>
          <a:xfrm>
            <a:off x="9692640" y="2221992"/>
            <a:ext cx="13716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38360" y="2267712"/>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40" name="Rectangle 39"/>
          <p:cNvSpPr/>
          <p:nvPr/>
        </p:nvSpPr>
        <p:spPr>
          <a:xfrm>
            <a:off x="731520" y="2752344"/>
            <a:ext cx="27432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2798064"/>
            <a:ext cx="2651760" cy="393192"/>
          </a:xfrm>
          <a:prstGeom prst="rect">
            <a:avLst/>
          </a:prstGeom>
          <a:noFill/>
        </p:spPr>
        <p:txBody>
          <a:bodyPr wrap="square">
            <a:spAutoFit/>
          </a:bodyPr>
          <a:lstStyle/>
          <a:p>
            <a:pPr algn="ctr">
              <a:defRPr sz="1200" b="1">
                <a:solidFill>
                  <a:srgbClr val="0078D4"/>
                </a:solidFill>
                <a:latin typeface="Cascadia Code"/>
              </a:defRPr>
            </a:pPr>
            <a:r>
              <a:t>FileType</a:t>
            </a:r>
          </a:p>
        </p:txBody>
      </p:sp>
      <p:sp>
        <p:nvSpPr>
          <p:cNvPr id="42" name="Rectangle 41"/>
          <p:cNvSpPr/>
          <p:nvPr/>
        </p:nvSpPr>
        <p:spPr>
          <a:xfrm>
            <a:off x="3474720" y="2752344"/>
            <a:ext cx="22860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20440" y="2798064"/>
            <a:ext cx="2194560" cy="393192"/>
          </a:xfrm>
          <a:prstGeom prst="rect">
            <a:avLst/>
          </a:prstGeom>
          <a:noFill/>
        </p:spPr>
        <p:txBody>
          <a:bodyPr wrap="square">
            <a:spAutoFit/>
          </a:bodyPr>
          <a:lstStyle/>
          <a:p>
            <a:pPr algn="ctr">
              <a:defRPr sz="1200" b="0">
                <a:solidFill>
                  <a:srgbClr val="242424"/>
                </a:solidFill>
                <a:latin typeface="Segoe UI"/>
              </a:defRPr>
            </a:pPr>
            <a:r>
              <a:t>File extension</a:t>
            </a:r>
          </a:p>
        </p:txBody>
      </p:sp>
      <p:sp>
        <p:nvSpPr>
          <p:cNvPr id="44" name="Rectangle 43"/>
          <p:cNvSpPr/>
          <p:nvPr/>
        </p:nvSpPr>
        <p:spPr>
          <a:xfrm>
            <a:off x="5760720" y="2752344"/>
            <a:ext cx="128016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06440" y="2798064"/>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46" name="Rectangle 45"/>
          <p:cNvSpPr/>
          <p:nvPr/>
        </p:nvSpPr>
        <p:spPr>
          <a:xfrm>
            <a:off x="7040880" y="2752344"/>
            <a:ext cx="128016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86600" y="2798064"/>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48" name="Rectangle 47"/>
          <p:cNvSpPr/>
          <p:nvPr/>
        </p:nvSpPr>
        <p:spPr>
          <a:xfrm>
            <a:off x="8321040" y="2752344"/>
            <a:ext cx="13716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66760" y="2798064"/>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50" name="Rectangle 49"/>
          <p:cNvSpPr/>
          <p:nvPr/>
        </p:nvSpPr>
        <p:spPr>
          <a:xfrm>
            <a:off x="9692640" y="2752344"/>
            <a:ext cx="13716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38360" y="2798064"/>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52" name="Rectangle 51"/>
          <p:cNvSpPr/>
          <p:nvPr/>
        </p:nvSpPr>
        <p:spPr>
          <a:xfrm>
            <a:off x="731520" y="3282696"/>
            <a:ext cx="27432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3328416"/>
            <a:ext cx="2651760" cy="393192"/>
          </a:xfrm>
          <a:prstGeom prst="rect">
            <a:avLst/>
          </a:prstGeom>
          <a:noFill/>
        </p:spPr>
        <p:txBody>
          <a:bodyPr wrap="square">
            <a:spAutoFit/>
          </a:bodyPr>
          <a:lstStyle/>
          <a:p>
            <a:pPr algn="ctr">
              <a:defRPr sz="1200" b="1">
                <a:solidFill>
                  <a:srgbClr val="0078D4"/>
                </a:solidFill>
                <a:latin typeface="Cascadia Code"/>
              </a:defRPr>
            </a:pPr>
            <a:r>
              <a:t>Created</a:t>
            </a:r>
          </a:p>
        </p:txBody>
      </p:sp>
      <p:sp>
        <p:nvSpPr>
          <p:cNvPr id="54" name="Rectangle 53"/>
          <p:cNvSpPr/>
          <p:nvPr/>
        </p:nvSpPr>
        <p:spPr>
          <a:xfrm>
            <a:off x="3474720" y="3282696"/>
            <a:ext cx="22860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520440" y="3328416"/>
            <a:ext cx="2194560" cy="393192"/>
          </a:xfrm>
          <a:prstGeom prst="rect">
            <a:avLst/>
          </a:prstGeom>
          <a:noFill/>
        </p:spPr>
        <p:txBody>
          <a:bodyPr wrap="square">
            <a:spAutoFit/>
          </a:bodyPr>
          <a:lstStyle/>
          <a:p>
            <a:pPr algn="ctr">
              <a:defRPr sz="1200" b="0">
                <a:solidFill>
                  <a:srgbClr val="242424"/>
                </a:solidFill>
                <a:latin typeface="Segoe UI"/>
              </a:defRPr>
            </a:pPr>
            <a:r>
              <a:t>Date created</a:t>
            </a:r>
          </a:p>
        </p:txBody>
      </p:sp>
      <p:sp>
        <p:nvSpPr>
          <p:cNvPr id="56" name="Rectangle 55"/>
          <p:cNvSpPr/>
          <p:nvPr/>
        </p:nvSpPr>
        <p:spPr>
          <a:xfrm>
            <a:off x="5760720" y="3282696"/>
            <a:ext cx="128016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06440" y="3328416"/>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58" name="Rectangle 57"/>
          <p:cNvSpPr/>
          <p:nvPr/>
        </p:nvSpPr>
        <p:spPr>
          <a:xfrm>
            <a:off x="7040880" y="3282696"/>
            <a:ext cx="128016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86600" y="3328416"/>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60" name="Rectangle 59"/>
          <p:cNvSpPr/>
          <p:nvPr/>
        </p:nvSpPr>
        <p:spPr>
          <a:xfrm>
            <a:off x="8321040" y="3282696"/>
            <a:ext cx="13716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66760" y="3328416"/>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62" name="Rectangle 61"/>
          <p:cNvSpPr/>
          <p:nvPr/>
        </p:nvSpPr>
        <p:spPr>
          <a:xfrm>
            <a:off x="9692640" y="3282696"/>
            <a:ext cx="13716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38360" y="3328416"/>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64" name="Rectangle 63"/>
          <p:cNvSpPr/>
          <p:nvPr/>
        </p:nvSpPr>
        <p:spPr>
          <a:xfrm>
            <a:off x="731520" y="3813048"/>
            <a:ext cx="27432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7240" y="3858768"/>
            <a:ext cx="2651760" cy="393192"/>
          </a:xfrm>
          <a:prstGeom prst="rect">
            <a:avLst/>
          </a:prstGeom>
          <a:noFill/>
        </p:spPr>
        <p:txBody>
          <a:bodyPr wrap="square">
            <a:spAutoFit/>
          </a:bodyPr>
          <a:lstStyle/>
          <a:p>
            <a:pPr algn="ctr">
              <a:defRPr sz="1200" b="1">
                <a:solidFill>
                  <a:srgbClr val="0078D4"/>
                </a:solidFill>
                <a:latin typeface="Cascadia Code"/>
              </a:defRPr>
            </a:pPr>
            <a:r>
              <a:t>Path</a:t>
            </a:r>
          </a:p>
        </p:txBody>
      </p:sp>
      <p:sp>
        <p:nvSpPr>
          <p:cNvPr id="66" name="Rectangle 65"/>
          <p:cNvSpPr/>
          <p:nvPr/>
        </p:nvSpPr>
        <p:spPr>
          <a:xfrm>
            <a:off x="3474720" y="3813048"/>
            <a:ext cx="22860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520440" y="3858768"/>
            <a:ext cx="2194560" cy="393192"/>
          </a:xfrm>
          <a:prstGeom prst="rect">
            <a:avLst/>
          </a:prstGeom>
          <a:noFill/>
        </p:spPr>
        <p:txBody>
          <a:bodyPr wrap="square">
            <a:spAutoFit/>
          </a:bodyPr>
          <a:lstStyle/>
          <a:p>
            <a:pPr algn="ctr">
              <a:defRPr sz="1200" b="0">
                <a:solidFill>
                  <a:srgbClr val="242424"/>
                </a:solidFill>
                <a:latin typeface="Segoe UI"/>
              </a:defRPr>
            </a:pPr>
            <a:r>
              <a:t>Document URL</a:t>
            </a:r>
          </a:p>
        </p:txBody>
      </p:sp>
      <p:sp>
        <p:nvSpPr>
          <p:cNvPr id="68" name="Rectangle 67"/>
          <p:cNvSpPr/>
          <p:nvPr/>
        </p:nvSpPr>
        <p:spPr>
          <a:xfrm>
            <a:off x="5760720" y="3813048"/>
            <a:ext cx="128016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06440" y="3858768"/>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70" name="Rectangle 69"/>
          <p:cNvSpPr/>
          <p:nvPr/>
        </p:nvSpPr>
        <p:spPr>
          <a:xfrm>
            <a:off x="7040880" y="3813048"/>
            <a:ext cx="128016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86600" y="3858768"/>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72" name="Rectangle 71"/>
          <p:cNvSpPr/>
          <p:nvPr/>
        </p:nvSpPr>
        <p:spPr>
          <a:xfrm>
            <a:off x="8321040" y="3813048"/>
            <a:ext cx="13716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366760" y="3858768"/>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74" name="Rectangle 73"/>
          <p:cNvSpPr/>
          <p:nvPr/>
        </p:nvSpPr>
        <p:spPr>
          <a:xfrm>
            <a:off x="9692640" y="3813048"/>
            <a:ext cx="1371600" cy="484632"/>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738360" y="3858768"/>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76" name="Rectangle 75"/>
          <p:cNvSpPr/>
          <p:nvPr/>
        </p:nvSpPr>
        <p:spPr>
          <a:xfrm>
            <a:off x="731520" y="4343400"/>
            <a:ext cx="27432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77240" y="4389120"/>
            <a:ext cx="2651760" cy="393192"/>
          </a:xfrm>
          <a:prstGeom prst="rect">
            <a:avLst/>
          </a:prstGeom>
          <a:noFill/>
        </p:spPr>
        <p:txBody>
          <a:bodyPr wrap="square">
            <a:spAutoFit/>
          </a:bodyPr>
          <a:lstStyle/>
          <a:p>
            <a:pPr algn="ctr">
              <a:defRPr sz="1200" b="1">
                <a:solidFill>
                  <a:srgbClr val="0078D4"/>
                </a:solidFill>
                <a:latin typeface="Cascadia Code"/>
              </a:defRPr>
            </a:pPr>
            <a:r>
              <a:t>RefinableString00…199</a:t>
            </a:r>
          </a:p>
        </p:txBody>
      </p:sp>
      <p:sp>
        <p:nvSpPr>
          <p:cNvPr id="78" name="Rectangle 77"/>
          <p:cNvSpPr/>
          <p:nvPr/>
        </p:nvSpPr>
        <p:spPr>
          <a:xfrm>
            <a:off x="3474720" y="4343400"/>
            <a:ext cx="22860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520440" y="4389120"/>
            <a:ext cx="2194560" cy="393192"/>
          </a:xfrm>
          <a:prstGeom prst="rect">
            <a:avLst/>
          </a:prstGeom>
          <a:noFill/>
        </p:spPr>
        <p:txBody>
          <a:bodyPr wrap="square">
            <a:spAutoFit/>
          </a:bodyPr>
          <a:lstStyle/>
          <a:p>
            <a:pPr algn="ctr">
              <a:defRPr sz="1200" b="0">
                <a:solidFill>
                  <a:srgbClr val="242424"/>
                </a:solidFill>
                <a:latin typeface="Segoe UI"/>
              </a:defRPr>
            </a:pPr>
            <a:r>
              <a:t>Custom (alias)</a:t>
            </a:r>
          </a:p>
        </p:txBody>
      </p:sp>
      <p:sp>
        <p:nvSpPr>
          <p:cNvPr id="80" name="Rectangle 79"/>
          <p:cNvSpPr/>
          <p:nvPr/>
        </p:nvSpPr>
        <p:spPr>
          <a:xfrm>
            <a:off x="5760720" y="4343400"/>
            <a:ext cx="128016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06440" y="4389120"/>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82" name="Rectangle 81"/>
          <p:cNvSpPr/>
          <p:nvPr/>
        </p:nvSpPr>
        <p:spPr>
          <a:xfrm>
            <a:off x="7040880" y="4343400"/>
            <a:ext cx="128016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086600" y="4389120"/>
            <a:ext cx="118872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84" name="Rectangle 83"/>
          <p:cNvSpPr/>
          <p:nvPr/>
        </p:nvSpPr>
        <p:spPr>
          <a:xfrm>
            <a:off x="8321040" y="4343400"/>
            <a:ext cx="13716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366760" y="4389120"/>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86" name="Rectangle 85"/>
          <p:cNvSpPr/>
          <p:nvPr/>
        </p:nvSpPr>
        <p:spPr>
          <a:xfrm>
            <a:off x="9692640" y="4343400"/>
            <a:ext cx="1371600" cy="484632"/>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738360" y="4389120"/>
            <a:ext cx="1280160" cy="393192"/>
          </a:xfrm>
          <a:prstGeom prst="rect">
            <a:avLst/>
          </a:prstGeom>
          <a:noFill/>
        </p:spPr>
        <p:txBody>
          <a:bodyPr wrap="square">
            <a:spAutoFit/>
          </a:bodyPr>
          <a:lstStyle/>
          <a:p>
            <a:pPr algn="ctr">
              <a:defRPr sz="1200" b="0">
                <a:solidFill>
                  <a:srgbClr val="242424"/>
                </a:solidFill>
                <a:latin typeface="Segoe UI"/>
              </a:defRPr>
            </a:pPr>
            <a:r>
              <a:t>✅</a:t>
            </a:r>
          </a:p>
        </p:txBody>
      </p:sp>
      <p:sp>
        <p:nvSpPr>
          <p:cNvPr id="88" name="Rounded Rectangle 87"/>
          <p:cNvSpPr/>
          <p:nvPr/>
        </p:nvSpPr>
        <p:spPr>
          <a:xfrm>
            <a:off x="731520" y="5029200"/>
            <a:ext cx="10698480" cy="6400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05840" y="5074920"/>
            <a:ext cx="10149840" cy="548640"/>
          </a:xfrm>
          <a:prstGeom prst="rect">
            <a:avLst/>
          </a:prstGeom>
          <a:noFill/>
        </p:spPr>
        <p:txBody>
          <a:bodyPr wrap="square">
            <a:spAutoFit/>
          </a:bodyPr>
          <a:lstStyle/>
          <a:p>
            <a:pPr algn="l">
              <a:defRPr sz="1400" b="0">
                <a:solidFill>
                  <a:srgbClr val="242424"/>
                </a:solidFill>
                <a:latin typeface="Segoe UI"/>
              </a:defRPr>
            </a:pPr>
            <a:r>
              <a:t>💡  Tip:  To create a custom refiner, map a crawled property to an unused RefinableStringXX, set an alias, then reindex. Microsoft recommends tenant-level mapping for consistency.</a:t>
            </a:r>
          </a:p>
        </p:txBody>
      </p:sp>
      <p:sp>
        <p:nvSpPr>
          <p:cNvPr id="90" name="Rectangle 8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92" name="TextBox 9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Reindexing — When and Why</a:t>
            </a:r>
          </a:p>
        </p:txBody>
      </p:sp>
      <p:sp>
        <p:nvSpPr>
          <p:cNvPr id="4" name="Rounded Rectangle 3"/>
          <p:cNvSpPr/>
          <p:nvPr/>
        </p:nvSpPr>
        <p:spPr>
          <a:xfrm>
            <a:off x="731520" y="1188720"/>
            <a:ext cx="512064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88720"/>
            <a:ext cx="51206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754880" cy="457200"/>
          </a:xfrm>
          <a:prstGeom prst="rect">
            <a:avLst/>
          </a:prstGeom>
          <a:noFill/>
        </p:spPr>
        <p:txBody>
          <a:bodyPr wrap="square">
            <a:spAutoFit/>
          </a:bodyPr>
          <a:lstStyle/>
          <a:p>
            <a:pPr algn="l">
              <a:defRPr sz="2000" b="1">
                <a:solidFill>
                  <a:srgbClr val="107C10"/>
                </a:solidFill>
                <a:latin typeface="Segoe UI"/>
              </a:defRPr>
            </a:pPr>
            <a:r>
              <a:t>✅  When to Reindex</a:t>
            </a:r>
          </a:p>
        </p:txBody>
      </p:sp>
      <p:sp>
        <p:nvSpPr>
          <p:cNvPr id="7" name="TextBox 6"/>
          <p:cNvSpPr txBox="1"/>
          <p:nvPr/>
        </p:nvSpPr>
        <p:spPr>
          <a:xfrm>
            <a:off x="1097280" y="1920240"/>
            <a:ext cx="4572000" cy="1828800"/>
          </a:xfrm>
          <a:prstGeom prst="rect">
            <a:avLst/>
          </a:prstGeom>
          <a:noFill/>
        </p:spPr>
        <p:txBody>
          <a:bodyPr wrap="square">
            <a:spAutoFit/>
          </a:bodyPr>
          <a:lstStyle/>
          <a:p>
            <a:pPr>
              <a:spcAft>
                <a:spcPts val="600"/>
              </a:spcAft>
              <a:defRPr sz="1400">
                <a:solidFill>
                  <a:srgbClr val="242424"/>
                </a:solidFill>
                <a:latin typeface="Segoe UI"/>
              </a:defRPr>
            </a:pPr>
            <a:r>
              <a:t>▸ After changing managed property mappings</a:t>
            </a:r>
          </a:p>
          <a:p>
            <a:pPr>
              <a:spcAft>
                <a:spcPts val="600"/>
              </a:spcAft>
              <a:defRPr sz="1400">
                <a:solidFill>
                  <a:srgbClr val="242424"/>
                </a:solidFill>
                <a:latin typeface="Segoe UI"/>
              </a:defRPr>
            </a:pPr>
            <a:r>
              <a:t>▸ After changing search visibility settings</a:t>
            </a:r>
          </a:p>
          <a:p>
            <a:pPr>
              <a:spcAft>
                <a:spcPts val="600"/>
              </a:spcAft>
              <a:defRPr sz="1400">
                <a:solidFill>
                  <a:srgbClr val="242424"/>
                </a:solidFill>
                <a:latin typeface="Segoe UI"/>
              </a:defRPr>
            </a:pPr>
            <a:r>
              <a:t>▸ After adding/modifying site columns used in search</a:t>
            </a:r>
          </a:p>
          <a:p>
            <a:pPr>
              <a:spcAft>
                <a:spcPts val="600"/>
              </a:spcAft>
              <a:defRPr sz="1400">
                <a:solidFill>
                  <a:srgbClr val="242424"/>
                </a:solidFill>
                <a:latin typeface="Segoe UI"/>
              </a:defRPr>
            </a:pPr>
            <a:r>
              <a:t>▸ When content 'should be there' but isn't showing up</a:t>
            </a:r>
          </a:p>
        </p:txBody>
      </p:sp>
      <p:sp>
        <p:nvSpPr>
          <p:cNvPr id="8" name="Rounded Rectangle 7"/>
          <p:cNvSpPr/>
          <p:nvPr/>
        </p:nvSpPr>
        <p:spPr>
          <a:xfrm>
            <a:off x="6309360" y="1188720"/>
            <a:ext cx="512064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188720"/>
            <a:ext cx="51206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371600"/>
            <a:ext cx="4754880" cy="457200"/>
          </a:xfrm>
          <a:prstGeom prst="rect">
            <a:avLst/>
          </a:prstGeom>
          <a:noFill/>
        </p:spPr>
        <p:txBody>
          <a:bodyPr wrap="square">
            <a:spAutoFit/>
          </a:bodyPr>
          <a:lstStyle/>
          <a:p>
            <a:pPr algn="l">
              <a:defRPr sz="2000" b="1">
                <a:solidFill>
                  <a:srgbClr val="D13438"/>
                </a:solidFill>
                <a:latin typeface="Segoe UI"/>
              </a:defRPr>
            </a:pPr>
            <a:r>
              <a:t>❌  When NOT to Reindex</a:t>
            </a:r>
          </a:p>
        </p:txBody>
      </p:sp>
      <p:sp>
        <p:nvSpPr>
          <p:cNvPr id="11" name="TextBox 10"/>
          <p:cNvSpPr txBox="1"/>
          <p:nvPr/>
        </p:nvSpPr>
        <p:spPr>
          <a:xfrm>
            <a:off x="6675120" y="1920240"/>
            <a:ext cx="4572000" cy="1828800"/>
          </a:xfrm>
          <a:prstGeom prst="rect">
            <a:avLst/>
          </a:prstGeom>
          <a:noFill/>
        </p:spPr>
        <p:txBody>
          <a:bodyPr wrap="square">
            <a:spAutoFit/>
          </a:bodyPr>
          <a:lstStyle/>
          <a:p>
            <a:pPr>
              <a:spcAft>
                <a:spcPts val="600"/>
              </a:spcAft>
              <a:defRPr sz="1400">
                <a:solidFill>
                  <a:srgbClr val="242424"/>
                </a:solidFill>
                <a:latin typeface="Segoe UI"/>
              </a:defRPr>
            </a:pPr>
            <a:r>
              <a:t>▸ Routinely or 'just in case' (causes load)</a:t>
            </a:r>
          </a:p>
          <a:p>
            <a:pPr>
              <a:spcAft>
                <a:spcPts val="600"/>
              </a:spcAft>
              <a:defRPr sz="1400">
                <a:solidFill>
                  <a:srgbClr val="242424"/>
                </a:solidFill>
                <a:latin typeface="Segoe UI"/>
              </a:defRPr>
            </a:pPr>
            <a:r>
              <a:t>▸ After simply uploading new content (auto-crawled)</a:t>
            </a:r>
          </a:p>
          <a:p>
            <a:pPr>
              <a:spcAft>
                <a:spcPts val="600"/>
              </a:spcAft>
              <a:defRPr sz="1400">
                <a:solidFill>
                  <a:srgbClr val="242424"/>
                </a:solidFill>
                <a:latin typeface="Segoe UI"/>
              </a:defRPr>
            </a:pPr>
            <a:r>
              <a:t>▸ When the issue is permissions (security trimming)</a:t>
            </a:r>
          </a:p>
          <a:p>
            <a:pPr>
              <a:spcAft>
                <a:spcPts val="600"/>
              </a:spcAft>
              <a:defRPr sz="1400">
                <a:solidFill>
                  <a:srgbClr val="242424"/>
                </a:solidFill>
                <a:latin typeface="Segoe UI"/>
              </a:defRPr>
            </a:pPr>
            <a:r>
              <a:t>▸ On large sites without good reason</a:t>
            </a:r>
          </a:p>
        </p:txBody>
      </p:sp>
      <p:sp>
        <p:nvSpPr>
          <p:cNvPr id="12" name="Rounded Rectangle 11"/>
          <p:cNvSpPr/>
          <p:nvPr/>
        </p:nvSpPr>
        <p:spPr>
          <a:xfrm>
            <a:off x="731520" y="4389120"/>
            <a:ext cx="1069848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389120"/>
            <a:ext cx="106984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526280"/>
            <a:ext cx="10332720" cy="365760"/>
          </a:xfrm>
          <a:prstGeom prst="rect">
            <a:avLst/>
          </a:prstGeom>
          <a:noFill/>
        </p:spPr>
        <p:txBody>
          <a:bodyPr wrap="square">
            <a:spAutoFit/>
          </a:bodyPr>
          <a:lstStyle/>
          <a:p>
            <a:pPr algn="l">
              <a:defRPr sz="1800" b="1">
                <a:solidFill>
                  <a:srgbClr val="0078D4"/>
                </a:solidFill>
                <a:latin typeface="Segoe UI"/>
              </a:defRPr>
            </a:pPr>
            <a:r>
              <a:t>🔄  How to Request Reindex (Library)</a:t>
            </a:r>
          </a:p>
        </p:txBody>
      </p:sp>
      <p:sp>
        <p:nvSpPr>
          <p:cNvPr id="15" name="TextBox 14"/>
          <p:cNvSpPr txBox="1"/>
          <p:nvPr/>
        </p:nvSpPr>
        <p:spPr>
          <a:xfrm>
            <a:off x="1097280" y="4937760"/>
            <a:ext cx="10058400" cy="731520"/>
          </a:xfrm>
          <a:prstGeom prst="rect">
            <a:avLst/>
          </a:prstGeom>
          <a:noFill/>
        </p:spPr>
        <p:txBody>
          <a:bodyPr wrap="square">
            <a:spAutoFit/>
          </a:bodyPr>
          <a:lstStyle/>
          <a:p>
            <a:pPr>
              <a:spcAft>
                <a:spcPts val="200"/>
              </a:spcAft>
              <a:defRPr sz="1300">
                <a:solidFill>
                  <a:srgbClr val="242424"/>
                </a:solidFill>
                <a:latin typeface="Segoe UI"/>
              </a:defRPr>
            </a:pPr>
            <a:r>
              <a:t> 1. Go to the library → Settings → Library settings</a:t>
            </a:r>
          </a:p>
          <a:p>
            <a:pPr>
              <a:spcAft>
                <a:spcPts val="200"/>
              </a:spcAft>
              <a:defRPr sz="1300">
                <a:solidFill>
                  <a:srgbClr val="242424"/>
                </a:solidFill>
                <a:latin typeface="Segoe UI"/>
              </a:defRPr>
            </a:pPr>
            <a:r>
              <a:t> 2. Under General Settings → Advanced settings</a:t>
            </a:r>
          </a:p>
          <a:p>
            <a:pPr>
              <a:spcAft>
                <a:spcPts val="200"/>
              </a:spcAft>
              <a:defRPr sz="1300">
                <a:solidFill>
                  <a:srgbClr val="242424"/>
                </a:solidFill>
                <a:latin typeface="Segoe UI"/>
              </a:defRPr>
            </a:pPr>
            <a:r>
              <a:t> 3. Scroll to 'Reindex Document Library'</a:t>
            </a:r>
          </a:p>
          <a:p>
            <a:pPr>
              <a:spcAft>
                <a:spcPts val="200"/>
              </a:spcAft>
              <a:defRPr sz="1300">
                <a:solidFill>
                  <a:srgbClr val="242424"/>
                </a:solidFill>
                <a:latin typeface="Segoe UI"/>
              </a:defRPr>
            </a:pPr>
            <a:r>
              <a:t> 4. Click the button → content is re-crawled at next scheduled crawl</a:t>
            </a:r>
          </a:p>
        </p:txBody>
      </p:sp>
      <p:sp>
        <p:nvSpPr>
          <p:cNvPr id="16" name="Rectangle 1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18" name="TextBox 1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Query Syntax for Admins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KQL basics for troubleshooting search results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KQL Query Basics for Admins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Keyword Query Language — your troubleshooting Swiss Army knife</a:t>
            </a:r>
          </a:p>
        </p:txBody>
      </p:sp>
      <p:sp>
        <p:nvSpPr>
          <p:cNvPr id="5" name="Rounded Rectangle 4"/>
          <p:cNvSpPr/>
          <p:nvPr/>
        </p:nvSpPr>
        <p:spPr>
          <a:xfrm>
            <a:off x="548640" y="1645920"/>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4747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3108960" cy="320040"/>
          </a:xfrm>
          <a:prstGeom prst="rect">
            <a:avLst/>
          </a:prstGeom>
          <a:noFill/>
        </p:spPr>
        <p:txBody>
          <a:bodyPr wrap="square">
            <a:spAutoFit/>
          </a:bodyPr>
          <a:lstStyle/>
          <a:p>
            <a:pPr algn="l">
              <a:defRPr sz="1600" b="1">
                <a:solidFill>
                  <a:srgbClr val="0078D4"/>
                </a:solidFill>
                <a:latin typeface="Segoe UI"/>
              </a:defRPr>
            </a:pPr>
            <a:r>
              <a:t>Phrase Search</a:t>
            </a:r>
          </a:p>
        </p:txBody>
      </p:sp>
      <p:sp>
        <p:nvSpPr>
          <p:cNvPr id="8" name="Rounded Rectangle 7"/>
          <p:cNvSpPr/>
          <p:nvPr/>
        </p:nvSpPr>
        <p:spPr>
          <a:xfrm>
            <a:off x="731520" y="2148840"/>
            <a:ext cx="3108960" cy="41148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76272"/>
            <a:ext cx="2926080" cy="365760"/>
          </a:xfrm>
          <a:prstGeom prst="rect">
            <a:avLst/>
          </a:prstGeom>
          <a:noFill/>
        </p:spPr>
        <p:txBody>
          <a:bodyPr wrap="square">
            <a:spAutoFit/>
          </a:bodyPr>
          <a:lstStyle/>
          <a:p>
            <a:pPr algn="l">
              <a:defRPr sz="1300" b="0">
                <a:solidFill>
                  <a:srgbClr val="242424"/>
                </a:solidFill>
                <a:latin typeface="Cascadia Code"/>
              </a:defRPr>
            </a:pPr>
            <a:r>
              <a:t>"Northwind Contract Alpha"</a:t>
            </a:r>
          </a:p>
        </p:txBody>
      </p:sp>
      <p:sp>
        <p:nvSpPr>
          <p:cNvPr id="10" name="TextBox 9"/>
          <p:cNvSpPr txBox="1"/>
          <p:nvPr/>
        </p:nvSpPr>
        <p:spPr>
          <a:xfrm>
            <a:off x="731520" y="2651760"/>
            <a:ext cx="3108960" cy="640080"/>
          </a:xfrm>
          <a:prstGeom prst="rect">
            <a:avLst/>
          </a:prstGeom>
          <a:noFill/>
        </p:spPr>
        <p:txBody>
          <a:bodyPr wrap="square">
            <a:spAutoFit/>
          </a:bodyPr>
          <a:lstStyle/>
          <a:p>
            <a:pPr algn="l">
              <a:defRPr sz="1200" b="0">
                <a:solidFill>
                  <a:srgbClr val="606060"/>
                </a:solidFill>
                <a:latin typeface="Segoe UI"/>
              </a:defRPr>
            </a:pPr>
            <a:r>
              <a:t>Exact phrase match</a:t>
            </a:r>
            <a:br/>
            <a:r>
              <a:t>(quotes required)</a:t>
            </a:r>
          </a:p>
        </p:txBody>
      </p:sp>
      <p:sp>
        <p:nvSpPr>
          <p:cNvPr id="11" name="Rounded Rectangle 10"/>
          <p:cNvSpPr/>
          <p:nvPr/>
        </p:nvSpPr>
        <p:spPr>
          <a:xfrm>
            <a:off x="4297679" y="1645920"/>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79" y="1645920"/>
            <a:ext cx="347472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783080"/>
            <a:ext cx="3108960" cy="320040"/>
          </a:xfrm>
          <a:prstGeom prst="rect">
            <a:avLst/>
          </a:prstGeom>
          <a:noFill/>
        </p:spPr>
        <p:txBody>
          <a:bodyPr wrap="square">
            <a:spAutoFit/>
          </a:bodyPr>
          <a:lstStyle/>
          <a:p>
            <a:pPr algn="l">
              <a:defRPr sz="1600" b="1">
                <a:solidFill>
                  <a:srgbClr val="00B294"/>
                </a:solidFill>
                <a:latin typeface="Segoe UI"/>
              </a:defRPr>
            </a:pPr>
            <a:r>
              <a:t>Boolean AND</a:t>
            </a:r>
          </a:p>
        </p:txBody>
      </p:sp>
      <p:sp>
        <p:nvSpPr>
          <p:cNvPr id="14" name="Rounded Rectangle 13"/>
          <p:cNvSpPr/>
          <p:nvPr/>
        </p:nvSpPr>
        <p:spPr>
          <a:xfrm>
            <a:off x="4480559" y="2148840"/>
            <a:ext cx="3108960" cy="41148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1999" y="2176272"/>
            <a:ext cx="2926080" cy="365760"/>
          </a:xfrm>
          <a:prstGeom prst="rect">
            <a:avLst/>
          </a:prstGeom>
          <a:noFill/>
        </p:spPr>
        <p:txBody>
          <a:bodyPr wrap="square">
            <a:spAutoFit/>
          </a:bodyPr>
          <a:lstStyle/>
          <a:p>
            <a:pPr algn="l">
              <a:defRPr sz="1300" b="0">
                <a:solidFill>
                  <a:srgbClr val="242424"/>
                </a:solidFill>
                <a:latin typeface="Cascadia Code"/>
              </a:defRPr>
            </a:pPr>
            <a:r>
              <a:t>Alpha AND Harborlight</a:t>
            </a:r>
          </a:p>
        </p:txBody>
      </p:sp>
      <p:sp>
        <p:nvSpPr>
          <p:cNvPr id="16" name="TextBox 15"/>
          <p:cNvSpPr txBox="1"/>
          <p:nvPr/>
        </p:nvSpPr>
        <p:spPr>
          <a:xfrm>
            <a:off x="4480559" y="2651760"/>
            <a:ext cx="3108960" cy="640080"/>
          </a:xfrm>
          <a:prstGeom prst="rect">
            <a:avLst/>
          </a:prstGeom>
          <a:noFill/>
        </p:spPr>
        <p:txBody>
          <a:bodyPr wrap="square">
            <a:spAutoFit/>
          </a:bodyPr>
          <a:lstStyle/>
          <a:p>
            <a:pPr algn="l">
              <a:defRPr sz="1200" b="0">
                <a:solidFill>
                  <a:srgbClr val="606060"/>
                </a:solidFill>
                <a:latin typeface="Segoe UI"/>
              </a:defRPr>
            </a:pPr>
            <a:r>
              <a:t>Both terms must appear</a:t>
            </a:r>
            <a:br/>
            <a:r>
              <a:t>(AND must be uppercase)</a:t>
            </a:r>
          </a:p>
        </p:txBody>
      </p:sp>
      <p:sp>
        <p:nvSpPr>
          <p:cNvPr id="17" name="Rounded Rectangle 16"/>
          <p:cNvSpPr/>
          <p:nvPr/>
        </p:nvSpPr>
        <p:spPr>
          <a:xfrm>
            <a:off x="8046719" y="1645920"/>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19" y="1645920"/>
            <a:ext cx="347472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1783080"/>
            <a:ext cx="3108960" cy="320040"/>
          </a:xfrm>
          <a:prstGeom prst="rect">
            <a:avLst/>
          </a:prstGeom>
          <a:noFill/>
        </p:spPr>
        <p:txBody>
          <a:bodyPr wrap="square">
            <a:spAutoFit/>
          </a:bodyPr>
          <a:lstStyle/>
          <a:p>
            <a:pPr algn="l">
              <a:defRPr sz="1600" b="1">
                <a:solidFill>
                  <a:srgbClr val="6B69D6"/>
                </a:solidFill>
                <a:latin typeface="Segoe UI"/>
              </a:defRPr>
            </a:pPr>
            <a:r>
              <a:t>Boolean OR</a:t>
            </a:r>
          </a:p>
        </p:txBody>
      </p:sp>
      <p:sp>
        <p:nvSpPr>
          <p:cNvPr id="20" name="Rounded Rectangle 19"/>
          <p:cNvSpPr/>
          <p:nvPr/>
        </p:nvSpPr>
        <p:spPr>
          <a:xfrm>
            <a:off x="8229599" y="2148840"/>
            <a:ext cx="3108960" cy="41148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39" y="2176272"/>
            <a:ext cx="2926080" cy="365760"/>
          </a:xfrm>
          <a:prstGeom prst="rect">
            <a:avLst/>
          </a:prstGeom>
          <a:noFill/>
        </p:spPr>
        <p:txBody>
          <a:bodyPr wrap="square">
            <a:spAutoFit/>
          </a:bodyPr>
          <a:lstStyle/>
          <a:p>
            <a:pPr algn="l">
              <a:defRPr sz="1300" b="0">
                <a:solidFill>
                  <a:srgbClr val="242424"/>
                </a:solidFill>
                <a:latin typeface="Cascadia Code"/>
              </a:defRPr>
            </a:pPr>
            <a:r>
              <a:t>Contract OR Agreement</a:t>
            </a:r>
          </a:p>
        </p:txBody>
      </p:sp>
      <p:sp>
        <p:nvSpPr>
          <p:cNvPr id="22" name="TextBox 21"/>
          <p:cNvSpPr txBox="1"/>
          <p:nvPr/>
        </p:nvSpPr>
        <p:spPr>
          <a:xfrm>
            <a:off x="8229599" y="2651760"/>
            <a:ext cx="3108960" cy="640080"/>
          </a:xfrm>
          <a:prstGeom prst="rect">
            <a:avLst/>
          </a:prstGeom>
          <a:noFill/>
        </p:spPr>
        <p:txBody>
          <a:bodyPr wrap="square">
            <a:spAutoFit/>
          </a:bodyPr>
          <a:lstStyle/>
          <a:p>
            <a:pPr algn="l">
              <a:defRPr sz="1200" b="0">
                <a:solidFill>
                  <a:srgbClr val="606060"/>
                </a:solidFill>
                <a:latin typeface="Segoe UI"/>
              </a:defRPr>
            </a:pPr>
            <a:r>
              <a:t>Either term matches</a:t>
            </a:r>
            <a:br/>
            <a:r>
              <a:t>(OR must be uppercase)</a:t>
            </a:r>
          </a:p>
        </p:txBody>
      </p:sp>
      <p:sp>
        <p:nvSpPr>
          <p:cNvPr id="23" name="Rounded Rectangle 22"/>
          <p:cNvSpPr/>
          <p:nvPr/>
        </p:nvSpPr>
        <p:spPr>
          <a:xfrm>
            <a:off x="548640" y="3749039"/>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49039"/>
            <a:ext cx="34747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886199"/>
            <a:ext cx="3108960" cy="320040"/>
          </a:xfrm>
          <a:prstGeom prst="rect">
            <a:avLst/>
          </a:prstGeom>
          <a:noFill/>
        </p:spPr>
        <p:txBody>
          <a:bodyPr wrap="square">
            <a:spAutoFit/>
          </a:bodyPr>
          <a:lstStyle/>
          <a:p>
            <a:pPr algn="l">
              <a:defRPr sz="1600" b="1">
                <a:solidFill>
                  <a:srgbClr val="FF8C00"/>
                </a:solidFill>
                <a:latin typeface="Segoe UI"/>
              </a:defRPr>
            </a:pPr>
            <a:r>
              <a:t>Exclusion</a:t>
            </a:r>
          </a:p>
        </p:txBody>
      </p:sp>
      <p:sp>
        <p:nvSpPr>
          <p:cNvPr id="26" name="Rounded Rectangle 25"/>
          <p:cNvSpPr/>
          <p:nvPr/>
        </p:nvSpPr>
        <p:spPr>
          <a:xfrm>
            <a:off x="731520" y="4251959"/>
            <a:ext cx="3108960" cy="41148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279391"/>
            <a:ext cx="2926080" cy="365760"/>
          </a:xfrm>
          <a:prstGeom prst="rect">
            <a:avLst/>
          </a:prstGeom>
          <a:noFill/>
        </p:spPr>
        <p:txBody>
          <a:bodyPr wrap="square">
            <a:spAutoFit/>
          </a:bodyPr>
          <a:lstStyle/>
          <a:p>
            <a:pPr algn="l">
              <a:defRPr sz="1300" b="0">
                <a:solidFill>
                  <a:srgbClr val="242424"/>
                </a:solidFill>
                <a:latin typeface="Cascadia Code"/>
              </a:defRPr>
            </a:pPr>
            <a:r>
              <a:t>Alpha -Beta</a:t>
            </a:r>
          </a:p>
        </p:txBody>
      </p:sp>
      <p:sp>
        <p:nvSpPr>
          <p:cNvPr id="28" name="TextBox 27"/>
          <p:cNvSpPr txBox="1"/>
          <p:nvPr/>
        </p:nvSpPr>
        <p:spPr>
          <a:xfrm>
            <a:off x="731520" y="4754879"/>
            <a:ext cx="3108960" cy="640080"/>
          </a:xfrm>
          <a:prstGeom prst="rect">
            <a:avLst/>
          </a:prstGeom>
          <a:noFill/>
        </p:spPr>
        <p:txBody>
          <a:bodyPr wrap="square">
            <a:spAutoFit/>
          </a:bodyPr>
          <a:lstStyle/>
          <a:p>
            <a:pPr algn="l">
              <a:defRPr sz="1200" b="0">
                <a:solidFill>
                  <a:srgbClr val="606060"/>
                </a:solidFill>
                <a:latin typeface="Segoe UI"/>
              </a:defRPr>
            </a:pPr>
            <a:r>
              <a:t>Exclude results containing</a:t>
            </a:r>
            <a:br/>
            <a:r>
              <a:t>'Beta' from results</a:t>
            </a:r>
          </a:p>
        </p:txBody>
      </p:sp>
      <p:sp>
        <p:nvSpPr>
          <p:cNvPr id="29" name="Rounded Rectangle 28"/>
          <p:cNvSpPr/>
          <p:nvPr/>
        </p:nvSpPr>
        <p:spPr>
          <a:xfrm>
            <a:off x="4297679" y="3749039"/>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97679" y="3749039"/>
            <a:ext cx="347472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59" y="3886199"/>
            <a:ext cx="3108960" cy="320040"/>
          </a:xfrm>
          <a:prstGeom prst="rect">
            <a:avLst/>
          </a:prstGeom>
          <a:noFill/>
        </p:spPr>
        <p:txBody>
          <a:bodyPr wrap="square">
            <a:spAutoFit/>
          </a:bodyPr>
          <a:lstStyle/>
          <a:p>
            <a:pPr algn="l">
              <a:defRPr sz="1600" b="1">
                <a:solidFill>
                  <a:srgbClr val="107C10"/>
                </a:solidFill>
                <a:latin typeface="Segoe UI"/>
              </a:defRPr>
            </a:pPr>
            <a:r>
              <a:t>Author Filter</a:t>
            </a:r>
          </a:p>
        </p:txBody>
      </p:sp>
      <p:sp>
        <p:nvSpPr>
          <p:cNvPr id="32" name="Rounded Rectangle 31"/>
          <p:cNvSpPr/>
          <p:nvPr/>
        </p:nvSpPr>
        <p:spPr>
          <a:xfrm>
            <a:off x="4480559" y="4251959"/>
            <a:ext cx="3108960" cy="41148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1999" y="4279391"/>
            <a:ext cx="2926080" cy="365760"/>
          </a:xfrm>
          <a:prstGeom prst="rect">
            <a:avLst/>
          </a:prstGeom>
          <a:noFill/>
        </p:spPr>
        <p:txBody>
          <a:bodyPr wrap="square">
            <a:spAutoFit/>
          </a:bodyPr>
          <a:lstStyle/>
          <a:p>
            <a:pPr algn="l">
              <a:defRPr sz="1300" b="0">
                <a:solidFill>
                  <a:srgbClr val="242424"/>
                </a:solidFill>
                <a:latin typeface="Cascadia Code"/>
              </a:defRPr>
            </a:pPr>
            <a:r>
              <a:t>author:"Jane Smith"</a:t>
            </a:r>
          </a:p>
        </p:txBody>
      </p:sp>
      <p:sp>
        <p:nvSpPr>
          <p:cNvPr id="34" name="TextBox 33"/>
          <p:cNvSpPr txBox="1"/>
          <p:nvPr/>
        </p:nvSpPr>
        <p:spPr>
          <a:xfrm>
            <a:off x="4480559" y="4754879"/>
            <a:ext cx="3108960" cy="640080"/>
          </a:xfrm>
          <a:prstGeom prst="rect">
            <a:avLst/>
          </a:prstGeom>
          <a:noFill/>
        </p:spPr>
        <p:txBody>
          <a:bodyPr wrap="square">
            <a:spAutoFit/>
          </a:bodyPr>
          <a:lstStyle/>
          <a:p>
            <a:pPr algn="l">
              <a:defRPr sz="1200" b="0">
                <a:solidFill>
                  <a:srgbClr val="606060"/>
                </a:solidFill>
                <a:latin typeface="Segoe UI"/>
              </a:defRPr>
            </a:pPr>
            <a:r>
              <a:t>Restrict by document</a:t>
            </a:r>
            <a:br/>
            <a:r>
              <a:t>author property</a:t>
            </a:r>
          </a:p>
        </p:txBody>
      </p:sp>
      <p:sp>
        <p:nvSpPr>
          <p:cNvPr id="35" name="Rounded Rectangle 34"/>
          <p:cNvSpPr/>
          <p:nvPr/>
        </p:nvSpPr>
        <p:spPr>
          <a:xfrm>
            <a:off x="8046719" y="3749039"/>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6719" y="3749039"/>
            <a:ext cx="3474720"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3886199"/>
            <a:ext cx="3108960" cy="320040"/>
          </a:xfrm>
          <a:prstGeom prst="rect">
            <a:avLst/>
          </a:prstGeom>
          <a:noFill/>
        </p:spPr>
        <p:txBody>
          <a:bodyPr wrap="square">
            <a:spAutoFit/>
          </a:bodyPr>
          <a:lstStyle/>
          <a:p>
            <a:pPr algn="l">
              <a:defRPr sz="1600" b="1">
                <a:solidFill>
                  <a:srgbClr val="D13438"/>
                </a:solidFill>
                <a:latin typeface="Segoe UI"/>
              </a:defRPr>
            </a:pPr>
            <a:r>
              <a:t>File Type</a:t>
            </a:r>
          </a:p>
        </p:txBody>
      </p:sp>
      <p:sp>
        <p:nvSpPr>
          <p:cNvPr id="38" name="Rounded Rectangle 37"/>
          <p:cNvSpPr/>
          <p:nvPr/>
        </p:nvSpPr>
        <p:spPr>
          <a:xfrm>
            <a:off x="8229599" y="4251959"/>
            <a:ext cx="3108960" cy="41148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1039" y="4279391"/>
            <a:ext cx="2926080" cy="365760"/>
          </a:xfrm>
          <a:prstGeom prst="rect">
            <a:avLst/>
          </a:prstGeom>
          <a:noFill/>
        </p:spPr>
        <p:txBody>
          <a:bodyPr wrap="square">
            <a:spAutoFit/>
          </a:bodyPr>
          <a:lstStyle/>
          <a:p>
            <a:pPr algn="l">
              <a:defRPr sz="1300" b="0">
                <a:solidFill>
                  <a:srgbClr val="242424"/>
                </a:solidFill>
                <a:latin typeface="Cascadia Code"/>
              </a:defRPr>
            </a:pPr>
            <a:r>
              <a:t>filetype:docx</a:t>
            </a:r>
          </a:p>
        </p:txBody>
      </p:sp>
      <p:sp>
        <p:nvSpPr>
          <p:cNvPr id="40" name="TextBox 39"/>
          <p:cNvSpPr txBox="1"/>
          <p:nvPr/>
        </p:nvSpPr>
        <p:spPr>
          <a:xfrm>
            <a:off x="8229599" y="4754879"/>
            <a:ext cx="3108960" cy="640080"/>
          </a:xfrm>
          <a:prstGeom prst="rect">
            <a:avLst/>
          </a:prstGeom>
          <a:noFill/>
        </p:spPr>
        <p:txBody>
          <a:bodyPr wrap="square">
            <a:spAutoFit/>
          </a:bodyPr>
          <a:lstStyle/>
          <a:p>
            <a:pPr algn="l">
              <a:defRPr sz="1200" b="0">
                <a:solidFill>
                  <a:srgbClr val="606060"/>
                </a:solidFill>
                <a:latin typeface="Segoe UI"/>
              </a:defRPr>
            </a:pPr>
            <a:r>
              <a:t>Restrict by file extension</a:t>
            </a:r>
            <a:br/>
            <a:r>
              <a:t>(docx, pdf, xlsx, etc.)</a:t>
            </a:r>
          </a:p>
        </p:txBody>
      </p:sp>
      <p:sp>
        <p:nvSpPr>
          <p:cNvPr id="41" name="Rectangle 40"/>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43" name="TextBox 42"/>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Search Troubleshooting Flow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"I uploaded a document but it doesn't show in search" — follow these steps</a:t>
            </a:r>
          </a:p>
        </p:txBody>
      </p:sp>
      <p:sp>
        <p:nvSpPr>
          <p:cNvPr id="5" name="Rounded Rectangle 4"/>
          <p:cNvSpPr/>
          <p:nvPr/>
        </p:nvSpPr>
        <p:spPr>
          <a:xfrm>
            <a:off x="548640"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Check Permissions</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Does the user have access</a:t>
            </a:r>
            <a:br/>
            <a:r>
              <a:t>to the item? (Security</a:t>
            </a:r>
            <a:br/>
            <a:r>
              <a:t>trimming is #1 cause)</a:t>
            </a:r>
          </a:p>
        </p:txBody>
      </p:sp>
      <p:sp>
        <p:nvSpPr>
          <p:cNvPr id="10" name="TextBox 9"/>
          <p:cNvSpPr txBox="1"/>
          <p:nvPr/>
        </p:nvSpPr>
        <p:spPr>
          <a:xfrm>
            <a:off x="3246120" y="292608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1" name="Rounded Rectangle 10"/>
          <p:cNvSpPr/>
          <p:nvPr/>
        </p:nvSpPr>
        <p:spPr>
          <a:xfrm>
            <a:off x="3429000"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4" name="TextBox 13"/>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Check Visibility</a:t>
            </a:r>
          </a:p>
        </p:txBody>
      </p:sp>
      <p:sp>
        <p:nvSpPr>
          <p:cNvPr id="15" name="TextBox 14"/>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Is the site/library allowed</a:t>
            </a:r>
            <a:br/>
            <a:r>
              <a:t>to appear in search?</a:t>
            </a:r>
            <a:br/>
            <a:r>
              <a:t>(Search visibility setting)</a:t>
            </a:r>
          </a:p>
        </p:txBody>
      </p:sp>
      <p:sp>
        <p:nvSpPr>
          <p:cNvPr id="16" name="TextBox 15"/>
          <p:cNvSpPr txBox="1"/>
          <p:nvPr/>
        </p:nvSpPr>
        <p:spPr>
          <a:xfrm>
            <a:off x="6126480" y="292608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7" name="Rounded Rectangle 16"/>
          <p:cNvSpPr/>
          <p:nvPr/>
        </p:nvSpPr>
        <p:spPr>
          <a:xfrm>
            <a:off x="6309359"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20" name="TextBox 19"/>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Request Reindex</a:t>
            </a:r>
          </a:p>
        </p:txBody>
      </p:sp>
      <p:sp>
        <p:nvSpPr>
          <p:cNvPr id="21" name="TextBox 20"/>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If settings changed recently,</a:t>
            </a:r>
            <a:br/>
            <a:r>
              <a:t>request a reindex of</a:t>
            </a:r>
            <a:br/>
            <a:r>
              <a:t>the library or site</a:t>
            </a:r>
          </a:p>
        </p:txBody>
      </p:sp>
      <p:sp>
        <p:nvSpPr>
          <p:cNvPr id="22" name="TextBox 21"/>
          <p:cNvSpPr txBox="1"/>
          <p:nvPr/>
        </p:nvSpPr>
        <p:spPr>
          <a:xfrm>
            <a:off x="9006839" y="292608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23" name="Rounded Rectangle 22"/>
          <p:cNvSpPr/>
          <p:nvPr/>
        </p:nvSpPr>
        <p:spPr>
          <a:xfrm>
            <a:off x="9189719" y="1645920"/>
            <a:ext cx="2651760" cy="3108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4</a:t>
            </a:r>
          </a:p>
        </p:txBody>
      </p:sp>
      <p:sp>
        <p:nvSpPr>
          <p:cNvPr id="26" name="TextBox 25"/>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Wait &amp; Validate</a:t>
            </a:r>
          </a:p>
        </p:txBody>
      </p:sp>
      <p:sp>
        <p:nvSpPr>
          <p:cNvPr id="27" name="TextBox 26"/>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Allow time for crawling</a:t>
            </a:r>
            <a:br/>
            <a:r>
              <a:t>(minutes to hours).</a:t>
            </a:r>
            <a:br/>
            <a:r>
              <a:t>Then search again.</a:t>
            </a:r>
          </a:p>
        </p:txBody>
      </p:sp>
      <p:sp>
        <p:nvSpPr>
          <p:cNvPr id="28" name="Rounded Rectangle 27"/>
          <p:cNvSpPr/>
          <p:nvPr/>
        </p:nvSpPr>
        <p:spPr>
          <a:xfrm>
            <a:off x="1371600" y="5120640"/>
            <a:ext cx="9418320" cy="64008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5166360"/>
            <a:ext cx="8869680" cy="548640"/>
          </a:xfrm>
          <a:prstGeom prst="rect">
            <a:avLst/>
          </a:prstGeom>
          <a:noFill/>
        </p:spPr>
        <p:txBody>
          <a:bodyPr wrap="square">
            <a:spAutoFit/>
          </a:bodyPr>
          <a:lstStyle/>
          <a:p>
            <a:pPr algn="l">
              <a:defRPr sz="1400" b="0">
                <a:solidFill>
                  <a:srgbClr val="D13438"/>
                </a:solidFill>
                <a:latin typeface="Segoe UI"/>
              </a:defRPr>
            </a:pPr>
            <a:r>
              <a:t>🔴  Still not showing?  Check if numeric-only content (not indexed in Excel). Verify the managed property mapping. Escalate to Microsoft support if persistent.</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Lab &amp; Validation</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Hands-on search labs and validation checks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Lab 6 Preview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Hands-on: validate search, reindex, and curate answers</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Upload Seed Docs</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Upload seed documents to your</a:t>
            </a:r>
            <a:br/>
            <a:r>
              <a:t>NW-Pxx library and verify</a:t>
            </a:r>
            <a:br/>
            <a:r>
              <a:t>they appear in search</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Validate Search</a:t>
            </a:r>
          </a:p>
        </p:txBody>
      </p:sp>
      <p:sp>
        <p:nvSpPr>
          <p:cNvPr id="14" name="TextBox 13"/>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Use phrase search and KQL</a:t>
            </a:r>
            <a:br/>
            <a:r>
              <a:t>to locate your documents.</a:t>
            </a:r>
            <a:br/>
            <a:r>
              <a:t>Test security trimming.</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Reindex Library</a:t>
            </a:r>
          </a:p>
        </p:txBody>
      </p:sp>
      <p:sp>
        <p:nvSpPr>
          <p:cNvPr id="19" name="TextBox 18"/>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Request a reindex of your</a:t>
            </a:r>
            <a:br/>
            <a:r>
              <a:t>library and observe the</a:t>
            </a:r>
            <a:br/>
            <a:r>
              <a:t>effect on search results</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Create Bookmark</a:t>
            </a:r>
          </a:p>
        </p:txBody>
      </p:sp>
      <p:sp>
        <p:nvSpPr>
          <p:cNvPr id="24" name="TextBox 23"/>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Create an NW-Pxx Bookmark</a:t>
            </a:r>
            <a:br/>
            <a:r>
              <a:t>in Search &amp; intelligence.</a:t>
            </a:r>
            <a:br/>
            <a:r>
              <a:t>Validate immediate availability</a:t>
            </a:r>
          </a:p>
        </p:txBody>
      </p:sp>
      <p:sp>
        <p:nvSpPr>
          <p:cNvPr id="25" name="Rounded Rectangle 24"/>
          <p:cNvSpPr/>
          <p:nvPr/>
        </p:nvSpPr>
        <p:spPr>
          <a:xfrm>
            <a:off x="1371600" y="4937760"/>
            <a:ext cx="9418320" cy="7315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4983480"/>
            <a:ext cx="8869680" cy="640080"/>
          </a:xfrm>
          <a:prstGeom prst="rect">
            <a:avLst/>
          </a:prstGeom>
          <a:noFill/>
        </p:spPr>
        <p:txBody>
          <a:bodyPr wrap="square">
            <a:spAutoFit/>
          </a:bodyPr>
          <a:lstStyle/>
          <a:p>
            <a:pPr algn="l">
              <a:defRPr sz="1400" b="0">
                <a:solidFill>
                  <a:srgbClr val="242424"/>
                </a:solidFill>
                <a:latin typeface="Segoe UI"/>
              </a:defRPr>
            </a:pPr>
            <a:r>
              <a:t>📝  Bonus:  Create an Acronym (e.g. NW-Pxx-NDA = 'Non-Disclosure Agreement'). Note: published acronyms may take up to 24 hours to appear — validate next day.</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Validation Checklist</a:t>
            </a:r>
          </a:p>
        </p:txBody>
      </p:sp>
      <p:sp>
        <p:nvSpPr>
          <p:cNvPr id="4" name="Rounded Rectangle 3"/>
          <p:cNvSpPr/>
          <p:nvPr/>
        </p:nvSpPr>
        <p:spPr>
          <a:xfrm>
            <a:off x="731520" y="118872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88720"/>
            <a:ext cx="73152" cy="128016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280160"/>
            <a:ext cx="4754880" cy="365760"/>
          </a:xfrm>
          <a:prstGeom prst="rect">
            <a:avLst/>
          </a:prstGeom>
          <a:noFill/>
        </p:spPr>
        <p:txBody>
          <a:bodyPr wrap="square">
            <a:spAutoFit/>
          </a:bodyPr>
          <a:lstStyle/>
          <a:p>
            <a:pPr algn="l">
              <a:defRPr sz="1600" b="1">
                <a:solidFill>
                  <a:srgbClr val="107C10"/>
                </a:solidFill>
                <a:latin typeface="Segoe UI"/>
              </a:defRPr>
            </a:pPr>
            <a:r>
              <a:t>☐  Seed docs discoverable</a:t>
            </a:r>
          </a:p>
        </p:txBody>
      </p:sp>
      <p:sp>
        <p:nvSpPr>
          <p:cNvPr id="7" name="TextBox 6"/>
          <p:cNvSpPr txBox="1"/>
          <p:nvPr/>
        </p:nvSpPr>
        <p:spPr>
          <a:xfrm>
            <a:off x="1005840" y="1691640"/>
            <a:ext cx="4754880" cy="640080"/>
          </a:xfrm>
          <a:prstGeom prst="rect">
            <a:avLst/>
          </a:prstGeom>
          <a:noFill/>
        </p:spPr>
        <p:txBody>
          <a:bodyPr wrap="square">
            <a:spAutoFit/>
          </a:bodyPr>
          <a:lstStyle/>
          <a:p>
            <a:pPr algn="l">
              <a:defRPr sz="1300" b="0">
                <a:solidFill>
                  <a:srgbClr val="242424"/>
                </a:solidFill>
                <a:latin typeface="Segoe UI"/>
              </a:defRPr>
            </a:pPr>
            <a:r>
              <a:t>Search for your uploaded documents —</a:t>
            </a:r>
            <a:br/>
            <a:r>
              <a:t>they should appear in results for your account</a:t>
            </a:r>
          </a:p>
        </p:txBody>
      </p:sp>
      <p:sp>
        <p:nvSpPr>
          <p:cNvPr id="8" name="Rounded Rectangle 7"/>
          <p:cNvSpPr/>
          <p:nvPr/>
        </p:nvSpPr>
        <p:spPr>
          <a:xfrm>
            <a:off x="6400800" y="118872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188720"/>
            <a:ext cx="73152" cy="1280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280160"/>
            <a:ext cx="4754880" cy="365760"/>
          </a:xfrm>
          <a:prstGeom prst="rect">
            <a:avLst/>
          </a:prstGeom>
          <a:noFill/>
        </p:spPr>
        <p:txBody>
          <a:bodyPr wrap="square">
            <a:spAutoFit/>
          </a:bodyPr>
          <a:lstStyle/>
          <a:p>
            <a:pPr algn="l">
              <a:defRPr sz="1600" b="1">
                <a:solidFill>
                  <a:srgbClr val="0078D4"/>
                </a:solidFill>
                <a:latin typeface="Segoe UI"/>
              </a:defRPr>
            </a:pPr>
            <a:r>
              <a:t>☐  Security trimming works</a:t>
            </a:r>
          </a:p>
        </p:txBody>
      </p:sp>
      <p:sp>
        <p:nvSpPr>
          <p:cNvPr id="11" name="TextBox 10"/>
          <p:cNvSpPr txBox="1"/>
          <p:nvPr/>
        </p:nvSpPr>
        <p:spPr>
          <a:xfrm>
            <a:off x="6675120" y="1691640"/>
            <a:ext cx="4754880" cy="640080"/>
          </a:xfrm>
          <a:prstGeom prst="rect">
            <a:avLst/>
          </a:prstGeom>
          <a:noFill/>
        </p:spPr>
        <p:txBody>
          <a:bodyPr wrap="square">
            <a:spAutoFit/>
          </a:bodyPr>
          <a:lstStyle/>
          <a:p>
            <a:pPr algn="l">
              <a:defRPr sz="1300" b="0">
                <a:solidFill>
                  <a:srgbClr val="242424"/>
                </a:solidFill>
                <a:latin typeface="Segoe UI"/>
              </a:defRPr>
            </a:pPr>
            <a:r>
              <a:t>Ask a neighbor to search for your docs —</a:t>
            </a:r>
            <a:br/>
            <a:r>
              <a:t>if they lack access, docs shouldn't appear</a:t>
            </a:r>
          </a:p>
        </p:txBody>
      </p:sp>
      <p:sp>
        <p:nvSpPr>
          <p:cNvPr id="12" name="Rounded Rectangle 11"/>
          <p:cNvSpPr/>
          <p:nvPr/>
        </p:nvSpPr>
        <p:spPr>
          <a:xfrm>
            <a:off x="731520" y="269748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697480"/>
            <a:ext cx="73152" cy="128016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788920"/>
            <a:ext cx="4754880" cy="365760"/>
          </a:xfrm>
          <a:prstGeom prst="rect">
            <a:avLst/>
          </a:prstGeom>
          <a:noFill/>
        </p:spPr>
        <p:txBody>
          <a:bodyPr wrap="square">
            <a:spAutoFit/>
          </a:bodyPr>
          <a:lstStyle/>
          <a:p>
            <a:pPr algn="l">
              <a:defRPr sz="1600" b="1">
                <a:solidFill>
                  <a:srgbClr val="00B294"/>
                </a:solidFill>
                <a:latin typeface="Segoe UI"/>
              </a:defRPr>
            </a:pPr>
            <a:r>
              <a:t>☐  Reindex completed</a:t>
            </a:r>
          </a:p>
        </p:txBody>
      </p:sp>
      <p:sp>
        <p:nvSpPr>
          <p:cNvPr id="15" name="TextBox 14"/>
          <p:cNvSpPr txBox="1"/>
          <p:nvPr/>
        </p:nvSpPr>
        <p:spPr>
          <a:xfrm>
            <a:off x="1005840" y="3200400"/>
            <a:ext cx="4754880" cy="640080"/>
          </a:xfrm>
          <a:prstGeom prst="rect">
            <a:avLst/>
          </a:prstGeom>
          <a:noFill/>
        </p:spPr>
        <p:txBody>
          <a:bodyPr wrap="square">
            <a:spAutoFit/>
          </a:bodyPr>
          <a:lstStyle/>
          <a:p>
            <a:pPr algn="l">
              <a:defRPr sz="1300" b="0">
                <a:solidFill>
                  <a:srgbClr val="242424"/>
                </a:solidFill>
                <a:latin typeface="Segoe UI"/>
              </a:defRPr>
            </a:pPr>
            <a:r>
              <a:t>After requesting reindex, wait for crawl,</a:t>
            </a:r>
            <a:br/>
            <a:r>
              <a:t>then verify updated content appears</a:t>
            </a:r>
          </a:p>
        </p:txBody>
      </p:sp>
      <p:sp>
        <p:nvSpPr>
          <p:cNvPr id="16" name="Rounded Rectangle 15"/>
          <p:cNvSpPr/>
          <p:nvPr/>
        </p:nvSpPr>
        <p:spPr>
          <a:xfrm>
            <a:off x="6400800" y="269748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2697480"/>
            <a:ext cx="73152" cy="128016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788920"/>
            <a:ext cx="4754880" cy="365760"/>
          </a:xfrm>
          <a:prstGeom prst="rect">
            <a:avLst/>
          </a:prstGeom>
          <a:noFill/>
        </p:spPr>
        <p:txBody>
          <a:bodyPr wrap="square">
            <a:spAutoFit/>
          </a:bodyPr>
          <a:lstStyle/>
          <a:p>
            <a:pPr algn="l">
              <a:defRPr sz="1600" b="1">
                <a:solidFill>
                  <a:srgbClr val="6B69D6"/>
                </a:solidFill>
                <a:latin typeface="Segoe UI"/>
              </a:defRPr>
            </a:pPr>
            <a:r>
              <a:t>☐  Bookmark works</a:t>
            </a:r>
          </a:p>
        </p:txBody>
      </p:sp>
      <p:sp>
        <p:nvSpPr>
          <p:cNvPr id="19" name="TextBox 18"/>
          <p:cNvSpPr txBox="1"/>
          <p:nvPr/>
        </p:nvSpPr>
        <p:spPr>
          <a:xfrm>
            <a:off x="6675120" y="3200400"/>
            <a:ext cx="4754880" cy="640080"/>
          </a:xfrm>
          <a:prstGeom prst="rect">
            <a:avLst/>
          </a:prstGeom>
          <a:noFill/>
        </p:spPr>
        <p:txBody>
          <a:bodyPr wrap="square">
            <a:spAutoFit/>
          </a:bodyPr>
          <a:lstStyle/>
          <a:p>
            <a:pPr algn="l">
              <a:defRPr sz="1300" b="0">
                <a:solidFill>
                  <a:srgbClr val="242424"/>
                </a:solidFill>
                <a:latin typeface="Segoe UI"/>
              </a:defRPr>
            </a:pPr>
            <a:r>
              <a:t>Search your NW-Pxx keyword — the bookmark</a:t>
            </a:r>
            <a:br/>
            <a:r>
              <a:t>should appear at the top of results immediately</a:t>
            </a:r>
          </a:p>
        </p:txBody>
      </p:sp>
      <p:sp>
        <p:nvSpPr>
          <p:cNvPr id="20" name="Rounded Rectangle 19"/>
          <p:cNvSpPr/>
          <p:nvPr/>
        </p:nvSpPr>
        <p:spPr>
          <a:xfrm>
            <a:off x="731520" y="420624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206240"/>
            <a:ext cx="73152" cy="12801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297680"/>
            <a:ext cx="4754880" cy="365760"/>
          </a:xfrm>
          <a:prstGeom prst="rect">
            <a:avLst/>
          </a:prstGeom>
          <a:noFill/>
        </p:spPr>
        <p:txBody>
          <a:bodyPr wrap="square">
            <a:spAutoFit/>
          </a:bodyPr>
          <a:lstStyle/>
          <a:p>
            <a:pPr algn="l">
              <a:defRPr sz="1600" b="1">
                <a:solidFill>
                  <a:srgbClr val="FF8C00"/>
                </a:solidFill>
                <a:latin typeface="Segoe UI"/>
              </a:defRPr>
            </a:pPr>
            <a:r>
              <a:t>☐  Acronym created</a:t>
            </a:r>
          </a:p>
        </p:txBody>
      </p:sp>
      <p:sp>
        <p:nvSpPr>
          <p:cNvPr id="23" name="TextBox 22"/>
          <p:cNvSpPr txBox="1"/>
          <p:nvPr/>
        </p:nvSpPr>
        <p:spPr>
          <a:xfrm>
            <a:off x="1005840" y="4709160"/>
            <a:ext cx="4754880" cy="640080"/>
          </a:xfrm>
          <a:prstGeom prst="rect">
            <a:avLst/>
          </a:prstGeom>
          <a:noFill/>
        </p:spPr>
        <p:txBody>
          <a:bodyPr wrap="square">
            <a:spAutoFit/>
          </a:bodyPr>
          <a:lstStyle/>
          <a:p>
            <a:pPr algn="l">
              <a:defRPr sz="1300" b="0">
                <a:solidFill>
                  <a:srgbClr val="242424"/>
                </a:solidFill>
                <a:latin typeface="Segoe UI"/>
              </a:defRPr>
            </a:pPr>
            <a:r>
              <a:t>Published acronym visible (may take up to 24h).</a:t>
            </a:r>
            <a:br/>
            <a:r>
              <a:t>Verify Draft vs Published state in admin center</a:t>
            </a:r>
          </a:p>
        </p:txBody>
      </p:sp>
      <p:sp>
        <p:nvSpPr>
          <p:cNvPr id="24" name="Rounded Rectangle 23"/>
          <p:cNvSpPr/>
          <p:nvPr/>
        </p:nvSpPr>
        <p:spPr>
          <a:xfrm>
            <a:off x="6400800" y="420624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4206240"/>
            <a:ext cx="73152" cy="128016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4297680"/>
            <a:ext cx="4754880" cy="365760"/>
          </a:xfrm>
          <a:prstGeom prst="rect">
            <a:avLst/>
          </a:prstGeom>
          <a:noFill/>
        </p:spPr>
        <p:txBody>
          <a:bodyPr wrap="square">
            <a:spAutoFit/>
          </a:bodyPr>
          <a:lstStyle/>
          <a:p>
            <a:pPr algn="l">
              <a:defRPr sz="1600" b="1">
                <a:solidFill>
                  <a:srgbClr val="D13438"/>
                </a:solidFill>
                <a:latin typeface="Segoe UI"/>
              </a:defRPr>
            </a:pPr>
            <a:r>
              <a:t>☐  KQL queries work</a:t>
            </a:r>
          </a:p>
        </p:txBody>
      </p:sp>
      <p:sp>
        <p:nvSpPr>
          <p:cNvPr id="27" name="TextBox 26"/>
          <p:cNvSpPr txBox="1"/>
          <p:nvPr/>
        </p:nvSpPr>
        <p:spPr>
          <a:xfrm>
            <a:off x="6675120" y="4709160"/>
            <a:ext cx="4754880" cy="640080"/>
          </a:xfrm>
          <a:prstGeom prst="rect">
            <a:avLst/>
          </a:prstGeom>
          <a:noFill/>
        </p:spPr>
        <p:txBody>
          <a:bodyPr wrap="square">
            <a:spAutoFit/>
          </a:bodyPr>
          <a:lstStyle/>
          <a:p>
            <a:pPr algn="l">
              <a:defRPr sz="1300" b="0">
                <a:solidFill>
                  <a:srgbClr val="242424"/>
                </a:solidFill>
                <a:latin typeface="Segoe UI"/>
              </a:defRPr>
            </a:pPr>
            <a:r>
              <a:t>Test: "exact phrase", author:"Name", filetype:docx</a:t>
            </a:r>
            <a:br/>
            <a:r>
              <a:t>Verify results match expectations</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Common Troubleshooting Issues</a:t>
            </a:r>
          </a:p>
        </p:txBody>
      </p:sp>
      <p:sp>
        <p:nvSpPr>
          <p:cNvPr id="4" name="Rounded Rectangle 3"/>
          <p:cNvSpPr/>
          <p:nvPr/>
        </p:nvSpPr>
        <p:spPr>
          <a:xfrm>
            <a:off x="548640" y="118872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88720"/>
            <a:ext cx="73152" cy="9144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234440"/>
            <a:ext cx="2926080" cy="365760"/>
          </a:xfrm>
          <a:prstGeom prst="rect">
            <a:avLst/>
          </a:prstGeom>
          <a:noFill/>
        </p:spPr>
        <p:txBody>
          <a:bodyPr wrap="square">
            <a:spAutoFit/>
          </a:bodyPr>
          <a:lstStyle/>
          <a:p>
            <a:pPr algn="l">
              <a:defRPr sz="1400" b="1">
                <a:solidFill>
                  <a:srgbClr val="D13438"/>
                </a:solidFill>
                <a:latin typeface="Segoe UI"/>
              </a:defRPr>
            </a:pPr>
            <a:r>
              <a:t>Document not in search results</a:t>
            </a:r>
          </a:p>
        </p:txBody>
      </p:sp>
      <p:sp>
        <p:nvSpPr>
          <p:cNvPr id="7" name="TextBox 6"/>
          <p:cNvSpPr txBox="1"/>
          <p:nvPr/>
        </p:nvSpPr>
        <p:spPr>
          <a:xfrm>
            <a:off x="3840480" y="1234440"/>
            <a:ext cx="4389120" cy="822960"/>
          </a:xfrm>
          <a:prstGeom prst="rect">
            <a:avLst/>
          </a:prstGeom>
          <a:noFill/>
        </p:spPr>
        <p:txBody>
          <a:bodyPr wrap="square">
            <a:spAutoFit/>
          </a:bodyPr>
          <a:lstStyle/>
          <a:p>
            <a:pPr algn="l">
              <a:defRPr sz="1200" b="0">
                <a:solidFill>
                  <a:srgbClr val="242424"/>
                </a:solidFill>
                <a:latin typeface="Segoe UI"/>
              </a:defRPr>
            </a:pPr>
            <a:r>
              <a:t>Check: user permissions, search visibility settings, indexing delay. Try reindex if recently changed settings.</a:t>
            </a:r>
          </a:p>
        </p:txBody>
      </p:sp>
      <p:sp>
        <p:nvSpPr>
          <p:cNvPr id="8" name="TextBox 7"/>
          <p:cNvSpPr txBox="1"/>
          <p:nvPr/>
        </p:nvSpPr>
        <p:spPr>
          <a:xfrm>
            <a:off x="8412480" y="1234440"/>
            <a:ext cx="3017520" cy="822960"/>
          </a:xfrm>
          <a:prstGeom prst="rect">
            <a:avLst/>
          </a:prstGeom>
          <a:noFill/>
        </p:spPr>
        <p:txBody>
          <a:bodyPr wrap="square">
            <a:spAutoFit/>
          </a:bodyPr>
          <a:lstStyle/>
          <a:p>
            <a:pPr algn="l">
              <a:defRPr sz="1100" b="0">
                <a:solidFill>
                  <a:srgbClr val="606060"/>
                </a:solidFill>
                <a:latin typeface="Segoe UI"/>
              </a:defRPr>
            </a:pPr>
            <a:r>
              <a:t>Permissions → Visibility → Reindex → Wait</a:t>
            </a:r>
          </a:p>
        </p:txBody>
      </p:sp>
      <p:sp>
        <p:nvSpPr>
          <p:cNvPr id="9" name="Rounded Rectangle 8"/>
          <p:cNvSpPr/>
          <p:nvPr/>
        </p:nvSpPr>
        <p:spPr>
          <a:xfrm>
            <a:off x="548640" y="224028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40280"/>
            <a:ext cx="73152" cy="9144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86000"/>
            <a:ext cx="2926080" cy="365760"/>
          </a:xfrm>
          <a:prstGeom prst="rect">
            <a:avLst/>
          </a:prstGeom>
          <a:noFill/>
        </p:spPr>
        <p:txBody>
          <a:bodyPr wrap="square">
            <a:spAutoFit/>
          </a:bodyPr>
          <a:lstStyle/>
          <a:p>
            <a:pPr algn="l">
              <a:defRPr sz="1400" b="1">
                <a:solidFill>
                  <a:srgbClr val="FF8C00"/>
                </a:solidFill>
                <a:latin typeface="Segoe UI"/>
              </a:defRPr>
            </a:pPr>
            <a:r>
              <a:t>Bookmark not appearing</a:t>
            </a:r>
          </a:p>
        </p:txBody>
      </p:sp>
      <p:sp>
        <p:nvSpPr>
          <p:cNvPr id="12" name="TextBox 11"/>
          <p:cNvSpPr txBox="1"/>
          <p:nvPr/>
        </p:nvSpPr>
        <p:spPr>
          <a:xfrm>
            <a:off x="3840480" y="2286000"/>
            <a:ext cx="4389120" cy="822960"/>
          </a:xfrm>
          <a:prstGeom prst="rect">
            <a:avLst/>
          </a:prstGeom>
          <a:noFill/>
        </p:spPr>
        <p:txBody>
          <a:bodyPr wrap="square">
            <a:spAutoFit/>
          </a:bodyPr>
          <a:lstStyle/>
          <a:p>
            <a:pPr algn="l">
              <a:defRPr sz="1200" b="0">
                <a:solidFill>
                  <a:srgbClr val="242424"/>
                </a:solidFill>
                <a:latin typeface="Segoe UI"/>
              </a:defRPr>
            </a:pPr>
            <a:r>
              <a:t>Verify the bookmark is Published (not Draft). Check keyword spelling. Bookmarks are immediate after publish.</a:t>
            </a:r>
          </a:p>
        </p:txBody>
      </p:sp>
      <p:sp>
        <p:nvSpPr>
          <p:cNvPr id="13" name="TextBox 12"/>
          <p:cNvSpPr txBox="1"/>
          <p:nvPr/>
        </p:nvSpPr>
        <p:spPr>
          <a:xfrm>
            <a:off x="8412480" y="2286000"/>
            <a:ext cx="3017520" cy="822960"/>
          </a:xfrm>
          <a:prstGeom prst="rect">
            <a:avLst/>
          </a:prstGeom>
          <a:noFill/>
        </p:spPr>
        <p:txBody>
          <a:bodyPr wrap="square">
            <a:spAutoFit/>
          </a:bodyPr>
          <a:lstStyle/>
          <a:p>
            <a:pPr algn="l">
              <a:defRPr sz="1100" b="0">
                <a:solidFill>
                  <a:srgbClr val="606060"/>
                </a:solidFill>
                <a:latin typeface="Segoe UI"/>
              </a:defRPr>
            </a:pPr>
            <a:r>
              <a:t>Admin center → Search &amp; intelligence → Bookmarks</a:t>
            </a:r>
          </a:p>
        </p:txBody>
      </p:sp>
      <p:sp>
        <p:nvSpPr>
          <p:cNvPr id="14" name="Rounded Rectangle 13"/>
          <p:cNvSpPr/>
          <p:nvPr/>
        </p:nvSpPr>
        <p:spPr>
          <a:xfrm>
            <a:off x="548640" y="329183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291839"/>
            <a:ext cx="73152"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37559"/>
            <a:ext cx="2926080" cy="365760"/>
          </a:xfrm>
          <a:prstGeom prst="rect">
            <a:avLst/>
          </a:prstGeom>
          <a:noFill/>
        </p:spPr>
        <p:txBody>
          <a:bodyPr wrap="square">
            <a:spAutoFit/>
          </a:bodyPr>
          <a:lstStyle/>
          <a:p>
            <a:pPr algn="l">
              <a:defRPr sz="1400" b="1">
                <a:solidFill>
                  <a:srgbClr val="0078D4"/>
                </a:solidFill>
                <a:latin typeface="Segoe UI"/>
              </a:defRPr>
            </a:pPr>
            <a:r>
              <a:t>Acronym not showing after publish</a:t>
            </a:r>
          </a:p>
        </p:txBody>
      </p:sp>
      <p:sp>
        <p:nvSpPr>
          <p:cNvPr id="17" name="TextBox 16"/>
          <p:cNvSpPr txBox="1"/>
          <p:nvPr/>
        </p:nvSpPr>
        <p:spPr>
          <a:xfrm>
            <a:off x="3840480" y="3337559"/>
            <a:ext cx="4389120" cy="822960"/>
          </a:xfrm>
          <a:prstGeom prst="rect">
            <a:avLst/>
          </a:prstGeom>
          <a:noFill/>
        </p:spPr>
        <p:txBody>
          <a:bodyPr wrap="square">
            <a:spAutoFit/>
          </a:bodyPr>
          <a:lstStyle/>
          <a:p>
            <a:pPr algn="l">
              <a:defRPr sz="1200" b="0">
                <a:solidFill>
                  <a:srgbClr val="242424"/>
                </a:solidFill>
                <a:latin typeface="Segoe UI"/>
              </a:defRPr>
            </a:pPr>
            <a:r>
              <a:t>Published acronyms can take up to 24 hours. Verify it's in Published state, not Draft.</a:t>
            </a:r>
          </a:p>
        </p:txBody>
      </p:sp>
      <p:sp>
        <p:nvSpPr>
          <p:cNvPr id="18" name="TextBox 17"/>
          <p:cNvSpPr txBox="1"/>
          <p:nvPr/>
        </p:nvSpPr>
        <p:spPr>
          <a:xfrm>
            <a:off x="8412480" y="3337559"/>
            <a:ext cx="3017520" cy="822960"/>
          </a:xfrm>
          <a:prstGeom prst="rect">
            <a:avLst/>
          </a:prstGeom>
          <a:noFill/>
        </p:spPr>
        <p:txBody>
          <a:bodyPr wrap="square">
            <a:spAutoFit/>
          </a:bodyPr>
          <a:lstStyle/>
          <a:p>
            <a:pPr algn="l">
              <a:defRPr sz="1100" b="0">
                <a:solidFill>
                  <a:srgbClr val="606060"/>
                </a:solidFill>
                <a:latin typeface="Segoe UI"/>
              </a:defRPr>
            </a:pPr>
            <a:r>
              <a:t>Wait 24h. Check state in admin center.</a:t>
            </a:r>
          </a:p>
        </p:txBody>
      </p:sp>
      <p:sp>
        <p:nvSpPr>
          <p:cNvPr id="19" name="Rounded Rectangle 18"/>
          <p:cNvSpPr/>
          <p:nvPr/>
        </p:nvSpPr>
        <p:spPr>
          <a:xfrm>
            <a:off x="548640" y="434340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343400"/>
            <a:ext cx="73152" cy="9144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389120"/>
            <a:ext cx="2926080" cy="365760"/>
          </a:xfrm>
          <a:prstGeom prst="rect">
            <a:avLst/>
          </a:prstGeom>
          <a:noFill/>
        </p:spPr>
        <p:txBody>
          <a:bodyPr wrap="square">
            <a:spAutoFit/>
          </a:bodyPr>
          <a:lstStyle/>
          <a:p>
            <a:pPr algn="l">
              <a:defRPr sz="1400" b="1">
                <a:solidFill>
                  <a:srgbClr val="6B69D6"/>
                </a:solidFill>
                <a:latin typeface="Segoe UI"/>
              </a:defRPr>
            </a:pPr>
            <a:r>
              <a:t>KQL query returns no results</a:t>
            </a:r>
          </a:p>
        </p:txBody>
      </p:sp>
      <p:sp>
        <p:nvSpPr>
          <p:cNvPr id="22" name="TextBox 21"/>
          <p:cNvSpPr txBox="1"/>
          <p:nvPr/>
        </p:nvSpPr>
        <p:spPr>
          <a:xfrm>
            <a:off x="3840480" y="4389120"/>
            <a:ext cx="4389120" cy="822960"/>
          </a:xfrm>
          <a:prstGeom prst="rect">
            <a:avLst/>
          </a:prstGeom>
          <a:noFill/>
        </p:spPr>
        <p:txBody>
          <a:bodyPr wrap="square">
            <a:spAutoFit/>
          </a:bodyPr>
          <a:lstStyle/>
          <a:p>
            <a:pPr algn="l">
              <a:defRPr sz="1200" b="0">
                <a:solidFill>
                  <a:srgbClr val="242424"/>
                </a:solidFill>
                <a:latin typeface="Segoe UI"/>
              </a:defRPr>
            </a:pPr>
            <a:r>
              <a:t>Check operator case (AND/OR/NOT must be uppercase). Verify the property is queryable (not all properties are).</a:t>
            </a:r>
          </a:p>
        </p:txBody>
      </p:sp>
      <p:sp>
        <p:nvSpPr>
          <p:cNvPr id="23" name="TextBox 22"/>
          <p:cNvSpPr txBox="1"/>
          <p:nvPr/>
        </p:nvSpPr>
        <p:spPr>
          <a:xfrm>
            <a:off x="8412480" y="4389120"/>
            <a:ext cx="3017520" cy="822960"/>
          </a:xfrm>
          <a:prstGeom prst="rect">
            <a:avLst/>
          </a:prstGeom>
          <a:noFill/>
        </p:spPr>
        <p:txBody>
          <a:bodyPr wrap="square">
            <a:spAutoFit/>
          </a:bodyPr>
          <a:lstStyle/>
          <a:p>
            <a:pPr algn="l">
              <a:defRPr sz="1100" b="0">
                <a:solidFill>
                  <a:srgbClr val="606060"/>
                </a:solidFill>
                <a:latin typeface="Segoe UI"/>
              </a:defRPr>
            </a:pPr>
            <a:r>
              <a:t>Test with simple phrase first, then add filters</a:t>
            </a:r>
          </a:p>
        </p:txBody>
      </p:sp>
      <p:sp>
        <p:nvSpPr>
          <p:cNvPr id="24" name="Rounded Rectangle 23"/>
          <p:cNvSpPr/>
          <p:nvPr/>
        </p:nvSpPr>
        <p:spPr>
          <a:xfrm>
            <a:off x="548640" y="539495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94959"/>
            <a:ext cx="73152" cy="9144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440679"/>
            <a:ext cx="2926080" cy="365760"/>
          </a:xfrm>
          <a:prstGeom prst="rect">
            <a:avLst/>
          </a:prstGeom>
          <a:noFill/>
        </p:spPr>
        <p:txBody>
          <a:bodyPr wrap="square">
            <a:spAutoFit/>
          </a:bodyPr>
          <a:lstStyle/>
          <a:p>
            <a:pPr algn="l">
              <a:defRPr sz="1400" b="1">
                <a:solidFill>
                  <a:srgbClr val="00B294"/>
                </a:solidFill>
                <a:latin typeface="Segoe UI"/>
              </a:defRPr>
            </a:pPr>
            <a:r>
              <a:t>Reindex seems to have no effect</a:t>
            </a:r>
          </a:p>
        </p:txBody>
      </p:sp>
      <p:sp>
        <p:nvSpPr>
          <p:cNvPr id="27" name="TextBox 26"/>
          <p:cNvSpPr txBox="1"/>
          <p:nvPr/>
        </p:nvSpPr>
        <p:spPr>
          <a:xfrm>
            <a:off x="3840480" y="5440679"/>
            <a:ext cx="4389120" cy="822960"/>
          </a:xfrm>
          <a:prstGeom prst="rect">
            <a:avLst/>
          </a:prstGeom>
          <a:noFill/>
        </p:spPr>
        <p:txBody>
          <a:bodyPr wrap="square">
            <a:spAutoFit/>
          </a:bodyPr>
          <a:lstStyle/>
          <a:p>
            <a:pPr algn="l">
              <a:defRPr sz="1200" b="0">
                <a:solidFill>
                  <a:srgbClr val="242424"/>
                </a:solidFill>
                <a:latin typeface="Segoe UI"/>
              </a:defRPr>
            </a:pPr>
            <a:r>
              <a:t>Reindex marks content for next crawl — this isn't instant. Wait 15-60 minutes. Avoid re-triggering.</a:t>
            </a:r>
          </a:p>
        </p:txBody>
      </p:sp>
      <p:sp>
        <p:nvSpPr>
          <p:cNvPr id="28" name="TextBox 27"/>
          <p:cNvSpPr txBox="1"/>
          <p:nvPr/>
        </p:nvSpPr>
        <p:spPr>
          <a:xfrm>
            <a:off x="8412480" y="5440679"/>
            <a:ext cx="3017520" cy="822960"/>
          </a:xfrm>
          <a:prstGeom prst="rect">
            <a:avLst/>
          </a:prstGeom>
          <a:noFill/>
        </p:spPr>
        <p:txBody>
          <a:bodyPr wrap="square">
            <a:spAutoFit/>
          </a:bodyPr>
          <a:lstStyle/>
          <a:p>
            <a:pPr algn="l">
              <a:defRPr sz="1100" b="0">
                <a:solidFill>
                  <a:srgbClr val="606060"/>
                </a:solidFill>
                <a:latin typeface="Segoe UI"/>
              </a:defRPr>
            </a:pPr>
            <a:r>
              <a:t>Be patient. Check again after 1 hour.</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Key Takeaways</a:t>
            </a:r>
          </a:p>
        </p:txBody>
      </p:sp>
      <p:sp>
        <p:nvSpPr>
          <p:cNvPr id="4" name="Rounded Rectangle 3"/>
          <p:cNvSpPr/>
          <p:nvPr/>
        </p:nvSpPr>
        <p:spPr>
          <a:xfrm>
            <a:off x="548640" y="118872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6" name="TextBox 5"/>
          <p:cNvSpPr txBox="1"/>
          <p:nvPr/>
        </p:nvSpPr>
        <p:spPr>
          <a:xfrm>
            <a:off x="1371600" y="1280160"/>
            <a:ext cx="2286000" cy="365760"/>
          </a:xfrm>
          <a:prstGeom prst="rect">
            <a:avLst/>
          </a:prstGeom>
          <a:noFill/>
        </p:spPr>
        <p:txBody>
          <a:bodyPr wrap="square">
            <a:spAutoFit/>
          </a:bodyPr>
          <a:lstStyle/>
          <a:p>
            <a:pPr algn="l">
              <a:defRPr sz="1700" b="1">
                <a:solidFill>
                  <a:srgbClr val="0078D4"/>
                </a:solidFill>
                <a:latin typeface="Segoe UI"/>
              </a:defRPr>
            </a:pPr>
            <a:r>
              <a:t>Security Trimming</a:t>
            </a:r>
          </a:p>
        </p:txBody>
      </p:sp>
      <p:sp>
        <p:nvSpPr>
          <p:cNvPr id="7" name="TextBox 6"/>
          <p:cNvSpPr txBox="1"/>
          <p:nvPr/>
        </p:nvSpPr>
        <p:spPr>
          <a:xfrm>
            <a:off x="3840480" y="1280160"/>
            <a:ext cx="7589520" cy="731520"/>
          </a:xfrm>
          <a:prstGeom prst="rect">
            <a:avLst/>
          </a:prstGeom>
          <a:noFill/>
        </p:spPr>
        <p:txBody>
          <a:bodyPr wrap="square">
            <a:spAutoFit/>
          </a:bodyPr>
          <a:lstStyle/>
          <a:p>
            <a:pPr algn="l">
              <a:defRPr sz="1400" b="0">
                <a:solidFill>
                  <a:srgbClr val="242424"/>
                </a:solidFill>
                <a:latin typeface="Segoe UI"/>
              </a:defRPr>
            </a:pPr>
            <a:r>
              <a:t>Search never overrides permissions. 'Missing' results?</a:t>
            </a:r>
            <a:br/>
            <a:r>
              <a:t>Check access first — this is the #1 troubleshooting step.</a:t>
            </a:r>
          </a:p>
        </p:txBody>
      </p:sp>
      <p:sp>
        <p:nvSpPr>
          <p:cNvPr id="8" name="Rounded Rectangle 7"/>
          <p:cNvSpPr/>
          <p:nvPr/>
        </p:nvSpPr>
        <p:spPr>
          <a:xfrm>
            <a:off x="548640" y="224028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3172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0" name="TextBox 9"/>
          <p:cNvSpPr txBox="1"/>
          <p:nvPr/>
        </p:nvSpPr>
        <p:spPr>
          <a:xfrm>
            <a:off x="1371600" y="2331720"/>
            <a:ext cx="2286000" cy="365760"/>
          </a:xfrm>
          <a:prstGeom prst="rect">
            <a:avLst/>
          </a:prstGeom>
          <a:noFill/>
        </p:spPr>
        <p:txBody>
          <a:bodyPr wrap="square">
            <a:spAutoFit/>
          </a:bodyPr>
          <a:lstStyle/>
          <a:p>
            <a:pPr algn="l">
              <a:defRPr sz="1700" b="1">
                <a:solidFill>
                  <a:srgbClr val="0078D4"/>
                </a:solidFill>
                <a:latin typeface="Segoe UI"/>
              </a:defRPr>
            </a:pPr>
            <a:r>
              <a:t>Curated Answers</a:t>
            </a:r>
          </a:p>
        </p:txBody>
      </p:sp>
      <p:sp>
        <p:nvSpPr>
          <p:cNvPr id="11" name="TextBox 10"/>
          <p:cNvSpPr txBox="1"/>
          <p:nvPr/>
        </p:nvSpPr>
        <p:spPr>
          <a:xfrm>
            <a:off x="3840480" y="2331720"/>
            <a:ext cx="7589520" cy="731520"/>
          </a:xfrm>
          <a:prstGeom prst="rect">
            <a:avLst/>
          </a:prstGeom>
          <a:noFill/>
        </p:spPr>
        <p:txBody>
          <a:bodyPr wrap="square">
            <a:spAutoFit/>
          </a:bodyPr>
          <a:lstStyle/>
          <a:p>
            <a:pPr algn="l">
              <a:defRPr sz="1400" b="0">
                <a:solidFill>
                  <a:srgbClr val="242424"/>
                </a:solidFill>
                <a:latin typeface="Segoe UI"/>
              </a:defRPr>
            </a:pPr>
            <a:r>
              <a:t>Bookmarks (immediate) and Acronyms (up to 24h) help users</a:t>
            </a:r>
            <a:br/>
            <a:r>
              <a:t>find the right content faster. Use NW-Pxx keywords in shared tenants.</a:t>
            </a:r>
          </a:p>
        </p:txBody>
      </p:sp>
      <p:sp>
        <p:nvSpPr>
          <p:cNvPr id="12" name="Rounded Rectangle 11"/>
          <p:cNvSpPr/>
          <p:nvPr/>
        </p:nvSpPr>
        <p:spPr>
          <a:xfrm>
            <a:off x="548640" y="329183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383279"/>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4" name="TextBox 13"/>
          <p:cNvSpPr txBox="1"/>
          <p:nvPr/>
        </p:nvSpPr>
        <p:spPr>
          <a:xfrm>
            <a:off x="1371600" y="3383279"/>
            <a:ext cx="2286000" cy="365760"/>
          </a:xfrm>
          <a:prstGeom prst="rect">
            <a:avLst/>
          </a:prstGeom>
          <a:noFill/>
        </p:spPr>
        <p:txBody>
          <a:bodyPr wrap="square">
            <a:spAutoFit/>
          </a:bodyPr>
          <a:lstStyle/>
          <a:p>
            <a:pPr algn="l">
              <a:defRPr sz="1700" b="1">
                <a:solidFill>
                  <a:srgbClr val="0078D4"/>
                </a:solidFill>
                <a:latin typeface="Segoe UI"/>
              </a:defRPr>
            </a:pPr>
            <a:r>
              <a:t>Search Schema</a:t>
            </a:r>
          </a:p>
        </p:txBody>
      </p:sp>
      <p:sp>
        <p:nvSpPr>
          <p:cNvPr id="15" name="TextBox 14"/>
          <p:cNvSpPr txBox="1"/>
          <p:nvPr/>
        </p:nvSpPr>
        <p:spPr>
          <a:xfrm>
            <a:off x="3840480" y="3383279"/>
            <a:ext cx="7589520" cy="731520"/>
          </a:xfrm>
          <a:prstGeom prst="rect">
            <a:avLst/>
          </a:prstGeom>
          <a:noFill/>
        </p:spPr>
        <p:txBody>
          <a:bodyPr wrap="square">
            <a:spAutoFit/>
          </a:bodyPr>
          <a:lstStyle/>
          <a:p>
            <a:pPr algn="l">
              <a:defRPr sz="1400" b="0">
                <a:solidFill>
                  <a:srgbClr val="242424"/>
                </a:solidFill>
                <a:latin typeface="Segoe UI"/>
              </a:defRPr>
            </a:pPr>
            <a:r>
              <a:t>Crawled properties → managed properties → index.</a:t>
            </a:r>
            <a:br/>
            <a:r>
              <a:t>Schema changes require reindex. Treat as trainer-led.</a:t>
            </a:r>
          </a:p>
        </p:txBody>
      </p:sp>
      <p:sp>
        <p:nvSpPr>
          <p:cNvPr id="16" name="Rounded Rectangle 15"/>
          <p:cNvSpPr/>
          <p:nvPr/>
        </p:nvSpPr>
        <p:spPr>
          <a:xfrm>
            <a:off x="548640" y="4343400"/>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3484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8" name="TextBox 17"/>
          <p:cNvSpPr txBox="1"/>
          <p:nvPr/>
        </p:nvSpPr>
        <p:spPr>
          <a:xfrm>
            <a:off x="1371600" y="4434840"/>
            <a:ext cx="2286000" cy="365760"/>
          </a:xfrm>
          <a:prstGeom prst="rect">
            <a:avLst/>
          </a:prstGeom>
          <a:noFill/>
        </p:spPr>
        <p:txBody>
          <a:bodyPr wrap="square">
            <a:spAutoFit/>
          </a:bodyPr>
          <a:lstStyle/>
          <a:p>
            <a:pPr algn="l">
              <a:defRPr sz="1700" b="1">
                <a:solidFill>
                  <a:srgbClr val="0078D4"/>
                </a:solidFill>
                <a:latin typeface="Segoe UI"/>
              </a:defRPr>
            </a:pPr>
            <a:r>
              <a:t>Reindexing</a:t>
            </a:r>
          </a:p>
        </p:txBody>
      </p:sp>
      <p:sp>
        <p:nvSpPr>
          <p:cNvPr id="19" name="TextBox 18"/>
          <p:cNvSpPr txBox="1"/>
          <p:nvPr/>
        </p:nvSpPr>
        <p:spPr>
          <a:xfrm>
            <a:off x="3840480" y="4434840"/>
            <a:ext cx="7589520" cy="731520"/>
          </a:xfrm>
          <a:prstGeom prst="rect">
            <a:avLst/>
          </a:prstGeom>
          <a:noFill/>
        </p:spPr>
        <p:txBody>
          <a:bodyPr wrap="square">
            <a:spAutoFit/>
          </a:bodyPr>
          <a:lstStyle/>
          <a:p>
            <a:pPr algn="l">
              <a:defRPr sz="1400" b="0">
                <a:solidFill>
                  <a:srgbClr val="242424"/>
                </a:solidFill>
                <a:latin typeface="Segoe UI"/>
              </a:defRPr>
            </a:pPr>
            <a:r>
              <a:t>Reindex after schema/visibility changes, not routinely.</a:t>
            </a:r>
            <a:br/>
            <a:r>
              <a:t>Causes load — be deliberate and patient.</a:t>
            </a:r>
          </a:p>
        </p:txBody>
      </p:sp>
      <p:sp>
        <p:nvSpPr>
          <p:cNvPr id="20" name="Rounded Rectangle 19"/>
          <p:cNvSpPr/>
          <p:nvPr/>
        </p:nvSpPr>
        <p:spPr>
          <a:xfrm>
            <a:off x="548640" y="5394959"/>
            <a:ext cx="1106424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486399"/>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22" name="TextBox 21"/>
          <p:cNvSpPr txBox="1"/>
          <p:nvPr/>
        </p:nvSpPr>
        <p:spPr>
          <a:xfrm>
            <a:off x="1371600" y="5486399"/>
            <a:ext cx="2286000" cy="365760"/>
          </a:xfrm>
          <a:prstGeom prst="rect">
            <a:avLst/>
          </a:prstGeom>
          <a:noFill/>
        </p:spPr>
        <p:txBody>
          <a:bodyPr wrap="square">
            <a:spAutoFit/>
          </a:bodyPr>
          <a:lstStyle/>
          <a:p>
            <a:pPr algn="l">
              <a:defRPr sz="1700" b="1">
                <a:solidFill>
                  <a:srgbClr val="0078D4"/>
                </a:solidFill>
                <a:latin typeface="Segoe UI"/>
              </a:defRPr>
            </a:pPr>
            <a:r>
              <a:t>KQL Queries</a:t>
            </a:r>
          </a:p>
        </p:txBody>
      </p:sp>
      <p:sp>
        <p:nvSpPr>
          <p:cNvPr id="23" name="TextBox 22"/>
          <p:cNvSpPr txBox="1"/>
          <p:nvPr/>
        </p:nvSpPr>
        <p:spPr>
          <a:xfrm>
            <a:off x="3840480" y="5486399"/>
            <a:ext cx="7589520" cy="731520"/>
          </a:xfrm>
          <a:prstGeom prst="rect">
            <a:avLst/>
          </a:prstGeom>
          <a:noFill/>
        </p:spPr>
        <p:txBody>
          <a:bodyPr wrap="square">
            <a:spAutoFit/>
          </a:bodyPr>
          <a:lstStyle/>
          <a:p>
            <a:pPr algn="l">
              <a:defRPr sz="1400" b="0">
                <a:solidFill>
                  <a:srgbClr val="242424"/>
                </a:solidFill>
                <a:latin typeface="Segoe UI"/>
              </a:defRPr>
            </a:pPr>
            <a:r>
              <a:t>Phrase search with quotes, AND/OR/NOT (uppercase),</a:t>
            </a:r>
            <a:br/>
            <a:r>
              <a:t>property restrictions (author:, filetype:) for troubleshooting.</a:t>
            </a:r>
          </a:p>
        </p:txBody>
      </p:sp>
      <p:sp>
        <p:nvSpPr>
          <p:cNvPr id="24" name="Rectangle 2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26" name="TextBox 2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Knowledge Check</a:t>
            </a:r>
          </a:p>
        </p:txBody>
      </p:sp>
      <p:sp>
        <p:nvSpPr>
          <p:cNvPr id="4" name="Rounded Rectangle 3"/>
          <p:cNvSpPr/>
          <p:nvPr/>
        </p:nvSpPr>
        <p:spPr>
          <a:xfrm>
            <a:off x="548640" y="128016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1</a:t>
            </a:r>
          </a:p>
        </p:txBody>
      </p:sp>
      <p:sp>
        <p:nvSpPr>
          <p:cNvPr id="6" name="TextBox 5"/>
          <p:cNvSpPr txBox="1"/>
          <p:nvPr/>
        </p:nvSpPr>
        <p:spPr>
          <a:xfrm>
            <a:off x="1463040" y="1417320"/>
            <a:ext cx="9875520" cy="548640"/>
          </a:xfrm>
          <a:prstGeom prst="rect">
            <a:avLst/>
          </a:prstGeom>
          <a:noFill/>
        </p:spPr>
        <p:txBody>
          <a:bodyPr wrap="square">
            <a:spAutoFit/>
          </a:bodyPr>
          <a:lstStyle/>
          <a:p>
            <a:pPr algn="l">
              <a:defRPr sz="1600" b="0">
                <a:solidFill>
                  <a:srgbClr val="242424"/>
                </a:solidFill>
                <a:latin typeface="Segoe UI"/>
              </a:defRPr>
            </a:pPr>
            <a:r>
              <a:t>What is security trimming and why is it the #1 rule for search?</a:t>
            </a:r>
          </a:p>
        </p:txBody>
      </p:sp>
      <p:sp>
        <p:nvSpPr>
          <p:cNvPr id="7" name="Rounded Rectangle 6"/>
          <p:cNvSpPr/>
          <p:nvPr/>
        </p:nvSpPr>
        <p:spPr>
          <a:xfrm>
            <a:off x="548640" y="228600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42316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2</a:t>
            </a:r>
          </a:p>
        </p:txBody>
      </p:sp>
      <p:sp>
        <p:nvSpPr>
          <p:cNvPr id="9" name="TextBox 8"/>
          <p:cNvSpPr txBox="1"/>
          <p:nvPr/>
        </p:nvSpPr>
        <p:spPr>
          <a:xfrm>
            <a:off x="1463040" y="2423160"/>
            <a:ext cx="9875520" cy="548640"/>
          </a:xfrm>
          <a:prstGeom prst="rect">
            <a:avLst/>
          </a:prstGeom>
          <a:noFill/>
        </p:spPr>
        <p:txBody>
          <a:bodyPr wrap="square">
            <a:spAutoFit/>
          </a:bodyPr>
          <a:lstStyle/>
          <a:p>
            <a:pPr algn="l">
              <a:defRPr sz="1600" b="0">
                <a:solidFill>
                  <a:srgbClr val="242424"/>
                </a:solidFill>
                <a:latin typeface="Segoe UI"/>
              </a:defRPr>
            </a:pPr>
            <a:r>
              <a:t>What is the difference between Bookmarks and Acronyms in Microsoft Search?</a:t>
            </a:r>
          </a:p>
        </p:txBody>
      </p:sp>
      <p:sp>
        <p:nvSpPr>
          <p:cNvPr id="10" name="Rounded Rectangle 9"/>
          <p:cNvSpPr/>
          <p:nvPr/>
        </p:nvSpPr>
        <p:spPr>
          <a:xfrm>
            <a:off x="548640" y="329184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42900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3</a:t>
            </a:r>
          </a:p>
        </p:txBody>
      </p:sp>
      <p:sp>
        <p:nvSpPr>
          <p:cNvPr id="12" name="TextBox 11"/>
          <p:cNvSpPr txBox="1"/>
          <p:nvPr/>
        </p:nvSpPr>
        <p:spPr>
          <a:xfrm>
            <a:off x="1463040" y="3429000"/>
            <a:ext cx="9875520" cy="548640"/>
          </a:xfrm>
          <a:prstGeom prst="rect">
            <a:avLst/>
          </a:prstGeom>
          <a:noFill/>
        </p:spPr>
        <p:txBody>
          <a:bodyPr wrap="square">
            <a:spAutoFit/>
          </a:bodyPr>
          <a:lstStyle/>
          <a:p>
            <a:pPr algn="l">
              <a:defRPr sz="1600" b="0">
                <a:solidFill>
                  <a:srgbClr val="242424"/>
                </a:solidFill>
                <a:latin typeface="Segoe UI"/>
              </a:defRPr>
            </a:pPr>
            <a:r>
              <a:t>When should you request a reindex of a library — and when should you NOT?</a:t>
            </a:r>
          </a:p>
        </p:txBody>
      </p:sp>
      <p:sp>
        <p:nvSpPr>
          <p:cNvPr id="13" name="Rounded Rectangle 12"/>
          <p:cNvSpPr/>
          <p:nvPr/>
        </p:nvSpPr>
        <p:spPr>
          <a:xfrm>
            <a:off x="548640" y="429768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443484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4</a:t>
            </a:r>
          </a:p>
        </p:txBody>
      </p:sp>
      <p:sp>
        <p:nvSpPr>
          <p:cNvPr id="15" name="TextBox 14"/>
          <p:cNvSpPr txBox="1"/>
          <p:nvPr/>
        </p:nvSpPr>
        <p:spPr>
          <a:xfrm>
            <a:off x="1463040" y="4434840"/>
            <a:ext cx="9875520" cy="548640"/>
          </a:xfrm>
          <a:prstGeom prst="rect">
            <a:avLst/>
          </a:prstGeom>
          <a:noFill/>
        </p:spPr>
        <p:txBody>
          <a:bodyPr wrap="square">
            <a:spAutoFit/>
          </a:bodyPr>
          <a:lstStyle/>
          <a:p>
            <a:pPr algn="l">
              <a:defRPr sz="1600" b="0">
                <a:solidFill>
                  <a:srgbClr val="242424"/>
                </a:solidFill>
                <a:latin typeface="Segoe UI"/>
              </a:defRPr>
            </a:pPr>
            <a:r>
              <a:t>What are crawled properties vs managed properties, and how do they relate?</a:t>
            </a:r>
          </a:p>
        </p:txBody>
      </p:sp>
      <p:sp>
        <p:nvSpPr>
          <p:cNvPr id="16" name="Rounded Rectangle 15"/>
          <p:cNvSpPr/>
          <p:nvPr/>
        </p:nvSpPr>
        <p:spPr>
          <a:xfrm>
            <a:off x="548640" y="530352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544068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5</a:t>
            </a:r>
          </a:p>
        </p:txBody>
      </p:sp>
      <p:sp>
        <p:nvSpPr>
          <p:cNvPr id="18" name="TextBox 17"/>
          <p:cNvSpPr txBox="1"/>
          <p:nvPr/>
        </p:nvSpPr>
        <p:spPr>
          <a:xfrm>
            <a:off x="1463040" y="5440680"/>
            <a:ext cx="9875520" cy="548640"/>
          </a:xfrm>
          <a:prstGeom prst="rect">
            <a:avLst/>
          </a:prstGeom>
          <a:noFill/>
        </p:spPr>
        <p:txBody>
          <a:bodyPr wrap="square">
            <a:spAutoFit/>
          </a:bodyPr>
          <a:lstStyle/>
          <a:p>
            <a:pPr algn="l">
              <a:defRPr sz="1600" b="0">
                <a:solidFill>
                  <a:srgbClr val="242424"/>
                </a:solidFill>
                <a:latin typeface="Segoe UI"/>
              </a:defRPr>
            </a:pPr>
            <a:r>
              <a:t>Write a KQL query to find all DOCX files authored by 'Jane Smith' about 'Northwind'.</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6  |  Search in SharePoint Online &amp; Microsoft Search</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4400" b="1">
                <a:solidFill>
                  <a:srgbClr val="FFFFFF"/>
                </a:solidFill>
                <a:latin typeface="Segoe UI"/>
              </a:defRPr>
            </a:pPr>
            <a:r>
              <a:t>✅  Module 6 Complete!</a:t>
            </a:r>
          </a:p>
        </p:txBody>
      </p:sp>
      <p:sp>
        <p:nvSpPr>
          <p:cNvPr id="5" name="TextBox 4"/>
          <p:cNvSpPr txBox="1"/>
          <p:nvPr/>
        </p:nvSpPr>
        <p:spPr>
          <a:xfrm>
            <a:off x="914400" y="3017520"/>
            <a:ext cx="10058400" cy="731520"/>
          </a:xfrm>
          <a:prstGeom prst="rect">
            <a:avLst/>
          </a:prstGeom>
          <a:noFill/>
        </p:spPr>
        <p:txBody>
          <a:bodyPr wrap="square">
            <a:spAutoFit/>
          </a:bodyPr>
          <a:lstStyle/>
          <a:p>
            <a:pPr algn="ctr">
              <a:defRPr sz="2400" b="0">
                <a:solidFill>
                  <a:srgbClr val="00B294"/>
                </a:solidFill>
                <a:latin typeface="Segoe UI"/>
              </a:defRPr>
            </a:pPr>
            <a:r>
              <a:t>Search in SharePoint Online &amp; Microsoft Search</a:t>
            </a:r>
          </a:p>
        </p:txBody>
      </p:sp>
      <p:sp>
        <p:nvSpPr>
          <p:cNvPr id="6" name="Rectangle 5"/>
          <p:cNvSpPr/>
          <p:nvPr/>
        </p:nvSpPr>
        <p:spPr>
          <a:xfrm>
            <a:off x="5029200" y="402336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731520"/>
          </a:xfrm>
          <a:prstGeom prst="rect">
            <a:avLst/>
          </a:prstGeom>
          <a:noFill/>
        </p:spPr>
        <p:txBody>
          <a:bodyPr wrap="square">
            <a:spAutoFit/>
          </a:bodyPr>
          <a:lstStyle/>
          <a:p>
            <a:pPr algn="ctr">
              <a:defRPr sz="2000" b="0">
                <a:solidFill>
                  <a:srgbClr val="AAAAAA"/>
                </a:solidFill>
                <a:latin typeface="Segoe UI"/>
              </a:defRPr>
            </a:pPr>
            <a:r>
              <a:t>Up Next  →  Module 7: Apps and Customization</a:t>
            </a:r>
          </a:p>
        </p:txBody>
      </p:sp>
      <p:sp>
        <p:nvSpPr>
          <p:cNvPr id="8" name="TextBox 7"/>
          <p:cNvSpPr txBox="1"/>
          <p:nvPr/>
        </p:nvSpPr>
        <p:spPr>
          <a:xfrm>
            <a:off x="1828800" y="5303520"/>
            <a:ext cx="8229600" cy="548640"/>
          </a:xfrm>
          <a:prstGeom prst="rect">
            <a:avLst/>
          </a:prstGeom>
          <a:noFill/>
        </p:spPr>
        <p:txBody>
          <a:bodyPr wrap="square">
            <a:spAutoFit/>
          </a:bodyPr>
          <a:lstStyle/>
          <a:p>
            <a:pPr algn="ctr">
              <a:defRPr sz="1600" b="0">
                <a:solidFill>
                  <a:srgbClr val="888888"/>
                </a:solidFill>
                <a:latin typeface="Segoe UI"/>
              </a:defRPr>
            </a:pPr>
            <a:r>
              <a:t>🧩 Governance, deployment, and custom solutions in SharePoint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