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Module 4 — Permissions and Collaboration Model. This module covers the core admin skill: managing who can access what, using inheritance, groups, and sharing links. Permissions are the #1 topic in SharePoint support tickets, so this module is high-impact.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Permissions are the single most common support topic for SharePoint admins. Most 'Access Denied' tickets trace back to misconfigured permissions or broken inheritance. This overview sets the scene for why mastering permissions is essential.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clear expectations: by end of this module, learners can design and validate a permission model.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let's begin with the building blocks of SharePoint permissions.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concepts are the foundation. Principal = who. Permission Level = what they can do. Inheritance = where the rule comes from. Unique permissions = where the rule is overridden.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Visualize the inheritance chain: Site → Library → Folder → File. Each level can inherit or break. When broken, a new permission scope is created.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hammers home the operational cost of breaking inheritance too often. Reference Microsoft guidance on permission scopes and best practice.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Microsoft official recommendations for managing permission scopes efficiently.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Now let's see how groups and site types interact with permissions.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SharePoint site gets three default groups. This is the foundation of the permission model. Teach learners to always use groups instead of direct user assignments.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key conceptual distinction. Communication sites use SharePoint groups. Team sites often have M365 group backing, which means membership is managed from M365/Entra.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decision reference: which permission model applies based on site type.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Sharing links are the other side of the access coin. Users create them daily — admins need to understand and govern them.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distinction: Permissions = durable governance design. Sharing links = collaboration actions. In incidents, 'mystery access' often comes from a forgotten sharing link.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Deep-dive into the three primary sharing link types. Each has different authentication, auditability, and risk characteristics.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admin controls available in SharePoint admin center for managing sharing links. Default link type, expiration, and permissions can all be configured.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relationship: OneDrive sharing is controlled alongside SharePoint. OneDrive can be equal or MORE restrictive than SharePoint, but never more permissive.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Apply the theory to a realistic scenario — Northwind Contracts workflow.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Paint the scenario: Northwind has a Contracts workflow with Drafts (editors collaborate) and Finals (broad read, restricted edit). Goal: isolate sensitive content in a dedicated library.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principles to guide permission design decisions. These apply beyond the Northwind scenario.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Now let's cover the practical troubleshooting skills needed for access issues.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Five-step troubleshooting flow for access issues. This is a practical admin skill that learners will use in real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Real-world failure scenarios that admins encounter frequently. Each has a specific resolution path.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Lab preview — learners will implement the Northwind permission model.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preview with step-by-step tasks. Emphasize shared-tenant safety rules. Each participant works inside their own NW-Pxx-ProjectSite.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with key takeaways from the module.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Interactive knowledge check to reinforce module content. Have learners discuss in pairs before sharing answers.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of Module 4. Transition to Module 5: Managing Metadata and the Term Store.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12191695" cy="36576"/>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97280"/>
            <a:ext cx="10058400" cy="457200"/>
          </a:xfrm>
          <a:prstGeom prst="rect">
            <a:avLst/>
          </a:prstGeom>
          <a:noFill/>
        </p:spPr>
        <p:txBody>
          <a:bodyPr wrap="square">
            <a:spAutoFit/>
          </a:bodyPr>
          <a:lstStyle/>
          <a:p>
            <a:pPr algn="ctr">
              <a:defRPr sz="1400" b="1">
                <a:solidFill>
                  <a:srgbClr val="00B294"/>
                </a:solidFill>
                <a:latin typeface="Segoe UI"/>
              </a:defRPr>
            </a:pPr>
            <a:r>
              <a:t>MODERN SHAREPOINT ONLINE FOR ADMINISTRATORS  ·  DAY 2</a:t>
            </a:r>
          </a:p>
        </p:txBody>
      </p:sp>
      <p:sp>
        <p:nvSpPr>
          <p:cNvPr id="5" name="TextBox 4"/>
          <p:cNvSpPr txBox="1"/>
          <p:nvPr/>
        </p:nvSpPr>
        <p:spPr>
          <a:xfrm>
            <a:off x="914400" y="2103120"/>
            <a:ext cx="10058400" cy="1371600"/>
          </a:xfrm>
          <a:prstGeom prst="rect">
            <a:avLst/>
          </a:prstGeom>
          <a:noFill/>
        </p:spPr>
        <p:txBody>
          <a:bodyPr wrap="square">
            <a:spAutoFit/>
          </a:bodyPr>
          <a:lstStyle/>
          <a:p>
            <a:pPr algn="ctr">
              <a:defRPr sz="6000" b="1">
                <a:solidFill>
                  <a:srgbClr val="FFFFFF"/>
                </a:solidFill>
                <a:latin typeface="Segoe UI"/>
              </a:defRPr>
            </a:pPr>
            <a:r>
              <a:t>Module 4</a:t>
            </a:r>
          </a:p>
        </p:txBody>
      </p:sp>
      <p:sp>
        <p:nvSpPr>
          <p:cNvPr id="6" name="TextBox 5"/>
          <p:cNvSpPr txBox="1"/>
          <p:nvPr/>
        </p:nvSpPr>
        <p:spPr>
          <a:xfrm>
            <a:off x="914400" y="3474720"/>
            <a:ext cx="10058400" cy="914400"/>
          </a:xfrm>
          <a:prstGeom prst="rect">
            <a:avLst/>
          </a:prstGeom>
          <a:noFill/>
        </p:spPr>
        <p:txBody>
          <a:bodyPr wrap="square">
            <a:spAutoFit/>
          </a:bodyPr>
          <a:lstStyle/>
          <a:p>
            <a:pPr algn="ctr">
              <a:defRPr sz="3200" b="0">
                <a:solidFill>
                  <a:srgbClr val="00B294"/>
                </a:solidFill>
                <a:latin typeface="Segoe UI"/>
              </a:defRPr>
            </a:pPr>
            <a:r>
              <a:t>Permissions and Collaboration Model</a:t>
            </a:r>
          </a:p>
        </p:txBody>
      </p:sp>
      <p:sp>
        <p:nvSpPr>
          <p:cNvPr id="7" name="TextBox 6"/>
          <p:cNvSpPr txBox="1"/>
          <p:nvPr/>
        </p:nvSpPr>
        <p:spPr>
          <a:xfrm>
            <a:off x="1828800" y="4754880"/>
            <a:ext cx="8229600" cy="548640"/>
          </a:xfrm>
          <a:prstGeom prst="rect">
            <a:avLst/>
          </a:prstGeom>
          <a:noFill/>
        </p:spPr>
        <p:txBody>
          <a:bodyPr wrap="square">
            <a:spAutoFit/>
          </a:bodyPr>
          <a:lstStyle/>
          <a:p>
            <a:pPr algn="ctr">
              <a:defRPr sz="1600" b="0">
                <a:solidFill>
                  <a:srgbClr val="AAAAAA"/>
                </a:solidFill>
                <a:latin typeface="Segoe UI"/>
              </a:defRPr>
            </a:pPr>
            <a:r>
              <a:t>Control access  ·  Simplify governance  ·  Enable secure collaboration</a:t>
            </a:r>
          </a:p>
        </p:txBody>
      </p:sp>
      <p:sp>
        <p:nvSpPr>
          <p:cNvPr id="8" name="Rectangle 7"/>
          <p:cNvSpPr/>
          <p:nvPr/>
        </p:nvSpPr>
        <p:spPr>
          <a:xfrm>
            <a:off x="5029200" y="5577840"/>
            <a:ext cx="2103120" cy="36576"/>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600" b="1">
                <a:solidFill>
                  <a:srgbClr val="1B1B2F"/>
                </a:solidFill>
                <a:latin typeface="Segoe UI"/>
              </a:defRPr>
            </a:pPr>
            <a:r>
              <a:t>Why Permissions Matter</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The #1 admin support topic — understanding access is a core competency</a:t>
            </a:r>
          </a:p>
        </p:txBody>
      </p:sp>
      <p:sp>
        <p:nvSpPr>
          <p:cNvPr id="5" name="Rounded Rectangle 4"/>
          <p:cNvSpPr/>
          <p:nvPr/>
        </p:nvSpPr>
        <p:spPr>
          <a:xfrm>
            <a:off x="731520" y="1737360"/>
            <a:ext cx="2560320" cy="32918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920240"/>
            <a:ext cx="2011680" cy="548640"/>
          </a:xfrm>
          <a:prstGeom prst="rect">
            <a:avLst/>
          </a:prstGeom>
          <a:noFill/>
        </p:spPr>
        <p:txBody>
          <a:bodyPr wrap="square">
            <a:spAutoFit/>
          </a:bodyPr>
          <a:lstStyle/>
          <a:p>
            <a:pPr algn="ctr">
              <a:defRPr sz="3600" b="0">
                <a:solidFill>
                  <a:srgbClr val="242424"/>
                </a:solidFill>
                <a:latin typeface="Segoe UI"/>
              </a:defRPr>
            </a:pPr>
            <a:r>
              <a:t>🎫</a:t>
            </a:r>
          </a:p>
        </p:txBody>
      </p:sp>
      <p:sp>
        <p:nvSpPr>
          <p:cNvPr id="7" name="TextBox 6"/>
          <p:cNvSpPr txBox="1"/>
          <p:nvPr/>
        </p:nvSpPr>
        <p:spPr>
          <a:xfrm>
            <a:off x="1005840" y="2468880"/>
            <a:ext cx="2011680" cy="731520"/>
          </a:xfrm>
          <a:prstGeom prst="rect">
            <a:avLst/>
          </a:prstGeom>
          <a:noFill/>
        </p:spPr>
        <p:txBody>
          <a:bodyPr wrap="square">
            <a:spAutoFit/>
          </a:bodyPr>
          <a:lstStyle/>
          <a:p>
            <a:pPr algn="ctr">
              <a:defRPr sz="4400" b="1">
                <a:solidFill>
                  <a:srgbClr val="0078D4"/>
                </a:solidFill>
                <a:latin typeface="Segoe UI"/>
              </a:defRPr>
            </a:pPr>
            <a:r>
              <a:t>#1</a:t>
            </a:r>
          </a:p>
        </p:txBody>
      </p:sp>
      <p:sp>
        <p:nvSpPr>
          <p:cNvPr id="8" name="TextBox 7"/>
          <p:cNvSpPr txBox="1"/>
          <p:nvPr/>
        </p:nvSpPr>
        <p:spPr>
          <a:xfrm>
            <a:off x="1005840" y="3200400"/>
            <a:ext cx="2011680" cy="457200"/>
          </a:xfrm>
          <a:prstGeom prst="rect">
            <a:avLst/>
          </a:prstGeom>
          <a:noFill/>
        </p:spPr>
        <p:txBody>
          <a:bodyPr wrap="square">
            <a:spAutoFit/>
          </a:bodyPr>
          <a:lstStyle/>
          <a:p>
            <a:pPr algn="ctr">
              <a:defRPr sz="1600" b="1">
                <a:solidFill>
                  <a:srgbClr val="242424"/>
                </a:solidFill>
                <a:latin typeface="Segoe UI"/>
              </a:defRPr>
            </a:pPr>
            <a:r>
              <a:t>Support Topic</a:t>
            </a:r>
          </a:p>
        </p:txBody>
      </p:sp>
      <p:sp>
        <p:nvSpPr>
          <p:cNvPr id="9" name="Rectangle 8"/>
          <p:cNvSpPr/>
          <p:nvPr/>
        </p:nvSpPr>
        <p:spPr>
          <a:xfrm>
            <a:off x="1280160" y="3749039"/>
            <a:ext cx="1463040" cy="36576"/>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931920"/>
            <a:ext cx="2194560" cy="914400"/>
          </a:xfrm>
          <a:prstGeom prst="rect">
            <a:avLst/>
          </a:prstGeom>
          <a:noFill/>
        </p:spPr>
        <p:txBody>
          <a:bodyPr wrap="square">
            <a:spAutoFit/>
          </a:bodyPr>
          <a:lstStyle/>
          <a:p>
            <a:pPr algn="ctr">
              <a:defRPr sz="1200" b="0">
                <a:solidFill>
                  <a:srgbClr val="606060"/>
                </a:solidFill>
                <a:latin typeface="Segoe UI"/>
              </a:defRPr>
            </a:pPr>
            <a:r>
              <a:t>Access-related tickets</a:t>
            </a:r>
            <a:br/>
            <a:r>
              <a:t>dominate helpdesk queues</a:t>
            </a:r>
          </a:p>
        </p:txBody>
      </p:sp>
      <p:sp>
        <p:nvSpPr>
          <p:cNvPr id="11" name="Rounded Rectangle 10"/>
          <p:cNvSpPr/>
          <p:nvPr/>
        </p:nvSpPr>
        <p:spPr>
          <a:xfrm>
            <a:off x="3566160" y="1737360"/>
            <a:ext cx="2560320" cy="32918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0" y="1920240"/>
            <a:ext cx="2011680" cy="548640"/>
          </a:xfrm>
          <a:prstGeom prst="rect">
            <a:avLst/>
          </a:prstGeom>
          <a:noFill/>
        </p:spPr>
        <p:txBody>
          <a:bodyPr wrap="square">
            <a:spAutoFit/>
          </a:bodyPr>
          <a:lstStyle/>
          <a:p>
            <a:pPr algn="ctr">
              <a:defRPr sz="3600" b="0">
                <a:solidFill>
                  <a:srgbClr val="242424"/>
                </a:solidFill>
                <a:latin typeface="Segoe UI"/>
              </a:defRPr>
            </a:pPr>
            <a:r>
              <a:t>🔓</a:t>
            </a:r>
          </a:p>
        </p:txBody>
      </p:sp>
      <p:sp>
        <p:nvSpPr>
          <p:cNvPr id="13" name="TextBox 12"/>
          <p:cNvSpPr txBox="1"/>
          <p:nvPr/>
        </p:nvSpPr>
        <p:spPr>
          <a:xfrm>
            <a:off x="3840480" y="2468880"/>
            <a:ext cx="2011680" cy="731520"/>
          </a:xfrm>
          <a:prstGeom prst="rect">
            <a:avLst/>
          </a:prstGeom>
          <a:noFill/>
        </p:spPr>
        <p:txBody>
          <a:bodyPr wrap="square">
            <a:spAutoFit/>
          </a:bodyPr>
          <a:lstStyle/>
          <a:p>
            <a:pPr algn="ctr">
              <a:defRPr sz="4400" b="1">
                <a:solidFill>
                  <a:srgbClr val="0078D4"/>
                </a:solidFill>
                <a:latin typeface="Segoe UI"/>
              </a:defRPr>
            </a:pPr>
            <a:r>
              <a:t>50K</a:t>
            </a:r>
          </a:p>
        </p:txBody>
      </p:sp>
      <p:sp>
        <p:nvSpPr>
          <p:cNvPr id="14" name="TextBox 13"/>
          <p:cNvSpPr txBox="1"/>
          <p:nvPr/>
        </p:nvSpPr>
        <p:spPr>
          <a:xfrm>
            <a:off x="3840480" y="3200400"/>
            <a:ext cx="2011680" cy="457200"/>
          </a:xfrm>
          <a:prstGeom prst="rect">
            <a:avLst/>
          </a:prstGeom>
          <a:noFill/>
        </p:spPr>
        <p:txBody>
          <a:bodyPr wrap="square">
            <a:spAutoFit/>
          </a:bodyPr>
          <a:lstStyle/>
          <a:p>
            <a:pPr algn="ctr">
              <a:defRPr sz="1600" b="1">
                <a:solidFill>
                  <a:srgbClr val="242424"/>
                </a:solidFill>
                <a:latin typeface="Segoe UI"/>
              </a:defRPr>
            </a:pPr>
            <a:r>
              <a:t>Scope Limit</a:t>
            </a:r>
          </a:p>
        </p:txBody>
      </p:sp>
      <p:sp>
        <p:nvSpPr>
          <p:cNvPr id="15" name="Rectangle 14"/>
          <p:cNvSpPr/>
          <p:nvPr/>
        </p:nvSpPr>
        <p:spPr>
          <a:xfrm>
            <a:off x="4114800" y="3749039"/>
            <a:ext cx="1463040" cy="36576"/>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49040" y="3931920"/>
            <a:ext cx="2194560" cy="914400"/>
          </a:xfrm>
          <a:prstGeom prst="rect">
            <a:avLst/>
          </a:prstGeom>
          <a:noFill/>
        </p:spPr>
        <p:txBody>
          <a:bodyPr wrap="square">
            <a:spAutoFit/>
          </a:bodyPr>
          <a:lstStyle/>
          <a:p>
            <a:pPr algn="ctr">
              <a:defRPr sz="1200" b="0">
                <a:solidFill>
                  <a:srgbClr val="606060"/>
                </a:solidFill>
                <a:latin typeface="Segoe UI"/>
              </a:defRPr>
            </a:pPr>
            <a:r>
              <a:t>Max unique permission scopes</a:t>
            </a:r>
            <a:br/>
            <a:r>
              <a:t>per document library</a:t>
            </a:r>
          </a:p>
        </p:txBody>
      </p:sp>
      <p:sp>
        <p:nvSpPr>
          <p:cNvPr id="17" name="Rounded Rectangle 16"/>
          <p:cNvSpPr/>
          <p:nvPr/>
        </p:nvSpPr>
        <p:spPr>
          <a:xfrm>
            <a:off x="6400800" y="1737360"/>
            <a:ext cx="2560320" cy="32918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0" y="1920240"/>
            <a:ext cx="2011680" cy="548640"/>
          </a:xfrm>
          <a:prstGeom prst="rect">
            <a:avLst/>
          </a:prstGeom>
          <a:noFill/>
        </p:spPr>
        <p:txBody>
          <a:bodyPr wrap="square">
            <a:spAutoFit/>
          </a:bodyPr>
          <a:lstStyle/>
          <a:p>
            <a:pPr algn="ctr">
              <a:defRPr sz="3600" b="0">
                <a:solidFill>
                  <a:srgbClr val="242424"/>
                </a:solidFill>
                <a:latin typeface="Segoe UI"/>
              </a:defRPr>
            </a:pPr>
            <a:r>
              <a:t>⚡</a:t>
            </a:r>
          </a:p>
        </p:txBody>
      </p:sp>
      <p:sp>
        <p:nvSpPr>
          <p:cNvPr id="19" name="TextBox 18"/>
          <p:cNvSpPr txBox="1"/>
          <p:nvPr/>
        </p:nvSpPr>
        <p:spPr>
          <a:xfrm>
            <a:off x="6675120" y="2468880"/>
            <a:ext cx="2011680" cy="731520"/>
          </a:xfrm>
          <a:prstGeom prst="rect">
            <a:avLst/>
          </a:prstGeom>
          <a:noFill/>
        </p:spPr>
        <p:txBody>
          <a:bodyPr wrap="square">
            <a:spAutoFit/>
          </a:bodyPr>
          <a:lstStyle/>
          <a:p>
            <a:pPr algn="ctr">
              <a:defRPr sz="4400" b="1">
                <a:solidFill>
                  <a:srgbClr val="0078D4"/>
                </a:solidFill>
                <a:latin typeface="Segoe UI"/>
              </a:defRPr>
            </a:pPr>
            <a:r>
              <a:t>5K</a:t>
            </a:r>
          </a:p>
        </p:txBody>
      </p:sp>
      <p:sp>
        <p:nvSpPr>
          <p:cNvPr id="20" name="TextBox 19"/>
          <p:cNvSpPr txBox="1"/>
          <p:nvPr/>
        </p:nvSpPr>
        <p:spPr>
          <a:xfrm>
            <a:off x="6675120" y="3200400"/>
            <a:ext cx="2011680" cy="457200"/>
          </a:xfrm>
          <a:prstGeom prst="rect">
            <a:avLst/>
          </a:prstGeom>
          <a:noFill/>
        </p:spPr>
        <p:txBody>
          <a:bodyPr wrap="square">
            <a:spAutoFit/>
          </a:bodyPr>
          <a:lstStyle/>
          <a:p>
            <a:pPr algn="ctr">
              <a:defRPr sz="1600" b="1">
                <a:solidFill>
                  <a:srgbClr val="242424"/>
                </a:solidFill>
                <a:latin typeface="Segoe UI"/>
              </a:defRPr>
            </a:pPr>
            <a:r>
              <a:t>Recommended</a:t>
            </a:r>
          </a:p>
        </p:txBody>
      </p:sp>
      <p:sp>
        <p:nvSpPr>
          <p:cNvPr id="21" name="Rectangle 20"/>
          <p:cNvSpPr/>
          <p:nvPr/>
        </p:nvSpPr>
        <p:spPr>
          <a:xfrm>
            <a:off x="6949440" y="3749039"/>
            <a:ext cx="1463040" cy="36576"/>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0" y="3931920"/>
            <a:ext cx="2194560" cy="914400"/>
          </a:xfrm>
          <a:prstGeom prst="rect">
            <a:avLst/>
          </a:prstGeom>
          <a:noFill/>
        </p:spPr>
        <p:txBody>
          <a:bodyPr wrap="square">
            <a:spAutoFit/>
          </a:bodyPr>
          <a:lstStyle/>
          <a:p>
            <a:pPr algn="ctr">
              <a:defRPr sz="1200" b="0">
                <a:solidFill>
                  <a:srgbClr val="606060"/>
                </a:solidFill>
                <a:latin typeface="Segoe UI"/>
              </a:defRPr>
            </a:pPr>
            <a:r>
              <a:t>Keep unique scopes under</a:t>
            </a:r>
            <a:br/>
            <a:r>
              <a:t>5,000 for best performance</a:t>
            </a:r>
          </a:p>
        </p:txBody>
      </p:sp>
      <p:sp>
        <p:nvSpPr>
          <p:cNvPr id="23" name="Rounded Rectangle 22"/>
          <p:cNvSpPr/>
          <p:nvPr/>
        </p:nvSpPr>
        <p:spPr>
          <a:xfrm>
            <a:off x="9235440" y="1737360"/>
            <a:ext cx="2560320" cy="32918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09760" y="1920240"/>
            <a:ext cx="2011680" cy="548640"/>
          </a:xfrm>
          <a:prstGeom prst="rect">
            <a:avLst/>
          </a:prstGeom>
          <a:noFill/>
        </p:spPr>
        <p:txBody>
          <a:bodyPr wrap="square">
            <a:spAutoFit/>
          </a:bodyPr>
          <a:lstStyle/>
          <a:p>
            <a:pPr algn="ctr">
              <a:defRPr sz="3600" b="0">
                <a:solidFill>
                  <a:srgbClr val="242424"/>
                </a:solidFill>
                <a:latin typeface="Segoe UI"/>
              </a:defRPr>
            </a:pPr>
            <a:r>
              <a:t>👥</a:t>
            </a:r>
          </a:p>
        </p:txBody>
      </p:sp>
      <p:sp>
        <p:nvSpPr>
          <p:cNvPr id="25" name="TextBox 24"/>
          <p:cNvSpPr txBox="1"/>
          <p:nvPr/>
        </p:nvSpPr>
        <p:spPr>
          <a:xfrm>
            <a:off x="9509760" y="2468880"/>
            <a:ext cx="2011680" cy="731520"/>
          </a:xfrm>
          <a:prstGeom prst="rect">
            <a:avLst/>
          </a:prstGeom>
          <a:noFill/>
        </p:spPr>
        <p:txBody>
          <a:bodyPr wrap="square">
            <a:spAutoFit/>
          </a:bodyPr>
          <a:lstStyle/>
          <a:p>
            <a:pPr algn="ctr">
              <a:defRPr sz="4400" b="1">
                <a:solidFill>
                  <a:srgbClr val="0078D4"/>
                </a:solidFill>
                <a:latin typeface="Segoe UI"/>
              </a:defRPr>
            </a:pPr>
            <a:r>
              <a:t>3</a:t>
            </a:r>
          </a:p>
        </p:txBody>
      </p:sp>
      <p:sp>
        <p:nvSpPr>
          <p:cNvPr id="26" name="TextBox 25"/>
          <p:cNvSpPr txBox="1"/>
          <p:nvPr/>
        </p:nvSpPr>
        <p:spPr>
          <a:xfrm>
            <a:off x="9509760" y="3200400"/>
            <a:ext cx="2011680" cy="457200"/>
          </a:xfrm>
          <a:prstGeom prst="rect">
            <a:avLst/>
          </a:prstGeom>
          <a:noFill/>
        </p:spPr>
        <p:txBody>
          <a:bodyPr wrap="square">
            <a:spAutoFit/>
          </a:bodyPr>
          <a:lstStyle/>
          <a:p>
            <a:pPr algn="ctr">
              <a:defRPr sz="1600" b="1">
                <a:solidFill>
                  <a:srgbClr val="242424"/>
                </a:solidFill>
                <a:latin typeface="Segoe UI"/>
              </a:defRPr>
            </a:pPr>
            <a:r>
              <a:t>Default Groups</a:t>
            </a:r>
          </a:p>
        </p:txBody>
      </p:sp>
      <p:sp>
        <p:nvSpPr>
          <p:cNvPr id="27" name="Rectangle 26"/>
          <p:cNvSpPr/>
          <p:nvPr/>
        </p:nvSpPr>
        <p:spPr>
          <a:xfrm>
            <a:off x="9784080" y="3749039"/>
            <a:ext cx="1463040" cy="36576"/>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18320" y="3931920"/>
            <a:ext cx="2194560" cy="914400"/>
          </a:xfrm>
          <a:prstGeom prst="rect">
            <a:avLst/>
          </a:prstGeom>
          <a:noFill/>
        </p:spPr>
        <p:txBody>
          <a:bodyPr wrap="square">
            <a:spAutoFit/>
          </a:bodyPr>
          <a:lstStyle/>
          <a:p>
            <a:pPr algn="ctr">
              <a:defRPr sz="1200" b="0">
                <a:solidFill>
                  <a:srgbClr val="606060"/>
                </a:solidFill>
                <a:latin typeface="Segoe UI"/>
              </a:defRPr>
            </a:pPr>
            <a:r>
              <a:t>Owners · Members · Visitors</a:t>
            </a:r>
            <a:br/>
            <a:r>
              <a:t>created with every site</a:t>
            </a:r>
          </a:p>
        </p:txBody>
      </p:sp>
      <p:sp>
        <p:nvSpPr>
          <p:cNvPr id="29" name="Rectangle 28"/>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4  |  Permissions and Collaboration Model</a:t>
            </a:r>
          </a:p>
        </p:txBody>
      </p:sp>
      <p:sp>
        <p:nvSpPr>
          <p:cNvPr id="31" name="TextBox 30"/>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2 / 28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Learning Outcomes</a:t>
            </a:r>
          </a:p>
        </p:txBody>
      </p:sp>
      <p:sp>
        <p:nvSpPr>
          <p:cNvPr id="4" name="Rounded Rectangle 3"/>
          <p:cNvSpPr/>
          <p:nvPr/>
        </p:nvSpPr>
        <p:spPr>
          <a:xfrm>
            <a:off x="731520" y="1371600"/>
            <a:ext cx="502920" cy="50292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2000" b="1">
                <a:solidFill>
                  <a:srgbClr val="FFFFFF"/>
                </a:solidFill>
                <a:latin typeface="Segoe UI"/>
              </a:defRPr>
            </a:pPr>
            <a:r>
              <a:t>1</a:t>
            </a:r>
          </a:p>
        </p:txBody>
      </p:sp>
      <p:sp>
        <p:nvSpPr>
          <p:cNvPr id="5" name="TextBox 4"/>
          <p:cNvSpPr txBox="1"/>
          <p:nvPr/>
        </p:nvSpPr>
        <p:spPr>
          <a:xfrm>
            <a:off x="1463040" y="1417320"/>
            <a:ext cx="9601200" cy="457200"/>
          </a:xfrm>
          <a:prstGeom prst="rect">
            <a:avLst/>
          </a:prstGeom>
          <a:noFill/>
        </p:spPr>
        <p:txBody>
          <a:bodyPr wrap="square">
            <a:spAutoFit/>
          </a:bodyPr>
          <a:lstStyle/>
          <a:p>
            <a:pPr algn="l">
              <a:defRPr sz="1800" b="0">
                <a:solidFill>
                  <a:srgbClr val="242424"/>
                </a:solidFill>
                <a:latin typeface="Segoe UI"/>
              </a:defRPr>
            </a:pPr>
            <a:r>
              <a:t>Explain permission inheritance and permission scopes in practical admin terms</a:t>
            </a:r>
          </a:p>
        </p:txBody>
      </p:sp>
      <p:sp>
        <p:nvSpPr>
          <p:cNvPr id="6" name="Rounded Rectangle 5"/>
          <p:cNvSpPr/>
          <p:nvPr/>
        </p:nvSpPr>
        <p:spPr>
          <a:xfrm>
            <a:off x="731520" y="2331720"/>
            <a:ext cx="502920" cy="50292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2000" b="1">
                <a:solidFill>
                  <a:srgbClr val="FFFFFF"/>
                </a:solidFill>
                <a:latin typeface="Segoe UI"/>
              </a:defRPr>
            </a:pPr>
            <a:r>
              <a:t>2</a:t>
            </a:r>
          </a:p>
        </p:txBody>
      </p:sp>
      <p:sp>
        <p:nvSpPr>
          <p:cNvPr id="7" name="TextBox 6"/>
          <p:cNvSpPr txBox="1"/>
          <p:nvPr/>
        </p:nvSpPr>
        <p:spPr>
          <a:xfrm>
            <a:off x="1463040" y="2377440"/>
            <a:ext cx="9601200" cy="457200"/>
          </a:xfrm>
          <a:prstGeom prst="rect">
            <a:avLst/>
          </a:prstGeom>
          <a:noFill/>
        </p:spPr>
        <p:txBody>
          <a:bodyPr wrap="square">
            <a:spAutoFit/>
          </a:bodyPr>
          <a:lstStyle/>
          <a:p>
            <a:pPr algn="l">
              <a:defRPr sz="1800" b="0">
                <a:solidFill>
                  <a:srgbClr val="242424"/>
                </a:solidFill>
                <a:latin typeface="Segoe UI"/>
              </a:defRPr>
            </a:pPr>
            <a:r>
              <a:t>Describe SharePoint groups vs Microsoft 365 group-connected permissions</a:t>
            </a:r>
          </a:p>
        </p:txBody>
      </p:sp>
      <p:sp>
        <p:nvSpPr>
          <p:cNvPr id="8" name="Rounded Rectangle 7"/>
          <p:cNvSpPr/>
          <p:nvPr/>
        </p:nvSpPr>
        <p:spPr>
          <a:xfrm>
            <a:off x="731520" y="3291840"/>
            <a:ext cx="502920" cy="50292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2000" b="1">
                <a:solidFill>
                  <a:srgbClr val="FFFFFF"/>
                </a:solidFill>
                <a:latin typeface="Segoe UI"/>
              </a:defRPr>
            </a:pPr>
            <a:r>
              <a:t>3</a:t>
            </a:r>
          </a:p>
        </p:txBody>
      </p:sp>
      <p:sp>
        <p:nvSpPr>
          <p:cNvPr id="9" name="TextBox 8"/>
          <p:cNvSpPr txBox="1"/>
          <p:nvPr/>
        </p:nvSpPr>
        <p:spPr>
          <a:xfrm>
            <a:off x="1463040" y="3337560"/>
            <a:ext cx="9601200" cy="457200"/>
          </a:xfrm>
          <a:prstGeom prst="rect">
            <a:avLst/>
          </a:prstGeom>
          <a:noFill/>
        </p:spPr>
        <p:txBody>
          <a:bodyPr wrap="square">
            <a:spAutoFit/>
          </a:bodyPr>
          <a:lstStyle/>
          <a:p>
            <a:pPr algn="l">
              <a:defRPr sz="1800" b="0">
                <a:solidFill>
                  <a:srgbClr val="242424"/>
                </a:solidFill>
                <a:latin typeface="Segoe UI"/>
              </a:defRPr>
            </a:pPr>
            <a:r>
              <a:t>Design a permission model for a realistic collaboration scenario</a:t>
            </a:r>
          </a:p>
        </p:txBody>
      </p:sp>
      <p:sp>
        <p:nvSpPr>
          <p:cNvPr id="10" name="Rounded Rectangle 9"/>
          <p:cNvSpPr/>
          <p:nvPr/>
        </p:nvSpPr>
        <p:spPr>
          <a:xfrm>
            <a:off x="731520" y="4251960"/>
            <a:ext cx="502920" cy="50292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2000" b="1">
                <a:solidFill>
                  <a:srgbClr val="FFFFFF"/>
                </a:solidFill>
                <a:latin typeface="Segoe UI"/>
              </a:defRPr>
            </a:pPr>
            <a:r>
              <a:t>4</a:t>
            </a:r>
          </a:p>
        </p:txBody>
      </p:sp>
      <p:sp>
        <p:nvSpPr>
          <p:cNvPr id="11" name="TextBox 10"/>
          <p:cNvSpPr txBox="1"/>
          <p:nvPr/>
        </p:nvSpPr>
        <p:spPr>
          <a:xfrm>
            <a:off x="1463040" y="4297680"/>
            <a:ext cx="9601200" cy="457200"/>
          </a:xfrm>
          <a:prstGeom prst="rect">
            <a:avLst/>
          </a:prstGeom>
          <a:noFill/>
        </p:spPr>
        <p:txBody>
          <a:bodyPr wrap="square">
            <a:spAutoFit/>
          </a:bodyPr>
          <a:lstStyle/>
          <a:p>
            <a:pPr algn="l">
              <a:defRPr sz="1800" b="0">
                <a:solidFill>
                  <a:srgbClr val="242424"/>
                </a:solidFill>
                <a:latin typeface="Segoe UI"/>
              </a:defRPr>
            </a:pPr>
            <a:r>
              <a:t>Implement and validate site/library/folder permissions safely in a shared tenant</a:t>
            </a:r>
          </a:p>
        </p:txBody>
      </p:sp>
      <p:sp>
        <p:nvSpPr>
          <p:cNvPr id="12" name="Rounded Rectangle 11"/>
          <p:cNvSpPr/>
          <p:nvPr/>
        </p:nvSpPr>
        <p:spPr>
          <a:xfrm>
            <a:off x="731520" y="5212080"/>
            <a:ext cx="502920" cy="50292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2000" b="1">
                <a:solidFill>
                  <a:srgbClr val="FFFFFF"/>
                </a:solidFill>
                <a:latin typeface="Segoe UI"/>
              </a:defRPr>
            </a:pPr>
            <a:r>
              <a:t>5</a:t>
            </a:r>
          </a:p>
        </p:txBody>
      </p:sp>
      <p:sp>
        <p:nvSpPr>
          <p:cNvPr id="13" name="TextBox 12"/>
          <p:cNvSpPr txBox="1"/>
          <p:nvPr/>
        </p:nvSpPr>
        <p:spPr>
          <a:xfrm>
            <a:off x="1463040" y="5257800"/>
            <a:ext cx="9601200" cy="457200"/>
          </a:xfrm>
          <a:prstGeom prst="rect">
            <a:avLst/>
          </a:prstGeom>
          <a:noFill/>
        </p:spPr>
        <p:txBody>
          <a:bodyPr wrap="square">
            <a:spAutoFit/>
          </a:bodyPr>
          <a:lstStyle/>
          <a:p>
            <a:pPr algn="l">
              <a:defRPr sz="1800" b="0">
                <a:solidFill>
                  <a:srgbClr val="242424"/>
                </a:solidFill>
                <a:latin typeface="Segoe UI"/>
              </a:defRPr>
            </a:pPr>
            <a:r>
              <a:t>Explain how SharePoint and OneDrive sharing policies relate at the org and site level</a:t>
            </a:r>
          </a:p>
        </p:txBody>
      </p:sp>
      <p:sp>
        <p:nvSpPr>
          <p:cNvPr id="14" name="Rectangle 13"/>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4  |  Permissions and Collaboration Model</a:t>
            </a:r>
          </a:p>
        </p:txBody>
      </p:sp>
      <p:sp>
        <p:nvSpPr>
          <p:cNvPr id="16" name="TextBox 15"/>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3 / 28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2926080"/>
            <a:ext cx="228600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058400" cy="1097280"/>
          </a:xfrm>
          <a:prstGeom prst="rect">
            <a:avLst/>
          </a:prstGeom>
          <a:noFill/>
        </p:spPr>
        <p:txBody>
          <a:bodyPr wrap="square">
            <a:spAutoFit/>
          </a:bodyPr>
          <a:lstStyle/>
          <a:p>
            <a:pPr algn="ctr">
              <a:defRPr sz="6000" b="0">
                <a:solidFill>
                  <a:srgbClr val="00B294"/>
                </a:solidFill>
                <a:latin typeface="Segoe UI"/>
              </a:defRPr>
            </a:pPr>
            <a:r>
              <a:t>🔐</a:t>
            </a:r>
          </a:p>
        </p:txBody>
      </p:sp>
      <p:sp>
        <p:nvSpPr>
          <p:cNvPr id="4" name="TextBox 3"/>
          <p:cNvSpPr txBox="1"/>
          <p:nvPr/>
        </p:nvSpPr>
        <p:spPr>
          <a:xfrm>
            <a:off x="914400" y="3200400"/>
            <a:ext cx="10058400" cy="1097280"/>
          </a:xfrm>
          <a:prstGeom prst="rect">
            <a:avLst/>
          </a:prstGeom>
          <a:noFill/>
        </p:spPr>
        <p:txBody>
          <a:bodyPr wrap="square">
            <a:spAutoFit/>
          </a:bodyPr>
          <a:lstStyle/>
          <a:p>
            <a:pPr algn="ctr">
              <a:defRPr sz="4000" b="1">
                <a:solidFill>
                  <a:srgbClr val="FFFFFF"/>
                </a:solidFill>
                <a:latin typeface="Segoe UI"/>
              </a:defRPr>
            </a:pPr>
            <a:r>
              <a:t>Permission Fundamentals</a:t>
            </a:r>
          </a:p>
        </p:txBody>
      </p:sp>
      <p:sp>
        <p:nvSpPr>
          <p:cNvPr id="5" name="TextBox 4"/>
          <p:cNvSpPr txBox="1"/>
          <p:nvPr/>
        </p:nvSpPr>
        <p:spPr>
          <a:xfrm>
            <a:off x="1371600" y="4389120"/>
            <a:ext cx="9144000" cy="731520"/>
          </a:xfrm>
          <a:prstGeom prst="rect">
            <a:avLst/>
          </a:prstGeom>
          <a:noFill/>
        </p:spPr>
        <p:txBody>
          <a:bodyPr wrap="square">
            <a:spAutoFit/>
          </a:bodyPr>
          <a:lstStyle/>
          <a:p>
            <a:pPr algn="ctr">
              <a:defRPr sz="1800" b="0">
                <a:solidFill>
                  <a:srgbClr val="BBBBBB"/>
                </a:solidFill>
                <a:latin typeface="Segoe UI"/>
              </a:defRPr>
            </a:pPr>
            <a:r>
              <a:t>What every admin should know — and troubleshoot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000" b="1">
                <a:solidFill>
                  <a:srgbClr val="1B1B2F"/>
                </a:solidFill>
                <a:latin typeface="Segoe UI"/>
              </a:defRPr>
            </a:pPr>
            <a:r>
              <a:t>Four Building Blocks of SharePoint Permissions</a:t>
            </a:r>
          </a:p>
        </p:txBody>
      </p:sp>
      <p:sp>
        <p:nvSpPr>
          <p:cNvPr id="4" name="Rounded Rectangle 3"/>
          <p:cNvSpPr/>
          <p:nvPr/>
        </p:nvSpPr>
        <p:spPr>
          <a:xfrm>
            <a:off x="548640" y="1463040"/>
            <a:ext cx="2651760" cy="4114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265176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91640"/>
            <a:ext cx="2103120" cy="548640"/>
          </a:xfrm>
          <a:prstGeom prst="rect">
            <a:avLst/>
          </a:prstGeom>
          <a:noFill/>
        </p:spPr>
        <p:txBody>
          <a:bodyPr wrap="square">
            <a:spAutoFit/>
          </a:bodyPr>
          <a:lstStyle/>
          <a:p>
            <a:pPr algn="ctr">
              <a:defRPr sz="4000" b="0">
                <a:solidFill>
                  <a:srgbClr val="242424"/>
                </a:solidFill>
                <a:latin typeface="Segoe UI"/>
              </a:defRPr>
            </a:pPr>
            <a:r>
              <a:t>👤</a:t>
            </a:r>
          </a:p>
        </p:txBody>
      </p:sp>
      <p:sp>
        <p:nvSpPr>
          <p:cNvPr id="7" name="TextBox 6"/>
          <p:cNvSpPr txBox="1"/>
          <p:nvPr/>
        </p:nvSpPr>
        <p:spPr>
          <a:xfrm>
            <a:off x="822960" y="2286000"/>
            <a:ext cx="2103120" cy="457200"/>
          </a:xfrm>
          <a:prstGeom prst="rect">
            <a:avLst/>
          </a:prstGeom>
          <a:noFill/>
        </p:spPr>
        <p:txBody>
          <a:bodyPr wrap="square">
            <a:spAutoFit/>
          </a:bodyPr>
          <a:lstStyle/>
          <a:p>
            <a:pPr algn="ctr">
              <a:defRPr sz="2000" b="1">
                <a:solidFill>
                  <a:srgbClr val="0078D4"/>
                </a:solidFill>
                <a:latin typeface="Segoe UI"/>
              </a:defRPr>
            </a:pPr>
            <a:r>
              <a:t>Principal</a:t>
            </a:r>
          </a:p>
        </p:txBody>
      </p:sp>
      <p:sp>
        <p:nvSpPr>
          <p:cNvPr id="8" name="TextBox 7"/>
          <p:cNvSpPr txBox="1"/>
          <p:nvPr/>
        </p:nvSpPr>
        <p:spPr>
          <a:xfrm>
            <a:off x="731520" y="2834640"/>
            <a:ext cx="2286000" cy="914400"/>
          </a:xfrm>
          <a:prstGeom prst="rect">
            <a:avLst/>
          </a:prstGeom>
          <a:noFill/>
        </p:spPr>
        <p:txBody>
          <a:bodyPr wrap="square">
            <a:spAutoFit/>
          </a:bodyPr>
          <a:lstStyle/>
          <a:p>
            <a:pPr algn="ctr">
              <a:defRPr sz="1400" b="0">
                <a:solidFill>
                  <a:srgbClr val="242424"/>
                </a:solidFill>
                <a:latin typeface="Segoe UI"/>
              </a:defRPr>
            </a:pPr>
            <a:r>
              <a:t>The identity you grant</a:t>
            </a:r>
            <a:br/>
            <a:r>
              <a:t>permissions to</a:t>
            </a:r>
          </a:p>
        </p:txBody>
      </p:sp>
      <p:sp>
        <p:nvSpPr>
          <p:cNvPr id="9" name="Rectangle 8"/>
          <p:cNvSpPr/>
          <p:nvPr/>
        </p:nvSpPr>
        <p:spPr>
          <a:xfrm>
            <a:off x="1097280" y="3840480"/>
            <a:ext cx="1554480" cy="2743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023360"/>
            <a:ext cx="2286000" cy="914400"/>
          </a:xfrm>
          <a:prstGeom prst="rect">
            <a:avLst/>
          </a:prstGeom>
          <a:noFill/>
        </p:spPr>
        <p:txBody>
          <a:bodyPr wrap="square">
            <a:spAutoFit/>
          </a:bodyPr>
          <a:lstStyle/>
          <a:p>
            <a:pPr algn="ctr">
              <a:defRPr sz="1300" b="0">
                <a:solidFill>
                  <a:srgbClr val="606060"/>
                </a:solidFill>
                <a:latin typeface="Segoe UI"/>
              </a:defRPr>
            </a:pPr>
            <a:r>
              <a:t>User, SharePoint Group,</a:t>
            </a:r>
            <a:br/>
            <a:r>
              <a:t>or Entra ID Group</a:t>
            </a:r>
          </a:p>
        </p:txBody>
      </p:sp>
      <p:sp>
        <p:nvSpPr>
          <p:cNvPr id="11" name="Rounded Rectangle 10"/>
          <p:cNvSpPr/>
          <p:nvPr/>
        </p:nvSpPr>
        <p:spPr>
          <a:xfrm>
            <a:off x="3429000" y="1463040"/>
            <a:ext cx="2651760" cy="4114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29000" y="1463040"/>
            <a:ext cx="265176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03320" y="1691640"/>
            <a:ext cx="2103120" cy="548640"/>
          </a:xfrm>
          <a:prstGeom prst="rect">
            <a:avLst/>
          </a:prstGeom>
          <a:noFill/>
        </p:spPr>
        <p:txBody>
          <a:bodyPr wrap="square">
            <a:spAutoFit/>
          </a:bodyPr>
          <a:lstStyle/>
          <a:p>
            <a:pPr algn="ctr">
              <a:defRPr sz="4000" b="0">
                <a:solidFill>
                  <a:srgbClr val="242424"/>
                </a:solidFill>
                <a:latin typeface="Segoe UI"/>
              </a:defRPr>
            </a:pPr>
            <a:r>
              <a:t>🔑</a:t>
            </a:r>
          </a:p>
        </p:txBody>
      </p:sp>
      <p:sp>
        <p:nvSpPr>
          <p:cNvPr id="14" name="TextBox 13"/>
          <p:cNvSpPr txBox="1"/>
          <p:nvPr/>
        </p:nvSpPr>
        <p:spPr>
          <a:xfrm>
            <a:off x="3703320" y="2286000"/>
            <a:ext cx="2103120" cy="457200"/>
          </a:xfrm>
          <a:prstGeom prst="rect">
            <a:avLst/>
          </a:prstGeom>
          <a:noFill/>
        </p:spPr>
        <p:txBody>
          <a:bodyPr wrap="square">
            <a:spAutoFit/>
          </a:bodyPr>
          <a:lstStyle/>
          <a:p>
            <a:pPr algn="ctr">
              <a:defRPr sz="2000" b="1">
                <a:solidFill>
                  <a:srgbClr val="00B294"/>
                </a:solidFill>
                <a:latin typeface="Segoe UI"/>
              </a:defRPr>
            </a:pPr>
            <a:r>
              <a:t>Permission Level</a:t>
            </a:r>
          </a:p>
        </p:txBody>
      </p:sp>
      <p:sp>
        <p:nvSpPr>
          <p:cNvPr id="15" name="TextBox 14"/>
          <p:cNvSpPr txBox="1"/>
          <p:nvPr/>
        </p:nvSpPr>
        <p:spPr>
          <a:xfrm>
            <a:off x="3611880" y="2834640"/>
            <a:ext cx="2286000" cy="914400"/>
          </a:xfrm>
          <a:prstGeom prst="rect">
            <a:avLst/>
          </a:prstGeom>
          <a:noFill/>
        </p:spPr>
        <p:txBody>
          <a:bodyPr wrap="square">
            <a:spAutoFit/>
          </a:bodyPr>
          <a:lstStyle/>
          <a:p>
            <a:pPr algn="ctr">
              <a:defRPr sz="1400" b="0">
                <a:solidFill>
                  <a:srgbClr val="242424"/>
                </a:solidFill>
                <a:latin typeface="Segoe UI"/>
              </a:defRPr>
            </a:pPr>
            <a:r>
              <a:t>A named set of</a:t>
            </a:r>
            <a:br/>
            <a:r>
              <a:t>permissions</a:t>
            </a:r>
          </a:p>
        </p:txBody>
      </p:sp>
      <p:sp>
        <p:nvSpPr>
          <p:cNvPr id="16" name="Rectangle 15"/>
          <p:cNvSpPr/>
          <p:nvPr/>
        </p:nvSpPr>
        <p:spPr>
          <a:xfrm>
            <a:off x="3977640" y="3840480"/>
            <a:ext cx="1554480" cy="2743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11880" y="4023360"/>
            <a:ext cx="2286000" cy="914400"/>
          </a:xfrm>
          <a:prstGeom prst="rect">
            <a:avLst/>
          </a:prstGeom>
          <a:noFill/>
        </p:spPr>
        <p:txBody>
          <a:bodyPr wrap="square">
            <a:spAutoFit/>
          </a:bodyPr>
          <a:lstStyle/>
          <a:p>
            <a:pPr algn="ctr">
              <a:defRPr sz="1300" b="0">
                <a:solidFill>
                  <a:srgbClr val="606060"/>
                </a:solidFill>
                <a:latin typeface="Segoe UI"/>
              </a:defRPr>
            </a:pPr>
            <a:r>
              <a:t>Full Control · Edit</a:t>
            </a:r>
            <a:br/>
            <a:r>
              <a:t>Read · Contribute</a:t>
            </a:r>
          </a:p>
        </p:txBody>
      </p:sp>
      <p:sp>
        <p:nvSpPr>
          <p:cNvPr id="18" name="Rounded Rectangle 17"/>
          <p:cNvSpPr/>
          <p:nvPr/>
        </p:nvSpPr>
        <p:spPr>
          <a:xfrm>
            <a:off x="6309359" y="1463040"/>
            <a:ext cx="2651760" cy="4114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09359" y="1463040"/>
            <a:ext cx="2651760"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79" y="1691640"/>
            <a:ext cx="2103120" cy="548640"/>
          </a:xfrm>
          <a:prstGeom prst="rect">
            <a:avLst/>
          </a:prstGeom>
          <a:noFill/>
        </p:spPr>
        <p:txBody>
          <a:bodyPr wrap="square">
            <a:spAutoFit/>
          </a:bodyPr>
          <a:lstStyle/>
          <a:p>
            <a:pPr algn="ctr">
              <a:defRPr sz="4000" b="0">
                <a:solidFill>
                  <a:srgbClr val="242424"/>
                </a:solidFill>
                <a:latin typeface="Segoe UI"/>
              </a:defRPr>
            </a:pPr>
            <a:r>
              <a:t>⬇️</a:t>
            </a:r>
          </a:p>
        </p:txBody>
      </p:sp>
      <p:sp>
        <p:nvSpPr>
          <p:cNvPr id="21" name="TextBox 20"/>
          <p:cNvSpPr txBox="1"/>
          <p:nvPr/>
        </p:nvSpPr>
        <p:spPr>
          <a:xfrm>
            <a:off x="6583679" y="2286000"/>
            <a:ext cx="2103120" cy="457200"/>
          </a:xfrm>
          <a:prstGeom prst="rect">
            <a:avLst/>
          </a:prstGeom>
          <a:noFill/>
        </p:spPr>
        <p:txBody>
          <a:bodyPr wrap="square">
            <a:spAutoFit/>
          </a:bodyPr>
          <a:lstStyle/>
          <a:p>
            <a:pPr algn="ctr">
              <a:defRPr sz="2000" b="1">
                <a:solidFill>
                  <a:srgbClr val="6B69D6"/>
                </a:solidFill>
                <a:latin typeface="Segoe UI"/>
              </a:defRPr>
            </a:pPr>
            <a:r>
              <a:t>Inheritance</a:t>
            </a:r>
          </a:p>
        </p:txBody>
      </p:sp>
      <p:sp>
        <p:nvSpPr>
          <p:cNvPr id="22" name="TextBox 21"/>
          <p:cNvSpPr txBox="1"/>
          <p:nvPr/>
        </p:nvSpPr>
        <p:spPr>
          <a:xfrm>
            <a:off x="6492239" y="2834640"/>
            <a:ext cx="2286000" cy="914400"/>
          </a:xfrm>
          <a:prstGeom prst="rect">
            <a:avLst/>
          </a:prstGeom>
          <a:noFill/>
        </p:spPr>
        <p:txBody>
          <a:bodyPr wrap="square">
            <a:spAutoFit/>
          </a:bodyPr>
          <a:lstStyle/>
          <a:p>
            <a:pPr algn="ctr">
              <a:defRPr sz="1400" b="0">
                <a:solidFill>
                  <a:srgbClr val="242424"/>
                </a:solidFill>
                <a:latin typeface="Segoe UI"/>
              </a:defRPr>
            </a:pPr>
            <a:r>
              <a:t>Child inherits parent's</a:t>
            </a:r>
            <a:br/>
            <a:r>
              <a:t>permissions by default</a:t>
            </a:r>
          </a:p>
        </p:txBody>
      </p:sp>
      <p:sp>
        <p:nvSpPr>
          <p:cNvPr id="23" name="Rectangle 22"/>
          <p:cNvSpPr/>
          <p:nvPr/>
        </p:nvSpPr>
        <p:spPr>
          <a:xfrm>
            <a:off x="6857999" y="3840480"/>
            <a:ext cx="1554480" cy="2743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39" y="4023360"/>
            <a:ext cx="2286000" cy="914400"/>
          </a:xfrm>
          <a:prstGeom prst="rect">
            <a:avLst/>
          </a:prstGeom>
          <a:noFill/>
        </p:spPr>
        <p:txBody>
          <a:bodyPr wrap="square">
            <a:spAutoFit/>
          </a:bodyPr>
          <a:lstStyle/>
          <a:p>
            <a:pPr algn="ctr">
              <a:defRPr sz="1300" b="0">
                <a:solidFill>
                  <a:srgbClr val="606060"/>
                </a:solidFill>
                <a:latin typeface="Segoe UI"/>
              </a:defRPr>
            </a:pPr>
            <a:r>
              <a:t>Site → Library →</a:t>
            </a:r>
            <a:br/>
            <a:r>
              <a:t>Folder → File</a:t>
            </a:r>
          </a:p>
        </p:txBody>
      </p:sp>
      <p:sp>
        <p:nvSpPr>
          <p:cNvPr id="25" name="Rounded Rectangle 24"/>
          <p:cNvSpPr/>
          <p:nvPr/>
        </p:nvSpPr>
        <p:spPr>
          <a:xfrm>
            <a:off x="9189719" y="1463040"/>
            <a:ext cx="2651760" cy="4114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89719" y="1463040"/>
            <a:ext cx="2651760"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464039" y="1691640"/>
            <a:ext cx="2103120" cy="548640"/>
          </a:xfrm>
          <a:prstGeom prst="rect">
            <a:avLst/>
          </a:prstGeom>
          <a:noFill/>
        </p:spPr>
        <p:txBody>
          <a:bodyPr wrap="square">
            <a:spAutoFit/>
          </a:bodyPr>
          <a:lstStyle/>
          <a:p>
            <a:pPr algn="ctr">
              <a:defRPr sz="4000" b="0">
                <a:solidFill>
                  <a:srgbClr val="242424"/>
                </a:solidFill>
                <a:latin typeface="Segoe UI"/>
              </a:defRPr>
            </a:pPr>
            <a:r>
              <a:t>✂️</a:t>
            </a:r>
          </a:p>
        </p:txBody>
      </p:sp>
      <p:sp>
        <p:nvSpPr>
          <p:cNvPr id="28" name="TextBox 27"/>
          <p:cNvSpPr txBox="1"/>
          <p:nvPr/>
        </p:nvSpPr>
        <p:spPr>
          <a:xfrm>
            <a:off x="9464039" y="2286000"/>
            <a:ext cx="2103120" cy="457200"/>
          </a:xfrm>
          <a:prstGeom prst="rect">
            <a:avLst/>
          </a:prstGeom>
          <a:noFill/>
        </p:spPr>
        <p:txBody>
          <a:bodyPr wrap="square">
            <a:spAutoFit/>
          </a:bodyPr>
          <a:lstStyle/>
          <a:p>
            <a:pPr algn="ctr">
              <a:defRPr sz="2000" b="1">
                <a:solidFill>
                  <a:srgbClr val="FF8C00"/>
                </a:solidFill>
                <a:latin typeface="Segoe UI"/>
              </a:defRPr>
            </a:pPr>
            <a:r>
              <a:t>Unique Permissions</a:t>
            </a:r>
          </a:p>
        </p:txBody>
      </p:sp>
      <p:sp>
        <p:nvSpPr>
          <p:cNvPr id="29" name="TextBox 28"/>
          <p:cNvSpPr txBox="1"/>
          <p:nvPr/>
        </p:nvSpPr>
        <p:spPr>
          <a:xfrm>
            <a:off x="9372599" y="2834640"/>
            <a:ext cx="2286000" cy="914400"/>
          </a:xfrm>
          <a:prstGeom prst="rect">
            <a:avLst/>
          </a:prstGeom>
          <a:noFill/>
        </p:spPr>
        <p:txBody>
          <a:bodyPr wrap="square">
            <a:spAutoFit/>
          </a:bodyPr>
          <a:lstStyle/>
          <a:p>
            <a:pPr algn="ctr">
              <a:defRPr sz="1400" b="0">
                <a:solidFill>
                  <a:srgbClr val="242424"/>
                </a:solidFill>
                <a:latin typeface="Segoe UI"/>
              </a:defRPr>
            </a:pPr>
            <a:r>
              <a:t>Break inheritance to</a:t>
            </a:r>
            <a:br/>
            <a:r>
              <a:t>create a new scope</a:t>
            </a:r>
          </a:p>
        </p:txBody>
      </p:sp>
      <p:sp>
        <p:nvSpPr>
          <p:cNvPr id="30" name="Rectangle 29"/>
          <p:cNvSpPr/>
          <p:nvPr/>
        </p:nvSpPr>
        <p:spPr>
          <a:xfrm>
            <a:off x="9738359" y="3840480"/>
            <a:ext cx="1554480" cy="2743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72599" y="4023360"/>
            <a:ext cx="2286000" cy="914400"/>
          </a:xfrm>
          <a:prstGeom prst="rect">
            <a:avLst/>
          </a:prstGeom>
          <a:noFill/>
        </p:spPr>
        <p:txBody>
          <a:bodyPr wrap="square">
            <a:spAutoFit/>
          </a:bodyPr>
          <a:lstStyle/>
          <a:p>
            <a:pPr algn="ctr">
              <a:defRPr sz="1300" b="0">
                <a:solidFill>
                  <a:srgbClr val="606060"/>
                </a:solidFill>
                <a:latin typeface="Segoe UI"/>
              </a:defRPr>
            </a:pPr>
            <a:r>
              <a:t>Object gets its own</a:t>
            </a:r>
            <a:br/>
            <a:r>
              <a:t>Access Control List</a:t>
            </a:r>
          </a:p>
        </p:txBody>
      </p:sp>
      <p:sp>
        <p:nvSpPr>
          <p:cNvPr id="32" name="Rectangle 31"/>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4  |  Permissions and Collaboration Model</a:t>
            </a:r>
          </a:p>
        </p:txBody>
      </p:sp>
      <p:sp>
        <p:nvSpPr>
          <p:cNvPr id="34" name="TextBox 33"/>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5 / 28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Permission Inheritance Flow</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Permissions cascade downward — breaking creates a new scope</a:t>
            </a:r>
          </a:p>
        </p:txBody>
      </p:sp>
      <p:sp>
        <p:nvSpPr>
          <p:cNvPr id="5" name="Rounded Rectangle 4"/>
          <p:cNvSpPr/>
          <p:nvPr/>
        </p:nvSpPr>
        <p:spPr>
          <a:xfrm>
            <a:off x="731520" y="2011680"/>
            <a:ext cx="2560320" cy="21945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2011680"/>
            <a:ext cx="256032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286000"/>
            <a:ext cx="2194560" cy="457200"/>
          </a:xfrm>
          <a:prstGeom prst="rect">
            <a:avLst/>
          </a:prstGeom>
          <a:noFill/>
        </p:spPr>
        <p:txBody>
          <a:bodyPr wrap="square">
            <a:spAutoFit/>
          </a:bodyPr>
          <a:lstStyle/>
          <a:p>
            <a:pPr algn="ctr">
              <a:defRPr sz="2200" b="1">
                <a:solidFill>
                  <a:srgbClr val="0078D4"/>
                </a:solidFill>
                <a:latin typeface="Segoe UI"/>
              </a:defRPr>
            </a:pPr>
            <a:r>
              <a:t>🌐  Site</a:t>
            </a:r>
          </a:p>
        </p:txBody>
      </p:sp>
      <p:sp>
        <p:nvSpPr>
          <p:cNvPr id="8" name="TextBox 7"/>
          <p:cNvSpPr txBox="1"/>
          <p:nvPr/>
        </p:nvSpPr>
        <p:spPr>
          <a:xfrm>
            <a:off x="914400" y="2834640"/>
            <a:ext cx="2194560" cy="914400"/>
          </a:xfrm>
          <a:prstGeom prst="rect">
            <a:avLst/>
          </a:prstGeom>
          <a:noFill/>
        </p:spPr>
        <p:txBody>
          <a:bodyPr wrap="square">
            <a:spAutoFit/>
          </a:bodyPr>
          <a:lstStyle/>
          <a:p>
            <a:pPr algn="ctr">
              <a:defRPr sz="1300" b="0">
                <a:solidFill>
                  <a:srgbClr val="242424"/>
                </a:solidFill>
                <a:latin typeface="Segoe UI"/>
              </a:defRPr>
            </a:pPr>
            <a:r>
              <a:t>Root permissions</a:t>
            </a:r>
            <a:br/>
            <a:r>
              <a:t>(Owners / Members / Visitors)</a:t>
            </a:r>
          </a:p>
        </p:txBody>
      </p:sp>
      <p:sp>
        <p:nvSpPr>
          <p:cNvPr id="9" name="Rounded Rectangle 8"/>
          <p:cNvSpPr/>
          <p:nvPr/>
        </p:nvSpPr>
        <p:spPr>
          <a:xfrm>
            <a:off x="1280160" y="3749040"/>
            <a:ext cx="1463040" cy="320040"/>
          </a:xfrm>
          <a:prstGeom prst="roundRect">
            <a:avLst>
              <a:gd name="adj" fmla="val 5000"/>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200" b="1">
                <a:solidFill>
                  <a:srgbClr val="FFFFFF"/>
                </a:solidFill>
                <a:latin typeface="Segoe UI"/>
              </a:defRPr>
            </a:pPr>
            <a:r>
              <a:t>✓ Inherits</a:t>
            </a:r>
          </a:p>
        </p:txBody>
      </p:sp>
      <p:sp>
        <p:nvSpPr>
          <p:cNvPr id="10" name="TextBox 9"/>
          <p:cNvSpPr txBox="1"/>
          <p:nvPr/>
        </p:nvSpPr>
        <p:spPr>
          <a:xfrm>
            <a:off x="3337560" y="2743200"/>
            <a:ext cx="274320" cy="457200"/>
          </a:xfrm>
          <a:prstGeom prst="rect">
            <a:avLst/>
          </a:prstGeom>
          <a:noFill/>
        </p:spPr>
        <p:txBody>
          <a:bodyPr wrap="square">
            <a:spAutoFit/>
          </a:bodyPr>
          <a:lstStyle/>
          <a:p>
            <a:pPr algn="ctr">
              <a:defRPr sz="2800" b="1">
                <a:solidFill>
                  <a:srgbClr val="606060"/>
                </a:solidFill>
                <a:latin typeface="Segoe UI"/>
              </a:defRPr>
            </a:pPr>
            <a:r>
              <a:t>→</a:t>
            </a:r>
          </a:p>
        </p:txBody>
      </p:sp>
      <p:sp>
        <p:nvSpPr>
          <p:cNvPr id="11" name="Rounded Rectangle 10"/>
          <p:cNvSpPr/>
          <p:nvPr/>
        </p:nvSpPr>
        <p:spPr>
          <a:xfrm>
            <a:off x="3611880" y="2011680"/>
            <a:ext cx="2560320" cy="21945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11880" y="2011680"/>
            <a:ext cx="256032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94760" y="2286000"/>
            <a:ext cx="2194560" cy="457200"/>
          </a:xfrm>
          <a:prstGeom prst="rect">
            <a:avLst/>
          </a:prstGeom>
          <a:noFill/>
        </p:spPr>
        <p:txBody>
          <a:bodyPr wrap="square">
            <a:spAutoFit/>
          </a:bodyPr>
          <a:lstStyle/>
          <a:p>
            <a:pPr algn="ctr">
              <a:defRPr sz="2200" b="1">
                <a:solidFill>
                  <a:srgbClr val="00B294"/>
                </a:solidFill>
                <a:latin typeface="Segoe UI"/>
              </a:defRPr>
            </a:pPr>
            <a:r>
              <a:t>📚  Library</a:t>
            </a:r>
          </a:p>
        </p:txBody>
      </p:sp>
      <p:sp>
        <p:nvSpPr>
          <p:cNvPr id="14" name="TextBox 13"/>
          <p:cNvSpPr txBox="1"/>
          <p:nvPr/>
        </p:nvSpPr>
        <p:spPr>
          <a:xfrm>
            <a:off x="3794760" y="2834640"/>
            <a:ext cx="2194560" cy="914400"/>
          </a:xfrm>
          <a:prstGeom prst="rect">
            <a:avLst/>
          </a:prstGeom>
          <a:noFill/>
        </p:spPr>
        <p:txBody>
          <a:bodyPr wrap="square">
            <a:spAutoFit/>
          </a:bodyPr>
          <a:lstStyle/>
          <a:p>
            <a:pPr algn="ctr">
              <a:defRPr sz="1300" b="0">
                <a:solidFill>
                  <a:srgbClr val="242424"/>
                </a:solidFill>
                <a:latin typeface="Segoe UI"/>
              </a:defRPr>
            </a:pPr>
            <a:r>
              <a:t>Inherits from site</a:t>
            </a:r>
            <a:br/>
            <a:r>
              <a:t>(or unique if broken)</a:t>
            </a:r>
          </a:p>
        </p:txBody>
      </p:sp>
      <p:sp>
        <p:nvSpPr>
          <p:cNvPr id="15" name="Rounded Rectangle 14"/>
          <p:cNvSpPr/>
          <p:nvPr/>
        </p:nvSpPr>
        <p:spPr>
          <a:xfrm>
            <a:off x="4160520" y="3749040"/>
            <a:ext cx="1463040" cy="320040"/>
          </a:xfrm>
          <a:prstGeom prst="roundRect">
            <a:avLst>
              <a:gd name="adj" fmla="val 5000"/>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200" b="1">
                <a:solidFill>
                  <a:srgbClr val="FFFFFF"/>
                </a:solidFill>
                <a:latin typeface="Segoe UI"/>
              </a:defRPr>
            </a:pPr>
            <a:r>
              <a:t>✓ Inherits</a:t>
            </a:r>
          </a:p>
        </p:txBody>
      </p:sp>
      <p:sp>
        <p:nvSpPr>
          <p:cNvPr id="16" name="TextBox 15"/>
          <p:cNvSpPr txBox="1"/>
          <p:nvPr/>
        </p:nvSpPr>
        <p:spPr>
          <a:xfrm>
            <a:off x="6217920" y="2743200"/>
            <a:ext cx="274320" cy="457200"/>
          </a:xfrm>
          <a:prstGeom prst="rect">
            <a:avLst/>
          </a:prstGeom>
          <a:noFill/>
        </p:spPr>
        <p:txBody>
          <a:bodyPr wrap="square">
            <a:spAutoFit/>
          </a:bodyPr>
          <a:lstStyle/>
          <a:p>
            <a:pPr algn="ctr">
              <a:defRPr sz="2800" b="1">
                <a:solidFill>
                  <a:srgbClr val="606060"/>
                </a:solidFill>
                <a:latin typeface="Segoe UI"/>
              </a:defRPr>
            </a:pPr>
            <a:r>
              <a:t>→</a:t>
            </a:r>
          </a:p>
        </p:txBody>
      </p:sp>
      <p:sp>
        <p:nvSpPr>
          <p:cNvPr id="17" name="Rounded Rectangle 16"/>
          <p:cNvSpPr/>
          <p:nvPr/>
        </p:nvSpPr>
        <p:spPr>
          <a:xfrm>
            <a:off x="6492240" y="2011680"/>
            <a:ext cx="2560320" cy="21945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92240" y="2011680"/>
            <a:ext cx="2560320"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0" y="2286000"/>
            <a:ext cx="2194560" cy="457200"/>
          </a:xfrm>
          <a:prstGeom prst="rect">
            <a:avLst/>
          </a:prstGeom>
          <a:noFill/>
        </p:spPr>
        <p:txBody>
          <a:bodyPr wrap="square">
            <a:spAutoFit/>
          </a:bodyPr>
          <a:lstStyle/>
          <a:p>
            <a:pPr algn="ctr">
              <a:defRPr sz="2200" b="1">
                <a:solidFill>
                  <a:srgbClr val="FF8C00"/>
                </a:solidFill>
                <a:latin typeface="Segoe UI"/>
              </a:defRPr>
            </a:pPr>
            <a:r>
              <a:t>📁  Folder</a:t>
            </a:r>
          </a:p>
        </p:txBody>
      </p:sp>
      <p:sp>
        <p:nvSpPr>
          <p:cNvPr id="20" name="TextBox 19"/>
          <p:cNvSpPr txBox="1"/>
          <p:nvPr/>
        </p:nvSpPr>
        <p:spPr>
          <a:xfrm>
            <a:off x="6675120" y="2834640"/>
            <a:ext cx="2194560" cy="914400"/>
          </a:xfrm>
          <a:prstGeom prst="rect">
            <a:avLst/>
          </a:prstGeom>
          <a:noFill/>
        </p:spPr>
        <p:txBody>
          <a:bodyPr wrap="square">
            <a:spAutoFit/>
          </a:bodyPr>
          <a:lstStyle/>
          <a:p>
            <a:pPr algn="ctr">
              <a:defRPr sz="1300" b="0">
                <a:solidFill>
                  <a:srgbClr val="242424"/>
                </a:solidFill>
                <a:latin typeface="Segoe UI"/>
              </a:defRPr>
            </a:pPr>
            <a:r>
              <a:t>Inherits from library</a:t>
            </a:r>
            <a:br/>
            <a:r>
              <a:t>(break here for isolation)</a:t>
            </a:r>
          </a:p>
        </p:txBody>
      </p:sp>
      <p:sp>
        <p:nvSpPr>
          <p:cNvPr id="21" name="Rounded Rectangle 20"/>
          <p:cNvSpPr/>
          <p:nvPr/>
        </p:nvSpPr>
        <p:spPr>
          <a:xfrm>
            <a:off x="7040880" y="3749040"/>
            <a:ext cx="1463040" cy="320040"/>
          </a:xfrm>
          <a:prstGeom prst="roundRect">
            <a:avLst>
              <a:gd name="adj" fmla="val 5000"/>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200" b="1">
                <a:solidFill>
                  <a:srgbClr val="FFFFFF"/>
                </a:solidFill>
                <a:latin typeface="Segoe UI"/>
              </a:defRPr>
            </a:pPr>
            <a:r>
              <a:t>✂ Can Break</a:t>
            </a:r>
          </a:p>
        </p:txBody>
      </p:sp>
      <p:sp>
        <p:nvSpPr>
          <p:cNvPr id="22" name="TextBox 21"/>
          <p:cNvSpPr txBox="1"/>
          <p:nvPr/>
        </p:nvSpPr>
        <p:spPr>
          <a:xfrm>
            <a:off x="9098280" y="2743200"/>
            <a:ext cx="274320" cy="457200"/>
          </a:xfrm>
          <a:prstGeom prst="rect">
            <a:avLst/>
          </a:prstGeom>
          <a:noFill/>
        </p:spPr>
        <p:txBody>
          <a:bodyPr wrap="square">
            <a:spAutoFit/>
          </a:bodyPr>
          <a:lstStyle/>
          <a:p>
            <a:pPr algn="ctr">
              <a:defRPr sz="2800" b="1">
                <a:solidFill>
                  <a:srgbClr val="606060"/>
                </a:solidFill>
                <a:latin typeface="Segoe UI"/>
              </a:defRPr>
            </a:pPr>
            <a:r>
              <a:t>→</a:t>
            </a:r>
          </a:p>
        </p:txBody>
      </p:sp>
      <p:sp>
        <p:nvSpPr>
          <p:cNvPr id="23" name="Rounded Rectangle 22"/>
          <p:cNvSpPr/>
          <p:nvPr/>
        </p:nvSpPr>
        <p:spPr>
          <a:xfrm>
            <a:off x="9372600" y="2011680"/>
            <a:ext cx="2560320" cy="21945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372600" y="2011680"/>
            <a:ext cx="2560320" cy="73152"/>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555480" y="2286000"/>
            <a:ext cx="2194560" cy="457200"/>
          </a:xfrm>
          <a:prstGeom prst="rect">
            <a:avLst/>
          </a:prstGeom>
          <a:noFill/>
        </p:spPr>
        <p:txBody>
          <a:bodyPr wrap="square">
            <a:spAutoFit/>
          </a:bodyPr>
          <a:lstStyle/>
          <a:p>
            <a:pPr algn="ctr">
              <a:defRPr sz="2200" b="1">
                <a:solidFill>
                  <a:srgbClr val="D13438"/>
                </a:solidFill>
                <a:latin typeface="Segoe UI"/>
              </a:defRPr>
            </a:pPr>
            <a:r>
              <a:t>📄  File</a:t>
            </a:r>
          </a:p>
        </p:txBody>
      </p:sp>
      <p:sp>
        <p:nvSpPr>
          <p:cNvPr id="26" name="TextBox 25"/>
          <p:cNvSpPr txBox="1"/>
          <p:nvPr/>
        </p:nvSpPr>
        <p:spPr>
          <a:xfrm>
            <a:off x="9555480" y="2834640"/>
            <a:ext cx="2194560" cy="914400"/>
          </a:xfrm>
          <a:prstGeom prst="rect">
            <a:avLst/>
          </a:prstGeom>
          <a:noFill/>
        </p:spPr>
        <p:txBody>
          <a:bodyPr wrap="square">
            <a:spAutoFit/>
          </a:bodyPr>
          <a:lstStyle/>
          <a:p>
            <a:pPr algn="ctr">
              <a:defRPr sz="1300" b="0">
                <a:solidFill>
                  <a:srgbClr val="242424"/>
                </a:solidFill>
                <a:latin typeface="Segoe UI"/>
              </a:defRPr>
            </a:pPr>
            <a:r>
              <a:t>Inherits from folder</a:t>
            </a:r>
            <a:br/>
            <a:r>
              <a:t>(avoid per-file unique perms)</a:t>
            </a:r>
          </a:p>
        </p:txBody>
      </p:sp>
      <p:sp>
        <p:nvSpPr>
          <p:cNvPr id="27" name="Rounded Rectangle 26"/>
          <p:cNvSpPr/>
          <p:nvPr/>
        </p:nvSpPr>
        <p:spPr>
          <a:xfrm>
            <a:off x="9921240" y="3749040"/>
            <a:ext cx="1463040" cy="320040"/>
          </a:xfrm>
          <a:prstGeom prst="roundRect">
            <a:avLst>
              <a:gd name="adj" fmla="val 5000"/>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200" b="1">
                <a:solidFill>
                  <a:srgbClr val="FFFFFF"/>
                </a:solidFill>
                <a:latin typeface="Segoe UI"/>
              </a:defRPr>
            </a:pPr>
            <a:r>
              <a:t>✂ Can Break</a:t>
            </a:r>
          </a:p>
        </p:txBody>
      </p:sp>
      <p:sp>
        <p:nvSpPr>
          <p:cNvPr id="28" name="Rounded Rectangle 27"/>
          <p:cNvSpPr/>
          <p:nvPr/>
        </p:nvSpPr>
        <p:spPr>
          <a:xfrm>
            <a:off x="1371600" y="4754880"/>
            <a:ext cx="9418320" cy="914400"/>
          </a:xfrm>
          <a:prstGeom prst="roundRect">
            <a:avLst>
              <a:gd name="adj" fmla="val 5000"/>
            </a:avLst>
          </a:prstGeom>
          <a:solidFill>
            <a:srgbClr val="DE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45920" y="4846320"/>
            <a:ext cx="8869680" cy="731520"/>
          </a:xfrm>
          <a:prstGeom prst="rect">
            <a:avLst/>
          </a:prstGeom>
          <a:noFill/>
        </p:spPr>
        <p:txBody>
          <a:bodyPr wrap="square">
            <a:spAutoFit/>
          </a:bodyPr>
          <a:lstStyle/>
          <a:p>
            <a:pPr algn="l">
              <a:defRPr sz="1400" b="0">
                <a:solidFill>
                  <a:srgbClr val="242424"/>
                </a:solidFill>
                <a:latin typeface="Segoe UI"/>
              </a:defRPr>
            </a:pPr>
            <a:r>
              <a:t>💡 Best Practice:  Keep unique permission scopes under 5,000 per library (recommended limit). The hard limit is 50,000 unique ACLs per document library. Share folders, not individual files.</a:t>
            </a:r>
          </a:p>
        </p:txBody>
      </p:sp>
      <p:sp>
        <p:nvSpPr>
          <p:cNvPr id="30" name="Rectangle 29"/>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4  |  Permissions and Collaboration Model</a:t>
            </a:r>
          </a:p>
        </p:txBody>
      </p:sp>
      <p:sp>
        <p:nvSpPr>
          <p:cNvPr id="32" name="TextBox 31"/>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6 / 28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D13438"/>
                </a:solidFill>
                <a:latin typeface="Segoe UI"/>
              </a:defRPr>
            </a:pPr>
            <a:r>
              <a:t>⚠️  Why Unique Permissions Are Risky</a:t>
            </a:r>
          </a:p>
        </p:txBody>
      </p:sp>
      <p:sp>
        <p:nvSpPr>
          <p:cNvPr id="4" name="Rounded Rectangle 3"/>
          <p:cNvSpPr/>
          <p:nvPr/>
        </p:nvSpPr>
        <p:spPr>
          <a:xfrm>
            <a:off x="731520" y="1371600"/>
            <a:ext cx="53035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371600"/>
            <a:ext cx="73152" cy="2011680"/>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54480"/>
            <a:ext cx="548640" cy="457200"/>
          </a:xfrm>
          <a:prstGeom prst="rect">
            <a:avLst/>
          </a:prstGeom>
          <a:noFill/>
        </p:spPr>
        <p:txBody>
          <a:bodyPr wrap="square">
            <a:spAutoFit/>
          </a:bodyPr>
          <a:lstStyle/>
          <a:p>
            <a:pPr algn="ctr">
              <a:defRPr sz="3000" b="0">
                <a:solidFill>
                  <a:srgbClr val="242424"/>
                </a:solidFill>
                <a:latin typeface="Segoe UI"/>
              </a:defRPr>
            </a:pPr>
            <a:r>
              <a:t>🔍</a:t>
            </a:r>
          </a:p>
        </p:txBody>
      </p:sp>
      <p:sp>
        <p:nvSpPr>
          <p:cNvPr id="7" name="TextBox 6"/>
          <p:cNvSpPr txBox="1"/>
          <p:nvPr/>
        </p:nvSpPr>
        <p:spPr>
          <a:xfrm>
            <a:off x="1645920" y="1554480"/>
            <a:ext cx="4114800" cy="457200"/>
          </a:xfrm>
          <a:prstGeom prst="rect">
            <a:avLst/>
          </a:prstGeom>
          <a:noFill/>
        </p:spPr>
        <p:txBody>
          <a:bodyPr wrap="square">
            <a:spAutoFit/>
          </a:bodyPr>
          <a:lstStyle/>
          <a:p>
            <a:pPr algn="l">
              <a:defRPr sz="2000" b="1">
                <a:solidFill>
                  <a:srgbClr val="D13438"/>
                </a:solidFill>
                <a:latin typeface="Segoe UI"/>
              </a:defRPr>
            </a:pPr>
            <a:r>
              <a:t>Harder to Audit</a:t>
            </a:r>
          </a:p>
        </p:txBody>
      </p:sp>
      <p:sp>
        <p:nvSpPr>
          <p:cNvPr id="8" name="TextBox 7"/>
          <p:cNvSpPr txBox="1"/>
          <p:nvPr/>
        </p:nvSpPr>
        <p:spPr>
          <a:xfrm>
            <a:off x="1645920" y="2103120"/>
            <a:ext cx="4114800" cy="1097280"/>
          </a:xfrm>
          <a:prstGeom prst="rect">
            <a:avLst/>
          </a:prstGeom>
          <a:noFill/>
        </p:spPr>
        <p:txBody>
          <a:bodyPr wrap="square">
            <a:spAutoFit/>
          </a:bodyPr>
          <a:lstStyle/>
          <a:p>
            <a:pPr algn="l">
              <a:defRPr sz="1400" b="0">
                <a:solidFill>
                  <a:srgbClr val="242424"/>
                </a:solidFill>
                <a:latin typeface="Segoe UI"/>
              </a:defRPr>
            </a:pPr>
            <a:r>
              <a:t>Each unique scope means another set of ACLs to review.</a:t>
            </a:r>
            <a:br/>
            <a:r>
              <a:t>Large-scale audits become exponentially complex.</a:t>
            </a:r>
          </a:p>
        </p:txBody>
      </p:sp>
      <p:sp>
        <p:nvSpPr>
          <p:cNvPr id="9" name="Rounded Rectangle 8"/>
          <p:cNvSpPr/>
          <p:nvPr/>
        </p:nvSpPr>
        <p:spPr>
          <a:xfrm>
            <a:off x="6400800" y="1371600"/>
            <a:ext cx="53035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371600"/>
            <a:ext cx="73152" cy="2011680"/>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1554480"/>
            <a:ext cx="548640" cy="457200"/>
          </a:xfrm>
          <a:prstGeom prst="rect">
            <a:avLst/>
          </a:prstGeom>
          <a:noFill/>
        </p:spPr>
        <p:txBody>
          <a:bodyPr wrap="square">
            <a:spAutoFit/>
          </a:bodyPr>
          <a:lstStyle/>
          <a:p>
            <a:pPr algn="ctr">
              <a:defRPr sz="3000" b="0">
                <a:solidFill>
                  <a:srgbClr val="242424"/>
                </a:solidFill>
                <a:latin typeface="Segoe UI"/>
              </a:defRPr>
            </a:pPr>
            <a:r>
              <a:t>🛠️</a:t>
            </a:r>
          </a:p>
        </p:txBody>
      </p:sp>
      <p:sp>
        <p:nvSpPr>
          <p:cNvPr id="12" name="TextBox 11"/>
          <p:cNvSpPr txBox="1"/>
          <p:nvPr/>
        </p:nvSpPr>
        <p:spPr>
          <a:xfrm>
            <a:off x="7315200" y="1554480"/>
            <a:ext cx="4114800" cy="457200"/>
          </a:xfrm>
          <a:prstGeom prst="rect">
            <a:avLst/>
          </a:prstGeom>
          <a:noFill/>
        </p:spPr>
        <p:txBody>
          <a:bodyPr wrap="square">
            <a:spAutoFit/>
          </a:bodyPr>
          <a:lstStyle/>
          <a:p>
            <a:pPr algn="l">
              <a:defRPr sz="2000" b="1">
                <a:solidFill>
                  <a:srgbClr val="D13438"/>
                </a:solidFill>
                <a:latin typeface="Segoe UI"/>
              </a:defRPr>
            </a:pPr>
            <a:r>
              <a:t>Harder to Troubleshoot</a:t>
            </a:r>
          </a:p>
        </p:txBody>
      </p:sp>
      <p:sp>
        <p:nvSpPr>
          <p:cNvPr id="13" name="TextBox 12"/>
          <p:cNvSpPr txBox="1"/>
          <p:nvPr/>
        </p:nvSpPr>
        <p:spPr>
          <a:xfrm>
            <a:off x="7315200" y="2103120"/>
            <a:ext cx="4114800" cy="1097280"/>
          </a:xfrm>
          <a:prstGeom prst="rect">
            <a:avLst/>
          </a:prstGeom>
          <a:noFill/>
        </p:spPr>
        <p:txBody>
          <a:bodyPr wrap="square">
            <a:spAutoFit/>
          </a:bodyPr>
          <a:lstStyle/>
          <a:p>
            <a:pPr algn="l">
              <a:defRPr sz="1400" b="0">
                <a:solidFill>
                  <a:srgbClr val="242424"/>
                </a:solidFill>
                <a:latin typeface="Segoe UI"/>
              </a:defRPr>
            </a:pPr>
            <a:r>
              <a:t>"Who has access?" becomes a detective game</a:t>
            </a:r>
            <a:br/>
            <a:r>
              <a:t>when scopes are scattered across folders and files.</a:t>
            </a:r>
          </a:p>
        </p:txBody>
      </p:sp>
      <p:sp>
        <p:nvSpPr>
          <p:cNvPr id="14" name="Rounded Rectangle 13"/>
          <p:cNvSpPr/>
          <p:nvPr/>
        </p:nvSpPr>
        <p:spPr>
          <a:xfrm>
            <a:off x="731520" y="3749039"/>
            <a:ext cx="53035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3749039"/>
            <a:ext cx="73152" cy="2011680"/>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931919"/>
            <a:ext cx="548640" cy="457200"/>
          </a:xfrm>
          <a:prstGeom prst="rect">
            <a:avLst/>
          </a:prstGeom>
          <a:noFill/>
        </p:spPr>
        <p:txBody>
          <a:bodyPr wrap="square">
            <a:spAutoFit/>
          </a:bodyPr>
          <a:lstStyle/>
          <a:p>
            <a:pPr algn="ctr">
              <a:defRPr sz="3000" b="0">
                <a:solidFill>
                  <a:srgbClr val="242424"/>
                </a:solidFill>
                <a:latin typeface="Segoe UI"/>
              </a:defRPr>
            </a:pPr>
            <a:r>
              <a:t>⚡</a:t>
            </a:r>
          </a:p>
        </p:txBody>
      </p:sp>
      <p:sp>
        <p:nvSpPr>
          <p:cNvPr id="17" name="TextBox 16"/>
          <p:cNvSpPr txBox="1"/>
          <p:nvPr/>
        </p:nvSpPr>
        <p:spPr>
          <a:xfrm>
            <a:off x="1645920" y="3931919"/>
            <a:ext cx="4114800" cy="457200"/>
          </a:xfrm>
          <a:prstGeom prst="rect">
            <a:avLst/>
          </a:prstGeom>
          <a:noFill/>
        </p:spPr>
        <p:txBody>
          <a:bodyPr wrap="square">
            <a:spAutoFit/>
          </a:bodyPr>
          <a:lstStyle/>
          <a:p>
            <a:pPr algn="l">
              <a:defRPr sz="2000" b="1">
                <a:solidFill>
                  <a:srgbClr val="D13438"/>
                </a:solidFill>
                <a:latin typeface="Segoe UI"/>
              </a:defRPr>
            </a:pPr>
            <a:r>
              <a:t>Performance Impact</a:t>
            </a:r>
          </a:p>
        </p:txBody>
      </p:sp>
      <p:sp>
        <p:nvSpPr>
          <p:cNvPr id="18" name="TextBox 17"/>
          <p:cNvSpPr txBox="1"/>
          <p:nvPr/>
        </p:nvSpPr>
        <p:spPr>
          <a:xfrm>
            <a:off x="1645920" y="4480559"/>
            <a:ext cx="4114800" cy="1097280"/>
          </a:xfrm>
          <a:prstGeom prst="rect">
            <a:avLst/>
          </a:prstGeom>
          <a:noFill/>
        </p:spPr>
        <p:txBody>
          <a:bodyPr wrap="square">
            <a:spAutoFit/>
          </a:bodyPr>
          <a:lstStyle/>
          <a:p>
            <a:pPr algn="l">
              <a:defRPr sz="1400" b="0">
                <a:solidFill>
                  <a:srgbClr val="242424"/>
                </a:solidFill>
                <a:latin typeface="Segoe UI"/>
              </a:defRPr>
            </a:pPr>
            <a:r>
              <a:t>Exceeding 5,000 unique scopes increases SQL</a:t>
            </a:r>
            <a:br/>
            <a:r>
              <a:t>round trips, degrading list view performance.</a:t>
            </a:r>
          </a:p>
        </p:txBody>
      </p:sp>
      <p:sp>
        <p:nvSpPr>
          <p:cNvPr id="19" name="Rounded Rectangle 18"/>
          <p:cNvSpPr/>
          <p:nvPr/>
        </p:nvSpPr>
        <p:spPr>
          <a:xfrm>
            <a:off x="6400800" y="3749039"/>
            <a:ext cx="53035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0" y="3749039"/>
            <a:ext cx="73152" cy="2011680"/>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0" y="3931919"/>
            <a:ext cx="548640" cy="457200"/>
          </a:xfrm>
          <a:prstGeom prst="rect">
            <a:avLst/>
          </a:prstGeom>
          <a:noFill/>
        </p:spPr>
        <p:txBody>
          <a:bodyPr wrap="square">
            <a:spAutoFit/>
          </a:bodyPr>
          <a:lstStyle/>
          <a:p>
            <a:pPr algn="ctr">
              <a:defRPr sz="3000" b="0">
                <a:solidFill>
                  <a:srgbClr val="242424"/>
                </a:solidFill>
                <a:latin typeface="Segoe UI"/>
              </a:defRPr>
            </a:pPr>
            <a:r>
              <a:t>❌</a:t>
            </a:r>
          </a:p>
        </p:txBody>
      </p:sp>
      <p:sp>
        <p:nvSpPr>
          <p:cNvPr id="22" name="TextBox 21"/>
          <p:cNvSpPr txBox="1"/>
          <p:nvPr/>
        </p:nvSpPr>
        <p:spPr>
          <a:xfrm>
            <a:off x="7315200" y="3931919"/>
            <a:ext cx="4114800" cy="457200"/>
          </a:xfrm>
          <a:prstGeom prst="rect">
            <a:avLst/>
          </a:prstGeom>
          <a:noFill/>
        </p:spPr>
        <p:txBody>
          <a:bodyPr wrap="square">
            <a:spAutoFit/>
          </a:bodyPr>
          <a:lstStyle/>
          <a:p>
            <a:pPr algn="l">
              <a:defRPr sz="2000" b="1">
                <a:solidFill>
                  <a:srgbClr val="D13438"/>
                </a:solidFill>
                <a:latin typeface="Segoe UI"/>
              </a:defRPr>
            </a:pPr>
            <a:r>
              <a:t>Easier to Misconfigure</a:t>
            </a:r>
          </a:p>
        </p:txBody>
      </p:sp>
      <p:sp>
        <p:nvSpPr>
          <p:cNvPr id="23" name="TextBox 22"/>
          <p:cNvSpPr txBox="1"/>
          <p:nvPr/>
        </p:nvSpPr>
        <p:spPr>
          <a:xfrm>
            <a:off x="7315200" y="4480559"/>
            <a:ext cx="4114800" cy="1097280"/>
          </a:xfrm>
          <a:prstGeom prst="rect">
            <a:avLst/>
          </a:prstGeom>
          <a:noFill/>
        </p:spPr>
        <p:txBody>
          <a:bodyPr wrap="square">
            <a:spAutoFit/>
          </a:bodyPr>
          <a:lstStyle/>
          <a:p>
            <a:pPr algn="l">
              <a:defRPr sz="1400" b="0">
                <a:solidFill>
                  <a:srgbClr val="242424"/>
                </a:solidFill>
                <a:latin typeface="Segoe UI"/>
              </a:defRPr>
            </a:pPr>
            <a:r>
              <a:t>Ad-hoc per-file permissions are often forgotten,</a:t>
            </a:r>
            <a:br/>
            <a:r>
              <a:t>leading to accidental data exposure or access loss.</a:t>
            </a:r>
          </a:p>
        </p:txBody>
      </p:sp>
      <p:sp>
        <p:nvSpPr>
          <p:cNvPr id="24" name="Rectangle 23"/>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4  |  Permissions and Collaboration Model</a:t>
            </a:r>
          </a:p>
        </p:txBody>
      </p:sp>
      <p:sp>
        <p:nvSpPr>
          <p:cNvPr id="26" name="TextBox 25"/>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7 / 28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000" b="1">
                <a:solidFill>
                  <a:srgbClr val="1B1B2F"/>
                </a:solidFill>
                <a:latin typeface="Segoe UI"/>
              </a:defRPr>
            </a:pPr>
            <a:r>
              <a:t>✅  Best Practices: Minimizing Permission Scopes</a:t>
            </a:r>
          </a:p>
        </p:txBody>
      </p:sp>
      <p:sp>
        <p:nvSpPr>
          <p:cNvPr id="4" name="Rounded Rectangle 3"/>
          <p:cNvSpPr/>
          <p:nvPr/>
        </p:nvSpPr>
        <p:spPr>
          <a:xfrm>
            <a:off x="731520" y="1371600"/>
            <a:ext cx="5303520" cy="12801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1691640"/>
            <a:ext cx="502920" cy="502920"/>
          </a:xfrm>
          <a:prstGeom prst="roundRect">
            <a:avLst>
              <a:gd name="adj" fmla="val 5000"/>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1800" b="1">
                <a:solidFill>
                  <a:srgbClr val="FFFFFF"/>
                </a:solidFill>
                <a:latin typeface="Segoe UI"/>
              </a:defRPr>
            </a:pPr>
            <a:r>
              <a:t>1</a:t>
            </a:r>
          </a:p>
        </p:txBody>
      </p:sp>
      <p:sp>
        <p:nvSpPr>
          <p:cNvPr id="6" name="TextBox 5"/>
          <p:cNvSpPr txBox="1"/>
          <p:nvPr/>
        </p:nvSpPr>
        <p:spPr>
          <a:xfrm>
            <a:off x="1645920" y="1508760"/>
            <a:ext cx="4114800" cy="457200"/>
          </a:xfrm>
          <a:prstGeom prst="rect">
            <a:avLst/>
          </a:prstGeom>
          <a:noFill/>
        </p:spPr>
        <p:txBody>
          <a:bodyPr wrap="square">
            <a:spAutoFit/>
          </a:bodyPr>
          <a:lstStyle/>
          <a:p>
            <a:pPr algn="l">
              <a:defRPr sz="1800" b="1">
                <a:solidFill>
                  <a:srgbClr val="242424"/>
                </a:solidFill>
                <a:latin typeface="Segoe UI"/>
              </a:defRPr>
            </a:pPr>
            <a:r>
              <a:t>Leverage inheritance</a:t>
            </a:r>
          </a:p>
        </p:txBody>
      </p:sp>
      <p:sp>
        <p:nvSpPr>
          <p:cNvPr id="7" name="TextBox 6"/>
          <p:cNvSpPr txBox="1"/>
          <p:nvPr/>
        </p:nvSpPr>
        <p:spPr>
          <a:xfrm>
            <a:off x="1645920" y="1965960"/>
            <a:ext cx="4114800" cy="548640"/>
          </a:xfrm>
          <a:prstGeom prst="rect">
            <a:avLst/>
          </a:prstGeom>
          <a:noFill/>
        </p:spPr>
        <p:txBody>
          <a:bodyPr wrap="square">
            <a:spAutoFit/>
          </a:bodyPr>
          <a:lstStyle/>
          <a:p>
            <a:pPr algn="l">
              <a:defRPr sz="1300" b="0">
                <a:solidFill>
                  <a:srgbClr val="606060"/>
                </a:solidFill>
                <a:latin typeface="Segoe UI"/>
              </a:defRPr>
            </a:pPr>
            <a:r>
              <a:t>Let children inherit from parent — don't break unless necessary</a:t>
            </a:r>
          </a:p>
        </p:txBody>
      </p:sp>
      <p:sp>
        <p:nvSpPr>
          <p:cNvPr id="8" name="Rounded Rectangle 7"/>
          <p:cNvSpPr/>
          <p:nvPr/>
        </p:nvSpPr>
        <p:spPr>
          <a:xfrm>
            <a:off x="6400800" y="1371600"/>
            <a:ext cx="5303520" cy="12801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0" y="1691640"/>
            <a:ext cx="502920" cy="502920"/>
          </a:xfrm>
          <a:prstGeom prst="roundRect">
            <a:avLst>
              <a:gd name="adj" fmla="val 5000"/>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1800" b="1">
                <a:solidFill>
                  <a:srgbClr val="FFFFFF"/>
                </a:solidFill>
                <a:latin typeface="Segoe UI"/>
              </a:defRPr>
            </a:pPr>
            <a:r>
              <a:t>2</a:t>
            </a:r>
          </a:p>
        </p:txBody>
      </p:sp>
      <p:sp>
        <p:nvSpPr>
          <p:cNvPr id="10" name="TextBox 9"/>
          <p:cNvSpPr txBox="1"/>
          <p:nvPr/>
        </p:nvSpPr>
        <p:spPr>
          <a:xfrm>
            <a:off x="7315200" y="1508760"/>
            <a:ext cx="4114800" cy="457200"/>
          </a:xfrm>
          <a:prstGeom prst="rect">
            <a:avLst/>
          </a:prstGeom>
          <a:noFill/>
        </p:spPr>
        <p:txBody>
          <a:bodyPr wrap="square">
            <a:spAutoFit/>
          </a:bodyPr>
          <a:lstStyle/>
          <a:p>
            <a:pPr algn="l">
              <a:defRPr sz="1800" b="1">
                <a:solidFill>
                  <a:srgbClr val="242424"/>
                </a:solidFill>
                <a:latin typeface="Segoe UI"/>
              </a:defRPr>
            </a:pPr>
            <a:r>
              <a:t>Share folders, not files</a:t>
            </a:r>
          </a:p>
        </p:txBody>
      </p:sp>
      <p:sp>
        <p:nvSpPr>
          <p:cNvPr id="11" name="TextBox 10"/>
          <p:cNvSpPr txBox="1"/>
          <p:nvPr/>
        </p:nvSpPr>
        <p:spPr>
          <a:xfrm>
            <a:off x="7315200" y="1965960"/>
            <a:ext cx="4114800" cy="548640"/>
          </a:xfrm>
          <a:prstGeom prst="rect">
            <a:avLst/>
          </a:prstGeom>
          <a:noFill/>
        </p:spPr>
        <p:txBody>
          <a:bodyPr wrap="square">
            <a:spAutoFit/>
          </a:bodyPr>
          <a:lstStyle/>
          <a:p>
            <a:pPr algn="l">
              <a:defRPr sz="1300" b="0">
                <a:solidFill>
                  <a:srgbClr val="606060"/>
                </a:solidFill>
                <a:latin typeface="Segoe UI"/>
              </a:defRPr>
            </a:pPr>
            <a:r>
              <a:t>One shared folder = 1 scope; 10K individual files = 10K scopes</a:t>
            </a:r>
          </a:p>
        </p:txBody>
      </p:sp>
      <p:sp>
        <p:nvSpPr>
          <p:cNvPr id="12" name="Rounded Rectangle 11"/>
          <p:cNvSpPr/>
          <p:nvPr/>
        </p:nvSpPr>
        <p:spPr>
          <a:xfrm>
            <a:off x="731520" y="2926080"/>
            <a:ext cx="5303520" cy="12801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14400" y="3246120"/>
            <a:ext cx="502920" cy="502920"/>
          </a:xfrm>
          <a:prstGeom prst="roundRect">
            <a:avLst>
              <a:gd name="adj" fmla="val 5000"/>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1800" b="1">
                <a:solidFill>
                  <a:srgbClr val="FFFFFF"/>
                </a:solidFill>
                <a:latin typeface="Segoe UI"/>
              </a:defRPr>
            </a:pPr>
            <a:r>
              <a:t>3</a:t>
            </a:r>
          </a:p>
        </p:txBody>
      </p:sp>
      <p:sp>
        <p:nvSpPr>
          <p:cNvPr id="14" name="TextBox 13"/>
          <p:cNvSpPr txBox="1"/>
          <p:nvPr/>
        </p:nvSpPr>
        <p:spPr>
          <a:xfrm>
            <a:off x="1645920" y="3063240"/>
            <a:ext cx="4114800" cy="457200"/>
          </a:xfrm>
          <a:prstGeom prst="rect">
            <a:avLst/>
          </a:prstGeom>
          <a:noFill/>
        </p:spPr>
        <p:txBody>
          <a:bodyPr wrap="square">
            <a:spAutoFit/>
          </a:bodyPr>
          <a:lstStyle/>
          <a:p>
            <a:pPr algn="l">
              <a:defRPr sz="1800" b="1">
                <a:solidFill>
                  <a:srgbClr val="242424"/>
                </a:solidFill>
                <a:latin typeface="Segoe UI"/>
              </a:defRPr>
            </a:pPr>
            <a:r>
              <a:t>Use groups, not individuals</a:t>
            </a:r>
          </a:p>
        </p:txBody>
      </p:sp>
      <p:sp>
        <p:nvSpPr>
          <p:cNvPr id="15" name="TextBox 14"/>
          <p:cNvSpPr txBox="1"/>
          <p:nvPr/>
        </p:nvSpPr>
        <p:spPr>
          <a:xfrm>
            <a:off x="1645920" y="3520440"/>
            <a:ext cx="4114800" cy="548640"/>
          </a:xfrm>
          <a:prstGeom prst="rect">
            <a:avLst/>
          </a:prstGeom>
          <a:noFill/>
        </p:spPr>
        <p:txBody>
          <a:bodyPr wrap="square">
            <a:spAutoFit/>
          </a:bodyPr>
          <a:lstStyle/>
          <a:p>
            <a:pPr algn="l">
              <a:defRPr sz="1300" b="0">
                <a:solidFill>
                  <a:srgbClr val="606060"/>
                </a:solidFill>
                <a:latin typeface="Segoe UI"/>
              </a:defRPr>
            </a:pPr>
            <a:r>
              <a:t>SharePoint groups + Entra ID groups keep ACLs clean</a:t>
            </a:r>
          </a:p>
        </p:txBody>
      </p:sp>
      <p:sp>
        <p:nvSpPr>
          <p:cNvPr id="16" name="Rounded Rectangle 15"/>
          <p:cNvSpPr/>
          <p:nvPr/>
        </p:nvSpPr>
        <p:spPr>
          <a:xfrm>
            <a:off x="6400800" y="2926080"/>
            <a:ext cx="5303520" cy="12801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83680" y="3246120"/>
            <a:ext cx="502920" cy="502920"/>
          </a:xfrm>
          <a:prstGeom prst="roundRect">
            <a:avLst>
              <a:gd name="adj" fmla="val 5000"/>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1800" b="1">
                <a:solidFill>
                  <a:srgbClr val="FFFFFF"/>
                </a:solidFill>
                <a:latin typeface="Segoe UI"/>
              </a:defRPr>
            </a:pPr>
            <a:r>
              <a:t>4</a:t>
            </a:r>
          </a:p>
        </p:txBody>
      </p:sp>
      <p:sp>
        <p:nvSpPr>
          <p:cNvPr id="18" name="TextBox 17"/>
          <p:cNvSpPr txBox="1"/>
          <p:nvPr/>
        </p:nvSpPr>
        <p:spPr>
          <a:xfrm>
            <a:off x="7315200" y="3063240"/>
            <a:ext cx="4114800" cy="457200"/>
          </a:xfrm>
          <a:prstGeom prst="rect">
            <a:avLst/>
          </a:prstGeom>
          <a:noFill/>
        </p:spPr>
        <p:txBody>
          <a:bodyPr wrap="square">
            <a:spAutoFit/>
          </a:bodyPr>
          <a:lstStyle/>
          <a:p>
            <a:pPr algn="l">
              <a:defRPr sz="1800" b="1">
                <a:solidFill>
                  <a:srgbClr val="242424"/>
                </a:solidFill>
                <a:latin typeface="Segoe UI"/>
              </a:defRPr>
            </a:pPr>
            <a:r>
              <a:t>Share large folders early</a:t>
            </a:r>
          </a:p>
        </p:txBody>
      </p:sp>
      <p:sp>
        <p:nvSpPr>
          <p:cNvPr id="19" name="TextBox 18"/>
          <p:cNvSpPr txBox="1"/>
          <p:nvPr/>
        </p:nvSpPr>
        <p:spPr>
          <a:xfrm>
            <a:off x="7315200" y="3520440"/>
            <a:ext cx="4114800" cy="548640"/>
          </a:xfrm>
          <a:prstGeom prst="rect">
            <a:avLst/>
          </a:prstGeom>
          <a:noFill/>
        </p:spPr>
        <p:txBody>
          <a:bodyPr wrap="square">
            <a:spAutoFit/>
          </a:bodyPr>
          <a:lstStyle/>
          <a:p>
            <a:pPr algn="l">
              <a:defRPr sz="1300" b="0">
                <a:solidFill>
                  <a:srgbClr val="606060"/>
                </a:solidFill>
                <a:latin typeface="Segoe UI"/>
              </a:defRPr>
            </a:pPr>
            <a:r>
              <a:t>Folders with &gt;100K items cannot break inheritance later</a:t>
            </a:r>
          </a:p>
        </p:txBody>
      </p:sp>
      <p:sp>
        <p:nvSpPr>
          <p:cNvPr id="20" name="Rounded Rectangle 19"/>
          <p:cNvSpPr/>
          <p:nvPr/>
        </p:nvSpPr>
        <p:spPr>
          <a:xfrm>
            <a:off x="731520" y="4480560"/>
            <a:ext cx="5303520" cy="12801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4400" y="4800600"/>
            <a:ext cx="502920" cy="502920"/>
          </a:xfrm>
          <a:prstGeom prst="roundRect">
            <a:avLst>
              <a:gd name="adj" fmla="val 5000"/>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1800" b="1">
                <a:solidFill>
                  <a:srgbClr val="FFFFFF"/>
                </a:solidFill>
                <a:latin typeface="Segoe UI"/>
              </a:defRPr>
            </a:pPr>
            <a:r>
              <a:t>5</a:t>
            </a:r>
          </a:p>
        </p:txBody>
      </p:sp>
      <p:sp>
        <p:nvSpPr>
          <p:cNvPr id="22" name="TextBox 21"/>
          <p:cNvSpPr txBox="1"/>
          <p:nvPr/>
        </p:nvSpPr>
        <p:spPr>
          <a:xfrm>
            <a:off x="1645920" y="4617720"/>
            <a:ext cx="4114800" cy="457200"/>
          </a:xfrm>
          <a:prstGeom prst="rect">
            <a:avLst/>
          </a:prstGeom>
          <a:noFill/>
        </p:spPr>
        <p:txBody>
          <a:bodyPr wrap="square">
            <a:spAutoFit/>
          </a:bodyPr>
          <a:lstStyle/>
          <a:p>
            <a:pPr algn="l">
              <a:defRPr sz="1800" b="1">
                <a:solidFill>
                  <a:srgbClr val="242424"/>
                </a:solidFill>
                <a:latin typeface="Segoe UI"/>
              </a:defRPr>
            </a:pPr>
            <a:r>
              <a:t>Regular audits</a:t>
            </a:r>
          </a:p>
        </p:txBody>
      </p:sp>
      <p:sp>
        <p:nvSpPr>
          <p:cNvPr id="23" name="TextBox 22"/>
          <p:cNvSpPr txBox="1"/>
          <p:nvPr/>
        </p:nvSpPr>
        <p:spPr>
          <a:xfrm>
            <a:off x="1645920" y="5074920"/>
            <a:ext cx="4114800" cy="548640"/>
          </a:xfrm>
          <a:prstGeom prst="rect">
            <a:avLst/>
          </a:prstGeom>
          <a:noFill/>
        </p:spPr>
        <p:txBody>
          <a:bodyPr wrap="square">
            <a:spAutoFit/>
          </a:bodyPr>
          <a:lstStyle/>
          <a:p>
            <a:pPr algn="l">
              <a:defRPr sz="1300" b="0">
                <a:solidFill>
                  <a:srgbClr val="606060"/>
                </a:solidFill>
                <a:latin typeface="Segoe UI"/>
              </a:defRPr>
            </a:pPr>
            <a:r>
              <a:t>Review and clean up unique scopes and stale sharing links</a:t>
            </a:r>
          </a:p>
        </p:txBody>
      </p:sp>
      <p:sp>
        <p:nvSpPr>
          <p:cNvPr id="24" name="Rounded Rectangle 23"/>
          <p:cNvSpPr/>
          <p:nvPr/>
        </p:nvSpPr>
        <p:spPr>
          <a:xfrm>
            <a:off x="6400800" y="4480560"/>
            <a:ext cx="5303520" cy="12801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583680" y="4800600"/>
            <a:ext cx="502920" cy="502920"/>
          </a:xfrm>
          <a:prstGeom prst="roundRect">
            <a:avLst>
              <a:gd name="adj" fmla="val 5000"/>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1800" b="1">
                <a:solidFill>
                  <a:srgbClr val="FFFFFF"/>
                </a:solidFill>
                <a:latin typeface="Segoe UI"/>
              </a:defRPr>
            </a:pPr>
            <a:r>
              <a:t>6</a:t>
            </a:r>
          </a:p>
        </p:txBody>
      </p:sp>
      <p:sp>
        <p:nvSpPr>
          <p:cNvPr id="26" name="TextBox 25"/>
          <p:cNvSpPr txBox="1"/>
          <p:nvPr/>
        </p:nvSpPr>
        <p:spPr>
          <a:xfrm>
            <a:off x="7315200" y="4617720"/>
            <a:ext cx="4114800" cy="457200"/>
          </a:xfrm>
          <a:prstGeom prst="rect">
            <a:avLst/>
          </a:prstGeom>
          <a:noFill/>
        </p:spPr>
        <p:txBody>
          <a:bodyPr wrap="square">
            <a:spAutoFit/>
          </a:bodyPr>
          <a:lstStyle/>
          <a:p>
            <a:pPr algn="l">
              <a:defRPr sz="1800" b="1">
                <a:solidFill>
                  <a:srgbClr val="242424"/>
                </a:solidFill>
                <a:latin typeface="Segoe UI"/>
              </a:defRPr>
            </a:pPr>
            <a:r>
              <a:t>Design boundaries first</a:t>
            </a:r>
          </a:p>
        </p:txBody>
      </p:sp>
      <p:sp>
        <p:nvSpPr>
          <p:cNvPr id="27" name="TextBox 26"/>
          <p:cNvSpPr txBox="1"/>
          <p:nvPr/>
        </p:nvSpPr>
        <p:spPr>
          <a:xfrm>
            <a:off x="7315200" y="5074920"/>
            <a:ext cx="4114800" cy="548640"/>
          </a:xfrm>
          <a:prstGeom prst="rect">
            <a:avLst/>
          </a:prstGeom>
          <a:noFill/>
        </p:spPr>
        <p:txBody>
          <a:bodyPr wrap="square">
            <a:spAutoFit/>
          </a:bodyPr>
          <a:lstStyle/>
          <a:p>
            <a:pPr algn="l">
              <a:defRPr sz="1300" b="0">
                <a:solidFill>
                  <a:srgbClr val="606060"/>
                </a:solidFill>
                <a:latin typeface="Segoe UI"/>
              </a:defRPr>
            </a:pPr>
            <a:r>
              <a:t>Decide site vs library vs folder scope before content arrives</a:t>
            </a:r>
          </a:p>
        </p:txBody>
      </p:sp>
      <p:sp>
        <p:nvSpPr>
          <p:cNvPr id="28" name="Rectangle 27"/>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4  |  Permissions and Collaboration Model</a:t>
            </a:r>
          </a:p>
        </p:txBody>
      </p:sp>
      <p:sp>
        <p:nvSpPr>
          <p:cNvPr id="30" name="TextBox 29"/>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8 / 28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2926080"/>
            <a:ext cx="228600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058400" cy="1097280"/>
          </a:xfrm>
          <a:prstGeom prst="rect">
            <a:avLst/>
          </a:prstGeom>
          <a:noFill/>
        </p:spPr>
        <p:txBody>
          <a:bodyPr wrap="square">
            <a:spAutoFit/>
          </a:bodyPr>
          <a:lstStyle/>
          <a:p>
            <a:pPr algn="ctr">
              <a:defRPr sz="6000" b="0">
                <a:solidFill>
                  <a:srgbClr val="00B294"/>
                </a:solidFill>
                <a:latin typeface="Segoe UI"/>
              </a:defRPr>
            </a:pPr>
            <a:r>
              <a:t>👥</a:t>
            </a:r>
          </a:p>
        </p:txBody>
      </p:sp>
      <p:sp>
        <p:nvSpPr>
          <p:cNvPr id="4" name="TextBox 3"/>
          <p:cNvSpPr txBox="1"/>
          <p:nvPr/>
        </p:nvSpPr>
        <p:spPr>
          <a:xfrm>
            <a:off x="914400" y="3200400"/>
            <a:ext cx="10058400" cy="1097280"/>
          </a:xfrm>
          <a:prstGeom prst="rect">
            <a:avLst/>
          </a:prstGeom>
          <a:noFill/>
        </p:spPr>
        <p:txBody>
          <a:bodyPr wrap="square">
            <a:spAutoFit/>
          </a:bodyPr>
          <a:lstStyle/>
          <a:p>
            <a:pPr algn="ctr">
              <a:defRPr sz="4000" b="1">
                <a:solidFill>
                  <a:srgbClr val="FFFFFF"/>
                </a:solidFill>
                <a:latin typeface="Segoe UI"/>
              </a:defRPr>
            </a:pPr>
            <a:r>
              <a:t>Groups and Site Types</a:t>
            </a:r>
          </a:p>
        </p:txBody>
      </p:sp>
      <p:sp>
        <p:nvSpPr>
          <p:cNvPr id="5" name="TextBox 4"/>
          <p:cNvSpPr txBox="1"/>
          <p:nvPr/>
        </p:nvSpPr>
        <p:spPr>
          <a:xfrm>
            <a:off x="1371600" y="4389120"/>
            <a:ext cx="9144000" cy="731520"/>
          </a:xfrm>
          <a:prstGeom prst="rect">
            <a:avLst/>
          </a:prstGeom>
          <a:noFill/>
        </p:spPr>
        <p:txBody>
          <a:bodyPr wrap="square">
            <a:spAutoFit/>
          </a:bodyPr>
          <a:lstStyle/>
          <a:p>
            <a:pPr algn="ctr">
              <a:defRPr sz="1800" b="0">
                <a:solidFill>
                  <a:srgbClr val="BBBBBB"/>
                </a:solidFill>
                <a:latin typeface="Segoe UI"/>
              </a:defRPr>
            </a:pPr>
            <a:r>
              <a:t>SharePoint Groups · M365 Groups · Teams Connections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Default SharePoint Groups</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Three groups created automatically with every site</a:t>
            </a:r>
          </a:p>
        </p:txBody>
      </p:sp>
      <p:sp>
        <p:nvSpPr>
          <p:cNvPr id="5" name="Rounded Rectangle 4"/>
          <p:cNvSpPr/>
          <p:nvPr/>
        </p:nvSpPr>
        <p:spPr>
          <a:xfrm>
            <a:off x="731520" y="1645920"/>
            <a:ext cx="3474720" cy="4114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347472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74519"/>
            <a:ext cx="2926080" cy="457200"/>
          </a:xfrm>
          <a:prstGeom prst="rect">
            <a:avLst/>
          </a:prstGeom>
          <a:noFill/>
        </p:spPr>
        <p:txBody>
          <a:bodyPr wrap="square">
            <a:spAutoFit/>
          </a:bodyPr>
          <a:lstStyle/>
          <a:p>
            <a:pPr algn="ctr">
              <a:defRPr sz="2400" b="1">
                <a:solidFill>
                  <a:srgbClr val="0078D4"/>
                </a:solidFill>
                <a:latin typeface="Segoe UI"/>
              </a:defRPr>
            </a:pPr>
            <a:r>
              <a:t>👑  Owners</a:t>
            </a:r>
          </a:p>
        </p:txBody>
      </p:sp>
      <p:sp>
        <p:nvSpPr>
          <p:cNvPr id="8" name="Rounded Rectangle 7"/>
          <p:cNvSpPr/>
          <p:nvPr/>
        </p:nvSpPr>
        <p:spPr>
          <a:xfrm>
            <a:off x="1645920" y="2468880"/>
            <a:ext cx="1645920" cy="36576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latin typeface="Segoe UI"/>
              </a:defRPr>
            </a:pPr>
            <a:r>
              <a:t>Full Control</a:t>
            </a:r>
          </a:p>
        </p:txBody>
      </p:sp>
      <p:sp>
        <p:nvSpPr>
          <p:cNvPr id="9" name="TextBox 8"/>
          <p:cNvSpPr txBox="1"/>
          <p:nvPr/>
        </p:nvSpPr>
        <p:spPr>
          <a:xfrm>
            <a:off x="1005840" y="3017520"/>
            <a:ext cx="3017520" cy="2560320"/>
          </a:xfrm>
          <a:prstGeom prst="rect">
            <a:avLst/>
          </a:prstGeom>
          <a:noFill/>
        </p:spPr>
        <p:txBody>
          <a:bodyPr wrap="square">
            <a:spAutoFit/>
          </a:bodyPr>
          <a:lstStyle/>
          <a:p>
            <a:pPr>
              <a:spcAft>
                <a:spcPts val="600"/>
              </a:spcAft>
              <a:defRPr sz="1300">
                <a:solidFill>
                  <a:srgbClr val="242424"/>
                </a:solidFill>
                <a:latin typeface="Segoe UI"/>
              </a:defRPr>
            </a:pPr>
            <a:r>
              <a:t>• Manage site settings &amp; permissions</a:t>
            </a:r>
          </a:p>
          <a:p>
            <a:pPr>
              <a:spcAft>
                <a:spcPts val="600"/>
              </a:spcAft>
              <a:defRPr sz="1300">
                <a:solidFill>
                  <a:srgbClr val="242424"/>
                </a:solidFill>
                <a:latin typeface="Segoe UI"/>
              </a:defRPr>
            </a:pPr>
            <a:r>
              <a:t>• Add/remove members from all groups</a:t>
            </a:r>
          </a:p>
          <a:p>
            <a:pPr>
              <a:spcAft>
                <a:spcPts val="600"/>
              </a:spcAft>
              <a:defRPr sz="1300">
                <a:solidFill>
                  <a:srgbClr val="242424"/>
                </a:solidFill>
                <a:latin typeface="Segoe UI"/>
              </a:defRPr>
            </a:pPr>
            <a:r>
              <a:t>• Create subsites and manage navigation</a:t>
            </a:r>
          </a:p>
          <a:p>
            <a:pPr>
              <a:spcAft>
                <a:spcPts val="600"/>
              </a:spcAft>
              <a:defRPr sz="1300">
                <a:solidFill>
                  <a:srgbClr val="242424"/>
                </a:solidFill>
                <a:latin typeface="Segoe UI"/>
              </a:defRPr>
            </a:pPr>
            <a:r>
              <a:t>• Delete the site</a:t>
            </a:r>
          </a:p>
        </p:txBody>
      </p:sp>
      <p:sp>
        <p:nvSpPr>
          <p:cNvPr id="10" name="Rounded Rectangle 9"/>
          <p:cNvSpPr/>
          <p:nvPr/>
        </p:nvSpPr>
        <p:spPr>
          <a:xfrm>
            <a:off x="4480559" y="1645920"/>
            <a:ext cx="3474720" cy="4114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80559" y="1645920"/>
            <a:ext cx="347472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79" y="1874519"/>
            <a:ext cx="2926080" cy="457200"/>
          </a:xfrm>
          <a:prstGeom prst="rect">
            <a:avLst/>
          </a:prstGeom>
          <a:noFill/>
        </p:spPr>
        <p:txBody>
          <a:bodyPr wrap="square">
            <a:spAutoFit/>
          </a:bodyPr>
          <a:lstStyle/>
          <a:p>
            <a:pPr algn="ctr">
              <a:defRPr sz="2400" b="1">
                <a:solidFill>
                  <a:srgbClr val="00B294"/>
                </a:solidFill>
                <a:latin typeface="Segoe UI"/>
              </a:defRPr>
            </a:pPr>
            <a:r>
              <a:t>✏️  Members</a:t>
            </a:r>
          </a:p>
        </p:txBody>
      </p:sp>
      <p:sp>
        <p:nvSpPr>
          <p:cNvPr id="13" name="Rounded Rectangle 12"/>
          <p:cNvSpPr/>
          <p:nvPr/>
        </p:nvSpPr>
        <p:spPr>
          <a:xfrm>
            <a:off x="5394959" y="2468880"/>
            <a:ext cx="1645920" cy="365760"/>
          </a:xfrm>
          <a:prstGeom prst="roundRect">
            <a:avLst>
              <a:gd name="adj" fmla="val 5000"/>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latin typeface="Segoe UI"/>
              </a:defRPr>
            </a:pPr>
            <a:r>
              <a:t>Edit</a:t>
            </a:r>
          </a:p>
        </p:txBody>
      </p:sp>
      <p:sp>
        <p:nvSpPr>
          <p:cNvPr id="14" name="TextBox 13"/>
          <p:cNvSpPr txBox="1"/>
          <p:nvPr/>
        </p:nvSpPr>
        <p:spPr>
          <a:xfrm>
            <a:off x="4754879" y="3017520"/>
            <a:ext cx="3017520" cy="2560320"/>
          </a:xfrm>
          <a:prstGeom prst="rect">
            <a:avLst/>
          </a:prstGeom>
          <a:noFill/>
        </p:spPr>
        <p:txBody>
          <a:bodyPr wrap="square">
            <a:spAutoFit/>
          </a:bodyPr>
          <a:lstStyle/>
          <a:p>
            <a:pPr>
              <a:spcAft>
                <a:spcPts val="600"/>
              </a:spcAft>
              <a:defRPr sz="1300">
                <a:solidFill>
                  <a:srgbClr val="242424"/>
                </a:solidFill>
                <a:latin typeface="Segoe UI"/>
              </a:defRPr>
            </a:pPr>
            <a:r>
              <a:t>• Add/edit/delete content in libraries &amp; lists</a:t>
            </a:r>
          </a:p>
          <a:p>
            <a:pPr>
              <a:spcAft>
                <a:spcPts val="600"/>
              </a:spcAft>
              <a:defRPr sz="1300">
                <a:solidFill>
                  <a:srgbClr val="242424"/>
                </a:solidFill>
                <a:latin typeface="Segoe UI"/>
              </a:defRPr>
            </a:pPr>
            <a:r>
              <a:t>• Create document libraries and lists</a:t>
            </a:r>
          </a:p>
          <a:p>
            <a:pPr>
              <a:spcAft>
                <a:spcPts val="600"/>
              </a:spcAft>
              <a:defRPr sz="1300">
                <a:solidFill>
                  <a:srgbClr val="242424"/>
                </a:solidFill>
                <a:latin typeface="Segoe UI"/>
              </a:defRPr>
            </a:pPr>
            <a:r>
              <a:t>• Cannot manage site settings</a:t>
            </a:r>
          </a:p>
          <a:p>
            <a:pPr>
              <a:spcAft>
                <a:spcPts val="600"/>
              </a:spcAft>
              <a:defRPr sz="1300">
                <a:solidFill>
                  <a:srgbClr val="242424"/>
                </a:solidFill>
                <a:latin typeface="Segoe UI"/>
              </a:defRPr>
            </a:pPr>
            <a:r>
              <a:t>• Cannot change permissions</a:t>
            </a:r>
          </a:p>
        </p:txBody>
      </p:sp>
      <p:sp>
        <p:nvSpPr>
          <p:cNvPr id="15" name="Rounded Rectangle 14"/>
          <p:cNvSpPr/>
          <p:nvPr/>
        </p:nvSpPr>
        <p:spPr>
          <a:xfrm>
            <a:off x="8229600" y="1645920"/>
            <a:ext cx="3474720" cy="4114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0" y="1645920"/>
            <a:ext cx="3474720"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0" y="1874519"/>
            <a:ext cx="2926080" cy="457200"/>
          </a:xfrm>
          <a:prstGeom prst="rect">
            <a:avLst/>
          </a:prstGeom>
          <a:noFill/>
        </p:spPr>
        <p:txBody>
          <a:bodyPr wrap="square">
            <a:spAutoFit/>
          </a:bodyPr>
          <a:lstStyle/>
          <a:p>
            <a:pPr algn="ctr">
              <a:defRPr sz="2400" b="1">
                <a:solidFill>
                  <a:srgbClr val="6B69D6"/>
                </a:solidFill>
                <a:latin typeface="Segoe UI"/>
              </a:defRPr>
            </a:pPr>
            <a:r>
              <a:t>👁️  Visitors</a:t>
            </a:r>
          </a:p>
        </p:txBody>
      </p:sp>
      <p:sp>
        <p:nvSpPr>
          <p:cNvPr id="18" name="Rounded Rectangle 17"/>
          <p:cNvSpPr/>
          <p:nvPr/>
        </p:nvSpPr>
        <p:spPr>
          <a:xfrm>
            <a:off x="9144000" y="2468880"/>
            <a:ext cx="1645920" cy="36576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300" b="1">
                <a:solidFill>
                  <a:srgbClr val="FFFFFF"/>
                </a:solidFill>
                <a:latin typeface="Segoe UI"/>
              </a:defRPr>
            </a:pPr>
            <a:r>
              <a:t>Read</a:t>
            </a:r>
          </a:p>
        </p:txBody>
      </p:sp>
      <p:sp>
        <p:nvSpPr>
          <p:cNvPr id="19" name="TextBox 18"/>
          <p:cNvSpPr txBox="1"/>
          <p:nvPr/>
        </p:nvSpPr>
        <p:spPr>
          <a:xfrm>
            <a:off x="8503920" y="3017520"/>
            <a:ext cx="3017520" cy="2560320"/>
          </a:xfrm>
          <a:prstGeom prst="rect">
            <a:avLst/>
          </a:prstGeom>
          <a:noFill/>
        </p:spPr>
        <p:txBody>
          <a:bodyPr wrap="square">
            <a:spAutoFit/>
          </a:bodyPr>
          <a:lstStyle/>
          <a:p>
            <a:pPr>
              <a:spcAft>
                <a:spcPts val="600"/>
              </a:spcAft>
              <a:defRPr sz="1300">
                <a:solidFill>
                  <a:srgbClr val="242424"/>
                </a:solidFill>
                <a:latin typeface="Segoe UI"/>
              </a:defRPr>
            </a:pPr>
            <a:r>
              <a:t>• View content only</a:t>
            </a:r>
          </a:p>
          <a:p>
            <a:pPr>
              <a:spcAft>
                <a:spcPts val="600"/>
              </a:spcAft>
              <a:defRPr sz="1300">
                <a:solidFill>
                  <a:srgbClr val="242424"/>
                </a:solidFill>
                <a:latin typeface="Segoe UI"/>
              </a:defRPr>
            </a:pPr>
            <a:r>
              <a:t>• Cannot add, edit, or delete items</a:t>
            </a:r>
          </a:p>
          <a:p>
            <a:pPr>
              <a:spcAft>
                <a:spcPts val="600"/>
              </a:spcAft>
              <a:defRPr sz="1300">
                <a:solidFill>
                  <a:srgbClr val="242424"/>
                </a:solidFill>
                <a:latin typeface="Segoe UI"/>
              </a:defRPr>
            </a:pPr>
            <a:r>
              <a:t>• Cannot change site settings</a:t>
            </a:r>
          </a:p>
          <a:p>
            <a:pPr>
              <a:spcAft>
                <a:spcPts val="600"/>
              </a:spcAft>
              <a:defRPr sz="1300">
                <a:solidFill>
                  <a:srgbClr val="242424"/>
                </a:solidFill>
                <a:latin typeface="Segoe UI"/>
              </a:defRPr>
            </a:pPr>
            <a:r>
              <a:t>• Ideal for broad read-only access</a:t>
            </a:r>
          </a:p>
        </p:txBody>
      </p:sp>
      <p:sp>
        <p:nvSpPr>
          <p:cNvPr id="20" name="Rectangle 19"/>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4  |  Permissions and Collaboration Model</a:t>
            </a:r>
          </a:p>
        </p:txBody>
      </p:sp>
      <p:sp>
        <p:nvSpPr>
          <p:cNvPr id="22" name="TextBox 21"/>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10 / 28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000" b="1">
                <a:solidFill>
                  <a:srgbClr val="1B1B2F"/>
                </a:solidFill>
                <a:latin typeface="Segoe UI"/>
              </a:defRPr>
            </a:pPr>
            <a:r>
              <a:t>SharePoint Groups vs M365 Group-Connected</a:t>
            </a:r>
          </a:p>
        </p:txBody>
      </p:sp>
      <p:sp>
        <p:nvSpPr>
          <p:cNvPr id="4" name="Rounded Rectangle 3"/>
          <p:cNvSpPr/>
          <p:nvPr/>
        </p:nvSpPr>
        <p:spPr>
          <a:xfrm>
            <a:off x="731520" y="1371600"/>
            <a:ext cx="5120640" cy="43891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371600"/>
            <a:ext cx="512064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754880" cy="457200"/>
          </a:xfrm>
          <a:prstGeom prst="rect">
            <a:avLst/>
          </a:prstGeom>
          <a:noFill/>
        </p:spPr>
        <p:txBody>
          <a:bodyPr wrap="square">
            <a:spAutoFit/>
          </a:bodyPr>
          <a:lstStyle/>
          <a:p>
            <a:pPr algn="l">
              <a:defRPr sz="2200" b="1">
                <a:solidFill>
                  <a:srgbClr val="0078D4"/>
                </a:solidFill>
                <a:latin typeface="Segoe UI"/>
              </a:defRPr>
            </a:pPr>
            <a:r>
              <a:t>📋  SharePoint Groups</a:t>
            </a:r>
          </a:p>
        </p:txBody>
      </p:sp>
      <p:sp>
        <p:nvSpPr>
          <p:cNvPr id="7" name="TextBox 6"/>
          <p:cNvSpPr txBox="1"/>
          <p:nvPr/>
        </p:nvSpPr>
        <p:spPr>
          <a:xfrm>
            <a:off x="914400" y="2011680"/>
            <a:ext cx="4754880" cy="365760"/>
          </a:xfrm>
          <a:prstGeom prst="rect">
            <a:avLst/>
          </a:prstGeom>
          <a:noFill/>
        </p:spPr>
        <p:txBody>
          <a:bodyPr wrap="square">
            <a:spAutoFit/>
          </a:bodyPr>
          <a:lstStyle/>
          <a:p>
            <a:pPr algn="l">
              <a:defRPr sz="1400" b="1">
                <a:solidFill>
                  <a:srgbClr val="606060"/>
                </a:solidFill>
                <a:latin typeface="Segoe UI"/>
              </a:defRPr>
            </a:pPr>
            <a:r>
              <a:t>Communication Sites &amp; Classic Sites</a:t>
            </a:r>
          </a:p>
        </p:txBody>
      </p:sp>
      <p:sp>
        <p:nvSpPr>
          <p:cNvPr id="8" name="TextBox 7"/>
          <p:cNvSpPr txBox="1"/>
          <p:nvPr/>
        </p:nvSpPr>
        <p:spPr>
          <a:xfrm>
            <a:off x="914400" y="2468880"/>
            <a:ext cx="4572000" cy="2926080"/>
          </a:xfrm>
          <a:prstGeom prst="rect">
            <a:avLst/>
          </a:prstGeom>
          <a:noFill/>
        </p:spPr>
        <p:txBody>
          <a:bodyPr wrap="square">
            <a:spAutoFit/>
          </a:bodyPr>
          <a:lstStyle/>
          <a:p>
            <a:pPr>
              <a:spcAft>
                <a:spcPts val="600"/>
              </a:spcAft>
              <a:defRPr sz="1400">
                <a:solidFill>
                  <a:srgbClr val="242424"/>
                </a:solidFill>
                <a:latin typeface="Segoe UI"/>
              </a:defRPr>
            </a:pPr>
            <a:r>
              <a:t>▸ Site-scoped: exist only within the site</a:t>
            </a:r>
          </a:p>
          <a:p>
            <a:pPr>
              <a:spcAft>
                <a:spcPts val="600"/>
              </a:spcAft>
              <a:defRPr sz="1400">
                <a:solidFill>
                  <a:srgbClr val="242424"/>
                </a:solidFill>
                <a:latin typeface="Segoe UI"/>
              </a:defRPr>
            </a:pPr>
            <a:r>
              <a:t>▸ Managed in SharePoint site settings</a:t>
            </a:r>
          </a:p>
          <a:p>
            <a:pPr>
              <a:spcAft>
                <a:spcPts val="600"/>
              </a:spcAft>
              <a:defRPr sz="1400">
                <a:solidFill>
                  <a:srgbClr val="242424"/>
                </a:solidFill>
                <a:latin typeface="Segoe UI"/>
              </a:defRPr>
            </a:pPr>
            <a:r>
              <a:t>▸ 3 defaults: Owners, Members, Visitors</a:t>
            </a:r>
          </a:p>
          <a:p>
            <a:pPr>
              <a:spcAft>
                <a:spcPts val="600"/>
              </a:spcAft>
              <a:defRPr sz="1400">
                <a:solidFill>
                  <a:srgbClr val="242424"/>
                </a:solidFill>
                <a:latin typeface="Segoe UI"/>
              </a:defRPr>
            </a:pPr>
            <a:r>
              <a:t>▸ Can add users or Entra security groups</a:t>
            </a:r>
          </a:p>
          <a:p>
            <a:pPr>
              <a:spcAft>
                <a:spcPts val="600"/>
              </a:spcAft>
              <a:defRPr sz="1400">
                <a:solidFill>
                  <a:srgbClr val="242424"/>
                </a:solidFill>
                <a:latin typeface="Segoe UI"/>
              </a:defRPr>
            </a:pPr>
            <a:r>
              <a:t>▸ Full admin control over membership</a:t>
            </a:r>
          </a:p>
          <a:p>
            <a:pPr>
              <a:spcAft>
                <a:spcPts val="600"/>
              </a:spcAft>
              <a:defRPr sz="1400">
                <a:solidFill>
                  <a:srgbClr val="242424"/>
                </a:solidFill>
                <a:latin typeface="Segoe UI"/>
              </a:defRPr>
            </a:pPr>
            <a:r>
              <a:t>▸ Best for: intranet portals, publishing sites</a:t>
            </a:r>
          </a:p>
        </p:txBody>
      </p:sp>
      <p:sp>
        <p:nvSpPr>
          <p:cNvPr id="9" name="Rounded Rectangle 8"/>
          <p:cNvSpPr/>
          <p:nvPr/>
        </p:nvSpPr>
        <p:spPr>
          <a:xfrm>
            <a:off x="6309360" y="1371600"/>
            <a:ext cx="5120640" cy="43891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371600"/>
            <a:ext cx="512064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554480"/>
            <a:ext cx="4754880" cy="457200"/>
          </a:xfrm>
          <a:prstGeom prst="rect">
            <a:avLst/>
          </a:prstGeom>
          <a:noFill/>
        </p:spPr>
        <p:txBody>
          <a:bodyPr wrap="square">
            <a:spAutoFit/>
          </a:bodyPr>
          <a:lstStyle/>
          <a:p>
            <a:pPr algn="l">
              <a:defRPr sz="2200" b="1">
                <a:solidFill>
                  <a:srgbClr val="00B294"/>
                </a:solidFill>
                <a:latin typeface="Segoe UI"/>
              </a:defRPr>
            </a:pPr>
            <a:r>
              <a:t>🔗  M365 Group-Connected</a:t>
            </a:r>
          </a:p>
        </p:txBody>
      </p:sp>
      <p:sp>
        <p:nvSpPr>
          <p:cNvPr id="12" name="TextBox 11"/>
          <p:cNvSpPr txBox="1"/>
          <p:nvPr/>
        </p:nvSpPr>
        <p:spPr>
          <a:xfrm>
            <a:off x="6492240" y="2011680"/>
            <a:ext cx="4754880" cy="365760"/>
          </a:xfrm>
          <a:prstGeom prst="rect">
            <a:avLst/>
          </a:prstGeom>
          <a:noFill/>
        </p:spPr>
        <p:txBody>
          <a:bodyPr wrap="square">
            <a:spAutoFit/>
          </a:bodyPr>
          <a:lstStyle/>
          <a:p>
            <a:pPr algn="l">
              <a:defRPr sz="1400" b="1">
                <a:solidFill>
                  <a:srgbClr val="606060"/>
                </a:solidFill>
                <a:latin typeface="Segoe UI"/>
              </a:defRPr>
            </a:pPr>
            <a:r>
              <a:t>Team Sites &amp; Teams-Connected Sites</a:t>
            </a:r>
          </a:p>
        </p:txBody>
      </p:sp>
      <p:sp>
        <p:nvSpPr>
          <p:cNvPr id="13" name="TextBox 12"/>
          <p:cNvSpPr txBox="1"/>
          <p:nvPr/>
        </p:nvSpPr>
        <p:spPr>
          <a:xfrm>
            <a:off x="6492240" y="2468880"/>
            <a:ext cx="4572000" cy="2926080"/>
          </a:xfrm>
          <a:prstGeom prst="rect">
            <a:avLst/>
          </a:prstGeom>
          <a:noFill/>
        </p:spPr>
        <p:txBody>
          <a:bodyPr wrap="square">
            <a:spAutoFit/>
          </a:bodyPr>
          <a:lstStyle/>
          <a:p>
            <a:pPr>
              <a:spcAft>
                <a:spcPts val="600"/>
              </a:spcAft>
              <a:defRPr sz="1400">
                <a:solidFill>
                  <a:srgbClr val="242424"/>
                </a:solidFill>
                <a:latin typeface="Segoe UI"/>
              </a:defRPr>
            </a:pPr>
            <a:r>
              <a:t>▸ M365 Group owners → site Owners</a:t>
            </a:r>
          </a:p>
          <a:p>
            <a:pPr>
              <a:spcAft>
                <a:spcPts val="600"/>
              </a:spcAft>
              <a:defRPr sz="1400">
                <a:solidFill>
                  <a:srgbClr val="242424"/>
                </a:solidFill>
                <a:latin typeface="Segoe UI"/>
              </a:defRPr>
            </a:pPr>
            <a:r>
              <a:t>▸ M365 Group members → site Members</a:t>
            </a:r>
          </a:p>
          <a:p>
            <a:pPr>
              <a:spcAft>
                <a:spcPts val="600"/>
              </a:spcAft>
              <a:defRPr sz="1400">
                <a:solidFill>
                  <a:srgbClr val="242424"/>
                </a:solidFill>
                <a:latin typeface="Segoe UI"/>
              </a:defRPr>
            </a:pPr>
            <a:r>
              <a:t>▸ Visitors group still SharePoint-only</a:t>
            </a:r>
          </a:p>
          <a:p>
            <a:pPr>
              <a:spcAft>
                <a:spcPts val="600"/>
              </a:spcAft>
              <a:defRPr sz="1400">
                <a:solidFill>
                  <a:srgbClr val="242424"/>
                </a:solidFill>
                <a:latin typeface="Segoe UI"/>
              </a:defRPr>
            </a:pPr>
            <a:r>
              <a:t>▸ Membership managed via M365 or Teams</a:t>
            </a:r>
          </a:p>
          <a:p>
            <a:pPr>
              <a:spcAft>
                <a:spcPts val="600"/>
              </a:spcAft>
              <a:defRPr sz="1400">
                <a:solidFill>
                  <a:srgbClr val="242424"/>
                </a:solidFill>
                <a:latin typeface="Segoe UI"/>
              </a:defRPr>
            </a:pPr>
            <a:r>
              <a:t>▸ Entra ID backs the group identity</a:t>
            </a:r>
          </a:p>
          <a:p>
            <a:pPr>
              <a:spcAft>
                <a:spcPts val="600"/>
              </a:spcAft>
              <a:defRPr sz="1400">
                <a:solidFill>
                  <a:srgbClr val="242424"/>
                </a:solidFill>
                <a:latin typeface="Segoe UI"/>
              </a:defRPr>
            </a:pPr>
            <a:r>
              <a:t>▸ Best for: project teams, departments</a:t>
            </a:r>
          </a:p>
        </p:txBody>
      </p:sp>
      <p:sp>
        <p:nvSpPr>
          <p:cNvPr id="14" name="Rounded Rectangle 13"/>
          <p:cNvSpPr/>
          <p:nvPr/>
        </p:nvSpPr>
        <p:spPr>
          <a:xfrm>
            <a:off x="2286000" y="5943600"/>
            <a:ext cx="7589520" cy="502920"/>
          </a:xfrm>
          <a:prstGeom prst="roundRect">
            <a:avLst>
              <a:gd name="adj" fmla="val 5000"/>
            </a:avLst>
          </a:prstGeom>
          <a:solidFill>
            <a:srgbClr val="DE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468880" y="5989320"/>
            <a:ext cx="7223760" cy="411480"/>
          </a:xfrm>
          <a:prstGeom prst="rect">
            <a:avLst/>
          </a:prstGeom>
          <a:noFill/>
        </p:spPr>
        <p:txBody>
          <a:bodyPr wrap="square">
            <a:spAutoFit/>
          </a:bodyPr>
          <a:lstStyle/>
          <a:p>
            <a:pPr algn="l">
              <a:defRPr sz="1300" b="0">
                <a:solidFill>
                  <a:srgbClr val="242424"/>
                </a:solidFill>
                <a:latin typeface="Segoe UI"/>
              </a:defRPr>
            </a:pPr>
            <a:r>
              <a:t>💡 Tip:  Teams-connected sites may show permissions as read-only in SharePoint — manage via Teams instead.</a:t>
            </a:r>
          </a:p>
        </p:txBody>
      </p:sp>
      <p:sp>
        <p:nvSpPr>
          <p:cNvPr id="16" name="Rectangle 15"/>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4  |  Permissions and Collaboration Model</a:t>
            </a:r>
          </a:p>
        </p:txBody>
      </p:sp>
      <p:sp>
        <p:nvSpPr>
          <p:cNvPr id="18" name="TextBox 17"/>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11 / 28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Site Type → Permission Model</a:t>
            </a:r>
          </a:p>
        </p:txBody>
      </p:sp>
      <p:sp>
        <p:nvSpPr>
          <p:cNvPr id="4" name="Rectangle 3"/>
          <p:cNvSpPr/>
          <p:nvPr/>
        </p:nvSpPr>
        <p:spPr>
          <a:xfrm>
            <a:off x="731520" y="1371600"/>
            <a:ext cx="10698480" cy="5029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17320"/>
            <a:ext cx="2743200" cy="411480"/>
          </a:xfrm>
          <a:prstGeom prst="rect">
            <a:avLst/>
          </a:prstGeom>
          <a:noFill/>
        </p:spPr>
        <p:txBody>
          <a:bodyPr wrap="square">
            <a:spAutoFit/>
          </a:bodyPr>
          <a:lstStyle/>
          <a:p>
            <a:pPr algn="ctr">
              <a:defRPr sz="1400" b="1">
                <a:solidFill>
                  <a:srgbClr val="FFFFFF"/>
                </a:solidFill>
                <a:latin typeface="Segoe UI"/>
              </a:defRPr>
            </a:pPr>
            <a:r>
              <a:t>Site Type</a:t>
            </a:r>
          </a:p>
        </p:txBody>
      </p:sp>
      <p:sp>
        <p:nvSpPr>
          <p:cNvPr id="6" name="TextBox 5"/>
          <p:cNvSpPr txBox="1"/>
          <p:nvPr/>
        </p:nvSpPr>
        <p:spPr>
          <a:xfrm>
            <a:off x="3474720" y="1417320"/>
            <a:ext cx="2468880" cy="411480"/>
          </a:xfrm>
          <a:prstGeom prst="rect">
            <a:avLst/>
          </a:prstGeom>
          <a:noFill/>
        </p:spPr>
        <p:txBody>
          <a:bodyPr wrap="square">
            <a:spAutoFit/>
          </a:bodyPr>
          <a:lstStyle/>
          <a:p>
            <a:pPr algn="ctr">
              <a:defRPr sz="1400" b="1">
                <a:solidFill>
                  <a:srgbClr val="FFFFFF"/>
                </a:solidFill>
                <a:latin typeface="Segoe UI"/>
              </a:defRPr>
            </a:pPr>
            <a:r>
              <a:t>Group Model</a:t>
            </a:r>
          </a:p>
        </p:txBody>
      </p:sp>
      <p:sp>
        <p:nvSpPr>
          <p:cNvPr id="7" name="TextBox 6"/>
          <p:cNvSpPr txBox="1"/>
          <p:nvPr/>
        </p:nvSpPr>
        <p:spPr>
          <a:xfrm>
            <a:off x="5943600" y="1417320"/>
            <a:ext cx="2743200" cy="411480"/>
          </a:xfrm>
          <a:prstGeom prst="rect">
            <a:avLst/>
          </a:prstGeom>
          <a:noFill/>
        </p:spPr>
        <p:txBody>
          <a:bodyPr wrap="square">
            <a:spAutoFit/>
          </a:bodyPr>
          <a:lstStyle/>
          <a:p>
            <a:pPr algn="ctr">
              <a:defRPr sz="1400" b="1">
                <a:solidFill>
                  <a:srgbClr val="FFFFFF"/>
                </a:solidFill>
                <a:latin typeface="Segoe UI"/>
              </a:defRPr>
            </a:pPr>
            <a:r>
              <a:t>Managed In</a:t>
            </a:r>
          </a:p>
        </p:txBody>
      </p:sp>
      <p:sp>
        <p:nvSpPr>
          <p:cNvPr id="8" name="TextBox 7"/>
          <p:cNvSpPr txBox="1"/>
          <p:nvPr/>
        </p:nvSpPr>
        <p:spPr>
          <a:xfrm>
            <a:off x="8686800" y="1417320"/>
            <a:ext cx="2743200" cy="411480"/>
          </a:xfrm>
          <a:prstGeom prst="rect">
            <a:avLst/>
          </a:prstGeom>
          <a:noFill/>
        </p:spPr>
        <p:txBody>
          <a:bodyPr wrap="square">
            <a:spAutoFit/>
          </a:bodyPr>
          <a:lstStyle/>
          <a:p>
            <a:pPr algn="ctr">
              <a:defRPr sz="1400" b="1">
                <a:solidFill>
                  <a:srgbClr val="FFFFFF"/>
                </a:solidFill>
                <a:latin typeface="Segoe UI"/>
              </a:defRPr>
            </a:pPr>
            <a:r>
              <a:t>Use Case</a:t>
            </a:r>
          </a:p>
        </p:txBody>
      </p:sp>
      <p:sp>
        <p:nvSpPr>
          <p:cNvPr id="9" name="Rectangle 8"/>
          <p:cNvSpPr/>
          <p:nvPr/>
        </p:nvSpPr>
        <p:spPr>
          <a:xfrm>
            <a:off x="731520" y="1874520"/>
            <a:ext cx="10698480" cy="77724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011680"/>
            <a:ext cx="2743200" cy="502920"/>
          </a:xfrm>
          <a:prstGeom prst="rect">
            <a:avLst/>
          </a:prstGeom>
          <a:noFill/>
        </p:spPr>
        <p:txBody>
          <a:bodyPr wrap="square">
            <a:spAutoFit/>
          </a:bodyPr>
          <a:lstStyle/>
          <a:p>
            <a:pPr algn="ctr">
              <a:defRPr sz="1300" b="1">
                <a:solidFill>
                  <a:srgbClr val="242424"/>
                </a:solidFill>
                <a:latin typeface="Segoe UI"/>
              </a:defRPr>
            </a:pPr>
            <a:r>
              <a:t>Communication Site</a:t>
            </a:r>
          </a:p>
        </p:txBody>
      </p:sp>
      <p:sp>
        <p:nvSpPr>
          <p:cNvPr id="11" name="TextBox 10"/>
          <p:cNvSpPr txBox="1"/>
          <p:nvPr/>
        </p:nvSpPr>
        <p:spPr>
          <a:xfrm>
            <a:off x="3474720" y="2011680"/>
            <a:ext cx="2468880" cy="502920"/>
          </a:xfrm>
          <a:prstGeom prst="rect">
            <a:avLst/>
          </a:prstGeom>
          <a:noFill/>
        </p:spPr>
        <p:txBody>
          <a:bodyPr wrap="square">
            <a:spAutoFit/>
          </a:bodyPr>
          <a:lstStyle/>
          <a:p>
            <a:pPr algn="ctr">
              <a:defRPr sz="1300" b="0">
                <a:solidFill>
                  <a:srgbClr val="242424"/>
                </a:solidFill>
                <a:latin typeface="Segoe UI"/>
              </a:defRPr>
            </a:pPr>
            <a:r>
              <a:t>SharePoint Groups</a:t>
            </a:r>
          </a:p>
        </p:txBody>
      </p:sp>
      <p:sp>
        <p:nvSpPr>
          <p:cNvPr id="12" name="TextBox 11"/>
          <p:cNvSpPr txBox="1"/>
          <p:nvPr/>
        </p:nvSpPr>
        <p:spPr>
          <a:xfrm>
            <a:off x="5943600" y="2011680"/>
            <a:ext cx="2743200" cy="502920"/>
          </a:xfrm>
          <a:prstGeom prst="rect">
            <a:avLst/>
          </a:prstGeom>
          <a:noFill/>
        </p:spPr>
        <p:txBody>
          <a:bodyPr wrap="square">
            <a:spAutoFit/>
          </a:bodyPr>
          <a:lstStyle/>
          <a:p>
            <a:pPr algn="ctr">
              <a:defRPr sz="1300" b="0">
                <a:solidFill>
                  <a:srgbClr val="242424"/>
                </a:solidFill>
                <a:latin typeface="Segoe UI"/>
              </a:defRPr>
            </a:pPr>
            <a:r>
              <a:t>SharePoint Site Settings</a:t>
            </a:r>
          </a:p>
        </p:txBody>
      </p:sp>
      <p:sp>
        <p:nvSpPr>
          <p:cNvPr id="13" name="TextBox 12"/>
          <p:cNvSpPr txBox="1"/>
          <p:nvPr/>
        </p:nvSpPr>
        <p:spPr>
          <a:xfrm>
            <a:off x="8686800" y="2011680"/>
            <a:ext cx="2743200" cy="502920"/>
          </a:xfrm>
          <a:prstGeom prst="rect">
            <a:avLst/>
          </a:prstGeom>
          <a:noFill/>
        </p:spPr>
        <p:txBody>
          <a:bodyPr wrap="square">
            <a:spAutoFit/>
          </a:bodyPr>
          <a:lstStyle/>
          <a:p>
            <a:pPr algn="ctr">
              <a:defRPr sz="1300" b="0">
                <a:solidFill>
                  <a:srgbClr val="242424"/>
                </a:solidFill>
                <a:latin typeface="Segoe UI"/>
              </a:defRPr>
            </a:pPr>
            <a:r>
              <a:t>Intranet · Portal · News</a:t>
            </a:r>
          </a:p>
        </p:txBody>
      </p:sp>
      <p:sp>
        <p:nvSpPr>
          <p:cNvPr id="14" name="Rectangle 13"/>
          <p:cNvSpPr/>
          <p:nvPr/>
        </p:nvSpPr>
        <p:spPr>
          <a:xfrm>
            <a:off x="731520" y="2651760"/>
            <a:ext cx="10698480" cy="777240"/>
          </a:xfrm>
          <a:prstGeom prst="rect">
            <a:avLst/>
          </a:prstGeom>
          <a:solidFill>
            <a:srgbClr val="F5F5F5"/>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2788920"/>
            <a:ext cx="2743200" cy="502920"/>
          </a:xfrm>
          <a:prstGeom prst="rect">
            <a:avLst/>
          </a:prstGeom>
          <a:noFill/>
        </p:spPr>
        <p:txBody>
          <a:bodyPr wrap="square">
            <a:spAutoFit/>
          </a:bodyPr>
          <a:lstStyle/>
          <a:p>
            <a:pPr algn="ctr">
              <a:defRPr sz="1300" b="1">
                <a:solidFill>
                  <a:srgbClr val="242424"/>
                </a:solidFill>
                <a:latin typeface="Segoe UI"/>
              </a:defRPr>
            </a:pPr>
            <a:r>
              <a:t>Team Site (no group)</a:t>
            </a:r>
          </a:p>
        </p:txBody>
      </p:sp>
      <p:sp>
        <p:nvSpPr>
          <p:cNvPr id="16" name="TextBox 15"/>
          <p:cNvSpPr txBox="1"/>
          <p:nvPr/>
        </p:nvSpPr>
        <p:spPr>
          <a:xfrm>
            <a:off x="3474720" y="2788920"/>
            <a:ext cx="2468880" cy="502920"/>
          </a:xfrm>
          <a:prstGeom prst="rect">
            <a:avLst/>
          </a:prstGeom>
          <a:noFill/>
        </p:spPr>
        <p:txBody>
          <a:bodyPr wrap="square">
            <a:spAutoFit/>
          </a:bodyPr>
          <a:lstStyle/>
          <a:p>
            <a:pPr algn="ctr">
              <a:defRPr sz="1300" b="0">
                <a:solidFill>
                  <a:srgbClr val="242424"/>
                </a:solidFill>
                <a:latin typeface="Segoe UI"/>
              </a:defRPr>
            </a:pPr>
            <a:r>
              <a:t>SharePoint Groups</a:t>
            </a:r>
          </a:p>
        </p:txBody>
      </p:sp>
      <p:sp>
        <p:nvSpPr>
          <p:cNvPr id="17" name="TextBox 16"/>
          <p:cNvSpPr txBox="1"/>
          <p:nvPr/>
        </p:nvSpPr>
        <p:spPr>
          <a:xfrm>
            <a:off x="5943600" y="2788920"/>
            <a:ext cx="2743200" cy="502920"/>
          </a:xfrm>
          <a:prstGeom prst="rect">
            <a:avLst/>
          </a:prstGeom>
          <a:noFill/>
        </p:spPr>
        <p:txBody>
          <a:bodyPr wrap="square">
            <a:spAutoFit/>
          </a:bodyPr>
          <a:lstStyle/>
          <a:p>
            <a:pPr algn="ctr">
              <a:defRPr sz="1300" b="0">
                <a:solidFill>
                  <a:srgbClr val="242424"/>
                </a:solidFill>
                <a:latin typeface="Segoe UI"/>
              </a:defRPr>
            </a:pPr>
            <a:r>
              <a:t>SharePoint Site Settings</a:t>
            </a:r>
          </a:p>
        </p:txBody>
      </p:sp>
      <p:sp>
        <p:nvSpPr>
          <p:cNvPr id="18" name="TextBox 17"/>
          <p:cNvSpPr txBox="1"/>
          <p:nvPr/>
        </p:nvSpPr>
        <p:spPr>
          <a:xfrm>
            <a:off x="8686800" y="2788920"/>
            <a:ext cx="2743200" cy="502920"/>
          </a:xfrm>
          <a:prstGeom prst="rect">
            <a:avLst/>
          </a:prstGeom>
          <a:noFill/>
        </p:spPr>
        <p:txBody>
          <a:bodyPr wrap="square">
            <a:spAutoFit/>
          </a:bodyPr>
          <a:lstStyle/>
          <a:p>
            <a:pPr algn="ctr">
              <a:defRPr sz="1300" b="0">
                <a:solidFill>
                  <a:srgbClr val="242424"/>
                </a:solidFill>
                <a:latin typeface="Segoe UI"/>
              </a:defRPr>
            </a:pPr>
            <a:r>
              <a:t>Classic · Standalone</a:t>
            </a:r>
          </a:p>
        </p:txBody>
      </p:sp>
      <p:sp>
        <p:nvSpPr>
          <p:cNvPr id="19" name="Rectangle 18"/>
          <p:cNvSpPr/>
          <p:nvPr/>
        </p:nvSpPr>
        <p:spPr>
          <a:xfrm>
            <a:off x="731520" y="3429000"/>
            <a:ext cx="10698480" cy="77724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3566160"/>
            <a:ext cx="2743200" cy="502920"/>
          </a:xfrm>
          <a:prstGeom prst="rect">
            <a:avLst/>
          </a:prstGeom>
          <a:noFill/>
        </p:spPr>
        <p:txBody>
          <a:bodyPr wrap="square">
            <a:spAutoFit/>
          </a:bodyPr>
          <a:lstStyle/>
          <a:p>
            <a:pPr algn="ctr">
              <a:defRPr sz="1300" b="1">
                <a:solidFill>
                  <a:srgbClr val="242424"/>
                </a:solidFill>
                <a:latin typeface="Segoe UI"/>
              </a:defRPr>
            </a:pPr>
            <a:r>
              <a:t>Team Site (M365 Group)</a:t>
            </a:r>
          </a:p>
        </p:txBody>
      </p:sp>
      <p:sp>
        <p:nvSpPr>
          <p:cNvPr id="21" name="TextBox 20"/>
          <p:cNvSpPr txBox="1"/>
          <p:nvPr/>
        </p:nvSpPr>
        <p:spPr>
          <a:xfrm>
            <a:off x="3474720" y="3566160"/>
            <a:ext cx="2468880" cy="502920"/>
          </a:xfrm>
          <a:prstGeom prst="rect">
            <a:avLst/>
          </a:prstGeom>
          <a:noFill/>
        </p:spPr>
        <p:txBody>
          <a:bodyPr wrap="square">
            <a:spAutoFit/>
          </a:bodyPr>
          <a:lstStyle/>
          <a:p>
            <a:pPr algn="ctr">
              <a:defRPr sz="1300" b="0">
                <a:solidFill>
                  <a:srgbClr val="242424"/>
                </a:solidFill>
                <a:latin typeface="Segoe UI"/>
              </a:defRPr>
            </a:pPr>
            <a:r>
              <a:t>M365 Group + SP Visitors</a:t>
            </a:r>
          </a:p>
        </p:txBody>
      </p:sp>
      <p:sp>
        <p:nvSpPr>
          <p:cNvPr id="22" name="TextBox 21"/>
          <p:cNvSpPr txBox="1"/>
          <p:nvPr/>
        </p:nvSpPr>
        <p:spPr>
          <a:xfrm>
            <a:off x="5943600" y="3566160"/>
            <a:ext cx="2743200" cy="502920"/>
          </a:xfrm>
          <a:prstGeom prst="rect">
            <a:avLst/>
          </a:prstGeom>
          <a:noFill/>
        </p:spPr>
        <p:txBody>
          <a:bodyPr wrap="square">
            <a:spAutoFit/>
          </a:bodyPr>
          <a:lstStyle/>
          <a:p>
            <a:pPr algn="ctr">
              <a:defRPr sz="1300" b="0">
                <a:solidFill>
                  <a:srgbClr val="242424"/>
                </a:solidFill>
                <a:latin typeface="Segoe UI"/>
              </a:defRPr>
            </a:pPr>
            <a:r>
              <a:t>M365 Admin / Entra ID</a:t>
            </a:r>
          </a:p>
        </p:txBody>
      </p:sp>
      <p:sp>
        <p:nvSpPr>
          <p:cNvPr id="23" name="TextBox 22"/>
          <p:cNvSpPr txBox="1"/>
          <p:nvPr/>
        </p:nvSpPr>
        <p:spPr>
          <a:xfrm>
            <a:off x="8686800" y="3566160"/>
            <a:ext cx="2743200" cy="502920"/>
          </a:xfrm>
          <a:prstGeom prst="rect">
            <a:avLst/>
          </a:prstGeom>
          <a:noFill/>
        </p:spPr>
        <p:txBody>
          <a:bodyPr wrap="square">
            <a:spAutoFit/>
          </a:bodyPr>
          <a:lstStyle/>
          <a:p>
            <a:pPr algn="ctr">
              <a:defRPr sz="1300" b="0">
                <a:solidFill>
                  <a:srgbClr val="242424"/>
                </a:solidFill>
                <a:latin typeface="Segoe UI"/>
              </a:defRPr>
            </a:pPr>
            <a:r>
              <a:t>Projects · Departments</a:t>
            </a:r>
          </a:p>
        </p:txBody>
      </p:sp>
      <p:sp>
        <p:nvSpPr>
          <p:cNvPr id="24" name="Rectangle 23"/>
          <p:cNvSpPr/>
          <p:nvPr/>
        </p:nvSpPr>
        <p:spPr>
          <a:xfrm>
            <a:off x="731520" y="4206239"/>
            <a:ext cx="10698480" cy="777240"/>
          </a:xfrm>
          <a:prstGeom prst="rect">
            <a:avLst/>
          </a:prstGeom>
          <a:solidFill>
            <a:srgbClr val="F5F5F5"/>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4343399"/>
            <a:ext cx="2743200" cy="502920"/>
          </a:xfrm>
          <a:prstGeom prst="rect">
            <a:avLst/>
          </a:prstGeom>
          <a:noFill/>
        </p:spPr>
        <p:txBody>
          <a:bodyPr wrap="square">
            <a:spAutoFit/>
          </a:bodyPr>
          <a:lstStyle/>
          <a:p>
            <a:pPr algn="ctr">
              <a:defRPr sz="1300" b="1">
                <a:solidFill>
                  <a:srgbClr val="242424"/>
                </a:solidFill>
                <a:latin typeface="Segoe UI"/>
              </a:defRPr>
            </a:pPr>
            <a:r>
              <a:t>Teams-Connected Site</a:t>
            </a:r>
          </a:p>
        </p:txBody>
      </p:sp>
      <p:sp>
        <p:nvSpPr>
          <p:cNvPr id="26" name="TextBox 25"/>
          <p:cNvSpPr txBox="1"/>
          <p:nvPr/>
        </p:nvSpPr>
        <p:spPr>
          <a:xfrm>
            <a:off x="3474720" y="4343399"/>
            <a:ext cx="2468880" cy="502920"/>
          </a:xfrm>
          <a:prstGeom prst="rect">
            <a:avLst/>
          </a:prstGeom>
          <a:noFill/>
        </p:spPr>
        <p:txBody>
          <a:bodyPr wrap="square">
            <a:spAutoFit/>
          </a:bodyPr>
          <a:lstStyle/>
          <a:p>
            <a:pPr algn="ctr">
              <a:defRPr sz="1300" b="0">
                <a:solidFill>
                  <a:srgbClr val="242424"/>
                </a:solidFill>
                <a:latin typeface="Segoe UI"/>
              </a:defRPr>
            </a:pPr>
            <a:r>
              <a:t>Teams Owners/Members</a:t>
            </a:r>
          </a:p>
        </p:txBody>
      </p:sp>
      <p:sp>
        <p:nvSpPr>
          <p:cNvPr id="27" name="TextBox 26"/>
          <p:cNvSpPr txBox="1"/>
          <p:nvPr/>
        </p:nvSpPr>
        <p:spPr>
          <a:xfrm>
            <a:off x="5943600" y="4343399"/>
            <a:ext cx="2743200" cy="502920"/>
          </a:xfrm>
          <a:prstGeom prst="rect">
            <a:avLst/>
          </a:prstGeom>
          <a:noFill/>
        </p:spPr>
        <p:txBody>
          <a:bodyPr wrap="square">
            <a:spAutoFit/>
          </a:bodyPr>
          <a:lstStyle/>
          <a:p>
            <a:pPr algn="ctr">
              <a:defRPr sz="1300" b="0">
                <a:solidFill>
                  <a:srgbClr val="242424"/>
                </a:solidFill>
                <a:latin typeface="Segoe UI"/>
              </a:defRPr>
            </a:pPr>
            <a:r>
              <a:t>Microsoft Teams</a:t>
            </a:r>
          </a:p>
        </p:txBody>
      </p:sp>
      <p:sp>
        <p:nvSpPr>
          <p:cNvPr id="28" name="TextBox 27"/>
          <p:cNvSpPr txBox="1"/>
          <p:nvPr/>
        </p:nvSpPr>
        <p:spPr>
          <a:xfrm>
            <a:off x="8686800" y="4343399"/>
            <a:ext cx="2743200" cy="502920"/>
          </a:xfrm>
          <a:prstGeom prst="rect">
            <a:avLst/>
          </a:prstGeom>
          <a:noFill/>
        </p:spPr>
        <p:txBody>
          <a:bodyPr wrap="square">
            <a:spAutoFit/>
          </a:bodyPr>
          <a:lstStyle/>
          <a:p>
            <a:pPr algn="ctr">
              <a:defRPr sz="1300" b="0">
                <a:solidFill>
                  <a:srgbClr val="242424"/>
                </a:solidFill>
                <a:latin typeface="Segoe UI"/>
              </a:defRPr>
            </a:pPr>
            <a:r>
              <a:t>Team Channels · Collab</a:t>
            </a:r>
          </a:p>
        </p:txBody>
      </p:sp>
      <p:sp>
        <p:nvSpPr>
          <p:cNvPr id="29" name="Rectangle 28"/>
          <p:cNvSpPr/>
          <p:nvPr/>
        </p:nvSpPr>
        <p:spPr>
          <a:xfrm>
            <a:off x="731520" y="4983480"/>
            <a:ext cx="10698480" cy="77724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5120640"/>
            <a:ext cx="2743200" cy="502920"/>
          </a:xfrm>
          <a:prstGeom prst="rect">
            <a:avLst/>
          </a:prstGeom>
          <a:noFill/>
        </p:spPr>
        <p:txBody>
          <a:bodyPr wrap="square">
            <a:spAutoFit/>
          </a:bodyPr>
          <a:lstStyle/>
          <a:p>
            <a:pPr algn="ctr">
              <a:defRPr sz="1300" b="1">
                <a:solidFill>
                  <a:srgbClr val="242424"/>
                </a:solidFill>
                <a:latin typeface="Segoe UI"/>
              </a:defRPr>
            </a:pPr>
            <a:r>
              <a:t>Teams Channel Site</a:t>
            </a:r>
          </a:p>
        </p:txBody>
      </p:sp>
      <p:sp>
        <p:nvSpPr>
          <p:cNvPr id="31" name="TextBox 30"/>
          <p:cNvSpPr txBox="1"/>
          <p:nvPr/>
        </p:nvSpPr>
        <p:spPr>
          <a:xfrm>
            <a:off x="3474720" y="5120640"/>
            <a:ext cx="2468880" cy="502920"/>
          </a:xfrm>
          <a:prstGeom prst="rect">
            <a:avLst/>
          </a:prstGeom>
          <a:noFill/>
        </p:spPr>
        <p:txBody>
          <a:bodyPr wrap="square">
            <a:spAutoFit/>
          </a:bodyPr>
          <a:lstStyle/>
          <a:p>
            <a:pPr algn="ctr">
              <a:defRPr sz="1300" b="0">
                <a:solidFill>
                  <a:srgbClr val="242424"/>
                </a:solidFill>
                <a:latin typeface="Segoe UI"/>
              </a:defRPr>
            </a:pPr>
            <a:r>
              <a:t>Channel membership</a:t>
            </a:r>
          </a:p>
        </p:txBody>
      </p:sp>
      <p:sp>
        <p:nvSpPr>
          <p:cNvPr id="32" name="TextBox 31"/>
          <p:cNvSpPr txBox="1"/>
          <p:nvPr/>
        </p:nvSpPr>
        <p:spPr>
          <a:xfrm>
            <a:off x="5943600" y="5120640"/>
            <a:ext cx="2743200" cy="502920"/>
          </a:xfrm>
          <a:prstGeom prst="rect">
            <a:avLst/>
          </a:prstGeom>
          <a:noFill/>
        </p:spPr>
        <p:txBody>
          <a:bodyPr wrap="square">
            <a:spAutoFit/>
          </a:bodyPr>
          <a:lstStyle/>
          <a:p>
            <a:pPr algn="ctr">
              <a:defRPr sz="1300" b="0">
                <a:solidFill>
                  <a:srgbClr val="242424"/>
                </a:solidFill>
                <a:latin typeface="Segoe UI"/>
              </a:defRPr>
            </a:pPr>
            <a:r>
              <a:t>Microsoft Teams</a:t>
            </a:r>
          </a:p>
        </p:txBody>
      </p:sp>
      <p:sp>
        <p:nvSpPr>
          <p:cNvPr id="33" name="TextBox 32"/>
          <p:cNvSpPr txBox="1"/>
          <p:nvPr/>
        </p:nvSpPr>
        <p:spPr>
          <a:xfrm>
            <a:off x="8686800" y="5120640"/>
            <a:ext cx="2743200" cy="502920"/>
          </a:xfrm>
          <a:prstGeom prst="rect">
            <a:avLst/>
          </a:prstGeom>
          <a:noFill/>
        </p:spPr>
        <p:txBody>
          <a:bodyPr wrap="square">
            <a:spAutoFit/>
          </a:bodyPr>
          <a:lstStyle/>
          <a:p>
            <a:pPr algn="ctr">
              <a:defRPr sz="1300" b="0">
                <a:solidFill>
                  <a:srgbClr val="242424"/>
                </a:solidFill>
                <a:latin typeface="Segoe UI"/>
              </a:defRPr>
            </a:pPr>
            <a:r>
              <a:t>Private/Shared Channels</a:t>
            </a:r>
          </a:p>
        </p:txBody>
      </p:sp>
      <p:sp>
        <p:nvSpPr>
          <p:cNvPr id="34" name="Rectangle 33"/>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4  |  Permissions and Collaboration Model</a:t>
            </a:r>
          </a:p>
        </p:txBody>
      </p:sp>
      <p:sp>
        <p:nvSpPr>
          <p:cNvPr id="36" name="TextBox 35"/>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12 / 28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2926080"/>
            <a:ext cx="228600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058400" cy="1097280"/>
          </a:xfrm>
          <a:prstGeom prst="rect">
            <a:avLst/>
          </a:prstGeom>
          <a:noFill/>
        </p:spPr>
        <p:txBody>
          <a:bodyPr wrap="square">
            <a:spAutoFit/>
          </a:bodyPr>
          <a:lstStyle/>
          <a:p>
            <a:pPr algn="ctr">
              <a:defRPr sz="6000" b="0">
                <a:solidFill>
                  <a:srgbClr val="00B294"/>
                </a:solidFill>
                <a:latin typeface="Segoe UI"/>
              </a:defRPr>
            </a:pPr>
            <a:r>
              <a:t>🔗</a:t>
            </a:r>
          </a:p>
        </p:txBody>
      </p:sp>
      <p:sp>
        <p:nvSpPr>
          <p:cNvPr id="4" name="TextBox 3"/>
          <p:cNvSpPr txBox="1"/>
          <p:nvPr/>
        </p:nvSpPr>
        <p:spPr>
          <a:xfrm>
            <a:off x="914400" y="3200400"/>
            <a:ext cx="10058400" cy="1097280"/>
          </a:xfrm>
          <a:prstGeom prst="rect">
            <a:avLst/>
          </a:prstGeom>
          <a:noFill/>
        </p:spPr>
        <p:txBody>
          <a:bodyPr wrap="square">
            <a:spAutoFit/>
          </a:bodyPr>
          <a:lstStyle/>
          <a:p>
            <a:pPr algn="ctr">
              <a:defRPr sz="4000" b="1">
                <a:solidFill>
                  <a:srgbClr val="FFFFFF"/>
                </a:solidFill>
                <a:latin typeface="Segoe UI"/>
              </a:defRPr>
            </a:pPr>
            <a:r>
              <a:t>Sharing Links vs Permissions</a:t>
            </a:r>
          </a:p>
        </p:txBody>
      </p:sp>
      <p:sp>
        <p:nvSpPr>
          <p:cNvPr id="5" name="TextBox 4"/>
          <p:cNvSpPr txBox="1"/>
          <p:nvPr/>
        </p:nvSpPr>
        <p:spPr>
          <a:xfrm>
            <a:off x="1371600" y="4389120"/>
            <a:ext cx="9144000" cy="731520"/>
          </a:xfrm>
          <a:prstGeom prst="rect">
            <a:avLst/>
          </a:prstGeom>
          <a:noFill/>
        </p:spPr>
        <p:txBody>
          <a:bodyPr wrap="square">
            <a:spAutoFit/>
          </a:bodyPr>
          <a:lstStyle/>
          <a:p>
            <a:pPr algn="ctr">
              <a:defRPr sz="1800" b="0">
                <a:solidFill>
                  <a:srgbClr val="BBBBBB"/>
                </a:solidFill>
                <a:latin typeface="Segoe UI"/>
              </a:defRPr>
            </a:pPr>
            <a:r>
              <a:t>Collaboration actions vs durable access design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Permissions vs Sharing Links</a:t>
            </a:r>
          </a:p>
        </p:txBody>
      </p:sp>
      <p:sp>
        <p:nvSpPr>
          <p:cNvPr id="4" name="Rounded Rectangle 3"/>
          <p:cNvSpPr/>
          <p:nvPr/>
        </p:nvSpPr>
        <p:spPr>
          <a:xfrm>
            <a:off x="731520" y="1371600"/>
            <a:ext cx="5120640" cy="38404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371600"/>
            <a:ext cx="512064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754880" cy="457200"/>
          </a:xfrm>
          <a:prstGeom prst="rect">
            <a:avLst/>
          </a:prstGeom>
          <a:noFill/>
        </p:spPr>
        <p:txBody>
          <a:bodyPr wrap="square">
            <a:spAutoFit/>
          </a:bodyPr>
          <a:lstStyle/>
          <a:p>
            <a:pPr algn="l">
              <a:defRPr sz="2200" b="1">
                <a:solidFill>
                  <a:srgbClr val="0078D4"/>
                </a:solidFill>
                <a:latin typeface="Segoe UI"/>
              </a:defRPr>
            </a:pPr>
            <a:r>
              <a:t>🛡️  Permissions (Governance)</a:t>
            </a:r>
          </a:p>
        </p:txBody>
      </p:sp>
      <p:sp>
        <p:nvSpPr>
          <p:cNvPr id="7" name="TextBox 6"/>
          <p:cNvSpPr txBox="1"/>
          <p:nvPr/>
        </p:nvSpPr>
        <p:spPr>
          <a:xfrm>
            <a:off x="914400" y="2194560"/>
            <a:ext cx="4572000" cy="2743200"/>
          </a:xfrm>
          <a:prstGeom prst="rect">
            <a:avLst/>
          </a:prstGeom>
          <a:noFill/>
        </p:spPr>
        <p:txBody>
          <a:bodyPr wrap="square">
            <a:spAutoFit/>
          </a:bodyPr>
          <a:lstStyle/>
          <a:p>
            <a:pPr>
              <a:spcAft>
                <a:spcPts val="600"/>
              </a:spcAft>
              <a:defRPr sz="1400">
                <a:solidFill>
                  <a:srgbClr val="242424"/>
                </a:solidFill>
                <a:latin typeface="Segoe UI"/>
              </a:defRPr>
            </a:pPr>
            <a:r>
              <a:t>▸ Durable access design at site/library/folder level</a:t>
            </a:r>
          </a:p>
          <a:p>
            <a:pPr>
              <a:spcAft>
                <a:spcPts val="600"/>
              </a:spcAft>
              <a:defRPr sz="1400">
                <a:solidFill>
                  <a:srgbClr val="242424"/>
                </a:solidFill>
                <a:latin typeface="Segoe UI"/>
              </a:defRPr>
            </a:pPr>
            <a:r>
              <a:t>▸ Applied via groups for manageability</a:t>
            </a:r>
          </a:p>
          <a:p>
            <a:pPr>
              <a:spcAft>
                <a:spcPts val="600"/>
              </a:spcAft>
              <a:defRPr sz="1400">
                <a:solidFill>
                  <a:srgbClr val="242424"/>
                </a:solidFill>
                <a:latin typeface="Segoe UI"/>
              </a:defRPr>
            </a:pPr>
            <a:r>
              <a:t>▸ Controlled by site owners and admins</a:t>
            </a:r>
          </a:p>
          <a:p>
            <a:pPr>
              <a:spcAft>
                <a:spcPts val="600"/>
              </a:spcAft>
              <a:defRPr sz="1400">
                <a:solidFill>
                  <a:srgbClr val="242424"/>
                </a:solidFill>
                <a:latin typeface="Segoe UI"/>
              </a:defRPr>
            </a:pPr>
            <a:r>
              <a:t>▸ Auditable through site settings</a:t>
            </a:r>
          </a:p>
          <a:p>
            <a:pPr>
              <a:spcAft>
                <a:spcPts val="600"/>
              </a:spcAft>
              <a:defRPr sz="1400">
                <a:solidFill>
                  <a:srgbClr val="242424"/>
                </a:solidFill>
                <a:latin typeface="Segoe UI"/>
              </a:defRPr>
            </a:pPr>
            <a:r>
              <a:t>▸ Persist until explicitly removed</a:t>
            </a:r>
          </a:p>
        </p:txBody>
      </p:sp>
      <p:sp>
        <p:nvSpPr>
          <p:cNvPr id="8" name="Rounded Rectangle 7"/>
          <p:cNvSpPr/>
          <p:nvPr/>
        </p:nvSpPr>
        <p:spPr>
          <a:xfrm>
            <a:off x="6309360" y="1371600"/>
            <a:ext cx="5120640" cy="38404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309360" y="1371600"/>
            <a:ext cx="5120640"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554480"/>
            <a:ext cx="4754880" cy="457200"/>
          </a:xfrm>
          <a:prstGeom prst="rect">
            <a:avLst/>
          </a:prstGeom>
          <a:noFill/>
        </p:spPr>
        <p:txBody>
          <a:bodyPr wrap="square">
            <a:spAutoFit/>
          </a:bodyPr>
          <a:lstStyle/>
          <a:p>
            <a:pPr algn="l">
              <a:defRPr sz="2200" b="1">
                <a:solidFill>
                  <a:srgbClr val="FF8C00"/>
                </a:solidFill>
                <a:latin typeface="Segoe UI"/>
              </a:defRPr>
            </a:pPr>
            <a:r>
              <a:t>🔗  Sharing Links (Collaboration)</a:t>
            </a:r>
          </a:p>
        </p:txBody>
      </p:sp>
      <p:sp>
        <p:nvSpPr>
          <p:cNvPr id="11" name="TextBox 10"/>
          <p:cNvSpPr txBox="1"/>
          <p:nvPr/>
        </p:nvSpPr>
        <p:spPr>
          <a:xfrm>
            <a:off x="6492240" y="2194560"/>
            <a:ext cx="4572000" cy="2743200"/>
          </a:xfrm>
          <a:prstGeom prst="rect">
            <a:avLst/>
          </a:prstGeom>
          <a:noFill/>
        </p:spPr>
        <p:txBody>
          <a:bodyPr wrap="square">
            <a:spAutoFit/>
          </a:bodyPr>
          <a:lstStyle/>
          <a:p>
            <a:pPr>
              <a:spcAft>
                <a:spcPts val="600"/>
              </a:spcAft>
              <a:defRPr sz="1400">
                <a:solidFill>
                  <a:srgbClr val="242424"/>
                </a:solidFill>
                <a:latin typeface="Segoe UI"/>
              </a:defRPr>
            </a:pPr>
            <a:r>
              <a:t>▸ Ad-hoc access at file/folder level</a:t>
            </a:r>
          </a:p>
          <a:p>
            <a:pPr>
              <a:spcAft>
                <a:spcPts val="600"/>
              </a:spcAft>
              <a:defRPr sz="1400">
                <a:solidFill>
                  <a:srgbClr val="242424"/>
                </a:solidFill>
                <a:latin typeface="Segoe UI"/>
              </a:defRPr>
            </a:pPr>
            <a:r>
              <a:t>▸ Created by users as they collaborate</a:t>
            </a:r>
          </a:p>
          <a:p>
            <a:pPr>
              <a:spcAft>
                <a:spcPts val="600"/>
              </a:spcAft>
              <a:defRPr sz="1400">
                <a:solidFill>
                  <a:srgbClr val="242424"/>
                </a:solidFill>
                <a:latin typeface="Segoe UI"/>
              </a:defRPr>
            </a:pPr>
            <a:r>
              <a:t>▸ Can be forwarded (People in org / Anyone)</a:t>
            </a:r>
          </a:p>
          <a:p>
            <a:pPr>
              <a:spcAft>
                <a:spcPts val="600"/>
              </a:spcAft>
              <a:defRPr sz="1400">
                <a:solidFill>
                  <a:srgbClr val="242424"/>
                </a:solidFill>
                <a:latin typeface="Segoe UI"/>
              </a:defRPr>
            </a:pPr>
            <a:r>
              <a:t>▸ May bypass group governance if unchecked</a:t>
            </a:r>
          </a:p>
          <a:p>
            <a:pPr>
              <a:spcAft>
                <a:spcPts val="600"/>
              </a:spcAft>
              <a:defRPr sz="1400">
                <a:solidFill>
                  <a:srgbClr val="242424"/>
                </a:solidFill>
                <a:latin typeface="Segoe UI"/>
              </a:defRPr>
            </a:pPr>
            <a:r>
              <a:t>▸ Can be revoked or set to expire</a:t>
            </a:r>
          </a:p>
        </p:txBody>
      </p:sp>
      <p:sp>
        <p:nvSpPr>
          <p:cNvPr id="12" name="Rounded Rectangle 11"/>
          <p:cNvSpPr/>
          <p:nvPr/>
        </p:nvSpPr>
        <p:spPr>
          <a:xfrm>
            <a:off x="1828800" y="5486400"/>
            <a:ext cx="8503920" cy="640080"/>
          </a:xfrm>
          <a:prstGeom prst="roundRect">
            <a:avLst>
              <a:gd name="adj" fmla="val 5000"/>
            </a:avLst>
          </a:prstGeom>
          <a:solidFill>
            <a:srgbClr val="DE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03120" y="5577840"/>
            <a:ext cx="7955279" cy="457200"/>
          </a:xfrm>
          <a:prstGeom prst="rect">
            <a:avLst/>
          </a:prstGeom>
          <a:noFill/>
        </p:spPr>
        <p:txBody>
          <a:bodyPr wrap="square">
            <a:spAutoFit/>
          </a:bodyPr>
          <a:lstStyle/>
          <a:p>
            <a:pPr algn="l">
              <a:defRPr sz="1400" b="0">
                <a:solidFill>
                  <a:srgbClr val="242424"/>
                </a:solidFill>
                <a:latin typeface="Segoe UI"/>
              </a:defRPr>
            </a:pPr>
            <a:r>
              <a:t>🔍 Admin Question:  When a user reports access issues, always ask — "Is access from a group or a link?"  Check both sources.</a:t>
            </a:r>
          </a:p>
        </p:txBody>
      </p:sp>
      <p:sp>
        <p:nvSpPr>
          <p:cNvPr id="14" name="Rectangle 13"/>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4  |  Permissions and Collaboration Model</a:t>
            </a:r>
          </a:p>
        </p:txBody>
      </p:sp>
      <p:sp>
        <p:nvSpPr>
          <p:cNvPr id="16" name="TextBox 15"/>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14 / 28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Three Types of Sharing Links</a:t>
            </a:r>
          </a:p>
        </p:txBody>
      </p:sp>
      <p:sp>
        <p:nvSpPr>
          <p:cNvPr id="4" name="Rounded Rectangle 3"/>
          <p:cNvSpPr/>
          <p:nvPr/>
        </p:nvSpPr>
        <p:spPr>
          <a:xfrm>
            <a:off x="548640" y="1371600"/>
            <a:ext cx="3566160" cy="45720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371600"/>
            <a:ext cx="3566160" cy="73152"/>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00200"/>
            <a:ext cx="3017520" cy="457200"/>
          </a:xfrm>
          <a:prstGeom prst="rect">
            <a:avLst/>
          </a:prstGeom>
          <a:noFill/>
        </p:spPr>
        <p:txBody>
          <a:bodyPr wrap="square">
            <a:spAutoFit/>
          </a:bodyPr>
          <a:lstStyle/>
          <a:p>
            <a:pPr algn="ctr">
              <a:defRPr sz="3600" b="0">
                <a:solidFill>
                  <a:srgbClr val="242424"/>
                </a:solidFill>
                <a:latin typeface="Segoe UI"/>
              </a:defRPr>
            </a:pPr>
            <a:r>
              <a:t>🌐</a:t>
            </a:r>
          </a:p>
        </p:txBody>
      </p:sp>
      <p:sp>
        <p:nvSpPr>
          <p:cNvPr id="7" name="TextBox 6"/>
          <p:cNvSpPr txBox="1"/>
          <p:nvPr/>
        </p:nvSpPr>
        <p:spPr>
          <a:xfrm>
            <a:off x="822960" y="2103120"/>
            <a:ext cx="3017520" cy="640080"/>
          </a:xfrm>
          <a:prstGeom prst="rect">
            <a:avLst/>
          </a:prstGeom>
          <a:noFill/>
        </p:spPr>
        <p:txBody>
          <a:bodyPr wrap="square">
            <a:spAutoFit/>
          </a:bodyPr>
          <a:lstStyle/>
          <a:p>
            <a:pPr algn="ctr">
              <a:defRPr sz="1800" b="1">
                <a:solidFill>
                  <a:srgbClr val="D13438"/>
                </a:solidFill>
                <a:latin typeface="Segoe UI"/>
              </a:defRPr>
            </a:pPr>
            <a:r>
              <a:t>Anyone</a:t>
            </a:r>
          </a:p>
        </p:txBody>
      </p:sp>
      <p:sp>
        <p:nvSpPr>
          <p:cNvPr id="8" name="Rounded Rectangle 7"/>
          <p:cNvSpPr/>
          <p:nvPr/>
        </p:nvSpPr>
        <p:spPr>
          <a:xfrm>
            <a:off x="1463040" y="2788920"/>
            <a:ext cx="1737360" cy="320040"/>
          </a:xfrm>
          <a:prstGeom prst="roundRect">
            <a:avLst>
              <a:gd name="adj" fmla="val 5000"/>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FFFFFF"/>
                </a:solidFill>
                <a:latin typeface="Segoe UI"/>
              </a:defRPr>
            </a:pPr>
            <a:r>
              <a:t>HIGH RISK</a:t>
            </a:r>
          </a:p>
        </p:txBody>
      </p:sp>
      <p:sp>
        <p:nvSpPr>
          <p:cNvPr id="9" name="TextBox 8"/>
          <p:cNvSpPr txBox="1"/>
          <p:nvPr/>
        </p:nvSpPr>
        <p:spPr>
          <a:xfrm>
            <a:off x="822960" y="3246120"/>
            <a:ext cx="3017520" cy="548640"/>
          </a:xfrm>
          <a:prstGeom prst="rect">
            <a:avLst/>
          </a:prstGeom>
          <a:noFill/>
        </p:spPr>
        <p:txBody>
          <a:bodyPr wrap="square">
            <a:spAutoFit/>
          </a:bodyPr>
          <a:lstStyle/>
          <a:p>
            <a:pPr algn="ctr">
              <a:defRPr sz="1200" b="0">
                <a:solidFill>
                  <a:srgbClr val="606060"/>
                </a:solidFill>
                <a:latin typeface="Segoe UI"/>
              </a:defRPr>
            </a:pPr>
            <a:r>
              <a:t>No authentication</a:t>
            </a:r>
            <a:br/>
            <a:r>
              <a:t>required</a:t>
            </a:r>
          </a:p>
        </p:txBody>
      </p:sp>
      <p:sp>
        <p:nvSpPr>
          <p:cNvPr id="10" name="Rectangle 9"/>
          <p:cNvSpPr/>
          <p:nvPr/>
        </p:nvSpPr>
        <p:spPr>
          <a:xfrm>
            <a:off x="1097280" y="3840480"/>
            <a:ext cx="2468880" cy="2743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977639"/>
            <a:ext cx="3017520" cy="1828800"/>
          </a:xfrm>
          <a:prstGeom prst="rect">
            <a:avLst/>
          </a:prstGeom>
          <a:noFill/>
        </p:spPr>
        <p:txBody>
          <a:bodyPr wrap="square">
            <a:spAutoFit/>
          </a:bodyPr>
          <a:lstStyle/>
          <a:p>
            <a:pPr>
              <a:spcAft>
                <a:spcPts val="600"/>
              </a:spcAft>
              <a:defRPr sz="1200">
                <a:solidFill>
                  <a:srgbClr val="242424"/>
                </a:solidFill>
                <a:latin typeface="Segoe UI"/>
              </a:defRPr>
            </a:pPr>
            <a:r>
              <a:t>• Works for anyone with the link</a:t>
            </a:r>
          </a:p>
          <a:p>
            <a:pPr>
              <a:spcAft>
                <a:spcPts val="600"/>
              </a:spcAft>
              <a:defRPr sz="1200">
                <a:solidFill>
                  <a:srgbClr val="242424"/>
                </a:solidFill>
                <a:latin typeface="Segoe UI"/>
              </a:defRPr>
            </a:pPr>
            <a:r>
              <a:t>• Cannot audit who accessed</a:t>
            </a:r>
          </a:p>
          <a:p>
            <a:pPr>
              <a:spcAft>
                <a:spcPts val="600"/>
              </a:spcAft>
              <a:defRPr sz="1200">
                <a:solidFill>
                  <a:srgbClr val="242424"/>
                </a:solidFill>
                <a:latin typeface="Segoe UI"/>
              </a:defRPr>
            </a:pPr>
            <a:r>
              <a:t>• Can set expiration &amp; view-only</a:t>
            </a:r>
          </a:p>
          <a:p>
            <a:pPr>
              <a:spcAft>
                <a:spcPts val="600"/>
              </a:spcAft>
              <a:defRPr sz="1200">
                <a:solidFill>
                  <a:srgbClr val="242424"/>
                </a:solidFill>
                <a:latin typeface="Segoe UI"/>
              </a:defRPr>
            </a:pPr>
            <a:r>
              <a:t>• May be disabled by policy</a:t>
            </a:r>
          </a:p>
        </p:txBody>
      </p:sp>
      <p:sp>
        <p:nvSpPr>
          <p:cNvPr id="12" name="Rounded Rectangle 11"/>
          <p:cNvSpPr/>
          <p:nvPr/>
        </p:nvSpPr>
        <p:spPr>
          <a:xfrm>
            <a:off x="4389120" y="1371600"/>
            <a:ext cx="3566160" cy="45720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371600"/>
            <a:ext cx="3566160"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1600200"/>
            <a:ext cx="3017520" cy="457200"/>
          </a:xfrm>
          <a:prstGeom prst="rect">
            <a:avLst/>
          </a:prstGeom>
          <a:noFill/>
        </p:spPr>
        <p:txBody>
          <a:bodyPr wrap="square">
            <a:spAutoFit/>
          </a:bodyPr>
          <a:lstStyle/>
          <a:p>
            <a:pPr algn="ctr">
              <a:defRPr sz="3600" b="0">
                <a:solidFill>
                  <a:srgbClr val="242424"/>
                </a:solidFill>
                <a:latin typeface="Segoe UI"/>
              </a:defRPr>
            </a:pPr>
            <a:r>
              <a:t>🏢</a:t>
            </a:r>
          </a:p>
        </p:txBody>
      </p:sp>
      <p:sp>
        <p:nvSpPr>
          <p:cNvPr id="15" name="TextBox 14"/>
          <p:cNvSpPr txBox="1"/>
          <p:nvPr/>
        </p:nvSpPr>
        <p:spPr>
          <a:xfrm>
            <a:off x="4663440" y="2103120"/>
            <a:ext cx="3017520" cy="640080"/>
          </a:xfrm>
          <a:prstGeom prst="rect">
            <a:avLst/>
          </a:prstGeom>
          <a:noFill/>
        </p:spPr>
        <p:txBody>
          <a:bodyPr wrap="square">
            <a:spAutoFit/>
          </a:bodyPr>
          <a:lstStyle/>
          <a:p>
            <a:pPr algn="ctr">
              <a:defRPr sz="1800" b="1">
                <a:solidFill>
                  <a:srgbClr val="FF8C00"/>
                </a:solidFill>
                <a:latin typeface="Segoe UI"/>
              </a:defRPr>
            </a:pPr>
            <a:r>
              <a:t>People in Your</a:t>
            </a:r>
            <a:br/>
            <a:r>
              <a:t>Organization</a:t>
            </a:r>
          </a:p>
        </p:txBody>
      </p:sp>
      <p:sp>
        <p:nvSpPr>
          <p:cNvPr id="16" name="Rounded Rectangle 15"/>
          <p:cNvSpPr/>
          <p:nvPr/>
        </p:nvSpPr>
        <p:spPr>
          <a:xfrm>
            <a:off x="5303520" y="2788920"/>
            <a:ext cx="1737360" cy="320040"/>
          </a:xfrm>
          <a:prstGeom prst="roundRect">
            <a:avLst>
              <a:gd name="adj" fmla="val 5000"/>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FFFFFF"/>
                </a:solidFill>
                <a:latin typeface="Segoe UI"/>
              </a:defRPr>
            </a:pPr>
            <a:r>
              <a:t>MEDIUM RISK</a:t>
            </a:r>
          </a:p>
        </p:txBody>
      </p:sp>
      <p:sp>
        <p:nvSpPr>
          <p:cNvPr id="17" name="TextBox 16"/>
          <p:cNvSpPr txBox="1"/>
          <p:nvPr/>
        </p:nvSpPr>
        <p:spPr>
          <a:xfrm>
            <a:off x="4663440" y="3246120"/>
            <a:ext cx="3017520" cy="548640"/>
          </a:xfrm>
          <a:prstGeom prst="rect">
            <a:avLst/>
          </a:prstGeom>
          <a:noFill/>
        </p:spPr>
        <p:txBody>
          <a:bodyPr wrap="square">
            <a:spAutoFit/>
          </a:bodyPr>
          <a:lstStyle/>
          <a:p>
            <a:pPr algn="ctr">
              <a:defRPr sz="1200" b="0">
                <a:solidFill>
                  <a:srgbClr val="606060"/>
                </a:solidFill>
                <a:latin typeface="Segoe UI"/>
              </a:defRPr>
            </a:pPr>
            <a:r>
              <a:t>Internal users</a:t>
            </a:r>
            <a:br/>
            <a:r>
              <a:t>authenticate</a:t>
            </a:r>
          </a:p>
        </p:txBody>
      </p:sp>
      <p:sp>
        <p:nvSpPr>
          <p:cNvPr id="18" name="Rectangle 17"/>
          <p:cNvSpPr/>
          <p:nvPr/>
        </p:nvSpPr>
        <p:spPr>
          <a:xfrm>
            <a:off x="4937760" y="3840480"/>
            <a:ext cx="2468880" cy="2743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0" y="3977639"/>
            <a:ext cx="3017520" cy="1828800"/>
          </a:xfrm>
          <a:prstGeom prst="rect">
            <a:avLst/>
          </a:prstGeom>
          <a:noFill/>
        </p:spPr>
        <p:txBody>
          <a:bodyPr wrap="square">
            <a:spAutoFit/>
          </a:bodyPr>
          <a:lstStyle/>
          <a:p>
            <a:pPr>
              <a:spcAft>
                <a:spcPts val="600"/>
              </a:spcAft>
              <a:defRPr sz="1200">
                <a:solidFill>
                  <a:srgbClr val="242424"/>
                </a:solidFill>
                <a:latin typeface="Segoe UI"/>
              </a:defRPr>
            </a:pPr>
            <a:r>
              <a:t>• Works for all org members</a:t>
            </a:r>
          </a:p>
          <a:p>
            <a:pPr>
              <a:spcAft>
                <a:spcPts val="600"/>
              </a:spcAft>
              <a:defRPr sz="1200">
                <a:solidFill>
                  <a:srgbClr val="242424"/>
                </a:solidFill>
                <a:latin typeface="Segoe UI"/>
              </a:defRPr>
            </a:pPr>
            <a:r>
              <a:t>• Forwarded links still work</a:t>
            </a:r>
          </a:p>
          <a:p>
            <a:pPr>
              <a:spcAft>
                <a:spcPts val="600"/>
              </a:spcAft>
              <a:defRPr sz="1200">
                <a:solidFill>
                  <a:srgbClr val="242424"/>
                </a:solidFill>
                <a:latin typeface="Segoe UI"/>
              </a:defRPr>
            </a:pPr>
            <a:r>
              <a:t>• Users must sign in</a:t>
            </a:r>
          </a:p>
          <a:p>
            <a:pPr>
              <a:spcAft>
                <a:spcPts val="600"/>
              </a:spcAft>
              <a:defRPr sz="1200">
                <a:solidFill>
                  <a:srgbClr val="242424"/>
                </a:solidFill>
                <a:latin typeface="Segoe UI"/>
              </a:defRPr>
            </a:pPr>
            <a:r>
              <a:t>• Good for broad internal sharing</a:t>
            </a:r>
          </a:p>
        </p:txBody>
      </p:sp>
      <p:sp>
        <p:nvSpPr>
          <p:cNvPr id="20" name="Rounded Rectangle 19"/>
          <p:cNvSpPr/>
          <p:nvPr/>
        </p:nvSpPr>
        <p:spPr>
          <a:xfrm>
            <a:off x="8229600" y="1371600"/>
            <a:ext cx="3566160" cy="45720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0" y="1371600"/>
            <a:ext cx="3566160" cy="73152"/>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0" y="1600200"/>
            <a:ext cx="3017520" cy="457200"/>
          </a:xfrm>
          <a:prstGeom prst="rect">
            <a:avLst/>
          </a:prstGeom>
          <a:noFill/>
        </p:spPr>
        <p:txBody>
          <a:bodyPr wrap="square">
            <a:spAutoFit/>
          </a:bodyPr>
          <a:lstStyle/>
          <a:p>
            <a:pPr algn="ctr">
              <a:defRPr sz="3600" b="0">
                <a:solidFill>
                  <a:srgbClr val="242424"/>
                </a:solidFill>
                <a:latin typeface="Segoe UI"/>
              </a:defRPr>
            </a:pPr>
            <a:r>
              <a:t>👤</a:t>
            </a:r>
          </a:p>
        </p:txBody>
      </p:sp>
      <p:sp>
        <p:nvSpPr>
          <p:cNvPr id="23" name="TextBox 22"/>
          <p:cNvSpPr txBox="1"/>
          <p:nvPr/>
        </p:nvSpPr>
        <p:spPr>
          <a:xfrm>
            <a:off x="8503920" y="2103120"/>
            <a:ext cx="3017520" cy="640080"/>
          </a:xfrm>
          <a:prstGeom prst="rect">
            <a:avLst/>
          </a:prstGeom>
          <a:noFill/>
        </p:spPr>
        <p:txBody>
          <a:bodyPr wrap="square">
            <a:spAutoFit/>
          </a:bodyPr>
          <a:lstStyle/>
          <a:p>
            <a:pPr algn="ctr">
              <a:defRPr sz="1800" b="1">
                <a:solidFill>
                  <a:srgbClr val="107C10"/>
                </a:solidFill>
                <a:latin typeface="Segoe UI"/>
              </a:defRPr>
            </a:pPr>
            <a:r>
              <a:t>Specific People</a:t>
            </a:r>
          </a:p>
        </p:txBody>
      </p:sp>
      <p:sp>
        <p:nvSpPr>
          <p:cNvPr id="24" name="Rounded Rectangle 23"/>
          <p:cNvSpPr/>
          <p:nvPr/>
        </p:nvSpPr>
        <p:spPr>
          <a:xfrm>
            <a:off x="9144000" y="2788920"/>
            <a:ext cx="1737360" cy="320040"/>
          </a:xfrm>
          <a:prstGeom prst="roundRect">
            <a:avLst>
              <a:gd name="adj" fmla="val 5000"/>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FFFFFF"/>
                </a:solidFill>
                <a:latin typeface="Segoe UI"/>
              </a:defRPr>
            </a:pPr>
            <a:r>
              <a:t>LOW RISK</a:t>
            </a:r>
          </a:p>
        </p:txBody>
      </p:sp>
      <p:sp>
        <p:nvSpPr>
          <p:cNvPr id="25" name="TextBox 24"/>
          <p:cNvSpPr txBox="1"/>
          <p:nvPr/>
        </p:nvSpPr>
        <p:spPr>
          <a:xfrm>
            <a:off x="8503920" y="3246120"/>
            <a:ext cx="3017520" cy="548640"/>
          </a:xfrm>
          <a:prstGeom prst="rect">
            <a:avLst/>
          </a:prstGeom>
          <a:noFill/>
        </p:spPr>
        <p:txBody>
          <a:bodyPr wrap="square">
            <a:spAutoFit/>
          </a:bodyPr>
          <a:lstStyle/>
          <a:p>
            <a:pPr algn="ctr">
              <a:defRPr sz="1200" b="0">
                <a:solidFill>
                  <a:srgbClr val="606060"/>
                </a:solidFill>
                <a:latin typeface="Segoe UI"/>
              </a:defRPr>
            </a:pPr>
            <a:r>
              <a:t>Named recipients</a:t>
            </a:r>
            <a:br/>
            <a:r>
              <a:t>authenticate</a:t>
            </a:r>
          </a:p>
        </p:txBody>
      </p:sp>
      <p:sp>
        <p:nvSpPr>
          <p:cNvPr id="26" name="Rectangle 25"/>
          <p:cNvSpPr/>
          <p:nvPr/>
        </p:nvSpPr>
        <p:spPr>
          <a:xfrm>
            <a:off x="8778240" y="3840480"/>
            <a:ext cx="2468880" cy="2743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3920" y="3977639"/>
            <a:ext cx="3017520" cy="1828800"/>
          </a:xfrm>
          <a:prstGeom prst="rect">
            <a:avLst/>
          </a:prstGeom>
          <a:noFill/>
        </p:spPr>
        <p:txBody>
          <a:bodyPr wrap="square">
            <a:spAutoFit/>
          </a:bodyPr>
          <a:lstStyle/>
          <a:p>
            <a:pPr>
              <a:spcAft>
                <a:spcPts val="600"/>
              </a:spcAft>
              <a:defRPr sz="1200">
                <a:solidFill>
                  <a:srgbClr val="242424"/>
                </a:solidFill>
                <a:latin typeface="Segoe UI"/>
              </a:defRPr>
            </a:pPr>
            <a:r>
              <a:t>• Only specified people can access</a:t>
            </a:r>
          </a:p>
          <a:p>
            <a:pPr>
              <a:spcAft>
                <a:spcPts val="600"/>
              </a:spcAft>
              <a:defRPr sz="1200">
                <a:solidFill>
                  <a:srgbClr val="242424"/>
                </a:solidFill>
                <a:latin typeface="Segoe UI"/>
              </a:defRPr>
            </a:pPr>
            <a:r>
              <a:t>• Requires authentication</a:t>
            </a:r>
          </a:p>
          <a:p>
            <a:pPr>
              <a:spcAft>
                <a:spcPts val="600"/>
              </a:spcAft>
              <a:defRPr sz="1200">
                <a:solidFill>
                  <a:srgbClr val="242424"/>
                </a:solidFill>
                <a:latin typeface="Segoe UI"/>
              </a:defRPr>
            </a:pPr>
            <a:r>
              <a:t>• Fully auditable</a:t>
            </a:r>
          </a:p>
          <a:p>
            <a:pPr>
              <a:spcAft>
                <a:spcPts val="600"/>
              </a:spcAft>
              <a:defRPr sz="1200">
                <a:solidFill>
                  <a:srgbClr val="242424"/>
                </a:solidFill>
                <a:latin typeface="Segoe UI"/>
              </a:defRPr>
            </a:pPr>
            <a:r>
              <a:t>• Works for internal &amp; external</a:t>
            </a:r>
          </a:p>
        </p:txBody>
      </p:sp>
      <p:sp>
        <p:nvSpPr>
          <p:cNvPr id="28" name="Rectangle 27"/>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4  |  Permissions and Collaboration Model</a:t>
            </a:r>
          </a:p>
        </p:txBody>
      </p:sp>
      <p:sp>
        <p:nvSpPr>
          <p:cNvPr id="30" name="TextBox 29"/>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15 / 28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Admin Controls for Sharing Links</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SharePoint admin center → Policies → Sharing</a:t>
            </a:r>
          </a:p>
        </p:txBody>
      </p:sp>
      <p:sp>
        <p:nvSpPr>
          <p:cNvPr id="5" name="Rounded Rectangle 4"/>
          <p:cNvSpPr/>
          <p:nvPr/>
        </p:nvSpPr>
        <p:spPr>
          <a:xfrm>
            <a:off x="731520" y="1645920"/>
            <a:ext cx="53035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645920"/>
            <a:ext cx="73152" cy="20116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548640" cy="457200"/>
          </a:xfrm>
          <a:prstGeom prst="rect">
            <a:avLst/>
          </a:prstGeom>
          <a:noFill/>
        </p:spPr>
        <p:txBody>
          <a:bodyPr wrap="square">
            <a:spAutoFit/>
          </a:bodyPr>
          <a:lstStyle/>
          <a:p>
            <a:pPr algn="ctr">
              <a:defRPr sz="2800" b="0">
                <a:solidFill>
                  <a:srgbClr val="242424"/>
                </a:solidFill>
                <a:latin typeface="Segoe UI"/>
              </a:defRPr>
            </a:pPr>
            <a:r>
              <a:t>🔧</a:t>
            </a:r>
          </a:p>
        </p:txBody>
      </p:sp>
      <p:sp>
        <p:nvSpPr>
          <p:cNvPr id="8" name="TextBox 7"/>
          <p:cNvSpPr txBox="1"/>
          <p:nvPr/>
        </p:nvSpPr>
        <p:spPr>
          <a:xfrm>
            <a:off x="1645920" y="1828800"/>
            <a:ext cx="4114800" cy="457200"/>
          </a:xfrm>
          <a:prstGeom prst="rect">
            <a:avLst/>
          </a:prstGeom>
          <a:noFill/>
        </p:spPr>
        <p:txBody>
          <a:bodyPr wrap="square">
            <a:spAutoFit/>
          </a:bodyPr>
          <a:lstStyle/>
          <a:p>
            <a:pPr algn="l">
              <a:defRPr sz="1800" b="1">
                <a:solidFill>
                  <a:srgbClr val="0078D4"/>
                </a:solidFill>
                <a:latin typeface="Segoe UI"/>
              </a:defRPr>
            </a:pPr>
            <a:r>
              <a:t>Default Link Type</a:t>
            </a:r>
          </a:p>
        </p:txBody>
      </p:sp>
      <p:sp>
        <p:nvSpPr>
          <p:cNvPr id="9" name="TextBox 8"/>
          <p:cNvSpPr txBox="1"/>
          <p:nvPr/>
        </p:nvSpPr>
        <p:spPr>
          <a:xfrm>
            <a:off x="1645920" y="2377440"/>
            <a:ext cx="4114800" cy="1097280"/>
          </a:xfrm>
          <a:prstGeom prst="rect">
            <a:avLst/>
          </a:prstGeom>
          <a:noFill/>
        </p:spPr>
        <p:txBody>
          <a:bodyPr wrap="square">
            <a:spAutoFit/>
          </a:bodyPr>
          <a:lstStyle/>
          <a:p>
            <a:pPr algn="l">
              <a:defRPr sz="1300" b="0">
                <a:solidFill>
                  <a:srgbClr val="242424"/>
                </a:solidFill>
                <a:latin typeface="Segoe UI"/>
              </a:defRPr>
            </a:pPr>
            <a:r>
              <a:t>Set org-wide default:</a:t>
            </a:r>
            <a:br/>
            <a:r>
              <a:t>Specific People (most restrictive)</a:t>
            </a:r>
            <a:br/>
            <a:r>
              <a:t>People in org (balanced)</a:t>
            </a:r>
            <a:br/>
            <a:r>
              <a:t>Anyone (least restrictive)</a:t>
            </a:r>
          </a:p>
        </p:txBody>
      </p:sp>
      <p:sp>
        <p:nvSpPr>
          <p:cNvPr id="10" name="Rounded Rectangle 9"/>
          <p:cNvSpPr/>
          <p:nvPr/>
        </p:nvSpPr>
        <p:spPr>
          <a:xfrm>
            <a:off x="6400800" y="1645920"/>
            <a:ext cx="53035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0" y="1645920"/>
            <a:ext cx="73152" cy="2011680"/>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1828800"/>
            <a:ext cx="548640" cy="457200"/>
          </a:xfrm>
          <a:prstGeom prst="rect">
            <a:avLst/>
          </a:prstGeom>
          <a:noFill/>
        </p:spPr>
        <p:txBody>
          <a:bodyPr wrap="square">
            <a:spAutoFit/>
          </a:bodyPr>
          <a:lstStyle/>
          <a:p>
            <a:pPr algn="ctr">
              <a:defRPr sz="2800" b="0">
                <a:solidFill>
                  <a:srgbClr val="242424"/>
                </a:solidFill>
                <a:latin typeface="Segoe UI"/>
              </a:defRPr>
            </a:pPr>
            <a:r>
              <a:t>⏱️</a:t>
            </a:r>
          </a:p>
        </p:txBody>
      </p:sp>
      <p:sp>
        <p:nvSpPr>
          <p:cNvPr id="13" name="TextBox 12"/>
          <p:cNvSpPr txBox="1"/>
          <p:nvPr/>
        </p:nvSpPr>
        <p:spPr>
          <a:xfrm>
            <a:off x="7315200" y="1828800"/>
            <a:ext cx="4114800" cy="457200"/>
          </a:xfrm>
          <a:prstGeom prst="rect">
            <a:avLst/>
          </a:prstGeom>
          <a:noFill/>
        </p:spPr>
        <p:txBody>
          <a:bodyPr wrap="square">
            <a:spAutoFit/>
          </a:bodyPr>
          <a:lstStyle/>
          <a:p>
            <a:pPr algn="l">
              <a:defRPr sz="1800" b="1">
                <a:solidFill>
                  <a:srgbClr val="00B294"/>
                </a:solidFill>
                <a:latin typeface="Segoe UI"/>
              </a:defRPr>
            </a:pPr>
            <a:r>
              <a:t>Link Expiration</a:t>
            </a:r>
          </a:p>
        </p:txBody>
      </p:sp>
      <p:sp>
        <p:nvSpPr>
          <p:cNvPr id="14" name="TextBox 13"/>
          <p:cNvSpPr txBox="1"/>
          <p:nvPr/>
        </p:nvSpPr>
        <p:spPr>
          <a:xfrm>
            <a:off x="7315200" y="2377440"/>
            <a:ext cx="4114800" cy="1097280"/>
          </a:xfrm>
          <a:prstGeom prst="rect">
            <a:avLst/>
          </a:prstGeom>
          <a:noFill/>
        </p:spPr>
        <p:txBody>
          <a:bodyPr wrap="square">
            <a:spAutoFit/>
          </a:bodyPr>
          <a:lstStyle/>
          <a:p>
            <a:pPr algn="l">
              <a:defRPr sz="1300" b="0">
                <a:solidFill>
                  <a:srgbClr val="242424"/>
                </a:solidFill>
                <a:latin typeface="Segoe UI"/>
              </a:defRPr>
            </a:pPr>
            <a:r>
              <a:t>Set max days for Anyone links</a:t>
            </a:r>
            <a:br/>
            <a:r>
              <a:t>Existing links keep their expiration</a:t>
            </a:r>
            <a:br/>
            <a:r>
              <a:t>if new setting is longer</a:t>
            </a:r>
          </a:p>
        </p:txBody>
      </p:sp>
      <p:sp>
        <p:nvSpPr>
          <p:cNvPr id="15" name="Rounded Rectangle 14"/>
          <p:cNvSpPr/>
          <p:nvPr/>
        </p:nvSpPr>
        <p:spPr>
          <a:xfrm>
            <a:off x="731520" y="3931920"/>
            <a:ext cx="53035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3931920"/>
            <a:ext cx="73152" cy="2011680"/>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114800"/>
            <a:ext cx="548640" cy="457200"/>
          </a:xfrm>
          <a:prstGeom prst="rect">
            <a:avLst/>
          </a:prstGeom>
          <a:noFill/>
        </p:spPr>
        <p:txBody>
          <a:bodyPr wrap="square">
            <a:spAutoFit/>
          </a:bodyPr>
          <a:lstStyle/>
          <a:p>
            <a:pPr algn="ctr">
              <a:defRPr sz="2800" b="0">
                <a:solidFill>
                  <a:srgbClr val="242424"/>
                </a:solidFill>
                <a:latin typeface="Segoe UI"/>
              </a:defRPr>
            </a:pPr>
            <a:r>
              <a:t>🔒</a:t>
            </a:r>
          </a:p>
        </p:txBody>
      </p:sp>
      <p:sp>
        <p:nvSpPr>
          <p:cNvPr id="18" name="TextBox 17"/>
          <p:cNvSpPr txBox="1"/>
          <p:nvPr/>
        </p:nvSpPr>
        <p:spPr>
          <a:xfrm>
            <a:off x="1645920" y="4114800"/>
            <a:ext cx="4114800" cy="457200"/>
          </a:xfrm>
          <a:prstGeom prst="rect">
            <a:avLst/>
          </a:prstGeom>
          <a:noFill/>
        </p:spPr>
        <p:txBody>
          <a:bodyPr wrap="square">
            <a:spAutoFit/>
          </a:bodyPr>
          <a:lstStyle/>
          <a:p>
            <a:pPr algn="l">
              <a:defRPr sz="1800" b="1">
                <a:solidFill>
                  <a:srgbClr val="6B69D6"/>
                </a:solidFill>
                <a:latin typeface="Segoe UI"/>
              </a:defRPr>
            </a:pPr>
            <a:r>
              <a:t>Link Permissions</a:t>
            </a:r>
          </a:p>
        </p:txBody>
      </p:sp>
      <p:sp>
        <p:nvSpPr>
          <p:cNvPr id="19" name="TextBox 18"/>
          <p:cNvSpPr txBox="1"/>
          <p:nvPr/>
        </p:nvSpPr>
        <p:spPr>
          <a:xfrm>
            <a:off x="1645920" y="4663440"/>
            <a:ext cx="4114800" cy="1097280"/>
          </a:xfrm>
          <a:prstGeom prst="rect">
            <a:avLst/>
          </a:prstGeom>
          <a:noFill/>
        </p:spPr>
        <p:txBody>
          <a:bodyPr wrap="square">
            <a:spAutoFit/>
          </a:bodyPr>
          <a:lstStyle/>
          <a:p>
            <a:pPr algn="l">
              <a:defRPr sz="1300" b="0">
                <a:solidFill>
                  <a:srgbClr val="242424"/>
                </a:solidFill>
                <a:latin typeface="Segoe UI"/>
              </a:defRPr>
            </a:pPr>
            <a:r>
              <a:t>View only or View + Edit</a:t>
            </a:r>
            <a:br/>
            <a:r>
              <a:t>Set separately for files &amp; folders</a:t>
            </a:r>
            <a:br/>
            <a:r>
              <a:t>Anyone links can be restricted</a:t>
            </a:r>
          </a:p>
        </p:txBody>
      </p:sp>
      <p:sp>
        <p:nvSpPr>
          <p:cNvPr id="20" name="Rounded Rectangle 19"/>
          <p:cNvSpPr/>
          <p:nvPr/>
        </p:nvSpPr>
        <p:spPr>
          <a:xfrm>
            <a:off x="6400800" y="3931920"/>
            <a:ext cx="53035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0" y="3931920"/>
            <a:ext cx="73152" cy="201168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0" y="4114800"/>
            <a:ext cx="548640" cy="457200"/>
          </a:xfrm>
          <a:prstGeom prst="rect">
            <a:avLst/>
          </a:prstGeom>
          <a:noFill/>
        </p:spPr>
        <p:txBody>
          <a:bodyPr wrap="square">
            <a:spAutoFit/>
          </a:bodyPr>
          <a:lstStyle/>
          <a:p>
            <a:pPr algn="ctr">
              <a:defRPr sz="2800" b="0">
                <a:solidFill>
                  <a:srgbClr val="242424"/>
                </a:solidFill>
                <a:latin typeface="Segoe UI"/>
              </a:defRPr>
            </a:pPr>
            <a:r>
              <a:t>🌐</a:t>
            </a:r>
          </a:p>
        </p:txBody>
      </p:sp>
      <p:sp>
        <p:nvSpPr>
          <p:cNvPr id="23" name="TextBox 22"/>
          <p:cNvSpPr txBox="1"/>
          <p:nvPr/>
        </p:nvSpPr>
        <p:spPr>
          <a:xfrm>
            <a:off x="7315200" y="4114800"/>
            <a:ext cx="4114800" cy="457200"/>
          </a:xfrm>
          <a:prstGeom prst="rect">
            <a:avLst/>
          </a:prstGeom>
          <a:noFill/>
        </p:spPr>
        <p:txBody>
          <a:bodyPr wrap="square">
            <a:spAutoFit/>
          </a:bodyPr>
          <a:lstStyle/>
          <a:p>
            <a:pPr algn="l">
              <a:defRPr sz="1800" b="1">
                <a:solidFill>
                  <a:srgbClr val="FF8C00"/>
                </a:solidFill>
                <a:latin typeface="Segoe UI"/>
              </a:defRPr>
            </a:pPr>
            <a:r>
              <a:t>Site-Level Override</a:t>
            </a:r>
          </a:p>
        </p:txBody>
      </p:sp>
      <p:sp>
        <p:nvSpPr>
          <p:cNvPr id="24" name="TextBox 23"/>
          <p:cNvSpPr txBox="1"/>
          <p:nvPr/>
        </p:nvSpPr>
        <p:spPr>
          <a:xfrm>
            <a:off x="7315200" y="4663440"/>
            <a:ext cx="4114800" cy="1097280"/>
          </a:xfrm>
          <a:prstGeom prst="rect">
            <a:avLst/>
          </a:prstGeom>
          <a:noFill/>
        </p:spPr>
        <p:txBody>
          <a:bodyPr wrap="square">
            <a:spAutoFit/>
          </a:bodyPr>
          <a:lstStyle/>
          <a:p>
            <a:pPr algn="l">
              <a:defRPr sz="1300" b="0">
                <a:solidFill>
                  <a:srgbClr val="242424"/>
                </a:solidFill>
                <a:latin typeface="Segoe UI"/>
              </a:defRPr>
            </a:pPr>
            <a:r>
              <a:t>Per-site sharing can be MORE</a:t>
            </a:r>
            <a:br/>
            <a:r>
              <a:t>restrictive than org, never more</a:t>
            </a:r>
            <a:br/>
            <a:r>
              <a:t>permissive</a:t>
            </a:r>
          </a:p>
        </p:txBody>
      </p:sp>
      <p:sp>
        <p:nvSpPr>
          <p:cNvPr id="25" name="Rectangle 2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4  |  Permissions and Collaboration Model</a:t>
            </a:r>
          </a:p>
        </p:txBody>
      </p:sp>
      <p:sp>
        <p:nvSpPr>
          <p:cNvPr id="27" name="TextBox 26"/>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16 / 28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000" b="1">
                <a:solidFill>
                  <a:srgbClr val="1B1B2F"/>
                </a:solidFill>
                <a:latin typeface="Segoe UI"/>
              </a:defRPr>
            </a:pPr>
            <a:r>
              <a:t>SharePoint vs OneDrive Sharing Policy</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The sharing hierarchy: Org → SharePoint → OneDrive → Site</a:t>
            </a:r>
          </a:p>
        </p:txBody>
      </p:sp>
      <p:sp>
        <p:nvSpPr>
          <p:cNvPr id="5" name="Rounded Rectangle 4"/>
          <p:cNvSpPr/>
          <p:nvPr/>
        </p:nvSpPr>
        <p:spPr>
          <a:xfrm>
            <a:off x="548640" y="1828800"/>
            <a:ext cx="2560320" cy="23774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256032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057400"/>
            <a:ext cx="2194560" cy="457200"/>
          </a:xfrm>
          <a:prstGeom prst="rect">
            <a:avLst/>
          </a:prstGeom>
          <a:noFill/>
        </p:spPr>
        <p:txBody>
          <a:bodyPr wrap="square">
            <a:spAutoFit/>
          </a:bodyPr>
          <a:lstStyle/>
          <a:p>
            <a:pPr algn="ctr">
              <a:defRPr sz="3600" b="0">
                <a:solidFill>
                  <a:srgbClr val="242424"/>
                </a:solidFill>
                <a:latin typeface="Segoe UI"/>
              </a:defRPr>
            </a:pPr>
            <a:r>
              <a:t>🏛️</a:t>
            </a:r>
          </a:p>
        </p:txBody>
      </p:sp>
      <p:sp>
        <p:nvSpPr>
          <p:cNvPr id="8" name="TextBox 7"/>
          <p:cNvSpPr txBox="1"/>
          <p:nvPr/>
        </p:nvSpPr>
        <p:spPr>
          <a:xfrm>
            <a:off x="731520" y="2560320"/>
            <a:ext cx="2194560" cy="640080"/>
          </a:xfrm>
          <a:prstGeom prst="rect">
            <a:avLst/>
          </a:prstGeom>
          <a:noFill/>
        </p:spPr>
        <p:txBody>
          <a:bodyPr wrap="square">
            <a:spAutoFit/>
          </a:bodyPr>
          <a:lstStyle/>
          <a:p>
            <a:pPr algn="ctr">
              <a:defRPr sz="1600" b="1">
                <a:solidFill>
                  <a:srgbClr val="0078D4"/>
                </a:solidFill>
                <a:latin typeface="Segoe UI"/>
              </a:defRPr>
            </a:pPr>
            <a:r>
              <a:t>Organization</a:t>
            </a:r>
            <a:br/>
            <a:r>
              <a:t>Level</a:t>
            </a:r>
          </a:p>
        </p:txBody>
      </p:sp>
      <p:sp>
        <p:nvSpPr>
          <p:cNvPr id="9" name="TextBox 8"/>
          <p:cNvSpPr txBox="1"/>
          <p:nvPr/>
        </p:nvSpPr>
        <p:spPr>
          <a:xfrm>
            <a:off x="731520" y="3246120"/>
            <a:ext cx="2194560" cy="640080"/>
          </a:xfrm>
          <a:prstGeom prst="rect">
            <a:avLst/>
          </a:prstGeom>
          <a:noFill/>
        </p:spPr>
        <p:txBody>
          <a:bodyPr wrap="square">
            <a:spAutoFit/>
          </a:bodyPr>
          <a:lstStyle/>
          <a:p>
            <a:pPr algn="ctr">
              <a:defRPr sz="1300" b="0">
                <a:solidFill>
                  <a:srgbClr val="242424"/>
                </a:solidFill>
                <a:latin typeface="Segoe UI"/>
              </a:defRPr>
            </a:pPr>
            <a:r>
              <a:t>Sets maximum</a:t>
            </a:r>
            <a:br/>
            <a:r>
              <a:t>permissiveness</a:t>
            </a:r>
          </a:p>
        </p:txBody>
      </p:sp>
      <p:sp>
        <p:nvSpPr>
          <p:cNvPr id="10" name="TextBox 9"/>
          <p:cNvSpPr txBox="1"/>
          <p:nvPr/>
        </p:nvSpPr>
        <p:spPr>
          <a:xfrm>
            <a:off x="3154680" y="2651760"/>
            <a:ext cx="274320" cy="457200"/>
          </a:xfrm>
          <a:prstGeom prst="rect">
            <a:avLst/>
          </a:prstGeom>
          <a:noFill/>
        </p:spPr>
        <p:txBody>
          <a:bodyPr wrap="square">
            <a:spAutoFit/>
          </a:bodyPr>
          <a:lstStyle/>
          <a:p>
            <a:pPr algn="ctr">
              <a:defRPr sz="2400" b="1">
                <a:solidFill>
                  <a:srgbClr val="606060"/>
                </a:solidFill>
                <a:latin typeface="Segoe UI"/>
              </a:defRPr>
            </a:pPr>
            <a:r>
              <a:t>→</a:t>
            </a:r>
          </a:p>
        </p:txBody>
      </p:sp>
      <p:sp>
        <p:nvSpPr>
          <p:cNvPr id="11" name="Rounded Rectangle 10"/>
          <p:cNvSpPr/>
          <p:nvPr/>
        </p:nvSpPr>
        <p:spPr>
          <a:xfrm>
            <a:off x="3474720" y="1828800"/>
            <a:ext cx="2560320" cy="23774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74720" y="1828800"/>
            <a:ext cx="256032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0" y="2057400"/>
            <a:ext cx="2194560" cy="457200"/>
          </a:xfrm>
          <a:prstGeom prst="rect">
            <a:avLst/>
          </a:prstGeom>
          <a:noFill/>
        </p:spPr>
        <p:txBody>
          <a:bodyPr wrap="square">
            <a:spAutoFit/>
          </a:bodyPr>
          <a:lstStyle/>
          <a:p>
            <a:pPr algn="ctr">
              <a:defRPr sz="3600" b="0">
                <a:solidFill>
                  <a:srgbClr val="242424"/>
                </a:solidFill>
                <a:latin typeface="Segoe UI"/>
              </a:defRPr>
            </a:pPr>
            <a:r>
              <a:t>📡</a:t>
            </a:r>
          </a:p>
        </p:txBody>
      </p:sp>
      <p:sp>
        <p:nvSpPr>
          <p:cNvPr id="14" name="TextBox 13"/>
          <p:cNvSpPr txBox="1"/>
          <p:nvPr/>
        </p:nvSpPr>
        <p:spPr>
          <a:xfrm>
            <a:off x="3657600" y="2560320"/>
            <a:ext cx="2194560" cy="640080"/>
          </a:xfrm>
          <a:prstGeom prst="rect">
            <a:avLst/>
          </a:prstGeom>
          <a:noFill/>
        </p:spPr>
        <p:txBody>
          <a:bodyPr wrap="square">
            <a:spAutoFit/>
          </a:bodyPr>
          <a:lstStyle/>
          <a:p>
            <a:pPr algn="ctr">
              <a:defRPr sz="1600" b="1">
                <a:solidFill>
                  <a:srgbClr val="00B294"/>
                </a:solidFill>
                <a:latin typeface="Segoe UI"/>
              </a:defRPr>
            </a:pPr>
            <a:r>
              <a:t>SharePoint</a:t>
            </a:r>
            <a:br/>
            <a:r>
              <a:t>Admin</a:t>
            </a:r>
          </a:p>
        </p:txBody>
      </p:sp>
      <p:sp>
        <p:nvSpPr>
          <p:cNvPr id="15" name="TextBox 14"/>
          <p:cNvSpPr txBox="1"/>
          <p:nvPr/>
        </p:nvSpPr>
        <p:spPr>
          <a:xfrm>
            <a:off x="3657600" y="3246120"/>
            <a:ext cx="2194560" cy="640080"/>
          </a:xfrm>
          <a:prstGeom prst="rect">
            <a:avLst/>
          </a:prstGeom>
          <a:noFill/>
        </p:spPr>
        <p:txBody>
          <a:bodyPr wrap="square">
            <a:spAutoFit/>
          </a:bodyPr>
          <a:lstStyle/>
          <a:p>
            <a:pPr algn="ctr">
              <a:defRPr sz="1300" b="0">
                <a:solidFill>
                  <a:srgbClr val="242424"/>
                </a:solidFill>
                <a:latin typeface="Segoe UI"/>
              </a:defRPr>
            </a:pPr>
            <a:r>
              <a:t>Equal or more</a:t>
            </a:r>
            <a:br/>
            <a:r>
              <a:t>restrictive</a:t>
            </a:r>
          </a:p>
        </p:txBody>
      </p:sp>
      <p:sp>
        <p:nvSpPr>
          <p:cNvPr id="16" name="TextBox 15"/>
          <p:cNvSpPr txBox="1"/>
          <p:nvPr/>
        </p:nvSpPr>
        <p:spPr>
          <a:xfrm>
            <a:off x="6080760" y="2651760"/>
            <a:ext cx="274320" cy="457200"/>
          </a:xfrm>
          <a:prstGeom prst="rect">
            <a:avLst/>
          </a:prstGeom>
          <a:noFill/>
        </p:spPr>
        <p:txBody>
          <a:bodyPr wrap="square">
            <a:spAutoFit/>
          </a:bodyPr>
          <a:lstStyle/>
          <a:p>
            <a:pPr algn="ctr">
              <a:defRPr sz="2400" b="1">
                <a:solidFill>
                  <a:srgbClr val="606060"/>
                </a:solidFill>
                <a:latin typeface="Segoe UI"/>
              </a:defRPr>
            </a:pPr>
            <a:r>
              <a:t>→</a:t>
            </a:r>
          </a:p>
        </p:txBody>
      </p:sp>
      <p:sp>
        <p:nvSpPr>
          <p:cNvPr id="17" name="Rounded Rectangle 16"/>
          <p:cNvSpPr/>
          <p:nvPr/>
        </p:nvSpPr>
        <p:spPr>
          <a:xfrm>
            <a:off x="6400800" y="1828800"/>
            <a:ext cx="2560320" cy="23774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0" y="1828800"/>
            <a:ext cx="2560320"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0" y="2057400"/>
            <a:ext cx="2194560" cy="457200"/>
          </a:xfrm>
          <a:prstGeom prst="rect">
            <a:avLst/>
          </a:prstGeom>
          <a:noFill/>
        </p:spPr>
        <p:txBody>
          <a:bodyPr wrap="square">
            <a:spAutoFit/>
          </a:bodyPr>
          <a:lstStyle/>
          <a:p>
            <a:pPr algn="ctr">
              <a:defRPr sz="3600" b="0">
                <a:solidFill>
                  <a:srgbClr val="242424"/>
                </a:solidFill>
                <a:latin typeface="Segoe UI"/>
              </a:defRPr>
            </a:pPr>
            <a:r>
              <a:t>☁️</a:t>
            </a:r>
          </a:p>
        </p:txBody>
      </p:sp>
      <p:sp>
        <p:nvSpPr>
          <p:cNvPr id="20" name="TextBox 19"/>
          <p:cNvSpPr txBox="1"/>
          <p:nvPr/>
        </p:nvSpPr>
        <p:spPr>
          <a:xfrm>
            <a:off x="6583680" y="2560320"/>
            <a:ext cx="2194560" cy="640080"/>
          </a:xfrm>
          <a:prstGeom prst="rect">
            <a:avLst/>
          </a:prstGeom>
          <a:noFill/>
        </p:spPr>
        <p:txBody>
          <a:bodyPr wrap="square">
            <a:spAutoFit/>
          </a:bodyPr>
          <a:lstStyle/>
          <a:p>
            <a:pPr algn="ctr">
              <a:defRPr sz="1600" b="1">
                <a:solidFill>
                  <a:srgbClr val="6B69D6"/>
                </a:solidFill>
                <a:latin typeface="Segoe UI"/>
              </a:defRPr>
            </a:pPr>
            <a:r>
              <a:t>OneDrive</a:t>
            </a:r>
            <a:br/>
            <a:r>
              <a:t>Admin</a:t>
            </a:r>
          </a:p>
        </p:txBody>
      </p:sp>
      <p:sp>
        <p:nvSpPr>
          <p:cNvPr id="21" name="TextBox 20"/>
          <p:cNvSpPr txBox="1"/>
          <p:nvPr/>
        </p:nvSpPr>
        <p:spPr>
          <a:xfrm>
            <a:off x="6583680" y="3246120"/>
            <a:ext cx="2194560" cy="640080"/>
          </a:xfrm>
          <a:prstGeom prst="rect">
            <a:avLst/>
          </a:prstGeom>
          <a:noFill/>
        </p:spPr>
        <p:txBody>
          <a:bodyPr wrap="square">
            <a:spAutoFit/>
          </a:bodyPr>
          <a:lstStyle/>
          <a:p>
            <a:pPr algn="ctr">
              <a:defRPr sz="1300" b="0">
                <a:solidFill>
                  <a:srgbClr val="242424"/>
                </a:solidFill>
                <a:latin typeface="Segoe UI"/>
              </a:defRPr>
            </a:pPr>
            <a:r>
              <a:t>Equal or more</a:t>
            </a:r>
            <a:br/>
            <a:r>
              <a:t>restrictive than SP</a:t>
            </a:r>
          </a:p>
        </p:txBody>
      </p:sp>
      <p:sp>
        <p:nvSpPr>
          <p:cNvPr id="22" name="TextBox 21"/>
          <p:cNvSpPr txBox="1"/>
          <p:nvPr/>
        </p:nvSpPr>
        <p:spPr>
          <a:xfrm>
            <a:off x="9006840" y="2651760"/>
            <a:ext cx="274320" cy="457200"/>
          </a:xfrm>
          <a:prstGeom prst="rect">
            <a:avLst/>
          </a:prstGeom>
          <a:noFill/>
        </p:spPr>
        <p:txBody>
          <a:bodyPr wrap="square">
            <a:spAutoFit/>
          </a:bodyPr>
          <a:lstStyle/>
          <a:p>
            <a:pPr algn="ctr">
              <a:defRPr sz="2400" b="1">
                <a:solidFill>
                  <a:srgbClr val="606060"/>
                </a:solidFill>
                <a:latin typeface="Segoe UI"/>
              </a:defRPr>
            </a:pPr>
            <a:r>
              <a:t>→</a:t>
            </a:r>
          </a:p>
        </p:txBody>
      </p:sp>
      <p:sp>
        <p:nvSpPr>
          <p:cNvPr id="23" name="Rounded Rectangle 22"/>
          <p:cNvSpPr/>
          <p:nvPr/>
        </p:nvSpPr>
        <p:spPr>
          <a:xfrm>
            <a:off x="9326880" y="1828800"/>
            <a:ext cx="2560320" cy="23774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326880" y="1828800"/>
            <a:ext cx="2560320"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509760" y="2057400"/>
            <a:ext cx="2194560" cy="457200"/>
          </a:xfrm>
          <a:prstGeom prst="rect">
            <a:avLst/>
          </a:prstGeom>
          <a:noFill/>
        </p:spPr>
        <p:txBody>
          <a:bodyPr wrap="square">
            <a:spAutoFit/>
          </a:bodyPr>
          <a:lstStyle/>
          <a:p>
            <a:pPr algn="ctr">
              <a:defRPr sz="3600" b="0">
                <a:solidFill>
                  <a:srgbClr val="242424"/>
                </a:solidFill>
                <a:latin typeface="Segoe UI"/>
              </a:defRPr>
            </a:pPr>
            <a:r>
              <a:t>🌐</a:t>
            </a:r>
          </a:p>
        </p:txBody>
      </p:sp>
      <p:sp>
        <p:nvSpPr>
          <p:cNvPr id="26" name="TextBox 25"/>
          <p:cNvSpPr txBox="1"/>
          <p:nvPr/>
        </p:nvSpPr>
        <p:spPr>
          <a:xfrm>
            <a:off x="9509760" y="2560320"/>
            <a:ext cx="2194560" cy="640080"/>
          </a:xfrm>
          <a:prstGeom prst="rect">
            <a:avLst/>
          </a:prstGeom>
          <a:noFill/>
        </p:spPr>
        <p:txBody>
          <a:bodyPr wrap="square">
            <a:spAutoFit/>
          </a:bodyPr>
          <a:lstStyle/>
          <a:p>
            <a:pPr algn="ctr">
              <a:defRPr sz="1600" b="1">
                <a:solidFill>
                  <a:srgbClr val="FF8C00"/>
                </a:solidFill>
                <a:latin typeface="Segoe UI"/>
              </a:defRPr>
            </a:pPr>
            <a:r>
              <a:t>Individual</a:t>
            </a:r>
            <a:br/>
            <a:r>
              <a:t>Site</a:t>
            </a:r>
          </a:p>
        </p:txBody>
      </p:sp>
      <p:sp>
        <p:nvSpPr>
          <p:cNvPr id="27" name="TextBox 26"/>
          <p:cNvSpPr txBox="1"/>
          <p:nvPr/>
        </p:nvSpPr>
        <p:spPr>
          <a:xfrm>
            <a:off x="9509760" y="3246120"/>
            <a:ext cx="2194560" cy="640080"/>
          </a:xfrm>
          <a:prstGeom prst="rect">
            <a:avLst/>
          </a:prstGeom>
          <a:noFill/>
        </p:spPr>
        <p:txBody>
          <a:bodyPr wrap="square">
            <a:spAutoFit/>
          </a:bodyPr>
          <a:lstStyle/>
          <a:p>
            <a:pPr algn="ctr">
              <a:defRPr sz="1300" b="0">
                <a:solidFill>
                  <a:srgbClr val="242424"/>
                </a:solidFill>
                <a:latin typeface="Segoe UI"/>
              </a:defRPr>
            </a:pPr>
            <a:r>
              <a:t>Most restrictive</a:t>
            </a:r>
            <a:br/>
            <a:r>
              <a:t>(per-site override)</a:t>
            </a:r>
          </a:p>
        </p:txBody>
      </p:sp>
      <p:sp>
        <p:nvSpPr>
          <p:cNvPr id="28" name="Rounded Rectangle 27"/>
          <p:cNvSpPr/>
          <p:nvPr/>
        </p:nvSpPr>
        <p:spPr>
          <a:xfrm>
            <a:off x="731520" y="4572000"/>
            <a:ext cx="10698480" cy="1463040"/>
          </a:xfrm>
          <a:prstGeom prst="roundRect">
            <a:avLst>
              <a:gd name="adj" fmla="val 5000"/>
            </a:avLst>
          </a:prstGeom>
          <a:solidFill>
            <a:srgbClr val="DE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4663440"/>
            <a:ext cx="10058400" cy="1280160"/>
          </a:xfrm>
          <a:prstGeom prst="rect">
            <a:avLst/>
          </a:prstGeom>
          <a:noFill/>
        </p:spPr>
        <p:txBody>
          <a:bodyPr wrap="square">
            <a:spAutoFit/>
          </a:bodyPr>
          <a:lstStyle/>
          <a:p>
            <a:pPr>
              <a:spcAft>
                <a:spcPts val="600"/>
              </a:spcAft>
              <a:defRPr sz="1300">
                <a:solidFill>
                  <a:srgbClr val="242424"/>
                </a:solidFill>
                <a:latin typeface="Segoe UI"/>
              </a:defRPr>
            </a:pPr>
            <a:r>
              <a:t> 🔹 A site can NEVER be more permissive than the org-level setting</a:t>
            </a:r>
          </a:p>
          <a:p>
            <a:pPr>
              <a:spcAft>
                <a:spcPts val="600"/>
              </a:spcAft>
              <a:defRPr sz="1300">
                <a:solidFill>
                  <a:srgbClr val="242424"/>
                </a:solidFill>
                <a:latin typeface="Segoe UI"/>
              </a:defRPr>
            </a:pPr>
            <a:r>
              <a:t> 🔹 OneDrive sharing can be equal or more restrictive than SharePoint — not more permissive</a:t>
            </a:r>
          </a:p>
          <a:p>
            <a:pPr>
              <a:spcAft>
                <a:spcPts val="600"/>
              </a:spcAft>
              <a:defRPr sz="1300">
                <a:solidFill>
                  <a:srgbClr val="242424"/>
                </a:solidFill>
                <a:latin typeface="Segoe UI"/>
              </a:defRPr>
            </a:pPr>
            <a:r>
              <a:t> 🔹 Changing org-level setting affects existing sites only if they were using the old maximum</a:t>
            </a:r>
          </a:p>
          <a:p>
            <a:pPr>
              <a:spcAft>
                <a:spcPts val="600"/>
              </a:spcAft>
              <a:defRPr sz="1300">
                <a:solidFill>
                  <a:srgbClr val="242424"/>
                </a:solidFill>
                <a:latin typeface="Segoe UI"/>
              </a:defRPr>
            </a:pPr>
            <a:r>
              <a:t> 🔹 External sharing level: Anyone &gt; New &amp; Existing Guests &gt; Existing Guests &gt; Only Org</a:t>
            </a:r>
          </a:p>
        </p:txBody>
      </p:sp>
      <p:sp>
        <p:nvSpPr>
          <p:cNvPr id="30" name="Rectangle 29"/>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4  |  Permissions and Collaboration Model</a:t>
            </a:r>
          </a:p>
        </p:txBody>
      </p:sp>
      <p:sp>
        <p:nvSpPr>
          <p:cNvPr id="32" name="TextBox 31"/>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17 / 28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2926080"/>
            <a:ext cx="228600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058400" cy="1097280"/>
          </a:xfrm>
          <a:prstGeom prst="rect">
            <a:avLst/>
          </a:prstGeom>
          <a:noFill/>
        </p:spPr>
        <p:txBody>
          <a:bodyPr wrap="square">
            <a:spAutoFit/>
          </a:bodyPr>
          <a:lstStyle/>
          <a:p>
            <a:pPr algn="ctr">
              <a:defRPr sz="6000" b="0">
                <a:solidFill>
                  <a:srgbClr val="00B294"/>
                </a:solidFill>
                <a:latin typeface="Segoe UI"/>
              </a:defRPr>
            </a:pPr>
            <a:r>
              <a:t>📋</a:t>
            </a:r>
          </a:p>
        </p:txBody>
      </p:sp>
      <p:sp>
        <p:nvSpPr>
          <p:cNvPr id="4" name="TextBox 3"/>
          <p:cNvSpPr txBox="1"/>
          <p:nvPr/>
        </p:nvSpPr>
        <p:spPr>
          <a:xfrm>
            <a:off x="914400" y="3200400"/>
            <a:ext cx="10058400" cy="1097280"/>
          </a:xfrm>
          <a:prstGeom prst="rect">
            <a:avLst/>
          </a:prstGeom>
          <a:noFill/>
        </p:spPr>
        <p:txBody>
          <a:bodyPr wrap="square">
            <a:spAutoFit/>
          </a:bodyPr>
          <a:lstStyle/>
          <a:p>
            <a:pPr algn="ctr">
              <a:defRPr sz="4000" b="1">
                <a:solidFill>
                  <a:srgbClr val="FFFFFF"/>
                </a:solidFill>
                <a:latin typeface="Segoe UI"/>
              </a:defRPr>
            </a:pPr>
            <a:r>
              <a:t>Northwind Scenario</a:t>
            </a:r>
          </a:p>
        </p:txBody>
      </p:sp>
      <p:sp>
        <p:nvSpPr>
          <p:cNvPr id="5" name="TextBox 4"/>
          <p:cNvSpPr txBox="1"/>
          <p:nvPr/>
        </p:nvSpPr>
        <p:spPr>
          <a:xfrm>
            <a:off x="1371600" y="4389120"/>
            <a:ext cx="9144000" cy="731520"/>
          </a:xfrm>
          <a:prstGeom prst="rect">
            <a:avLst/>
          </a:prstGeom>
          <a:noFill/>
        </p:spPr>
        <p:txBody>
          <a:bodyPr wrap="square">
            <a:spAutoFit/>
          </a:bodyPr>
          <a:lstStyle/>
          <a:p>
            <a:pPr algn="ctr">
              <a:defRPr sz="1800" b="0">
                <a:solidFill>
                  <a:srgbClr val="BBBBBB"/>
                </a:solidFill>
                <a:latin typeface="Segoe UI"/>
              </a:defRPr>
            </a:pPr>
            <a:r>
              <a:t>Designing a permission model for the Contracts workflow</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000" b="1">
                <a:solidFill>
                  <a:srgbClr val="1B1B2F"/>
                </a:solidFill>
                <a:latin typeface="Segoe UI"/>
              </a:defRPr>
            </a:pPr>
            <a:r>
              <a:t>📋  Scenario: Northwind Contracts Workflow</a:t>
            </a:r>
          </a:p>
        </p:txBody>
      </p:sp>
      <p:sp>
        <p:nvSpPr>
          <p:cNvPr id="4" name="Rounded Rectangle 3"/>
          <p:cNvSpPr/>
          <p:nvPr/>
        </p:nvSpPr>
        <p:spPr>
          <a:xfrm>
            <a:off x="548640" y="1280160"/>
            <a:ext cx="3566160" cy="43891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80160"/>
            <a:ext cx="356616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508760"/>
            <a:ext cx="3017520" cy="457200"/>
          </a:xfrm>
          <a:prstGeom prst="rect">
            <a:avLst/>
          </a:prstGeom>
          <a:noFill/>
        </p:spPr>
        <p:txBody>
          <a:bodyPr wrap="square">
            <a:spAutoFit/>
          </a:bodyPr>
          <a:lstStyle/>
          <a:p>
            <a:pPr algn="ctr">
              <a:defRPr sz="3600" b="0">
                <a:solidFill>
                  <a:srgbClr val="242424"/>
                </a:solidFill>
                <a:latin typeface="Segoe UI"/>
              </a:defRPr>
            </a:pPr>
            <a:r>
              <a:t>📝</a:t>
            </a:r>
          </a:p>
        </p:txBody>
      </p:sp>
      <p:sp>
        <p:nvSpPr>
          <p:cNvPr id="7" name="TextBox 6"/>
          <p:cNvSpPr txBox="1"/>
          <p:nvPr/>
        </p:nvSpPr>
        <p:spPr>
          <a:xfrm>
            <a:off x="822960" y="2011680"/>
            <a:ext cx="3017520" cy="457200"/>
          </a:xfrm>
          <a:prstGeom prst="rect">
            <a:avLst/>
          </a:prstGeom>
          <a:noFill/>
        </p:spPr>
        <p:txBody>
          <a:bodyPr wrap="square">
            <a:spAutoFit/>
          </a:bodyPr>
          <a:lstStyle/>
          <a:p>
            <a:pPr algn="ctr">
              <a:defRPr sz="2000" b="1">
                <a:solidFill>
                  <a:srgbClr val="0078D4"/>
                </a:solidFill>
                <a:latin typeface="Segoe UI"/>
              </a:defRPr>
            </a:pPr>
            <a:r>
              <a:t>Drafts Library</a:t>
            </a:r>
          </a:p>
        </p:txBody>
      </p:sp>
      <p:sp>
        <p:nvSpPr>
          <p:cNvPr id="8" name="TextBox 7"/>
          <p:cNvSpPr txBox="1"/>
          <p:nvPr/>
        </p:nvSpPr>
        <p:spPr>
          <a:xfrm>
            <a:off x="822960" y="2468880"/>
            <a:ext cx="3017520" cy="548640"/>
          </a:xfrm>
          <a:prstGeom prst="rect">
            <a:avLst/>
          </a:prstGeom>
          <a:noFill/>
        </p:spPr>
        <p:txBody>
          <a:bodyPr wrap="square">
            <a:spAutoFit/>
          </a:bodyPr>
          <a:lstStyle/>
          <a:p>
            <a:pPr algn="ctr">
              <a:defRPr sz="1300" b="0">
                <a:solidFill>
                  <a:srgbClr val="606060"/>
                </a:solidFill>
                <a:latin typeface="Segoe UI"/>
              </a:defRPr>
            </a:pPr>
            <a:r>
              <a:t>Editors collaborate on</a:t>
            </a:r>
            <a:br/>
            <a:r>
              <a:t>contract drafts</a:t>
            </a:r>
          </a:p>
        </p:txBody>
      </p:sp>
      <p:sp>
        <p:nvSpPr>
          <p:cNvPr id="9" name="Rounded Rectangle 8"/>
          <p:cNvSpPr/>
          <p:nvPr/>
        </p:nvSpPr>
        <p:spPr>
          <a:xfrm>
            <a:off x="1188720" y="3063240"/>
            <a:ext cx="2286000" cy="32004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FFFFFF"/>
                </a:solidFill>
                <a:latin typeface="Segoe UI"/>
              </a:defRPr>
            </a:pPr>
            <a:r>
              <a:t>Broken Inheritance</a:t>
            </a:r>
          </a:p>
        </p:txBody>
      </p:sp>
      <p:sp>
        <p:nvSpPr>
          <p:cNvPr id="10" name="TextBox 9"/>
          <p:cNvSpPr txBox="1"/>
          <p:nvPr/>
        </p:nvSpPr>
        <p:spPr>
          <a:xfrm>
            <a:off x="822960" y="3566160"/>
            <a:ext cx="3017520" cy="1828800"/>
          </a:xfrm>
          <a:prstGeom prst="rect">
            <a:avLst/>
          </a:prstGeom>
          <a:noFill/>
        </p:spPr>
        <p:txBody>
          <a:bodyPr wrap="square">
            <a:spAutoFit/>
          </a:bodyPr>
          <a:lstStyle/>
          <a:p>
            <a:pPr>
              <a:spcAft>
                <a:spcPts val="600"/>
              </a:spcAft>
              <a:defRPr sz="1200">
                <a:solidFill>
                  <a:srgbClr val="242424"/>
                </a:solidFill>
                <a:latin typeface="Segoe UI"/>
              </a:defRPr>
            </a:pPr>
            <a:r>
              <a:t>• Restricted to contract editors</a:t>
            </a:r>
          </a:p>
          <a:p>
            <a:pPr>
              <a:spcAft>
                <a:spcPts val="600"/>
              </a:spcAft>
              <a:defRPr sz="1200">
                <a:solidFill>
                  <a:srgbClr val="242424"/>
                </a:solidFill>
                <a:latin typeface="Segoe UI"/>
              </a:defRPr>
            </a:pPr>
            <a:r>
              <a:t>• Members can edit &amp; upload</a:t>
            </a:r>
          </a:p>
          <a:p>
            <a:pPr>
              <a:spcAft>
                <a:spcPts val="600"/>
              </a:spcAft>
              <a:defRPr sz="1200">
                <a:solidFill>
                  <a:srgbClr val="242424"/>
                </a:solidFill>
                <a:latin typeface="Segoe UI"/>
              </a:defRPr>
            </a:pPr>
            <a:r>
              <a:t>• Owners have full control</a:t>
            </a:r>
          </a:p>
        </p:txBody>
      </p:sp>
      <p:sp>
        <p:nvSpPr>
          <p:cNvPr id="11" name="Rounded Rectangle 10"/>
          <p:cNvSpPr/>
          <p:nvPr/>
        </p:nvSpPr>
        <p:spPr>
          <a:xfrm>
            <a:off x="4389120" y="1280160"/>
            <a:ext cx="3566160" cy="43891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280160"/>
            <a:ext cx="3566160" cy="73152"/>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40" y="1508760"/>
            <a:ext cx="3017520" cy="457200"/>
          </a:xfrm>
          <a:prstGeom prst="rect">
            <a:avLst/>
          </a:prstGeom>
          <a:noFill/>
        </p:spPr>
        <p:txBody>
          <a:bodyPr wrap="square">
            <a:spAutoFit/>
          </a:bodyPr>
          <a:lstStyle/>
          <a:p>
            <a:pPr algn="ctr">
              <a:defRPr sz="3600" b="0">
                <a:solidFill>
                  <a:srgbClr val="242424"/>
                </a:solidFill>
                <a:latin typeface="Segoe UI"/>
              </a:defRPr>
            </a:pPr>
            <a:r>
              <a:t>✅</a:t>
            </a:r>
          </a:p>
        </p:txBody>
      </p:sp>
      <p:sp>
        <p:nvSpPr>
          <p:cNvPr id="14" name="TextBox 13"/>
          <p:cNvSpPr txBox="1"/>
          <p:nvPr/>
        </p:nvSpPr>
        <p:spPr>
          <a:xfrm>
            <a:off x="4663440" y="2011680"/>
            <a:ext cx="3017520" cy="457200"/>
          </a:xfrm>
          <a:prstGeom prst="rect">
            <a:avLst/>
          </a:prstGeom>
          <a:noFill/>
        </p:spPr>
        <p:txBody>
          <a:bodyPr wrap="square">
            <a:spAutoFit/>
          </a:bodyPr>
          <a:lstStyle/>
          <a:p>
            <a:pPr algn="ctr">
              <a:defRPr sz="2000" b="1">
                <a:solidFill>
                  <a:srgbClr val="107C10"/>
                </a:solidFill>
                <a:latin typeface="Segoe UI"/>
              </a:defRPr>
            </a:pPr>
            <a:r>
              <a:t>Finals Folder</a:t>
            </a:r>
          </a:p>
        </p:txBody>
      </p:sp>
      <p:sp>
        <p:nvSpPr>
          <p:cNvPr id="15" name="TextBox 14"/>
          <p:cNvSpPr txBox="1"/>
          <p:nvPr/>
        </p:nvSpPr>
        <p:spPr>
          <a:xfrm>
            <a:off x="4663440" y="2468880"/>
            <a:ext cx="3017520" cy="548640"/>
          </a:xfrm>
          <a:prstGeom prst="rect">
            <a:avLst/>
          </a:prstGeom>
          <a:noFill/>
        </p:spPr>
        <p:txBody>
          <a:bodyPr wrap="square">
            <a:spAutoFit/>
          </a:bodyPr>
          <a:lstStyle/>
          <a:p>
            <a:pPr algn="ctr">
              <a:defRPr sz="1300" b="0">
                <a:solidFill>
                  <a:srgbClr val="606060"/>
                </a:solidFill>
                <a:latin typeface="Segoe UI"/>
              </a:defRPr>
            </a:pPr>
            <a:r>
              <a:t>Approved contracts</a:t>
            </a:r>
            <a:br/>
            <a:r>
              <a:t>for broad read access</a:t>
            </a:r>
          </a:p>
        </p:txBody>
      </p:sp>
      <p:sp>
        <p:nvSpPr>
          <p:cNvPr id="16" name="Rounded Rectangle 15"/>
          <p:cNvSpPr/>
          <p:nvPr/>
        </p:nvSpPr>
        <p:spPr>
          <a:xfrm>
            <a:off x="5029200" y="3063240"/>
            <a:ext cx="2286000" cy="320040"/>
          </a:xfrm>
          <a:prstGeom prst="roundRect">
            <a:avLst>
              <a:gd name="adj" fmla="val 5000"/>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FFFFFF"/>
                </a:solidFill>
                <a:latin typeface="Segoe UI"/>
              </a:defRPr>
            </a:pPr>
            <a:r>
              <a:t>Unique Permissions</a:t>
            </a:r>
          </a:p>
        </p:txBody>
      </p:sp>
      <p:sp>
        <p:nvSpPr>
          <p:cNvPr id="17" name="TextBox 16"/>
          <p:cNvSpPr txBox="1"/>
          <p:nvPr/>
        </p:nvSpPr>
        <p:spPr>
          <a:xfrm>
            <a:off x="4663440" y="3566160"/>
            <a:ext cx="3017520" cy="1828800"/>
          </a:xfrm>
          <a:prstGeom prst="rect">
            <a:avLst/>
          </a:prstGeom>
          <a:noFill/>
        </p:spPr>
        <p:txBody>
          <a:bodyPr wrap="square">
            <a:spAutoFit/>
          </a:bodyPr>
          <a:lstStyle/>
          <a:p>
            <a:pPr>
              <a:spcAft>
                <a:spcPts val="600"/>
              </a:spcAft>
              <a:defRPr sz="1200">
                <a:solidFill>
                  <a:srgbClr val="242424"/>
                </a:solidFill>
                <a:latin typeface="Segoe UI"/>
              </a:defRPr>
            </a:pPr>
            <a:r>
              <a:t>• Broad read access (Visitors)</a:t>
            </a:r>
          </a:p>
          <a:p>
            <a:pPr>
              <a:spcAft>
                <a:spcPts val="600"/>
              </a:spcAft>
              <a:defRPr sz="1200">
                <a:solidFill>
                  <a:srgbClr val="242424"/>
                </a:solidFill>
                <a:latin typeface="Segoe UI"/>
              </a:defRPr>
            </a:pPr>
            <a:r>
              <a:t>• Only Owners can edit</a:t>
            </a:r>
          </a:p>
          <a:p>
            <a:pPr>
              <a:spcAft>
                <a:spcPts val="600"/>
              </a:spcAft>
              <a:defRPr sz="1200">
                <a:solidFill>
                  <a:srgbClr val="242424"/>
                </a:solidFill>
                <a:latin typeface="Segoe UI"/>
              </a:defRPr>
            </a:pPr>
            <a:r>
              <a:t>• One folder with unique perms</a:t>
            </a:r>
          </a:p>
        </p:txBody>
      </p:sp>
      <p:sp>
        <p:nvSpPr>
          <p:cNvPr id="18" name="Rounded Rectangle 17"/>
          <p:cNvSpPr/>
          <p:nvPr/>
        </p:nvSpPr>
        <p:spPr>
          <a:xfrm>
            <a:off x="8229600" y="1280160"/>
            <a:ext cx="3566160" cy="43891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600" y="1280160"/>
            <a:ext cx="3566160" cy="73152"/>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0" y="1508760"/>
            <a:ext cx="3017520" cy="457200"/>
          </a:xfrm>
          <a:prstGeom prst="rect">
            <a:avLst/>
          </a:prstGeom>
          <a:noFill/>
        </p:spPr>
        <p:txBody>
          <a:bodyPr wrap="square">
            <a:spAutoFit/>
          </a:bodyPr>
          <a:lstStyle/>
          <a:p>
            <a:pPr algn="ctr">
              <a:defRPr sz="3600" b="0">
                <a:solidFill>
                  <a:srgbClr val="242424"/>
                </a:solidFill>
                <a:latin typeface="Segoe UI"/>
              </a:defRPr>
            </a:pPr>
            <a:r>
              <a:t>🔒</a:t>
            </a:r>
          </a:p>
        </p:txBody>
      </p:sp>
      <p:sp>
        <p:nvSpPr>
          <p:cNvPr id="21" name="TextBox 20"/>
          <p:cNvSpPr txBox="1"/>
          <p:nvPr/>
        </p:nvSpPr>
        <p:spPr>
          <a:xfrm>
            <a:off x="8503920" y="2011680"/>
            <a:ext cx="3017520" cy="457200"/>
          </a:xfrm>
          <a:prstGeom prst="rect">
            <a:avLst/>
          </a:prstGeom>
          <a:noFill/>
        </p:spPr>
        <p:txBody>
          <a:bodyPr wrap="square">
            <a:spAutoFit/>
          </a:bodyPr>
          <a:lstStyle/>
          <a:p>
            <a:pPr algn="ctr">
              <a:defRPr sz="2000" b="1">
                <a:solidFill>
                  <a:srgbClr val="D13438"/>
                </a:solidFill>
                <a:latin typeface="Segoe UI"/>
              </a:defRPr>
            </a:pPr>
            <a:r>
              <a:t>Confidential Folder</a:t>
            </a:r>
          </a:p>
        </p:txBody>
      </p:sp>
      <p:sp>
        <p:nvSpPr>
          <p:cNvPr id="22" name="TextBox 21"/>
          <p:cNvSpPr txBox="1"/>
          <p:nvPr/>
        </p:nvSpPr>
        <p:spPr>
          <a:xfrm>
            <a:off x="8503920" y="2468880"/>
            <a:ext cx="3017520" cy="548640"/>
          </a:xfrm>
          <a:prstGeom prst="rect">
            <a:avLst/>
          </a:prstGeom>
          <a:noFill/>
        </p:spPr>
        <p:txBody>
          <a:bodyPr wrap="square">
            <a:spAutoFit/>
          </a:bodyPr>
          <a:lstStyle/>
          <a:p>
            <a:pPr algn="ctr">
              <a:defRPr sz="1300" b="0">
                <a:solidFill>
                  <a:srgbClr val="606060"/>
                </a:solidFill>
                <a:latin typeface="Segoe UI"/>
              </a:defRPr>
            </a:pPr>
            <a:r>
              <a:t>Sensitive contracts</a:t>
            </a:r>
            <a:br/>
            <a:r>
              <a:t>(board-level only)</a:t>
            </a:r>
          </a:p>
        </p:txBody>
      </p:sp>
      <p:sp>
        <p:nvSpPr>
          <p:cNvPr id="23" name="Rounded Rectangle 22"/>
          <p:cNvSpPr/>
          <p:nvPr/>
        </p:nvSpPr>
        <p:spPr>
          <a:xfrm>
            <a:off x="8869680" y="3063240"/>
            <a:ext cx="2286000" cy="320040"/>
          </a:xfrm>
          <a:prstGeom prst="roundRect">
            <a:avLst>
              <a:gd name="adj" fmla="val 5000"/>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FFFFFF"/>
                </a:solidFill>
                <a:latin typeface="Segoe UI"/>
              </a:defRPr>
            </a:pPr>
            <a:r>
              <a:t>Unique Permissions</a:t>
            </a:r>
          </a:p>
        </p:txBody>
      </p:sp>
      <p:sp>
        <p:nvSpPr>
          <p:cNvPr id="24" name="TextBox 23"/>
          <p:cNvSpPr txBox="1"/>
          <p:nvPr/>
        </p:nvSpPr>
        <p:spPr>
          <a:xfrm>
            <a:off x="8503920" y="3566160"/>
            <a:ext cx="3017520" cy="1828800"/>
          </a:xfrm>
          <a:prstGeom prst="rect">
            <a:avLst/>
          </a:prstGeom>
          <a:noFill/>
        </p:spPr>
        <p:txBody>
          <a:bodyPr wrap="square">
            <a:spAutoFit/>
          </a:bodyPr>
          <a:lstStyle/>
          <a:p>
            <a:pPr>
              <a:spcAft>
                <a:spcPts val="600"/>
              </a:spcAft>
              <a:defRPr sz="1200">
                <a:solidFill>
                  <a:srgbClr val="242424"/>
                </a:solidFill>
                <a:latin typeface="Segoe UI"/>
              </a:defRPr>
            </a:pPr>
            <a:r>
              <a:t>• Board members only</a:t>
            </a:r>
          </a:p>
          <a:p>
            <a:pPr>
              <a:spcAft>
                <a:spcPts val="600"/>
              </a:spcAft>
              <a:defRPr sz="1200">
                <a:solidFill>
                  <a:srgbClr val="242424"/>
                </a:solidFill>
                <a:latin typeface="Segoe UI"/>
              </a:defRPr>
            </a:pPr>
            <a:r>
              <a:t>• Strict need-to-know basis</a:t>
            </a:r>
          </a:p>
          <a:p>
            <a:pPr>
              <a:spcAft>
                <a:spcPts val="600"/>
              </a:spcAft>
              <a:defRPr sz="1200">
                <a:solidFill>
                  <a:srgbClr val="242424"/>
                </a:solidFill>
                <a:latin typeface="Segoe UI"/>
              </a:defRPr>
            </a:pPr>
            <a:r>
              <a:t>• Unique permissions within library</a:t>
            </a:r>
          </a:p>
        </p:txBody>
      </p:sp>
      <p:sp>
        <p:nvSpPr>
          <p:cNvPr id="25" name="Rectangle 2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4  |  Permissions and Collaboration Model</a:t>
            </a:r>
          </a:p>
        </p:txBody>
      </p:sp>
      <p:sp>
        <p:nvSpPr>
          <p:cNvPr id="27" name="TextBox 26"/>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19 / 28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Permission Design Principles</a:t>
            </a:r>
          </a:p>
        </p:txBody>
      </p:sp>
      <p:sp>
        <p:nvSpPr>
          <p:cNvPr id="4" name="Rounded Rectangle 3"/>
          <p:cNvSpPr/>
          <p:nvPr/>
        </p:nvSpPr>
        <p:spPr>
          <a:xfrm>
            <a:off x="548640" y="1371600"/>
            <a:ext cx="2651760" cy="4114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371600"/>
            <a:ext cx="265176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00200"/>
            <a:ext cx="2103120" cy="457200"/>
          </a:xfrm>
          <a:prstGeom prst="rect">
            <a:avLst/>
          </a:prstGeom>
          <a:noFill/>
        </p:spPr>
        <p:txBody>
          <a:bodyPr wrap="square">
            <a:spAutoFit/>
          </a:bodyPr>
          <a:lstStyle/>
          <a:p>
            <a:pPr algn="ctr">
              <a:defRPr sz="4000" b="0">
                <a:solidFill>
                  <a:srgbClr val="242424"/>
                </a:solidFill>
                <a:latin typeface="Segoe UI"/>
              </a:defRPr>
            </a:pPr>
            <a:r>
              <a:t>🎯</a:t>
            </a:r>
          </a:p>
        </p:txBody>
      </p:sp>
      <p:sp>
        <p:nvSpPr>
          <p:cNvPr id="7" name="TextBox 6"/>
          <p:cNvSpPr txBox="1"/>
          <p:nvPr/>
        </p:nvSpPr>
        <p:spPr>
          <a:xfrm>
            <a:off x="731520" y="2148840"/>
            <a:ext cx="2286000" cy="731520"/>
          </a:xfrm>
          <a:prstGeom prst="rect">
            <a:avLst/>
          </a:prstGeom>
          <a:noFill/>
        </p:spPr>
        <p:txBody>
          <a:bodyPr wrap="square">
            <a:spAutoFit/>
          </a:bodyPr>
          <a:lstStyle/>
          <a:p>
            <a:pPr algn="ctr">
              <a:defRPr sz="1700" b="1">
                <a:solidFill>
                  <a:srgbClr val="0078D4"/>
                </a:solidFill>
                <a:latin typeface="Segoe UI"/>
              </a:defRPr>
            </a:pPr>
            <a:r>
              <a:t>Broad at the Top,</a:t>
            </a:r>
            <a:br/>
            <a:r>
              <a:t>Restricted Below</a:t>
            </a:r>
          </a:p>
        </p:txBody>
      </p:sp>
      <p:sp>
        <p:nvSpPr>
          <p:cNvPr id="8" name="Rectangle 7"/>
          <p:cNvSpPr/>
          <p:nvPr/>
        </p:nvSpPr>
        <p:spPr>
          <a:xfrm>
            <a:off x="1097280" y="2926080"/>
            <a:ext cx="1554480" cy="2743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108960"/>
            <a:ext cx="2286000" cy="1828800"/>
          </a:xfrm>
          <a:prstGeom prst="rect">
            <a:avLst/>
          </a:prstGeom>
          <a:noFill/>
        </p:spPr>
        <p:txBody>
          <a:bodyPr wrap="square">
            <a:spAutoFit/>
          </a:bodyPr>
          <a:lstStyle/>
          <a:p>
            <a:pPr algn="ctr">
              <a:defRPr sz="1300" b="0">
                <a:solidFill>
                  <a:srgbClr val="242424"/>
                </a:solidFill>
                <a:latin typeface="Segoe UI"/>
              </a:defRPr>
            </a:pPr>
            <a:r>
              <a:t>Keep site-level access simple.</a:t>
            </a:r>
            <a:br/>
            <a:r>
              <a:t>Isolate sensitive content in</a:t>
            </a:r>
            <a:br/>
            <a:r>
              <a:t>dedicated libraries or folders.</a:t>
            </a:r>
          </a:p>
        </p:txBody>
      </p:sp>
      <p:sp>
        <p:nvSpPr>
          <p:cNvPr id="10" name="Rounded Rectangle 9"/>
          <p:cNvSpPr/>
          <p:nvPr/>
        </p:nvSpPr>
        <p:spPr>
          <a:xfrm>
            <a:off x="3429000" y="1371600"/>
            <a:ext cx="2651760" cy="4114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29000" y="1371600"/>
            <a:ext cx="265176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1600200"/>
            <a:ext cx="2103120" cy="457200"/>
          </a:xfrm>
          <a:prstGeom prst="rect">
            <a:avLst/>
          </a:prstGeom>
          <a:noFill/>
        </p:spPr>
        <p:txBody>
          <a:bodyPr wrap="square">
            <a:spAutoFit/>
          </a:bodyPr>
          <a:lstStyle/>
          <a:p>
            <a:pPr algn="ctr">
              <a:defRPr sz="4000" b="0">
                <a:solidFill>
                  <a:srgbClr val="242424"/>
                </a:solidFill>
                <a:latin typeface="Segoe UI"/>
              </a:defRPr>
            </a:pPr>
            <a:r>
              <a:t>👥</a:t>
            </a:r>
          </a:p>
        </p:txBody>
      </p:sp>
      <p:sp>
        <p:nvSpPr>
          <p:cNvPr id="13" name="TextBox 12"/>
          <p:cNvSpPr txBox="1"/>
          <p:nvPr/>
        </p:nvSpPr>
        <p:spPr>
          <a:xfrm>
            <a:off x="3611880" y="2148840"/>
            <a:ext cx="2286000" cy="731520"/>
          </a:xfrm>
          <a:prstGeom prst="rect">
            <a:avLst/>
          </a:prstGeom>
          <a:noFill/>
        </p:spPr>
        <p:txBody>
          <a:bodyPr wrap="square">
            <a:spAutoFit/>
          </a:bodyPr>
          <a:lstStyle/>
          <a:p>
            <a:pPr algn="ctr">
              <a:defRPr sz="1700" b="1">
                <a:solidFill>
                  <a:srgbClr val="00B294"/>
                </a:solidFill>
                <a:latin typeface="Segoe UI"/>
              </a:defRPr>
            </a:pPr>
            <a:r>
              <a:t>Groups Over</a:t>
            </a:r>
            <a:br/>
            <a:r>
              <a:t>Individuals</a:t>
            </a:r>
          </a:p>
        </p:txBody>
      </p:sp>
      <p:sp>
        <p:nvSpPr>
          <p:cNvPr id="14" name="Rectangle 13"/>
          <p:cNvSpPr/>
          <p:nvPr/>
        </p:nvSpPr>
        <p:spPr>
          <a:xfrm>
            <a:off x="3977640" y="2926080"/>
            <a:ext cx="1554480" cy="2743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11880" y="3108960"/>
            <a:ext cx="2286000" cy="1828800"/>
          </a:xfrm>
          <a:prstGeom prst="rect">
            <a:avLst/>
          </a:prstGeom>
          <a:noFill/>
        </p:spPr>
        <p:txBody>
          <a:bodyPr wrap="square">
            <a:spAutoFit/>
          </a:bodyPr>
          <a:lstStyle/>
          <a:p>
            <a:pPr algn="ctr">
              <a:defRPr sz="1300" b="0">
                <a:solidFill>
                  <a:srgbClr val="242424"/>
                </a:solidFill>
                <a:latin typeface="Segoe UI"/>
              </a:defRPr>
            </a:pPr>
            <a:r>
              <a:t>Always use SharePoint groups or</a:t>
            </a:r>
            <a:br/>
            <a:r>
              <a:t>Entra ID groups. Never assign</a:t>
            </a:r>
            <a:br/>
            <a:r>
              <a:t>permissions to individual users.</a:t>
            </a:r>
          </a:p>
        </p:txBody>
      </p:sp>
      <p:sp>
        <p:nvSpPr>
          <p:cNvPr id="16" name="Rounded Rectangle 15"/>
          <p:cNvSpPr/>
          <p:nvPr/>
        </p:nvSpPr>
        <p:spPr>
          <a:xfrm>
            <a:off x="6309359" y="1371600"/>
            <a:ext cx="2651760" cy="4114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09359" y="1371600"/>
            <a:ext cx="2651760"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79" y="1600200"/>
            <a:ext cx="2103120" cy="457200"/>
          </a:xfrm>
          <a:prstGeom prst="rect">
            <a:avLst/>
          </a:prstGeom>
          <a:noFill/>
        </p:spPr>
        <p:txBody>
          <a:bodyPr wrap="square">
            <a:spAutoFit/>
          </a:bodyPr>
          <a:lstStyle/>
          <a:p>
            <a:pPr algn="ctr">
              <a:defRPr sz="4000" b="0">
                <a:solidFill>
                  <a:srgbClr val="242424"/>
                </a:solidFill>
                <a:latin typeface="Segoe UI"/>
              </a:defRPr>
            </a:pPr>
            <a:r>
              <a:t>✂️</a:t>
            </a:r>
          </a:p>
        </p:txBody>
      </p:sp>
      <p:sp>
        <p:nvSpPr>
          <p:cNvPr id="19" name="TextBox 18"/>
          <p:cNvSpPr txBox="1"/>
          <p:nvPr/>
        </p:nvSpPr>
        <p:spPr>
          <a:xfrm>
            <a:off x="6492239" y="2148840"/>
            <a:ext cx="2286000" cy="731520"/>
          </a:xfrm>
          <a:prstGeom prst="rect">
            <a:avLst/>
          </a:prstGeom>
          <a:noFill/>
        </p:spPr>
        <p:txBody>
          <a:bodyPr wrap="square">
            <a:spAutoFit/>
          </a:bodyPr>
          <a:lstStyle/>
          <a:p>
            <a:pPr algn="ctr">
              <a:defRPr sz="1700" b="1">
                <a:solidFill>
                  <a:srgbClr val="FF8C00"/>
                </a:solidFill>
                <a:latin typeface="Segoe UI"/>
              </a:defRPr>
            </a:pPr>
            <a:r>
              <a:t>Minimize</a:t>
            </a:r>
            <a:br/>
            <a:r>
              <a:t>Unique Scopes</a:t>
            </a:r>
          </a:p>
        </p:txBody>
      </p:sp>
      <p:sp>
        <p:nvSpPr>
          <p:cNvPr id="20" name="Rectangle 19"/>
          <p:cNvSpPr/>
          <p:nvPr/>
        </p:nvSpPr>
        <p:spPr>
          <a:xfrm>
            <a:off x="6857999" y="2926080"/>
            <a:ext cx="1554480" cy="2743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39" y="3108960"/>
            <a:ext cx="2286000" cy="1828800"/>
          </a:xfrm>
          <a:prstGeom prst="rect">
            <a:avLst/>
          </a:prstGeom>
          <a:noFill/>
        </p:spPr>
        <p:txBody>
          <a:bodyPr wrap="square">
            <a:spAutoFit/>
          </a:bodyPr>
          <a:lstStyle/>
          <a:p>
            <a:pPr algn="ctr">
              <a:defRPr sz="1300" b="0">
                <a:solidFill>
                  <a:srgbClr val="242424"/>
                </a:solidFill>
                <a:latin typeface="Segoe UI"/>
              </a:defRPr>
            </a:pPr>
            <a:r>
              <a:t>Every break costs manageability.</a:t>
            </a:r>
            <a:br/>
            <a:r>
              <a:t>Aim for library-level isolation,</a:t>
            </a:r>
            <a:br/>
            <a:r>
              <a:t>not file-by-file permissions.</a:t>
            </a:r>
          </a:p>
        </p:txBody>
      </p:sp>
      <p:sp>
        <p:nvSpPr>
          <p:cNvPr id="22" name="Rounded Rectangle 21"/>
          <p:cNvSpPr/>
          <p:nvPr/>
        </p:nvSpPr>
        <p:spPr>
          <a:xfrm>
            <a:off x="9189719" y="1371600"/>
            <a:ext cx="2651760" cy="4114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89719" y="1371600"/>
            <a:ext cx="2651760"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64039" y="1600200"/>
            <a:ext cx="2103120" cy="457200"/>
          </a:xfrm>
          <a:prstGeom prst="rect">
            <a:avLst/>
          </a:prstGeom>
          <a:noFill/>
        </p:spPr>
        <p:txBody>
          <a:bodyPr wrap="square">
            <a:spAutoFit/>
          </a:bodyPr>
          <a:lstStyle/>
          <a:p>
            <a:pPr algn="ctr">
              <a:defRPr sz="4000" b="0">
                <a:solidFill>
                  <a:srgbClr val="242424"/>
                </a:solidFill>
                <a:latin typeface="Segoe UI"/>
              </a:defRPr>
            </a:pPr>
            <a:r>
              <a:t>📊</a:t>
            </a:r>
          </a:p>
        </p:txBody>
      </p:sp>
      <p:sp>
        <p:nvSpPr>
          <p:cNvPr id="25" name="TextBox 24"/>
          <p:cNvSpPr txBox="1"/>
          <p:nvPr/>
        </p:nvSpPr>
        <p:spPr>
          <a:xfrm>
            <a:off x="9372599" y="2148840"/>
            <a:ext cx="2286000" cy="731520"/>
          </a:xfrm>
          <a:prstGeom prst="rect">
            <a:avLst/>
          </a:prstGeom>
          <a:noFill/>
        </p:spPr>
        <p:txBody>
          <a:bodyPr wrap="square">
            <a:spAutoFit/>
          </a:bodyPr>
          <a:lstStyle/>
          <a:p>
            <a:pPr algn="ctr">
              <a:defRPr sz="1700" b="1">
                <a:solidFill>
                  <a:srgbClr val="6B69D6"/>
                </a:solidFill>
                <a:latin typeface="Segoe UI"/>
              </a:defRPr>
            </a:pPr>
            <a:r>
              <a:t>Document</a:t>
            </a:r>
            <a:br/>
            <a:r>
              <a:t>the Model</a:t>
            </a:r>
          </a:p>
        </p:txBody>
      </p:sp>
      <p:sp>
        <p:nvSpPr>
          <p:cNvPr id="26" name="Rectangle 25"/>
          <p:cNvSpPr/>
          <p:nvPr/>
        </p:nvSpPr>
        <p:spPr>
          <a:xfrm>
            <a:off x="9738359" y="2926080"/>
            <a:ext cx="1554480" cy="2743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72599" y="3108960"/>
            <a:ext cx="2286000" cy="1828800"/>
          </a:xfrm>
          <a:prstGeom prst="rect">
            <a:avLst/>
          </a:prstGeom>
          <a:noFill/>
        </p:spPr>
        <p:txBody>
          <a:bodyPr wrap="square">
            <a:spAutoFit/>
          </a:bodyPr>
          <a:lstStyle/>
          <a:p>
            <a:pPr algn="ctr">
              <a:defRPr sz="1300" b="0">
                <a:solidFill>
                  <a:srgbClr val="242424"/>
                </a:solidFill>
                <a:latin typeface="Segoe UI"/>
              </a:defRPr>
            </a:pPr>
            <a:r>
              <a:t>Record who has access and why.</a:t>
            </a:r>
            <a:br/>
            <a:r>
              <a:t>Review quarterly at minimum.</a:t>
            </a:r>
            <a:br/>
            <a:r>
              <a:t>Clean up stale access.</a:t>
            </a:r>
          </a:p>
        </p:txBody>
      </p:sp>
      <p:sp>
        <p:nvSpPr>
          <p:cNvPr id="28" name="Rectangle 27"/>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4  |  Permissions and Collaboration Model</a:t>
            </a:r>
          </a:p>
        </p:txBody>
      </p:sp>
      <p:sp>
        <p:nvSpPr>
          <p:cNvPr id="30" name="TextBox 29"/>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20 / 28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2926080"/>
            <a:ext cx="228600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058400" cy="1097280"/>
          </a:xfrm>
          <a:prstGeom prst="rect">
            <a:avLst/>
          </a:prstGeom>
          <a:noFill/>
        </p:spPr>
        <p:txBody>
          <a:bodyPr wrap="square">
            <a:spAutoFit/>
          </a:bodyPr>
          <a:lstStyle/>
          <a:p>
            <a:pPr algn="ctr">
              <a:defRPr sz="6000" b="0">
                <a:solidFill>
                  <a:srgbClr val="00B294"/>
                </a:solidFill>
                <a:latin typeface="Segoe UI"/>
              </a:defRPr>
            </a:pPr>
            <a:r>
              <a:t>🔍</a:t>
            </a:r>
          </a:p>
        </p:txBody>
      </p:sp>
      <p:sp>
        <p:nvSpPr>
          <p:cNvPr id="4" name="TextBox 3"/>
          <p:cNvSpPr txBox="1"/>
          <p:nvPr/>
        </p:nvSpPr>
        <p:spPr>
          <a:xfrm>
            <a:off x="914400" y="3200400"/>
            <a:ext cx="10058400" cy="1097280"/>
          </a:xfrm>
          <a:prstGeom prst="rect">
            <a:avLst/>
          </a:prstGeom>
          <a:noFill/>
        </p:spPr>
        <p:txBody>
          <a:bodyPr wrap="square">
            <a:spAutoFit/>
          </a:bodyPr>
          <a:lstStyle/>
          <a:p>
            <a:pPr algn="ctr">
              <a:defRPr sz="4000" b="1">
                <a:solidFill>
                  <a:srgbClr val="FFFFFF"/>
                </a:solidFill>
                <a:latin typeface="Segoe UI"/>
              </a:defRPr>
            </a:pPr>
            <a:r>
              <a:t>Troubleshooting Access Issues</a:t>
            </a:r>
          </a:p>
        </p:txBody>
      </p:sp>
      <p:sp>
        <p:nvSpPr>
          <p:cNvPr id="5" name="TextBox 4"/>
          <p:cNvSpPr txBox="1"/>
          <p:nvPr/>
        </p:nvSpPr>
        <p:spPr>
          <a:xfrm>
            <a:off x="1371600" y="4389120"/>
            <a:ext cx="9144000" cy="731520"/>
          </a:xfrm>
          <a:prstGeom prst="rect">
            <a:avLst/>
          </a:prstGeom>
          <a:noFill/>
        </p:spPr>
        <p:txBody>
          <a:bodyPr wrap="square">
            <a:spAutoFit/>
          </a:bodyPr>
          <a:lstStyle/>
          <a:p>
            <a:pPr algn="ctr">
              <a:defRPr sz="1800" b="0">
                <a:solidFill>
                  <a:srgbClr val="BBBBBB"/>
                </a:solidFill>
                <a:latin typeface="Segoe UI"/>
              </a:defRPr>
            </a:pPr>
            <a:r>
              <a:t>The admin mindset for resolving 'Access Denied'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000" b="1">
                <a:solidFill>
                  <a:srgbClr val="1B1B2F"/>
                </a:solidFill>
                <a:latin typeface="Segoe UI"/>
              </a:defRPr>
            </a:pPr>
            <a:r>
              <a:t>Access Denied Troubleshooting Workflow</a:t>
            </a:r>
          </a:p>
        </p:txBody>
      </p:sp>
      <p:sp>
        <p:nvSpPr>
          <p:cNvPr id="4" name="Rounded Rectangle 3"/>
          <p:cNvSpPr/>
          <p:nvPr/>
        </p:nvSpPr>
        <p:spPr>
          <a:xfrm>
            <a:off x="365760" y="1371600"/>
            <a:ext cx="2148840" cy="36576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371600"/>
            <a:ext cx="214884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51560" y="1600200"/>
            <a:ext cx="594360" cy="59436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600"/>
              </a:spcBef>
              <a:defRPr sz="2200" b="1">
                <a:solidFill>
                  <a:srgbClr val="FFFFFF"/>
                </a:solidFill>
                <a:latin typeface="Segoe UI"/>
              </a:defRPr>
            </a:pPr>
            <a:r>
              <a:t>1</a:t>
            </a:r>
          </a:p>
        </p:txBody>
      </p:sp>
      <p:sp>
        <p:nvSpPr>
          <p:cNvPr id="7" name="TextBox 6"/>
          <p:cNvSpPr txBox="1"/>
          <p:nvPr/>
        </p:nvSpPr>
        <p:spPr>
          <a:xfrm>
            <a:off x="502920" y="2377440"/>
            <a:ext cx="1874519" cy="640080"/>
          </a:xfrm>
          <a:prstGeom prst="rect">
            <a:avLst/>
          </a:prstGeom>
          <a:noFill/>
        </p:spPr>
        <p:txBody>
          <a:bodyPr wrap="square">
            <a:spAutoFit/>
          </a:bodyPr>
          <a:lstStyle/>
          <a:p>
            <a:pPr algn="ctr">
              <a:defRPr sz="1500" b="1">
                <a:solidFill>
                  <a:srgbClr val="0078D4"/>
                </a:solidFill>
                <a:latin typeface="Segoe UI"/>
              </a:defRPr>
            </a:pPr>
            <a:r>
              <a:t>Identify the Boundary</a:t>
            </a:r>
          </a:p>
        </p:txBody>
      </p:sp>
      <p:sp>
        <p:nvSpPr>
          <p:cNvPr id="8" name="TextBox 7"/>
          <p:cNvSpPr txBox="1"/>
          <p:nvPr/>
        </p:nvSpPr>
        <p:spPr>
          <a:xfrm>
            <a:off x="502920" y="3063240"/>
            <a:ext cx="1874519" cy="1371600"/>
          </a:xfrm>
          <a:prstGeom prst="rect">
            <a:avLst/>
          </a:prstGeom>
          <a:noFill/>
        </p:spPr>
        <p:txBody>
          <a:bodyPr wrap="square">
            <a:spAutoFit/>
          </a:bodyPr>
          <a:lstStyle/>
          <a:p>
            <a:pPr algn="ctr">
              <a:defRPr sz="1200" b="0">
                <a:solidFill>
                  <a:srgbClr val="242424"/>
                </a:solidFill>
                <a:latin typeface="Segoe UI"/>
              </a:defRPr>
            </a:pPr>
            <a:r>
              <a:t>Where is the resource?</a:t>
            </a:r>
            <a:br/>
            <a:r>
              <a:t>Site → Library → Folder → File</a:t>
            </a:r>
          </a:p>
        </p:txBody>
      </p:sp>
      <p:sp>
        <p:nvSpPr>
          <p:cNvPr id="9" name="TextBox 8"/>
          <p:cNvSpPr txBox="1"/>
          <p:nvPr/>
        </p:nvSpPr>
        <p:spPr>
          <a:xfrm>
            <a:off x="2560320" y="2743200"/>
            <a:ext cx="182880" cy="457200"/>
          </a:xfrm>
          <a:prstGeom prst="rect">
            <a:avLst/>
          </a:prstGeom>
          <a:noFill/>
        </p:spPr>
        <p:txBody>
          <a:bodyPr wrap="square">
            <a:spAutoFit/>
          </a:bodyPr>
          <a:lstStyle/>
          <a:p>
            <a:pPr algn="ctr">
              <a:defRPr sz="2000" b="1">
                <a:solidFill>
                  <a:srgbClr val="606060"/>
                </a:solidFill>
                <a:latin typeface="Segoe UI"/>
              </a:defRPr>
            </a:pPr>
            <a:r>
              <a:t>→</a:t>
            </a:r>
          </a:p>
        </p:txBody>
      </p:sp>
      <p:sp>
        <p:nvSpPr>
          <p:cNvPr id="10" name="Rounded Rectangle 9"/>
          <p:cNvSpPr/>
          <p:nvPr/>
        </p:nvSpPr>
        <p:spPr>
          <a:xfrm>
            <a:off x="2743200" y="1371600"/>
            <a:ext cx="2148840" cy="36576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0" y="1371600"/>
            <a:ext cx="214884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29000" y="1600200"/>
            <a:ext cx="594360" cy="594360"/>
          </a:xfrm>
          <a:prstGeom prst="roundRect">
            <a:avLst>
              <a:gd name="adj" fmla="val 5000"/>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600"/>
              </a:spcBef>
              <a:defRPr sz="2200" b="1">
                <a:solidFill>
                  <a:srgbClr val="FFFFFF"/>
                </a:solidFill>
                <a:latin typeface="Segoe UI"/>
              </a:defRPr>
            </a:pPr>
            <a:r>
              <a:t>2</a:t>
            </a:r>
          </a:p>
        </p:txBody>
      </p:sp>
      <p:sp>
        <p:nvSpPr>
          <p:cNvPr id="13" name="TextBox 12"/>
          <p:cNvSpPr txBox="1"/>
          <p:nvPr/>
        </p:nvSpPr>
        <p:spPr>
          <a:xfrm>
            <a:off x="2880360" y="2377440"/>
            <a:ext cx="1874519" cy="640080"/>
          </a:xfrm>
          <a:prstGeom prst="rect">
            <a:avLst/>
          </a:prstGeom>
          <a:noFill/>
        </p:spPr>
        <p:txBody>
          <a:bodyPr wrap="square">
            <a:spAutoFit/>
          </a:bodyPr>
          <a:lstStyle/>
          <a:p>
            <a:pPr algn="ctr">
              <a:defRPr sz="1500" b="1">
                <a:solidFill>
                  <a:srgbClr val="00B294"/>
                </a:solidFill>
                <a:latin typeface="Segoe UI"/>
              </a:defRPr>
            </a:pPr>
            <a:r>
              <a:t>Check Group</a:t>
            </a:r>
            <a:br/>
            <a:r>
              <a:t>Membership</a:t>
            </a:r>
          </a:p>
        </p:txBody>
      </p:sp>
      <p:sp>
        <p:nvSpPr>
          <p:cNvPr id="14" name="TextBox 13"/>
          <p:cNvSpPr txBox="1"/>
          <p:nvPr/>
        </p:nvSpPr>
        <p:spPr>
          <a:xfrm>
            <a:off x="2880360" y="3063240"/>
            <a:ext cx="1874519" cy="1371600"/>
          </a:xfrm>
          <a:prstGeom prst="rect">
            <a:avLst/>
          </a:prstGeom>
          <a:noFill/>
        </p:spPr>
        <p:txBody>
          <a:bodyPr wrap="square">
            <a:spAutoFit/>
          </a:bodyPr>
          <a:lstStyle/>
          <a:p>
            <a:pPr algn="ctr">
              <a:defRPr sz="1200" b="0">
                <a:solidFill>
                  <a:srgbClr val="242424"/>
                </a:solidFill>
                <a:latin typeface="Segoe UI"/>
              </a:defRPr>
            </a:pPr>
            <a:r>
              <a:t>Is the user in Owners,</a:t>
            </a:r>
            <a:br/>
            <a:r>
              <a:t>Members, or Visitors?</a:t>
            </a:r>
          </a:p>
        </p:txBody>
      </p:sp>
      <p:sp>
        <p:nvSpPr>
          <p:cNvPr id="15" name="TextBox 14"/>
          <p:cNvSpPr txBox="1"/>
          <p:nvPr/>
        </p:nvSpPr>
        <p:spPr>
          <a:xfrm>
            <a:off x="4937760" y="2743200"/>
            <a:ext cx="182880" cy="457200"/>
          </a:xfrm>
          <a:prstGeom prst="rect">
            <a:avLst/>
          </a:prstGeom>
          <a:noFill/>
        </p:spPr>
        <p:txBody>
          <a:bodyPr wrap="square">
            <a:spAutoFit/>
          </a:bodyPr>
          <a:lstStyle/>
          <a:p>
            <a:pPr algn="ctr">
              <a:defRPr sz="2000" b="1">
                <a:solidFill>
                  <a:srgbClr val="606060"/>
                </a:solidFill>
                <a:latin typeface="Segoe UI"/>
              </a:defRPr>
            </a:pPr>
            <a:r>
              <a:t>→</a:t>
            </a:r>
          </a:p>
        </p:txBody>
      </p:sp>
      <p:sp>
        <p:nvSpPr>
          <p:cNvPr id="16" name="Rounded Rectangle 15"/>
          <p:cNvSpPr/>
          <p:nvPr/>
        </p:nvSpPr>
        <p:spPr>
          <a:xfrm>
            <a:off x="5120640" y="1371600"/>
            <a:ext cx="2148840" cy="36576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120640" y="1371600"/>
            <a:ext cx="2148840"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806440" y="1600200"/>
            <a:ext cx="594360" cy="59436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600"/>
              </a:spcBef>
              <a:defRPr sz="2200" b="1">
                <a:solidFill>
                  <a:srgbClr val="FFFFFF"/>
                </a:solidFill>
                <a:latin typeface="Segoe UI"/>
              </a:defRPr>
            </a:pPr>
            <a:r>
              <a:t>3</a:t>
            </a:r>
          </a:p>
        </p:txBody>
      </p:sp>
      <p:sp>
        <p:nvSpPr>
          <p:cNvPr id="19" name="TextBox 18"/>
          <p:cNvSpPr txBox="1"/>
          <p:nvPr/>
        </p:nvSpPr>
        <p:spPr>
          <a:xfrm>
            <a:off x="5257800" y="2377440"/>
            <a:ext cx="1874519" cy="640080"/>
          </a:xfrm>
          <a:prstGeom prst="rect">
            <a:avLst/>
          </a:prstGeom>
          <a:noFill/>
        </p:spPr>
        <p:txBody>
          <a:bodyPr wrap="square">
            <a:spAutoFit/>
          </a:bodyPr>
          <a:lstStyle/>
          <a:p>
            <a:pPr algn="ctr">
              <a:defRPr sz="1500" b="1">
                <a:solidFill>
                  <a:srgbClr val="6B69D6"/>
                </a:solidFill>
                <a:latin typeface="Segoe UI"/>
              </a:defRPr>
            </a:pPr>
            <a:r>
              <a:t>Check Direct</a:t>
            </a:r>
            <a:br/>
            <a:r>
              <a:t>Permissions</a:t>
            </a:r>
          </a:p>
        </p:txBody>
      </p:sp>
      <p:sp>
        <p:nvSpPr>
          <p:cNvPr id="20" name="TextBox 19"/>
          <p:cNvSpPr txBox="1"/>
          <p:nvPr/>
        </p:nvSpPr>
        <p:spPr>
          <a:xfrm>
            <a:off x="5257800" y="3063240"/>
            <a:ext cx="1874519" cy="1371600"/>
          </a:xfrm>
          <a:prstGeom prst="rect">
            <a:avLst/>
          </a:prstGeom>
          <a:noFill/>
        </p:spPr>
        <p:txBody>
          <a:bodyPr wrap="square">
            <a:spAutoFit/>
          </a:bodyPr>
          <a:lstStyle/>
          <a:p>
            <a:pPr algn="ctr">
              <a:defRPr sz="1200" b="0">
                <a:solidFill>
                  <a:srgbClr val="242424"/>
                </a:solidFill>
                <a:latin typeface="Segoe UI"/>
              </a:defRPr>
            </a:pPr>
            <a:r>
              <a:t>Any per-user or per-group</a:t>
            </a:r>
            <a:br/>
            <a:r>
              <a:t>assignment at this level?</a:t>
            </a:r>
          </a:p>
        </p:txBody>
      </p:sp>
      <p:sp>
        <p:nvSpPr>
          <p:cNvPr id="21" name="TextBox 20"/>
          <p:cNvSpPr txBox="1"/>
          <p:nvPr/>
        </p:nvSpPr>
        <p:spPr>
          <a:xfrm>
            <a:off x="7315200" y="2743200"/>
            <a:ext cx="182880" cy="457200"/>
          </a:xfrm>
          <a:prstGeom prst="rect">
            <a:avLst/>
          </a:prstGeom>
          <a:noFill/>
        </p:spPr>
        <p:txBody>
          <a:bodyPr wrap="square">
            <a:spAutoFit/>
          </a:bodyPr>
          <a:lstStyle/>
          <a:p>
            <a:pPr algn="ctr">
              <a:defRPr sz="2000" b="1">
                <a:solidFill>
                  <a:srgbClr val="606060"/>
                </a:solidFill>
                <a:latin typeface="Segoe UI"/>
              </a:defRPr>
            </a:pPr>
            <a:r>
              <a:t>→</a:t>
            </a:r>
          </a:p>
        </p:txBody>
      </p:sp>
      <p:sp>
        <p:nvSpPr>
          <p:cNvPr id="22" name="Rounded Rectangle 21"/>
          <p:cNvSpPr/>
          <p:nvPr/>
        </p:nvSpPr>
        <p:spPr>
          <a:xfrm>
            <a:off x="7498080" y="1371600"/>
            <a:ext cx="2148840" cy="36576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498080" y="1371600"/>
            <a:ext cx="2148840"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183880" y="1600200"/>
            <a:ext cx="594360" cy="594360"/>
          </a:xfrm>
          <a:prstGeom prst="roundRect">
            <a:avLst>
              <a:gd name="adj" fmla="val 5000"/>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600"/>
              </a:spcBef>
              <a:defRPr sz="2200" b="1">
                <a:solidFill>
                  <a:srgbClr val="FFFFFF"/>
                </a:solidFill>
                <a:latin typeface="Segoe UI"/>
              </a:defRPr>
            </a:pPr>
            <a:r>
              <a:t>4</a:t>
            </a:r>
          </a:p>
        </p:txBody>
      </p:sp>
      <p:sp>
        <p:nvSpPr>
          <p:cNvPr id="25" name="TextBox 24"/>
          <p:cNvSpPr txBox="1"/>
          <p:nvPr/>
        </p:nvSpPr>
        <p:spPr>
          <a:xfrm>
            <a:off x="7635240" y="2377440"/>
            <a:ext cx="1874519" cy="640080"/>
          </a:xfrm>
          <a:prstGeom prst="rect">
            <a:avLst/>
          </a:prstGeom>
          <a:noFill/>
        </p:spPr>
        <p:txBody>
          <a:bodyPr wrap="square">
            <a:spAutoFit/>
          </a:bodyPr>
          <a:lstStyle/>
          <a:p>
            <a:pPr algn="ctr">
              <a:defRPr sz="1500" b="1">
                <a:solidFill>
                  <a:srgbClr val="FF8C00"/>
                </a:solidFill>
                <a:latin typeface="Segoe UI"/>
              </a:defRPr>
            </a:pPr>
            <a:r>
              <a:t>Check Sharing Links</a:t>
            </a:r>
          </a:p>
        </p:txBody>
      </p:sp>
      <p:sp>
        <p:nvSpPr>
          <p:cNvPr id="26" name="TextBox 25"/>
          <p:cNvSpPr txBox="1"/>
          <p:nvPr/>
        </p:nvSpPr>
        <p:spPr>
          <a:xfrm>
            <a:off x="7635240" y="3063240"/>
            <a:ext cx="1874519" cy="1371600"/>
          </a:xfrm>
          <a:prstGeom prst="rect">
            <a:avLst/>
          </a:prstGeom>
          <a:noFill/>
        </p:spPr>
        <p:txBody>
          <a:bodyPr wrap="square">
            <a:spAutoFit/>
          </a:bodyPr>
          <a:lstStyle/>
          <a:p>
            <a:pPr algn="ctr">
              <a:defRPr sz="1200" b="0">
                <a:solidFill>
                  <a:srgbClr val="242424"/>
                </a:solidFill>
                <a:latin typeface="Segoe UI"/>
              </a:defRPr>
            </a:pPr>
            <a:r>
              <a:t>Use 'Manage Access' panel</a:t>
            </a:r>
            <a:br/>
            <a:r>
              <a:t>to see active sharing links</a:t>
            </a:r>
          </a:p>
        </p:txBody>
      </p:sp>
      <p:sp>
        <p:nvSpPr>
          <p:cNvPr id="27" name="TextBox 26"/>
          <p:cNvSpPr txBox="1"/>
          <p:nvPr/>
        </p:nvSpPr>
        <p:spPr>
          <a:xfrm>
            <a:off x="9692640" y="2743200"/>
            <a:ext cx="182880" cy="457200"/>
          </a:xfrm>
          <a:prstGeom prst="rect">
            <a:avLst/>
          </a:prstGeom>
          <a:noFill/>
        </p:spPr>
        <p:txBody>
          <a:bodyPr wrap="square">
            <a:spAutoFit/>
          </a:bodyPr>
          <a:lstStyle/>
          <a:p>
            <a:pPr algn="ctr">
              <a:defRPr sz="2000" b="1">
                <a:solidFill>
                  <a:srgbClr val="606060"/>
                </a:solidFill>
                <a:latin typeface="Segoe UI"/>
              </a:defRPr>
            </a:pPr>
            <a:r>
              <a:t>→</a:t>
            </a:r>
          </a:p>
        </p:txBody>
      </p:sp>
      <p:sp>
        <p:nvSpPr>
          <p:cNvPr id="28" name="Rounded Rectangle 27"/>
          <p:cNvSpPr/>
          <p:nvPr/>
        </p:nvSpPr>
        <p:spPr>
          <a:xfrm>
            <a:off x="9875520" y="1371600"/>
            <a:ext cx="2148840" cy="36576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875520" y="1371600"/>
            <a:ext cx="2148840" cy="73152"/>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0561320" y="1600200"/>
            <a:ext cx="594360" cy="594360"/>
          </a:xfrm>
          <a:prstGeom prst="roundRect">
            <a:avLst>
              <a:gd name="adj" fmla="val 5000"/>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600"/>
              </a:spcBef>
              <a:defRPr sz="2200" b="1">
                <a:solidFill>
                  <a:srgbClr val="FFFFFF"/>
                </a:solidFill>
                <a:latin typeface="Segoe UI"/>
              </a:defRPr>
            </a:pPr>
            <a:r>
              <a:t>5</a:t>
            </a:r>
          </a:p>
        </p:txBody>
      </p:sp>
      <p:sp>
        <p:nvSpPr>
          <p:cNvPr id="31" name="TextBox 30"/>
          <p:cNvSpPr txBox="1"/>
          <p:nvPr/>
        </p:nvSpPr>
        <p:spPr>
          <a:xfrm>
            <a:off x="10012680" y="2377440"/>
            <a:ext cx="1874519" cy="640080"/>
          </a:xfrm>
          <a:prstGeom prst="rect">
            <a:avLst/>
          </a:prstGeom>
          <a:noFill/>
        </p:spPr>
        <p:txBody>
          <a:bodyPr wrap="square">
            <a:spAutoFit/>
          </a:bodyPr>
          <a:lstStyle/>
          <a:p>
            <a:pPr algn="ctr">
              <a:defRPr sz="1500" b="1">
                <a:solidFill>
                  <a:srgbClr val="107C10"/>
                </a:solidFill>
                <a:latin typeface="Segoe UI"/>
              </a:defRPr>
            </a:pPr>
            <a:r>
              <a:t>Use 'Check</a:t>
            </a:r>
            <a:br/>
            <a:r>
              <a:t>Permissions'</a:t>
            </a:r>
          </a:p>
        </p:txBody>
      </p:sp>
      <p:sp>
        <p:nvSpPr>
          <p:cNvPr id="32" name="TextBox 31"/>
          <p:cNvSpPr txBox="1"/>
          <p:nvPr/>
        </p:nvSpPr>
        <p:spPr>
          <a:xfrm>
            <a:off x="10012680" y="3063240"/>
            <a:ext cx="1874519" cy="1371600"/>
          </a:xfrm>
          <a:prstGeom prst="rect">
            <a:avLst/>
          </a:prstGeom>
          <a:noFill/>
        </p:spPr>
        <p:txBody>
          <a:bodyPr wrap="square">
            <a:spAutoFit/>
          </a:bodyPr>
          <a:lstStyle/>
          <a:p>
            <a:pPr algn="ctr">
              <a:defRPr sz="1200" b="0">
                <a:solidFill>
                  <a:srgbClr val="242424"/>
                </a:solidFill>
                <a:latin typeface="Segoe UI"/>
              </a:defRPr>
            </a:pPr>
            <a:r>
              <a:t>Site Settings → Check Permissions</a:t>
            </a:r>
            <a:br/>
            <a:r>
              <a:t>for definitive effective access</a:t>
            </a:r>
          </a:p>
        </p:txBody>
      </p:sp>
      <p:sp>
        <p:nvSpPr>
          <p:cNvPr id="33" name="Rounded Rectangle 32"/>
          <p:cNvSpPr/>
          <p:nvPr/>
        </p:nvSpPr>
        <p:spPr>
          <a:xfrm>
            <a:off x="1371600" y="5303520"/>
            <a:ext cx="9418320" cy="640080"/>
          </a:xfrm>
          <a:prstGeom prst="roundRect">
            <a:avLst>
              <a:gd name="adj" fmla="val 5000"/>
            </a:avLst>
          </a:prstGeom>
          <a:solidFill>
            <a:srgbClr val="DE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45920" y="5394960"/>
            <a:ext cx="8869680" cy="457200"/>
          </a:xfrm>
          <a:prstGeom prst="rect">
            <a:avLst/>
          </a:prstGeom>
          <a:noFill/>
        </p:spPr>
        <p:txBody>
          <a:bodyPr wrap="square">
            <a:spAutoFit/>
          </a:bodyPr>
          <a:lstStyle/>
          <a:p>
            <a:pPr algn="l">
              <a:defRPr sz="1300" b="0">
                <a:solidFill>
                  <a:srgbClr val="242424"/>
                </a:solidFill>
                <a:latin typeface="Segoe UI"/>
              </a:defRPr>
            </a:pPr>
            <a:r>
              <a:t>💡 Pro Tip:  Encourage learners to take screenshots of each check. This builds evidence for escalation and helps document the resolution.</a:t>
            </a:r>
          </a:p>
        </p:txBody>
      </p:sp>
      <p:sp>
        <p:nvSpPr>
          <p:cNvPr id="35" name="Rectangle 3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4  |  Permissions and Collaboration Model</a:t>
            </a:r>
          </a:p>
        </p:txBody>
      </p:sp>
      <p:sp>
        <p:nvSpPr>
          <p:cNvPr id="37" name="TextBox 36"/>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22 / 28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000" b="1">
                <a:solidFill>
                  <a:srgbClr val="D13438"/>
                </a:solidFill>
                <a:latin typeface="Segoe UI"/>
              </a:defRPr>
            </a:pPr>
            <a:r>
              <a:t>⚠️  Top 5 Common Permission Failures</a:t>
            </a:r>
          </a:p>
        </p:txBody>
      </p:sp>
      <p:sp>
        <p:nvSpPr>
          <p:cNvPr id="4" name="Rounded Rectangle 3"/>
          <p:cNvSpPr/>
          <p:nvPr/>
        </p:nvSpPr>
        <p:spPr>
          <a:xfrm>
            <a:off x="731520" y="1188720"/>
            <a:ext cx="1069848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188720"/>
            <a:ext cx="73152" cy="9144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05840" y="1353312"/>
            <a:ext cx="502920" cy="50292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1600" b="1">
                <a:solidFill>
                  <a:srgbClr val="FFFFFF"/>
                </a:solidFill>
                <a:latin typeface="Segoe UI"/>
              </a:defRPr>
            </a:pPr>
            <a:r>
              <a:t>1</a:t>
            </a:r>
          </a:p>
        </p:txBody>
      </p:sp>
      <p:sp>
        <p:nvSpPr>
          <p:cNvPr id="7" name="TextBox 6"/>
          <p:cNvSpPr txBox="1"/>
          <p:nvPr/>
        </p:nvSpPr>
        <p:spPr>
          <a:xfrm>
            <a:off x="1737360" y="1234440"/>
            <a:ext cx="2743200" cy="411480"/>
          </a:xfrm>
          <a:prstGeom prst="rect">
            <a:avLst/>
          </a:prstGeom>
          <a:noFill/>
        </p:spPr>
        <p:txBody>
          <a:bodyPr wrap="square">
            <a:spAutoFit/>
          </a:bodyPr>
          <a:lstStyle/>
          <a:p>
            <a:pPr algn="l">
              <a:defRPr sz="1600" b="1">
                <a:solidFill>
                  <a:srgbClr val="0078D4"/>
                </a:solidFill>
                <a:latin typeface="Segoe UI"/>
              </a:defRPr>
            </a:pPr>
            <a:r>
              <a:t>Broken Inheritance Forgotten</a:t>
            </a:r>
          </a:p>
        </p:txBody>
      </p:sp>
      <p:sp>
        <p:nvSpPr>
          <p:cNvPr id="8" name="TextBox 7"/>
          <p:cNvSpPr txBox="1"/>
          <p:nvPr/>
        </p:nvSpPr>
        <p:spPr>
          <a:xfrm>
            <a:off x="1737360" y="1645920"/>
            <a:ext cx="9418320" cy="411480"/>
          </a:xfrm>
          <a:prstGeom prst="rect">
            <a:avLst/>
          </a:prstGeom>
          <a:noFill/>
        </p:spPr>
        <p:txBody>
          <a:bodyPr wrap="square">
            <a:spAutoFit/>
          </a:bodyPr>
          <a:lstStyle/>
          <a:p>
            <a:pPr algn="l">
              <a:defRPr sz="1200" b="0">
                <a:solidFill>
                  <a:srgbClr val="242424"/>
                </a:solidFill>
                <a:latin typeface="Segoe UI"/>
              </a:defRPr>
            </a:pPr>
            <a:r>
              <a:t>Permissions changed at library/folder level but not documented. New content inherits old scope.</a:t>
            </a:r>
          </a:p>
        </p:txBody>
      </p:sp>
      <p:sp>
        <p:nvSpPr>
          <p:cNvPr id="9" name="Rounded Rectangle 8"/>
          <p:cNvSpPr/>
          <p:nvPr/>
        </p:nvSpPr>
        <p:spPr>
          <a:xfrm>
            <a:off x="731520" y="2240280"/>
            <a:ext cx="1069848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240280"/>
            <a:ext cx="73152" cy="9144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05840" y="2404872"/>
            <a:ext cx="502920" cy="502920"/>
          </a:xfrm>
          <a:prstGeom prst="roundRect">
            <a:avLst>
              <a:gd name="adj" fmla="val 5000"/>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1600" b="1">
                <a:solidFill>
                  <a:srgbClr val="FFFFFF"/>
                </a:solidFill>
                <a:latin typeface="Segoe UI"/>
              </a:defRPr>
            </a:pPr>
            <a:r>
              <a:t>2</a:t>
            </a:r>
          </a:p>
        </p:txBody>
      </p:sp>
      <p:sp>
        <p:nvSpPr>
          <p:cNvPr id="12" name="TextBox 11"/>
          <p:cNvSpPr txBox="1"/>
          <p:nvPr/>
        </p:nvSpPr>
        <p:spPr>
          <a:xfrm>
            <a:off x="1737360" y="2286000"/>
            <a:ext cx="2743200" cy="411480"/>
          </a:xfrm>
          <a:prstGeom prst="rect">
            <a:avLst/>
          </a:prstGeom>
          <a:noFill/>
        </p:spPr>
        <p:txBody>
          <a:bodyPr wrap="square">
            <a:spAutoFit/>
          </a:bodyPr>
          <a:lstStyle/>
          <a:p>
            <a:pPr algn="l">
              <a:defRPr sz="1600" b="1">
                <a:solidFill>
                  <a:srgbClr val="FF8C00"/>
                </a:solidFill>
                <a:latin typeface="Segoe UI"/>
              </a:defRPr>
            </a:pPr>
            <a:r>
              <a:t>Sharing Link Sprawl</a:t>
            </a:r>
          </a:p>
        </p:txBody>
      </p:sp>
      <p:sp>
        <p:nvSpPr>
          <p:cNvPr id="13" name="TextBox 12"/>
          <p:cNvSpPr txBox="1"/>
          <p:nvPr/>
        </p:nvSpPr>
        <p:spPr>
          <a:xfrm>
            <a:off x="1737360" y="2697480"/>
            <a:ext cx="9418320" cy="411480"/>
          </a:xfrm>
          <a:prstGeom prst="rect">
            <a:avLst/>
          </a:prstGeom>
          <a:noFill/>
        </p:spPr>
        <p:txBody>
          <a:bodyPr wrap="square">
            <a:spAutoFit/>
          </a:bodyPr>
          <a:lstStyle/>
          <a:p>
            <a:pPr algn="l">
              <a:defRPr sz="1200" b="0">
                <a:solidFill>
                  <a:srgbClr val="242424"/>
                </a:solidFill>
                <a:latin typeface="Segoe UI"/>
              </a:defRPr>
            </a:pPr>
            <a:r>
              <a:t>Users create 'Anyone' links freely. Access cannot be tracked or revoked without manual cleanup.</a:t>
            </a:r>
          </a:p>
        </p:txBody>
      </p:sp>
      <p:sp>
        <p:nvSpPr>
          <p:cNvPr id="14" name="Rounded Rectangle 13"/>
          <p:cNvSpPr/>
          <p:nvPr/>
        </p:nvSpPr>
        <p:spPr>
          <a:xfrm>
            <a:off x="731520" y="3291839"/>
            <a:ext cx="1069848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3291839"/>
            <a:ext cx="73152" cy="914400"/>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05840" y="3456431"/>
            <a:ext cx="502920" cy="502920"/>
          </a:xfrm>
          <a:prstGeom prst="roundRect">
            <a:avLst>
              <a:gd name="adj" fmla="val 5000"/>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1600" b="1">
                <a:solidFill>
                  <a:srgbClr val="FFFFFF"/>
                </a:solidFill>
                <a:latin typeface="Segoe UI"/>
              </a:defRPr>
            </a:pPr>
            <a:r>
              <a:t>3</a:t>
            </a:r>
          </a:p>
        </p:txBody>
      </p:sp>
      <p:sp>
        <p:nvSpPr>
          <p:cNvPr id="17" name="TextBox 16"/>
          <p:cNvSpPr txBox="1"/>
          <p:nvPr/>
        </p:nvSpPr>
        <p:spPr>
          <a:xfrm>
            <a:off x="1737360" y="3337559"/>
            <a:ext cx="2743200" cy="411480"/>
          </a:xfrm>
          <a:prstGeom prst="rect">
            <a:avLst/>
          </a:prstGeom>
          <a:noFill/>
        </p:spPr>
        <p:txBody>
          <a:bodyPr wrap="square">
            <a:spAutoFit/>
          </a:bodyPr>
          <a:lstStyle/>
          <a:p>
            <a:pPr algn="l">
              <a:defRPr sz="1600" b="1">
                <a:solidFill>
                  <a:srgbClr val="00B294"/>
                </a:solidFill>
                <a:latin typeface="Segoe UI"/>
              </a:defRPr>
            </a:pPr>
            <a:r>
              <a:t>M365 Group vs SP Group Confusion</a:t>
            </a:r>
          </a:p>
        </p:txBody>
      </p:sp>
      <p:sp>
        <p:nvSpPr>
          <p:cNvPr id="18" name="TextBox 17"/>
          <p:cNvSpPr txBox="1"/>
          <p:nvPr/>
        </p:nvSpPr>
        <p:spPr>
          <a:xfrm>
            <a:off x="1737360" y="3749039"/>
            <a:ext cx="9418320" cy="411480"/>
          </a:xfrm>
          <a:prstGeom prst="rect">
            <a:avLst/>
          </a:prstGeom>
          <a:noFill/>
        </p:spPr>
        <p:txBody>
          <a:bodyPr wrap="square">
            <a:spAutoFit/>
          </a:bodyPr>
          <a:lstStyle/>
          <a:p>
            <a:pPr algn="l">
              <a:defRPr sz="1200" b="0">
                <a:solidFill>
                  <a:srgbClr val="242424"/>
                </a:solidFill>
                <a:latin typeface="Segoe UI"/>
              </a:defRPr>
            </a:pPr>
            <a:r>
              <a:t>Admin changes SharePoint group membership but actual access is driven by M365 group. Change has no effect.</a:t>
            </a:r>
          </a:p>
        </p:txBody>
      </p:sp>
      <p:sp>
        <p:nvSpPr>
          <p:cNvPr id="19" name="Rounded Rectangle 18"/>
          <p:cNvSpPr/>
          <p:nvPr/>
        </p:nvSpPr>
        <p:spPr>
          <a:xfrm>
            <a:off x="731520" y="4343400"/>
            <a:ext cx="1069848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4343400"/>
            <a:ext cx="73152" cy="914400"/>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05840" y="4507992"/>
            <a:ext cx="502920" cy="502920"/>
          </a:xfrm>
          <a:prstGeom prst="roundRect">
            <a:avLst>
              <a:gd name="adj" fmla="val 5000"/>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1600" b="1">
                <a:solidFill>
                  <a:srgbClr val="FFFFFF"/>
                </a:solidFill>
                <a:latin typeface="Segoe UI"/>
              </a:defRPr>
            </a:pPr>
            <a:r>
              <a:t>4</a:t>
            </a:r>
          </a:p>
        </p:txBody>
      </p:sp>
      <p:sp>
        <p:nvSpPr>
          <p:cNvPr id="22" name="TextBox 21"/>
          <p:cNvSpPr txBox="1"/>
          <p:nvPr/>
        </p:nvSpPr>
        <p:spPr>
          <a:xfrm>
            <a:off x="1737360" y="4389120"/>
            <a:ext cx="2743200" cy="411480"/>
          </a:xfrm>
          <a:prstGeom prst="rect">
            <a:avLst/>
          </a:prstGeom>
          <a:noFill/>
        </p:spPr>
        <p:txBody>
          <a:bodyPr wrap="square">
            <a:spAutoFit/>
          </a:bodyPr>
          <a:lstStyle/>
          <a:p>
            <a:pPr algn="l">
              <a:defRPr sz="1600" b="1">
                <a:solidFill>
                  <a:srgbClr val="D13438"/>
                </a:solidFill>
                <a:latin typeface="Segoe UI"/>
              </a:defRPr>
            </a:pPr>
            <a:r>
              <a:t>Direct User Assignment</a:t>
            </a:r>
          </a:p>
        </p:txBody>
      </p:sp>
      <p:sp>
        <p:nvSpPr>
          <p:cNvPr id="23" name="TextBox 22"/>
          <p:cNvSpPr txBox="1"/>
          <p:nvPr/>
        </p:nvSpPr>
        <p:spPr>
          <a:xfrm>
            <a:off x="1737360" y="4800600"/>
            <a:ext cx="9418320" cy="411480"/>
          </a:xfrm>
          <a:prstGeom prst="rect">
            <a:avLst/>
          </a:prstGeom>
          <a:noFill/>
        </p:spPr>
        <p:txBody>
          <a:bodyPr wrap="square">
            <a:spAutoFit/>
          </a:bodyPr>
          <a:lstStyle/>
          <a:p>
            <a:pPr algn="l">
              <a:defRPr sz="1200" b="0">
                <a:solidFill>
                  <a:srgbClr val="242424"/>
                </a:solidFill>
                <a:latin typeface="Segoe UI"/>
              </a:defRPr>
            </a:pPr>
            <a:r>
              <a:t>Permissions granted to individual users instead of groups. Offboarding misses these direct grants.</a:t>
            </a:r>
          </a:p>
        </p:txBody>
      </p:sp>
      <p:sp>
        <p:nvSpPr>
          <p:cNvPr id="24" name="Rounded Rectangle 23"/>
          <p:cNvSpPr/>
          <p:nvPr/>
        </p:nvSpPr>
        <p:spPr>
          <a:xfrm>
            <a:off x="731520" y="5394959"/>
            <a:ext cx="10698480" cy="914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520" y="5394959"/>
            <a:ext cx="73152" cy="914400"/>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005840" y="5559551"/>
            <a:ext cx="502920" cy="50292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1600" b="1">
                <a:solidFill>
                  <a:srgbClr val="FFFFFF"/>
                </a:solidFill>
                <a:latin typeface="Segoe UI"/>
              </a:defRPr>
            </a:pPr>
            <a:r>
              <a:t>5</a:t>
            </a:r>
          </a:p>
        </p:txBody>
      </p:sp>
      <p:sp>
        <p:nvSpPr>
          <p:cNvPr id="27" name="TextBox 26"/>
          <p:cNvSpPr txBox="1"/>
          <p:nvPr/>
        </p:nvSpPr>
        <p:spPr>
          <a:xfrm>
            <a:off x="1737360" y="5440679"/>
            <a:ext cx="2743200" cy="411480"/>
          </a:xfrm>
          <a:prstGeom prst="rect">
            <a:avLst/>
          </a:prstGeom>
          <a:noFill/>
        </p:spPr>
        <p:txBody>
          <a:bodyPr wrap="square">
            <a:spAutoFit/>
          </a:bodyPr>
          <a:lstStyle/>
          <a:p>
            <a:pPr algn="l">
              <a:defRPr sz="1600" b="1">
                <a:solidFill>
                  <a:srgbClr val="6B69D6"/>
                </a:solidFill>
                <a:latin typeface="Segoe UI"/>
              </a:defRPr>
            </a:pPr>
            <a:r>
              <a:t>Site vs File-Level Mismatch</a:t>
            </a:r>
          </a:p>
        </p:txBody>
      </p:sp>
      <p:sp>
        <p:nvSpPr>
          <p:cNvPr id="28" name="TextBox 27"/>
          <p:cNvSpPr txBox="1"/>
          <p:nvPr/>
        </p:nvSpPr>
        <p:spPr>
          <a:xfrm>
            <a:off x="1737360" y="5852159"/>
            <a:ext cx="9418320" cy="411480"/>
          </a:xfrm>
          <a:prstGeom prst="rect">
            <a:avLst/>
          </a:prstGeom>
          <a:noFill/>
        </p:spPr>
        <p:txBody>
          <a:bodyPr wrap="square">
            <a:spAutoFit/>
          </a:bodyPr>
          <a:lstStyle/>
          <a:p>
            <a:pPr algn="l">
              <a:defRPr sz="1200" b="0">
                <a:solidFill>
                  <a:srgbClr val="242424"/>
                </a:solidFill>
                <a:latin typeface="Segoe UI"/>
              </a:defRPr>
            </a:pPr>
            <a:r>
              <a:t>User has site access but file has unique permissions that exclude them. Or: user lacks site access but has a sharing link.</a:t>
            </a:r>
          </a:p>
        </p:txBody>
      </p:sp>
      <p:sp>
        <p:nvSpPr>
          <p:cNvPr id="29" name="Rectangle 28"/>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4  |  Permissions and Collaboration Model</a:t>
            </a:r>
          </a:p>
        </p:txBody>
      </p:sp>
      <p:sp>
        <p:nvSpPr>
          <p:cNvPr id="31" name="TextBox 30"/>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23 / 28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2926080"/>
            <a:ext cx="228600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058400" cy="1097280"/>
          </a:xfrm>
          <a:prstGeom prst="rect">
            <a:avLst/>
          </a:prstGeom>
          <a:noFill/>
        </p:spPr>
        <p:txBody>
          <a:bodyPr wrap="square">
            <a:spAutoFit/>
          </a:bodyPr>
          <a:lstStyle/>
          <a:p>
            <a:pPr algn="ctr">
              <a:defRPr sz="6000" b="0">
                <a:solidFill>
                  <a:srgbClr val="00B294"/>
                </a:solidFill>
                <a:latin typeface="Segoe UI"/>
              </a:defRPr>
            </a:pPr>
            <a:r>
              <a:t>🧪</a:t>
            </a:r>
          </a:p>
        </p:txBody>
      </p:sp>
      <p:sp>
        <p:nvSpPr>
          <p:cNvPr id="4" name="TextBox 3"/>
          <p:cNvSpPr txBox="1"/>
          <p:nvPr/>
        </p:nvSpPr>
        <p:spPr>
          <a:xfrm>
            <a:off x="914400" y="3200400"/>
            <a:ext cx="10058400" cy="1097280"/>
          </a:xfrm>
          <a:prstGeom prst="rect">
            <a:avLst/>
          </a:prstGeom>
          <a:noFill/>
        </p:spPr>
        <p:txBody>
          <a:bodyPr wrap="square">
            <a:spAutoFit/>
          </a:bodyPr>
          <a:lstStyle/>
          <a:p>
            <a:pPr algn="ctr">
              <a:defRPr sz="4000" b="1">
                <a:solidFill>
                  <a:srgbClr val="FFFFFF"/>
                </a:solidFill>
                <a:latin typeface="Segoe UI"/>
              </a:defRPr>
            </a:pPr>
            <a:r>
              <a:t>Lab Preview</a:t>
            </a:r>
          </a:p>
        </p:txBody>
      </p:sp>
      <p:sp>
        <p:nvSpPr>
          <p:cNvPr id="5" name="TextBox 4"/>
          <p:cNvSpPr txBox="1"/>
          <p:nvPr/>
        </p:nvSpPr>
        <p:spPr>
          <a:xfrm>
            <a:off x="1371600" y="4389120"/>
            <a:ext cx="9144000" cy="731520"/>
          </a:xfrm>
          <a:prstGeom prst="rect">
            <a:avLst/>
          </a:prstGeom>
          <a:noFill/>
        </p:spPr>
        <p:txBody>
          <a:bodyPr wrap="square">
            <a:spAutoFit/>
          </a:bodyPr>
          <a:lstStyle/>
          <a:p>
            <a:pPr algn="ctr">
              <a:defRPr sz="1800" b="0">
                <a:solidFill>
                  <a:srgbClr val="BBBBBB"/>
                </a:solidFill>
                <a:latin typeface="Segoe UI"/>
              </a:defRPr>
            </a:pPr>
            <a:r>
              <a:t>Designing a Permission Model — Northwind Contracts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000" b="1">
                <a:solidFill>
                  <a:srgbClr val="1B1B2F"/>
                </a:solidFill>
                <a:latin typeface="Segoe UI"/>
              </a:defRPr>
            </a:pPr>
            <a:r>
              <a:t>🧪  Lab 04: Designing a Permission Model</a:t>
            </a:r>
          </a:p>
        </p:txBody>
      </p:sp>
      <p:sp>
        <p:nvSpPr>
          <p:cNvPr id="4" name="Rounded Rectangle 3"/>
          <p:cNvSpPr/>
          <p:nvPr/>
        </p:nvSpPr>
        <p:spPr>
          <a:xfrm>
            <a:off x="731520" y="1188720"/>
            <a:ext cx="5303520" cy="11887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1444752"/>
            <a:ext cx="502920" cy="502920"/>
          </a:xfrm>
          <a:prstGeom prst="roundRect">
            <a:avLst>
              <a:gd name="adj" fmla="val 5000"/>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1800" b="1">
                <a:solidFill>
                  <a:srgbClr val="FFFFFF"/>
                </a:solidFill>
                <a:latin typeface="Segoe UI"/>
              </a:defRPr>
            </a:pPr>
            <a:r>
              <a:t>1</a:t>
            </a:r>
          </a:p>
        </p:txBody>
      </p:sp>
      <p:sp>
        <p:nvSpPr>
          <p:cNvPr id="6" name="TextBox 5"/>
          <p:cNvSpPr txBox="1"/>
          <p:nvPr/>
        </p:nvSpPr>
        <p:spPr>
          <a:xfrm>
            <a:off x="1554480" y="1325880"/>
            <a:ext cx="4297680" cy="411480"/>
          </a:xfrm>
          <a:prstGeom prst="rect">
            <a:avLst/>
          </a:prstGeom>
          <a:noFill/>
        </p:spPr>
        <p:txBody>
          <a:bodyPr wrap="square">
            <a:spAutoFit/>
          </a:bodyPr>
          <a:lstStyle/>
          <a:p>
            <a:pPr algn="l">
              <a:defRPr sz="1600" b="1">
                <a:solidFill>
                  <a:srgbClr val="242424"/>
                </a:solidFill>
                <a:latin typeface="Segoe UI"/>
              </a:defRPr>
            </a:pPr>
            <a:r>
              <a:t>Navigate to NW-Pxx-ProjectSite</a:t>
            </a:r>
          </a:p>
        </p:txBody>
      </p:sp>
      <p:sp>
        <p:nvSpPr>
          <p:cNvPr id="7" name="TextBox 6"/>
          <p:cNvSpPr txBox="1"/>
          <p:nvPr/>
        </p:nvSpPr>
        <p:spPr>
          <a:xfrm>
            <a:off x="1554480" y="1737360"/>
            <a:ext cx="4297680" cy="457200"/>
          </a:xfrm>
          <a:prstGeom prst="rect">
            <a:avLst/>
          </a:prstGeom>
          <a:noFill/>
        </p:spPr>
        <p:txBody>
          <a:bodyPr wrap="square">
            <a:spAutoFit/>
          </a:bodyPr>
          <a:lstStyle/>
          <a:p>
            <a:pPr algn="l">
              <a:defRPr sz="1300" b="0">
                <a:solidFill>
                  <a:srgbClr val="606060"/>
                </a:solidFill>
                <a:latin typeface="Segoe UI"/>
              </a:defRPr>
            </a:pPr>
            <a:r>
              <a:t>Open your assigned site in SharePoint</a:t>
            </a:r>
          </a:p>
        </p:txBody>
      </p:sp>
      <p:sp>
        <p:nvSpPr>
          <p:cNvPr id="8" name="Rounded Rectangle 7"/>
          <p:cNvSpPr/>
          <p:nvPr/>
        </p:nvSpPr>
        <p:spPr>
          <a:xfrm>
            <a:off x="6400800" y="1188720"/>
            <a:ext cx="5303520" cy="11887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37960" y="1444752"/>
            <a:ext cx="502920" cy="502920"/>
          </a:xfrm>
          <a:prstGeom prst="roundRect">
            <a:avLst>
              <a:gd name="adj" fmla="val 5000"/>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1800" b="1">
                <a:solidFill>
                  <a:srgbClr val="FFFFFF"/>
                </a:solidFill>
                <a:latin typeface="Segoe UI"/>
              </a:defRPr>
            </a:pPr>
            <a:r>
              <a:t>2</a:t>
            </a:r>
          </a:p>
        </p:txBody>
      </p:sp>
      <p:sp>
        <p:nvSpPr>
          <p:cNvPr id="10" name="TextBox 9"/>
          <p:cNvSpPr txBox="1"/>
          <p:nvPr/>
        </p:nvSpPr>
        <p:spPr>
          <a:xfrm>
            <a:off x="7223760" y="1325880"/>
            <a:ext cx="4297680" cy="411480"/>
          </a:xfrm>
          <a:prstGeom prst="rect">
            <a:avLst/>
          </a:prstGeom>
          <a:noFill/>
        </p:spPr>
        <p:txBody>
          <a:bodyPr wrap="square">
            <a:spAutoFit/>
          </a:bodyPr>
          <a:lstStyle/>
          <a:p>
            <a:pPr algn="l">
              <a:defRPr sz="1600" b="1">
                <a:solidFill>
                  <a:srgbClr val="242424"/>
                </a:solidFill>
                <a:latin typeface="Segoe UI"/>
              </a:defRPr>
            </a:pPr>
            <a:r>
              <a:t>Create NW-Pxx-Contracts library</a:t>
            </a:r>
          </a:p>
        </p:txBody>
      </p:sp>
      <p:sp>
        <p:nvSpPr>
          <p:cNvPr id="11" name="TextBox 10"/>
          <p:cNvSpPr txBox="1"/>
          <p:nvPr/>
        </p:nvSpPr>
        <p:spPr>
          <a:xfrm>
            <a:off x="7223760" y="1737360"/>
            <a:ext cx="4297680" cy="457200"/>
          </a:xfrm>
          <a:prstGeom prst="rect">
            <a:avLst/>
          </a:prstGeom>
          <a:noFill/>
        </p:spPr>
        <p:txBody>
          <a:bodyPr wrap="square">
            <a:spAutoFit/>
          </a:bodyPr>
          <a:lstStyle/>
          <a:p>
            <a:pPr algn="l">
              <a:defRPr sz="1300" b="0">
                <a:solidFill>
                  <a:srgbClr val="606060"/>
                </a:solidFill>
                <a:latin typeface="Segoe UI"/>
              </a:defRPr>
            </a:pPr>
            <a:r>
              <a:t>New document library for contracts workflow</a:t>
            </a:r>
          </a:p>
        </p:txBody>
      </p:sp>
      <p:sp>
        <p:nvSpPr>
          <p:cNvPr id="12" name="Rounded Rectangle 11"/>
          <p:cNvSpPr/>
          <p:nvPr/>
        </p:nvSpPr>
        <p:spPr>
          <a:xfrm>
            <a:off x="731520" y="2606040"/>
            <a:ext cx="5303520" cy="11887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68680" y="2862072"/>
            <a:ext cx="502920" cy="502920"/>
          </a:xfrm>
          <a:prstGeom prst="roundRect">
            <a:avLst>
              <a:gd name="adj" fmla="val 5000"/>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1800" b="1">
                <a:solidFill>
                  <a:srgbClr val="FFFFFF"/>
                </a:solidFill>
                <a:latin typeface="Segoe UI"/>
              </a:defRPr>
            </a:pPr>
            <a:r>
              <a:t>3</a:t>
            </a:r>
          </a:p>
        </p:txBody>
      </p:sp>
      <p:sp>
        <p:nvSpPr>
          <p:cNvPr id="14" name="TextBox 13"/>
          <p:cNvSpPr txBox="1"/>
          <p:nvPr/>
        </p:nvSpPr>
        <p:spPr>
          <a:xfrm>
            <a:off x="1554480" y="2743200"/>
            <a:ext cx="4297680" cy="411480"/>
          </a:xfrm>
          <a:prstGeom prst="rect">
            <a:avLst/>
          </a:prstGeom>
          <a:noFill/>
        </p:spPr>
        <p:txBody>
          <a:bodyPr wrap="square">
            <a:spAutoFit/>
          </a:bodyPr>
          <a:lstStyle/>
          <a:p>
            <a:pPr algn="l">
              <a:defRPr sz="1600" b="1">
                <a:solidFill>
                  <a:srgbClr val="242424"/>
                </a:solidFill>
                <a:latin typeface="Segoe UI"/>
              </a:defRPr>
            </a:pPr>
            <a:r>
              <a:t>Break inheritance at library level</a:t>
            </a:r>
          </a:p>
        </p:txBody>
      </p:sp>
      <p:sp>
        <p:nvSpPr>
          <p:cNvPr id="15" name="TextBox 14"/>
          <p:cNvSpPr txBox="1"/>
          <p:nvPr/>
        </p:nvSpPr>
        <p:spPr>
          <a:xfrm>
            <a:off x="1554480" y="3154680"/>
            <a:ext cx="4297680" cy="457200"/>
          </a:xfrm>
          <a:prstGeom prst="rect">
            <a:avLst/>
          </a:prstGeom>
          <a:noFill/>
        </p:spPr>
        <p:txBody>
          <a:bodyPr wrap="square">
            <a:spAutoFit/>
          </a:bodyPr>
          <a:lstStyle/>
          <a:p>
            <a:pPr algn="l">
              <a:defRPr sz="1300" b="0">
                <a:solidFill>
                  <a:srgbClr val="606060"/>
                </a:solidFill>
                <a:latin typeface="Segoe UI"/>
              </a:defRPr>
            </a:pPr>
            <a:r>
              <a:t>Stop inheriting from site, set editor-only access</a:t>
            </a:r>
          </a:p>
        </p:txBody>
      </p:sp>
      <p:sp>
        <p:nvSpPr>
          <p:cNvPr id="16" name="Rounded Rectangle 15"/>
          <p:cNvSpPr/>
          <p:nvPr/>
        </p:nvSpPr>
        <p:spPr>
          <a:xfrm>
            <a:off x="6400800" y="2606040"/>
            <a:ext cx="5303520" cy="11887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37960" y="2862072"/>
            <a:ext cx="502920" cy="502920"/>
          </a:xfrm>
          <a:prstGeom prst="roundRect">
            <a:avLst>
              <a:gd name="adj" fmla="val 5000"/>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1800" b="1">
                <a:solidFill>
                  <a:srgbClr val="FFFFFF"/>
                </a:solidFill>
                <a:latin typeface="Segoe UI"/>
              </a:defRPr>
            </a:pPr>
            <a:r>
              <a:t>4</a:t>
            </a:r>
          </a:p>
        </p:txBody>
      </p:sp>
      <p:sp>
        <p:nvSpPr>
          <p:cNvPr id="18" name="TextBox 17"/>
          <p:cNvSpPr txBox="1"/>
          <p:nvPr/>
        </p:nvSpPr>
        <p:spPr>
          <a:xfrm>
            <a:off x="7223760" y="2743200"/>
            <a:ext cx="4297680" cy="411480"/>
          </a:xfrm>
          <a:prstGeom prst="rect">
            <a:avLst/>
          </a:prstGeom>
          <a:noFill/>
        </p:spPr>
        <p:txBody>
          <a:bodyPr wrap="square">
            <a:spAutoFit/>
          </a:bodyPr>
          <a:lstStyle/>
          <a:p>
            <a:pPr algn="l">
              <a:defRPr sz="1600" b="1">
                <a:solidFill>
                  <a:srgbClr val="242424"/>
                </a:solidFill>
                <a:latin typeface="Segoe UI"/>
              </a:defRPr>
            </a:pPr>
            <a:r>
              <a:t>Create 'Finals' folder</a:t>
            </a:r>
          </a:p>
        </p:txBody>
      </p:sp>
      <p:sp>
        <p:nvSpPr>
          <p:cNvPr id="19" name="TextBox 18"/>
          <p:cNvSpPr txBox="1"/>
          <p:nvPr/>
        </p:nvSpPr>
        <p:spPr>
          <a:xfrm>
            <a:off x="7223760" y="3154680"/>
            <a:ext cx="4297680" cy="457200"/>
          </a:xfrm>
          <a:prstGeom prst="rect">
            <a:avLst/>
          </a:prstGeom>
          <a:noFill/>
        </p:spPr>
        <p:txBody>
          <a:bodyPr wrap="square">
            <a:spAutoFit/>
          </a:bodyPr>
          <a:lstStyle/>
          <a:p>
            <a:pPr algn="l">
              <a:defRPr sz="1300" b="0">
                <a:solidFill>
                  <a:srgbClr val="606060"/>
                </a:solidFill>
                <a:latin typeface="Segoe UI"/>
              </a:defRPr>
            </a:pPr>
            <a:r>
              <a:t>Add folder for approved contracts with unique permissions</a:t>
            </a:r>
          </a:p>
        </p:txBody>
      </p:sp>
      <p:sp>
        <p:nvSpPr>
          <p:cNvPr id="20" name="Rounded Rectangle 19"/>
          <p:cNvSpPr/>
          <p:nvPr/>
        </p:nvSpPr>
        <p:spPr>
          <a:xfrm>
            <a:off x="731520" y="4023360"/>
            <a:ext cx="5303520" cy="11887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68680" y="4279392"/>
            <a:ext cx="502920" cy="502920"/>
          </a:xfrm>
          <a:prstGeom prst="roundRect">
            <a:avLst>
              <a:gd name="adj" fmla="val 5000"/>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1800" b="1">
                <a:solidFill>
                  <a:srgbClr val="FFFFFF"/>
                </a:solidFill>
                <a:latin typeface="Segoe UI"/>
              </a:defRPr>
            </a:pPr>
            <a:r>
              <a:t>5</a:t>
            </a:r>
          </a:p>
        </p:txBody>
      </p:sp>
      <p:sp>
        <p:nvSpPr>
          <p:cNvPr id="22" name="TextBox 21"/>
          <p:cNvSpPr txBox="1"/>
          <p:nvPr/>
        </p:nvSpPr>
        <p:spPr>
          <a:xfrm>
            <a:off x="1554480" y="4160520"/>
            <a:ext cx="4297680" cy="411480"/>
          </a:xfrm>
          <a:prstGeom prst="rect">
            <a:avLst/>
          </a:prstGeom>
          <a:noFill/>
        </p:spPr>
        <p:txBody>
          <a:bodyPr wrap="square">
            <a:spAutoFit/>
          </a:bodyPr>
          <a:lstStyle/>
          <a:p>
            <a:pPr algn="l">
              <a:defRPr sz="1600" b="1">
                <a:solidFill>
                  <a:srgbClr val="242424"/>
                </a:solidFill>
                <a:latin typeface="Segoe UI"/>
              </a:defRPr>
            </a:pPr>
            <a:r>
              <a:t>Break inheritance at folder level</a:t>
            </a:r>
          </a:p>
        </p:txBody>
      </p:sp>
      <p:sp>
        <p:nvSpPr>
          <p:cNvPr id="23" name="TextBox 22"/>
          <p:cNvSpPr txBox="1"/>
          <p:nvPr/>
        </p:nvSpPr>
        <p:spPr>
          <a:xfrm>
            <a:off x="1554480" y="4572000"/>
            <a:ext cx="4297680" cy="457200"/>
          </a:xfrm>
          <a:prstGeom prst="rect">
            <a:avLst/>
          </a:prstGeom>
          <a:noFill/>
        </p:spPr>
        <p:txBody>
          <a:bodyPr wrap="square">
            <a:spAutoFit/>
          </a:bodyPr>
          <a:lstStyle/>
          <a:p>
            <a:pPr algn="l">
              <a:defRPr sz="1300" b="0">
                <a:solidFill>
                  <a:srgbClr val="606060"/>
                </a:solidFill>
                <a:latin typeface="Segoe UI"/>
              </a:defRPr>
            </a:pPr>
            <a:r>
              <a:t>Set broad read access; restrict edit to Owners only</a:t>
            </a:r>
          </a:p>
        </p:txBody>
      </p:sp>
      <p:sp>
        <p:nvSpPr>
          <p:cNvPr id="24" name="Rounded Rectangle 23"/>
          <p:cNvSpPr/>
          <p:nvPr/>
        </p:nvSpPr>
        <p:spPr>
          <a:xfrm>
            <a:off x="6400800" y="4023360"/>
            <a:ext cx="5303520" cy="118872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537960" y="4279392"/>
            <a:ext cx="502920" cy="502920"/>
          </a:xfrm>
          <a:prstGeom prst="roundRect">
            <a:avLst>
              <a:gd name="adj" fmla="val 5000"/>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1800" b="1">
                <a:solidFill>
                  <a:srgbClr val="FFFFFF"/>
                </a:solidFill>
                <a:latin typeface="Segoe UI"/>
              </a:defRPr>
            </a:pPr>
            <a:r>
              <a:t>6</a:t>
            </a:r>
          </a:p>
        </p:txBody>
      </p:sp>
      <p:sp>
        <p:nvSpPr>
          <p:cNvPr id="26" name="TextBox 25"/>
          <p:cNvSpPr txBox="1"/>
          <p:nvPr/>
        </p:nvSpPr>
        <p:spPr>
          <a:xfrm>
            <a:off x="7223760" y="4160520"/>
            <a:ext cx="4297680" cy="411480"/>
          </a:xfrm>
          <a:prstGeom prst="rect">
            <a:avLst/>
          </a:prstGeom>
          <a:noFill/>
        </p:spPr>
        <p:txBody>
          <a:bodyPr wrap="square">
            <a:spAutoFit/>
          </a:bodyPr>
          <a:lstStyle/>
          <a:p>
            <a:pPr algn="l">
              <a:defRPr sz="1600" b="1">
                <a:solidFill>
                  <a:srgbClr val="242424"/>
                </a:solidFill>
                <a:latin typeface="Segoe UI"/>
              </a:defRPr>
            </a:pPr>
            <a:r>
              <a:t>Validate with Check Permissions</a:t>
            </a:r>
          </a:p>
        </p:txBody>
      </p:sp>
      <p:sp>
        <p:nvSpPr>
          <p:cNvPr id="27" name="TextBox 26"/>
          <p:cNvSpPr txBox="1"/>
          <p:nvPr/>
        </p:nvSpPr>
        <p:spPr>
          <a:xfrm>
            <a:off x="7223760" y="4572000"/>
            <a:ext cx="4297680" cy="457200"/>
          </a:xfrm>
          <a:prstGeom prst="rect">
            <a:avLst/>
          </a:prstGeom>
          <a:noFill/>
        </p:spPr>
        <p:txBody>
          <a:bodyPr wrap="square">
            <a:spAutoFit/>
          </a:bodyPr>
          <a:lstStyle/>
          <a:p>
            <a:pPr algn="l">
              <a:defRPr sz="1300" b="0">
                <a:solidFill>
                  <a:srgbClr val="606060"/>
                </a:solidFill>
                <a:latin typeface="Segoe UI"/>
              </a:defRPr>
            </a:pPr>
            <a:r>
              <a:t>Confirm effective access for test users</a:t>
            </a:r>
          </a:p>
        </p:txBody>
      </p:sp>
      <p:sp>
        <p:nvSpPr>
          <p:cNvPr id="28" name="Rounded Rectangle 27"/>
          <p:cNvSpPr/>
          <p:nvPr/>
        </p:nvSpPr>
        <p:spPr>
          <a:xfrm>
            <a:off x="1828800" y="5394960"/>
            <a:ext cx="8503920" cy="640080"/>
          </a:xfrm>
          <a:prstGeom prst="roundRect">
            <a:avLst>
              <a:gd name="adj" fmla="val 5000"/>
            </a:avLst>
          </a:prstGeom>
          <a:solidFill>
            <a:srgbClr val="DE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103120" y="5486400"/>
            <a:ext cx="7955279" cy="457200"/>
          </a:xfrm>
          <a:prstGeom prst="rect">
            <a:avLst/>
          </a:prstGeom>
          <a:noFill/>
        </p:spPr>
        <p:txBody>
          <a:bodyPr wrap="square">
            <a:spAutoFit/>
          </a:bodyPr>
          <a:lstStyle/>
          <a:p>
            <a:pPr algn="l">
              <a:defRPr sz="1300" b="0">
                <a:solidFill>
                  <a:srgbClr val="242424"/>
                </a:solidFill>
                <a:latin typeface="Segoe UI"/>
              </a:defRPr>
            </a:pPr>
            <a:r>
              <a:t>⚠️ Shared Tenant Rule:  Work ONLY inside your NW-Pxx-ProjectSite. Do not modify tenant-wide settings or other participants' sites.</a:t>
            </a:r>
          </a:p>
        </p:txBody>
      </p:sp>
      <p:sp>
        <p:nvSpPr>
          <p:cNvPr id="30" name="Rectangle 29"/>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4  |  Permissions and Collaboration Model</a:t>
            </a:r>
          </a:p>
        </p:txBody>
      </p:sp>
      <p:sp>
        <p:nvSpPr>
          <p:cNvPr id="32" name="TextBox 31"/>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25 / 28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Module 4 Summary</a:t>
            </a:r>
          </a:p>
        </p:txBody>
      </p:sp>
      <p:sp>
        <p:nvSpPr>
          <p:cNvPr id="4" name="Rounded Rectangle 3"/>
          <p:cNvSpPr/>
          <p:nvPr/>
        </p:nvSpPr>
        <p:spPr>
          <a:xfrm>
            <a:off x="731520" y="1188720"/>
            <a:ext cx="10698480" cy="685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280160"/>
            <a:ext cx="457200" cy="457200"/>
          </a:xfrm>
          <a:prstGeom prst="rect">
            <a:avLst/>
          </a:prstGeom>
          <a:noFill/>
        </p:spPr>
        <p:txBody>
          <a:bodyPr wrap="square">
            <a:spAutoFit/>
          </a:bodyPr>
          <a:lstStyle/>
          <a:p>
            <a:pPr algn="ctr">
              <a:defRPr sz="2000" b="0">
                <a:solidFill>
                  <a:srgbClr val="242424"/>
                </a:solidFill>
                <a:latin typeface="Segoe UI"/>
              </a:defRPr>
            </a:pPr>
            <a:r>
              <a:t>✅</a:t>
            </a:r>
          </a:p>
        </p:txBody>
      </p:sp>
      <p:sp>
        <p:nvSpPr>
          <p:cNvPr id="6" name="TextBox 5"/>
          <p:cNvSpPr txBox="1"/>
          <p:nvPr/>
        </p:nvSpPr>
        <p:spPr>
          <a:xfrm>
            <a:off x="1371600" y="1252728"/>
            <a:ext cx="3200400" cy="365760"/>
          </a:xfrm>
          <a:prstGeom prst="rect">
            <a:avLst/>
          </a:prstGeom>
          <a:noFill/>
        </p:spPr>
        <p:txBody>
          <a:bodyPr wrap="square">
            <a:spAutoFit/>
          </a:bodyPr>
          <a:lstStyle/>
          <a:p>
            <a:pPr algn="l">
              <a:defRPr sz="1600" b="1">
                <a:solidFill>
                  <a:srgbClr val="0078D4"/>
                </a:solidFill>
                <a:latin typeface="Segoe UI"/>
              </a:defRPr>
            </a:pPr>
            <a:r>
              <a:t>Inheritance is your friend</a:t>
            </a:r>
          </a:p>
        </p:txBody>
      </p:sp>
      <p:sp>
        <p:nvSpPr>
          <p:cNvPr id="7" name="TextBox 6"/>
          <p:cNvSpPr txBox="1"/>
          <p:nvPr/>
        </p:nvSpPr>
        <p:spPr>
          <a:xfrm>
            <a:off x="4754880" y="1252728"/>
            <a:ext cx="6400800" cy="502920"/>
          </a:xfrm>
          <a:prstGeom prst="rect">
            <a:avLst/>
          </a:prstGeom>
          <a:noFill/>
        </p:spPr>
        <p:txBody>
          <a:bodyPr wrap="square">
            <a:spAutoFit/>
          </a:bodyPr>
          <a:lstStyle/>
          <a:p>
            <a:pPr algn="l">
              <a:defRPr sz="1400" b="0">
                <a:solidFill>
                  <a:srgbClr val="242424"/>
                </a:solidFill>
                <a:latin typeface="Segoe UI"/>
              </a:defRPr>
            </a:pPr>
            <a:r>
              <a:t>Use it by default; break only when necessary for isolation</a:t>
            </a:r>
          </a:p>
        </p:txBody>
      </p:sp>
      <p:sp>
        <p:nvSpPr>
          <p:cNvPr id="8" name="Rounded Rectangle 7"/>
          <p:cNvSpPr/>
          <p:nvPr/>
        </p:nvSpPr>
        <p:spPr>
          <a:xfrm>
            <a:off x="731520" y="2011680"/>
            <a:ext cx="10698480" cy="685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03120"/>
            <a:ext cx="457200" cy="457200"/>
          </a:xfrm>
          <a:prstGeom prst="rect">
            <a:avLst/>
          </a:prstGeom>
          <a:noFill/>
        </p:spPr>
        <p:txBody>
          <a:bodyPr wrap="square">
            <a:spAutoFit/>
          </a:bodyPr>
          <a:lstStyle/>
          <a:p>
            <a:pPr algn="ctr">
              <a:defRPr sz="2000" b="0">
                <a:solidFill>
                  <a:srgbClr val="242424"/>
                </a:solidFill>
                <a:latin typeface="Segoe UI"/>
              </a:defRPr>
            </a:pPr>
            <a:r>
              <a:t>✅</a:t>
            </a:r>
          </a:p>
        </p:txBody>
      </p:sp>
      <p:sp>
        <p:nvSpPr>
          <p:cNvPr id="10" name="TextBox 9"/>
          <p:cNvSpPr txBox="1"/>
          <p:nvPr/>
        </p:nvSpPr>
        <p:spPr>
          <a:xfrm>
            <a:off x="1371600" y="2075688"/>
            <a:ext cx="3200400" cy="365760"/>
          </a:xfrm>
          <a:prstGeom prst="rect">
            <a:avLst/>
          </a:prstGeom>
          <a:noFill/>
        </p:spPr>
        <p:txBody>
          <a:bodyPr wrap="square">
            <a:spAutoFit/>
          </a:bodyPr>
          <a:lstStyle/>
          <a:p>
            <a:pPr algn="l">
              <a:defRPr sz="1600" b="1">
                <a:solidFill>
                  <a:srgbClr val="0078D4"/>
                </a:solidFill>
                <a:latin typeface="Segoe UI"/>
              </a:defRPr>
            </a:pPr>
            <a:r>
              <a:t>Groups over individuals</a:t>
            </a:r>
          </a:p>
        </p:txBody>
      </p:sp>
      <p:sp>
        <p:nvSpPr>
          <p:cNvPr id="11" name="TextBox 10"/>
          <p:cNvSpPr txBox="1"/>
          <p:nvPr/>
        </p:nvSpPr>
        <p:spPr>
          <a:xfrm>
            <a:off x="4754880" y="2075688"/>
            <a:ext cx="6400800" cy="502920"/>
          </a:xfrm>
          <a:prstGeom prst="rect">
            <a:avLst/>
          </a:prstGeom>
          <a:noFill/>
        </p:spPr>
        <p:txBody>
          <a:bodyPr wrap="square">
            <a:spAutoFit/>
          </a:bodyPr>
          <a:lstStyle/>
          <a:p>
            <a:pPr algn="l">
              <a:defRPr sz="1400" b="0">
                <a:solidFill>
                  <a:srgbClr val="242424"/>
                </a:solidFill>
                <a:latin typeface="Segoe UI"/>
              </a:defRPr>
            </a:pPr>
            <a:r>
              <a:t>SharePoint groups or Entra groups — never assign to individual users</a:t>
            </a:r>
          </a:p>
        </p:txBody>
      </p:sp>
      <p:sp>
        <p:nvSpPr>
          <p:cNvPr id="12" name="Rounded Rectangle 11"/>
          <p:cNvSpPr/>
          <p:nvPr/>
        </p:nvSpPr>
        <p:spPr>
          <a:xfrm>
            <a:off x="731520" y="2834640"/>
            <a:ext cx="10698480" cy="685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926080"/>
            <a:ext cx="457200" cy="457200"/>
          </a:xfrm>
          <a:prstGeom prst="rect">
            <a:avLst/>
          </a:prstGeom>
          <a:noFill/>
        </p:spPr>
        <p:txBody>
          <a:bodyPr wrap="square">
            <a:spAutoFit/>
          </a:bodyPr>
          <a:lstStyle/>
          <a:p>
            <a:pPr algn="ctr">
              <a:defRPr sz="2000" b="0">
                <a:solidFill>
                  <a:srgbClr val="242424"/>
                </a:solidFill>
                <a:latin typeface="Segoe UI"/>
              </a:defRPr>
            </a:pPr>
            <a:r>
              <a:t>✅</a:t>
            </a:r>
          </a:p>
        </p:txBody>
      </p:sp>
      <p:sp>
        <p:nvSpPr>
          <p:cNvPr id="14" name="TextBox 13"/>
          <p:cNvSpPr txBox="1"/>
          <p:nvPr/>
        </p:nvSpPr>
        <p:spPr>
          <a:xfrm>
            <a:off x="1371600" y="2898648"/>
            <a:ext cx="3200400" cy="365760"/>
          </a:xfrm>
          <a:prstGeom prst="rect">
            <a:avLst/>
          </a:prstGeom>
          <a:noFill/>
        </p:spPr>
        <p:txBody>
          <a:bodyPr wrap="square">
            <a:spAutoFit/>
          </a:bodyPr>
          <a:lstStyle/>
          <a:p>
            <a:pPr algn="l">
              <a:defRPr sz="1600" b="1">
                <a:solidFill>
                  <a:srgbClr val="0078D4"/>
                </a:solidFill>
                <a:latin typeface="Segoe UI"/>
              </a:defRPr>
            </a:pPr>
            <a:r>
              <a:t>Know your sharing links</a:t>
            </a:r>
          </a:p>
        </p:txBody>
      </p:sp>
      <p:sp>
        <p:nvSpPr>
          <p:cNvPr id="15" name="TextBox 14"/>
          <p:cNvSpPr txBox="1"/>
          <p:nvPr/>
        </p:nvSpPr>
        <p:spPr>
          <a:xfrm>
            <a:off x="4754880" y="2898648"/>
            <a:ext cx="6400800" cy="502920"/>
          </a:xfrm>
          <a:prstGeom prst="rect">
            <a:avLst/>
          </a:prstGeom>
          <a:noFill/>
        </p:spPr>
        <p:txBody>
          <a:bodyPr wrap="square">
            <a:spAutoFit/>
          </a:bodyPr>
          <a:lstStyle/>
          <a:p>
            <a:pPr algn="l">
              <a:defRPr sz="1400" b="0">
                <a:solidFill>
                  <a:srgbClr val="242424"/>
                </a:solidFill>
                <a:latin typeface="Segoe UI"/>
              </a:defRPr>
            </a:pPr>
            <a:r>
              <a:t>Understand the risk profile: Anyone &gt; People in Org &gt; Specific People</a:t>
            </a:r>
          </a:p>
        </p:txBody>
      </p:sp>
      <p:sp>
        <p:nvSpPr>
          <p:cNvPr id="16" name="Rounded Rectangle 15"/>
          <p:cNvSpPr/>
          <p:nvPr/>
        </p:nvSpPr>
        <p:spPr>
          <a:xfrm>
            <a:off x="731520" y="3657600"/>
            <a:ext cx="10698480" cy="685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749040"/>
            <a:ext cx="457200" cy="457200"/>
          </a:xfrm>
          <a:prstGeom prst="rect">
            <a:avLst/>
          </a:prstGeom>
          <a:noFill/>
        </p:spPr>
        <p:txBody>
          <a:bodyPr wrap="square">
            <a:spAutoFit/>
          </a:bodyPr>
          <a:lstStyle/>
          <a:p>
            <a:pPr algn="ctr">
              <a:defRPr sz="2000" b="0">
                <a:solidFill>
                  <a:srgbClr val="242424"/>
                </a:solidFill>
                <a:latin typeface="Segoe UI"/>
              </a:defRPr>
            </a:pPr>
            <a:r>
              <a:t>✅</a:t>
            </a:r>
          </a:p>
        </p:txBody>
      </p:sp>
      <p:sp>
        <p:nvSpPr>
          <p:cNvPr id="18" name="TextBox 17"/>
          <p:cNvSpPr txBox="1"/>
          <p:nvPr/>
        </p:nvSpPr>
        <p:spPr>
          <a:xfrm>
            <a:off x="1371600" y="3721608"/>
            <a:ext cx="3200400" cy="365760"/>
          </a:xfrm>
          <a:prstGeom prst="rect">
            <a:avLst/>
          </a:prstGeom>
          <a:noFill/>
        </p:spPr>
        <p:txBody>
          <a:bodyPr wrap="square">
            <a:spAutoFit/>
          </a:bodyPr>
          <a:lstStyle/>
          <a:p>
            <a:pPr algn="l">
              <a:defRPr sz="1600" b="1">
                <a:solidFill>
                  <a:srgbClr val="0078D4"/>
                </a:solidFill>
                <a:latin typeface="Segoe UI"/>
              </a:defRPr>
            </a:pPr>
            <a:r>
              <a:t>OneDrive follows SharePoint</a:t>
            </a:r>
          </a:p>
        </p:txBody>
      </p:sp>
      <p:sp>
        <p:nvSpPr>
          <p:cNvPr id="19" name="TextBox 18"/>
          <p:cNvSpPr txBox="1"/>
          <p:nvPr/>
        </p:nvSpPr>
        <p:spPr>
          <a:xfrm>
            <a:off x="4754880" y="3721608"/>
            <a:ext cx="6400800" cy="502920"/>
          </a:xfrm>
          <a:prstGeom prst="rect">
            <a:avLst/>
          </a:prstGeom>
          <a:noFill/>
        </p:spPr>
        <p:txBody>
          <a:bodyPr wrap="square">
            <a:spAutoFit/>
          </a:bodyPr>
          <a:lstStyle/>
          <a:p>
            <a:pPr algn="l">
              <a:defRPr sz="1400" b="0">
                <a:solidFill>
                  <a:srgbClr val="242424"/>
                </a:solidFill>
                <a:latin typeface="Segoe UI"/>
              </a:defRPr>
            </a:pPr>
            <a:r>
              <a:t>OneDrive sharing can be equal or more restrictive, never more permissive</a:t>
            </a:r>
          </a:p>
        </p:txBody>
      </p:sp>
      <p:sp>
        <p:nvSpPr>
          <p:cNvPr id="20" name="Rounded Rectangle 19"/>
          <p:cNvSpPr/>
          <p:nvPr/>
        </p:nvSpPr>
        <p:spPr>
          <a:xfrm>
            <a:off x="731520" y="4480560"/>
            <a:ext cx="10698480" cy="685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572000"/>
            <a:ext cx="457200" cy="457200"/>
          </a:xfrm>
          <a:prstGeom prst="rect">
            <a:avLst/>
          </a:prstGeom>
          <a:noFill/>
        </p:spPr>
        <p:txBody>
          <a:bodyPr wrap="square">
            <a:spAutoFit/>
          </a:bodyPr>
          <a:lstStyle/>
          <a:p>
            <a:pPr algn="ctr">
              <a:defRPr sz="2000" b="0">
                <a:solidFill>
                  <a:srgbClr val="242424"/>
                </a:solidFill>
                <a:latin typeface="Segoe UI"/>
              </a:defRPr>
            </a:pPr>
            <a:r>
              <a:t>✅</a:t>
            </a:r>
          </a:p>
        </p:txBody>
      </p:sp>
      <p:sp>
        <p:nvSpPr>
          <p:cNvPr id="22" name="TextBox 21"/>
          <p:cNvSpPr txBox="1"/>
          <p:nvPr/>
        </p:nvSpPr>
        <p:spPr>
          <a:xfrm>
            <a:off x="1371600" y="4544568"/>
            <a:ext cx="3200400" cy="365760"/>
          </a:xfrm>
          <a:prstGeom prst="rect">
            <a:avLst/>
          </a:prstGeom>
          <a:noFill/>
        </p:spPr>
        <p:txBody>
          <a:bodyPr wrap="square">
            <a:spAutoFit/>
          </a:bodyPr>
          <a:lstStyle/>
          <a:p>
            <a:pPr algn="l">
              <a:defRPr sz="1600" b="1">
                <a:solidFill>
                  <a:srgbClr val="0078D4"/>
                </a:solidFill>
                <a:latin typeface="Segoe UI"/>
              </a:defRPr>
            </a:pPr>
            <a:r>
              <a:t>Troubleshoot systematically</a:t>
            </a:r>
          </a:p>
        </p:txBody>
      </p:sp>
      <p:sp>
        <p:nvSpPr>
          <p:cNvPr id="23" name="TextBox 22"/>
          <p:cNvSpPr txBox="1"/>
          <p:nvPr/>
        </p:nvSpPr>
        <p:spPr>
          <a:xfrm>
            <a:off x="4754880" y="4544568"/>
            <a:ext cx="6400800" cy="502920"/>
          </a:xfrm>
          <a:prstGeom prst="rect">
            <a:avLst/>
          </a:prstGeom>
          <a:noFill/>
        </p:spPr>
        <p:txBody>
          <a:bodyPr wrap="square">
            <a:spAutoFit/>
          </a:bodyPr>
          <a:lstStyle/>
          <a:p>
            <a:pPr algn="l">
              <a:defRPr sz="1400" b="0">
                <a:solidFill>
                  <a:srgbClr val="242424"/>
                </a:solidFill>
                <a:latin typeface="Segoe UI"/>
              </a:defRPr>
            </a:pPr>
            <a:r>
              <a:t>Boundary → Group membership → Direct perms → Sharing links → Check Permissions</a:t>
            </a:r>
          </a:p>
        </p:txBody>
      </p:sp>
      <p:sp>
        <p:nvSpPr>
          <p:cNvPr id="24" name="Rounded Rectangle 23"/>
          <p:cNvSpPr/>
          <p:nvPr/>
        </p:nvSpPr>
        <p:spPr>
          <a:xfrm>
            <a:off x="731520" y="5303520"/>
            <a:ext cx="10698480" cy="685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394960"/>
            <a:ext cx="457200" cy="457200"/>
          </a:xfrm>
          <a:prstGeom prst="rect">
            <a:avLst/>
          </a:prstGeom>
          <a:noFill/>
        </p:spPr>
        <p:txBody>
          <a:bodyPr wrap="square">
            <a:spAutoFit/>
          </a:bodyPr>
          <a:lstStyle/>
          <a:p>
            <a:pPr algn="ctr">
              <a:defRPr sz="2000" b="0">
                <a:solidFill>
                  <a:srgbClr val="242424"/>
                </a:solidFill>
                <a:latin typeface="Segoe UI"/>
              </a:defRPr>
            </a:pPr>
            <a:r>
              <a:t>✅</a:t>
            </a:r>
          </a:p>
        </p:txBody>
      </p:sp>
      <p:sp>
        <p:nvSpPr>
          <p:cNvPr id="26" name="TextBox 25"/>
          <p:cNvSpPr txBox="1"/>
          <p:nvPr/>
        </p:nvSpPr>
        <p:spPr>
          <a:xfrm>
            <a:off x="1371600" y="5367528"/>
            <a:ext cx="3200400" cy="365760"/>
          </a:xfrm>
          <a:prstGeom prst="rect">
            <a:avLst/>
          </a:prstGeom>
          <a:noFill/>
        </p:spPr>
        <p:txBody>
          <a:bodyPr wrap="square">
            <a:spAutoFit/>
          </a:bodyPr>
          <a:lstStyle/>
          <a:p>
            <a:pPr algn="l">
              <a:defRPr sz="1600" b="1">
                <a:solidFill>
                  <a:srgbClr val="0078D4"/>
                </a:solidFill>
                <a:latin typeface="Segoe UI"/>
              </a:defRPr>
            </a:pPr>
            <a:r>
              <a:t>Document and review</a:t>
            </a:r>
          </a:p>
        </p:txBody>
      </p:sp>
      <p:sp>
        <p:nvSpPr>
          <p:cNvPr id="27" name="TextBox 26"/>
          <p:cNvSpPr txBox="1"/>
          <p:nvPr/>
        </p:nvSpPr>
        <p:spPr>
          <a:xfrm>
            <a:off x="4754880" y="5367528"/>
            <a:ext cx="6400800" cy="502920"/>
          </a:xfrm>
          <a:prstGeom prst="rect">
            <a:avLst/>
          </a:prstGeom>
          <a:noFill/>
        </p:spPr>
        <p:txBody>
          <a:bodyPr wrap="square">
            <a:spAutoFit/>
          </a:bodyPr>
          <a:lstStyle/>
          <a:p>
            <a:pPr algn="l">
              <a:defRPr sz="1400" b="0">
                <a:solidFill>
                  <a:srgbClr val="242424"/>
                </a:solidFill>
                <a:latin typeface="Segoe UI"/>
              </a:defRPr>
            </a:pPr>
            <a:r>
              <a:t>Record your permission model; audit quarterly to prevent scope sprawl</a:t>
            </a:r>
          </a:p>
        </p:txBody>
      </p:sp>
      <p:sp>
        <p:nvSpPr>
          <p:cNvPr id="28" name="Rectangle 27"/>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4  |  Permissions and Collaboration Model</a:t>
            </a:r>
          </a:p>
        </p:txBody>
      </p:sp>
      <p:sp>
        <p:nvSpPr>
          <p:cNvPr id="30" name="TextBox 29"/>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26 / 28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Knowledge Check</a:t>
            </a:r>
          </a:p>
        </p:txBody>
      </p:sp>
      <p:sp>
        <p:nvSpPr>
          <p:cNvPr id="4" name="Rounded Rectangle 3"/>
          <p:cNvSpPr/>
          <p:nvPr/>
        </p:nvSpPr>
        <p:spPr>
          <a:xfrm>
            <a:off x="731520" y="1188720"/>
            <a:ext cx="10698480" cy="7772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05840" y="1298448"/>
            <a:ext cx="502920" cy="50292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1800" b="1">
                <a:solidFill>
                  <a:srgbClr val="FFFFFF"/>
                </a:solidFill>
                <a:latin typeface="Segoe UI"/>
              </a:defRPr>
            </a:pPr>
            <a:r>
              <a:t>1</a:t>
            </a:r>
          </a:p>
        </p:txBody>
      </p:sp>
      <p:sp>
        <p:nvSpPr>
          <p:cNvPr id="6" name="TextBox 5"/>
          <p:cNvSpPr txBox="1"/>
          <p:nvPr/>
        </p:nvSpPr>
        <p:spPr>
          <a:xfrm>
            <a:off x="1737360" y="1325880"/>
            <a:ext cx="9418320" cy="502920"/>
          </a:xfrm>
          <a:prstGeom prst="rect">
            <a:avLst/>
          </a:prstGeom>
          <a:noFill/>
        </p:spPr>
        <p:txBody>
          <a:bodyPr wrap="square">
            <a:spAutoFit/>
          </a:bodyPr>
          <a:lstStyle/>
          <a:p>
            <a:pPr algn="l">
              <a:defRPr sz="1600" b="0">
                <a:solidFill>
                  <a:srgbClr val="242424"/>
                </a:solidFill>
                <a:latin typeface="Segoe UI"/>
              </a:defRPr>
            </a:pPr>
            <a:r>
              <a:t>Why is breaking inheritance repeatedly considered risky in SharePoint?</a:t>
            </a:r>
          </a:p>
        </p:txBody>
      </p:sp>
      <p:sp>
        <p:nvSpPr>
          <p:cNvPr id="7" name="Rounded Rectangle 6"/>
          <p:cNvSpPr/>
          <p:nvPr/>
        </p:nvSpPr>
        <p:spPr>
          <a:xfrm>
            <a:off x="731520" y="2148840"/>
            <a:ext cx="10698480" cy="7772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05840" y="2258568"/>
            <a:ext cx="502920" cy="50292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1800" b="1">
                <a:solidFill>
                  <a:srgbClr val="FFFFFF"/>
                </a:solidFill>
                <a:latin typeface="Segoe UI"/>
              </a:defRPr>
            </a:pPr>
            <a:r>
              <a:t>2</a:t>
            </a:r>
          </a:p>
        </p:txBody>
      </p:sp>
      <p:sp>
        <p:nvSpPr>
          <p:cNvPr id="9" name="TextBox 8"/>
          <p:cNvSpPr txBox="1"/>
          <p:nvPr/>
        </p:nvSpPr>
        <p:spPr>
          <a:xfrm>
            <a:off x="1737360" y="2286000"/>
            <a:ext cx="9418320" cy="502920"/>
          </a:xfrm>
          <a:prstGeom prst="rect">
            <a:avLst/>
          </a:prstGeom>
          <a:noFill/>
        </p:spPr>
        <p:txBody>
          <a:bodyPr wrap="square">
            <a:spAutoFit/>
          </a:bodyPr>
          <a:lstStyle/>
          <a:p>
            <a:pPr algn="l">
              <a:defRPr sz="1600" b="0">
                <a:solidFill>
                  <a:srgbClr val="242424"/>
                </a:solidFill>
                <a:latin typeface="Segoe UI"/>
              </a:defRPr>
            </a:pPr>
            <a:r>
              <a:t>On a group-connected team site, what drives SharePoint permissions?</a:t>
            </a:r>
          </a:p>
        </p:txBody>
      </p:sp>
      <p:sp>
        <p:nvSpPr>
          <p:cNvPr id="10" name="Rounded Rectangle 9"/>
          <p:cNvSpPr/>
          <p:nvPr/>
        </p:nvSpPr>
        <p:spPr>
          <a:xfrm>
            <a:off x="731520" y="3108960"/>
            <a:ext cx="10698480" cy="7772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05840" y="3218688"/>
            <a:ext cx="502920" cy="50292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1800" b="1">
                <a:solidFill>
                  <a:srgbClr val="FFFFFF"/>
                </a:solidFill>
                <a:latin typeface="Segoe UI"/>
              </a:defRPr>
            </a:pPr>
            <a:r>
              <a:t>3</a:t>
            </a:r>
          </a:p>
        </p:txBody>
      </p:sp>
      <p:sp>
        <p:nvSpPr>
          <p:cNvPr id="12" name="TextBox 11"/>
          <p:cNvSpPr txBox="1"/>
          <p:nvPr/>
        </p:nvSpPr>
        <p:spPr>
          <a:xfrm>
            <a:off x="1737360" y="3246120"/>
            <a:ext cx="9418320" cy="502920"/>
          </a:xfrm>
          <a:prstGeom prst="rect">
            <a:avLst/>
          </a:prstGeom>
          <a:noFill/>
        </p:spPr>
        <p:txBody>
          <a:bodyPr wrap="square">
            <a:spAutoFit/>
          </a:bodyPr>
          <a:lstStyle/>
          <a:p>
            <a:pPr algn="l">
              <a:defRPr sz="1600" b="0">
                <a:solidFill>
                  <a:srgbClr val="242424"/>
                </a:solidFill>
                <a:latin typeface="Segoe UI"/>
              </a:defRPr>
            </a:pPr>
            <a:r>
              <a:t>When would you prefer SharePoint groups over individual user permissions?</a:t>
            </a:r>
          </a:p>
        </p:txBody>
      </p:sp>
      <p:sp>
        <p:nvSpPr>
          <p:cNvPr id="13" name="Rounded Rectangle 12"/>
          <p:cNvSpPr/>
          <p:nvPr/>
        </p:nvSpPr>
        <p:spPr>
          <a:xfrm>
            <a:off x="731520" y="4069080"/>
            <a:ext cx="10698480" cy="7772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005840" y="4178808"/>
            <a:ext cx="502920" cy="50292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1800" b="1">
                <a:solidFill>
                  <a:srgbClr val="FFFFFF"/>
                </a:solidFill>
                <a:latin typeface="Segoe UI"/>
              </a:defRPr>
            </a:pPr>
            <a:r>
              <a:t>4</a:t>
            </a:r>
          </a:p>
        </p:txBody>
      </p:sp>
      <p:sp>
        <p:nvSpPr>
          <p:cNvPr id="15" name="TextBox 14"/>
          <p:cNvSpPr txBox="1"/>
          <p:nvPr/>
        </p:nvSpPr>
        <p:spPr>
          <a:xfrm>
            <a:off x="1737360" y="4206240"/>
            <a:ext cx="9418320" cy="502920"/>
          </a:xfrm>
          <a:prstGeom prst="rect">
            <a:avLst/>
          </a:prstGeom>
          <a:noFill/>
        </p:spPr>
        <p:txBody>
          <a:bodyPr wrap="square">
            <a:spAutoFit/>
          </a:bodyPr>
          <a:lstStyle/>
          <a:p>
            <a:pPr algn="l">
              <a:defRPr sz="1600" b="0">
                <a:solidFill>
                  <a:srgbClr val="242424"/>
                </a:solidFill>
                <a:latin typeface="Segoe UI"/>
              </a:defRPr>
            </a:pPr>
            <a:r>
              <a:t>What's the difference between 'People in your org' and 'Specific people' links?</a:t>
            </a:r>
          </a:p>
        </p:txBody>
      </p:sp>
      <p:sp>
        <p:nvSpPr>
          <p:cNvPr id="16" name="Rounded Rectangle 15"/>
          <p:cNvSpPr/>
          <p:nvPr/>
        </p:nvSpPr>
        <p:spPr>
          <a:xfrm>
            <a:off x="731520" y="5029200"/>
            <a:ext cx="10698480" cy="7772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05840" y="5138928"/>
            <a:ext cx="502920" cy="50292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400"/>
              </a:spcBef>
              <a:defRPr sz="1800" b="1">
                <a:solidFill>
                  <a:srgbClr val="FFFFFF"/>
                </a:solidFill>
                <a:latin typeface="Segoe UI"/>
              </a:defRPr>
            </a:pPr>
            <a:r>
              <a:t>5</a:t>
            </a:r>
          </a:p>
        </p:txBody>
      </p:sp>
      <p:sp>
        <p:nvSpPr>
          <p:cNvPr id="18" name="TextBox 17"/>
          <p:cNvSpPr txBox="1"/>
          <p:nvPr/>
        </p:nvSpPr>
        <p:spPr>
          <a:xfrm>
            <a:off x="1737360" y="5166360"/>
            <a:ext cx="9418320" cy="502920"/>
          </a:xfrm>
          <a:prstGeom prst="rect">
            <a:avLst/>
          </a:prstGeom>
          <a:noFill/>
        </p:spPr>
        <p:txBody>
          <a:bodyPr wrap="square">
            <a:spAutoFit/>
          </a:bodyPr>
          <a:lstStyle/>
          <a:p>
            <a:pPr algn="l">
              <a:defRPr sz="1600" b="0">
                <a:solidFill>
                  <a:srgbClr val="242424"/>
                </a:solidFill>
                <a:latin typeface="Segoe UI"/>
              </a:defRPr>
            </a:pPr>
            <a:r>
              <a:t>What is the FIRST place you check for 'Access Denied' — and why?</a:t>
            </a:r>
          </a:p>
        </p:txBody>
      </p:sp>
      <p:sp>
        <p:nvSpPr>
          <p:cNvPr id="19" name="Rectangle 18"/>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4  |  Permissions and Collaboration Model</a:t>
            </a:r>
          </a:p>
        </p:txBody>
      </p:sp>
      <p:sp>
        <p:nvSpPr>
          <p:cNvPr id="21" name="TextBox 20"/>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27 / 28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B1B2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
            <a:ext cx="12191695" cy="36576"/>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914400"/>
          </a:xfrm>
          <a:prstGeom prst="rect">
            <a:avLst/>
          </a:prstGeom>
          <a:noFill/>
        </p:spPr>
        <p:txBody>
          <a:bodyPr wrap="square">
            <a:spAutoFit/>
          </a:bodyPr>
          <a:lstStyle/>
          <a:p>
            <a:pPr algn="ctr">
              <a:defRPr sz="4400" b="1">
                <a:solidFill>
                  <a:srgbClr val="FFFFFF"/>
                </a:solidFill>
                <a:latin typeface="Segoe UI"/>
              </a:defRPr>
            </a:pPr>
            <a:r>
              <a:t>Module 4 Complete ✓</a:t>
            </a:r>
          </a:p>
        </p:txBody>
      </p:sp>
      <p:sp>
        <p:nvSpPr>
          <p:cNvPr id="5" name="TextBox 4"/>
          <p:cNvSpPr txBox="1"/>
          <p:nvPr/>
        </p:nvSpPr>
        <p:spPr>
          <a:xfrm>
            <a:off x="914400" y="3017520"/>
            <a:ext cx="10058400" cy="731520"/>
          </a:xfrm>
          <a:prstGeom prst="rect">
            <a:avLst/>
          </a:prstGeom>
          <a:noFill/>
        </p:spPr>
        <p:txBody>
          <a:bodyPr wrap="square">
            <a:spAutoFit/>
          </a:bodyPr>
          <a:lstStyle/>
          <a:p>
            <a:pPr algn="ctr">
              <a:defRPr sz="2400" b="0">
                <a:solidFill>
                  <a:srgbClr val="00B294"/>
                </a:solidFill>
                <a:latin typeface="Segoe UI"/>
              </a:defRPr>
            </a:pPr>
            <a:r>
              <a:t>Permissions and Collaboration Model</a:t>
            </a:r>
          </a:p>
        </p:txBody>
      </p:sp>
      <p:sp>
        <p:nvSpPr>
          <p:cNvPr id="6" name="Rectangle 5"/>
          <p:cNvSpPr/>
          <p:nvPr/>
        </p:nvSpPr>
        <p:spPr>
          <a:xfrm>
            <a:off x="5029200" y="3931920"/>
            <a:ext cx="2103120" cy="36576"/>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28800" y="4389120"/>
            <a:ext cx="8229600" cy="548640"/>
          </a:xfrm>
          <a:prstGeom prst="rect">
            <a:avLst/>
          </a:prstGeom>
          <a:noFill/>
        </p:spPr>
        <p:txBody>
          <a:bodyPr wrap="square">
            <a:spAutoFit/>
          </a:bodyPr>
          <a:lstStyle/>
          <a:p>
            <a:pPr algn="ctr">
              <a:defRPr sz="1800" b="0">
                <a:solidFill>
                  <a:srgbClr val="AAAAAA"/>
                </a:solidFill>
                <a:latin typeface="Segoe UI"/>
              </a:defRPr>
            </a:pPr>
            <a:r>
              <a:t>Next → Module 5: Managing Metadata and the Term Store</a:t>
            </a:r>
          </a:p>
        </p:txBody>
      </p:sp>
      <p:sp>
        <p:nvSpPr>
          <p:cNvPr id="8" name="TextBox 7"/>
          <p:cNvSpPr txBox="1"/>
          <p:nvPr/>
        </p:nvSpPr>
        <p:spPr>
          <a:xfrm>
            <a:off x="1828800" y="5303520"/>
            <a:ext cx="8229600" cy="1097280"/>
          </a:xfrm>
          <a:prstGeom prst="rect">
            <a:avLst/>
          </a:prstGeom>
          <a:noFill/>
        </p:spPr>
        <p:txBody>
          <a:bodyPr wrap="square">
            <a:spAutoFit/>
          </a:bodyPr>
          <a:lstStyle/>
          <a:p>
            <a:pPr algn="ctr">
              <a:defRPr sz="1100" b="0">
                <a:solidFill>
                  <a:srgbClr val="888888"/>
                </a:solidFill>
                <a:latin typeface="Segoe UI"/>
              </a:defRPr>
            </a:pPr>
            <a:r>
              <a:t>References:</a:t>
            </a:r>
            <a:br/>
            <a:r>
              <a:t>• Manage Permission Scopes: learn.microsoft.com/sharepoint/manage-permission-scope</a:t>
            </a:r>
            <a:br/>
            <a:r>
              <a:t>• Sharing &amp; Permissions (Modern): learn.microsoft.com/sharepoint/modern-experience-sharing-permissions</a:t>
            </a:r>
            <a:br/>
            <a:r>
              <a:t>• Manage Sharing Settings: learn.microsoft.com/sharepoint/turn-external-sharing-on-or-off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