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Module 3. This is where participants get hands-on with their own practice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module agenda. This is the most hands-on module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learning objectives. This module has the most lab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the overview of SharePoint site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site is the top-level manageable entity in SharePoint. It has its own URL, owners, permissions, storage, and sharing config. Formerly called 'site collections' — now just 'sites' in modern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primary modern site types: Team Sites (collaboration, groups-backed) and Communication Sites (broadcasting, not group-backed by default).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you create a Team Site, an M365 Group is created. When you create a Teams team, it creates an M365 Group + Team Site. This bidirectional relationship means managing one affects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 sites are the organising layer. They provide shared navigation, branding, and search scope across associated sites. They don't affect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decision matrix to help admins guide site creation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hands-on site creation 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admin center flow: Active sites → Create → Choose type → Configure.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site details panel provides General, Membership, and Settings tabs. This is where admins check and manage site-level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quick-win tasks: membership changes, access requests, recycle bin recovery. These are the 'small but urgent' issues admins handle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storage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models: Automatic (pooled) vs Manual (per-site limits). Most tenants default to Automatic. Changing this is Trainer-only in our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delete and restore.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Deleting a site removes access. It goes to Deleted sites for ~93 days. After that, it's permanently deleted. Emphasize using a test site for the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Two-stage recycle bin: First stage (site level, user-accessible) → Second stage (site collection level, admin-accessible). Items auto-purge after 93 days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to PowerShell basics for site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essential workflow: Install module → Connect → Get sites. Emphasize read-only commands first, target only own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reference of key cmdlets for site lifecycle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governance best practices that connect modules 1-3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participants about shared-tenant rules for this module's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lab tasks. This is the busiest lab so far — 7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key messages from Module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last module of Day 1. Recap what was covered across all 3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 slide. Keep answers short; prioritize scope and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participants for Day 1. Preview Day 2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294"/>
                </a:solidFill>
                <a:latin typeface="Segoe UI Semibold"/>
              </a:defRPr>
            </a:pPr>
            <a:r>
              <a:t>MODERN SHAREPOINT ONLINE FOR ADMINISTRATORS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Working with</a:t>
            </a:r>
            <a:br/>
            <a:r>
              <a:t>Site Collections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  <a:latin typeface="Segoe UI"/>
              </a:defRPr>
            </a:pPr>
            <a:r>
              <a:t>Day 1  ·  Tenant Foundations &amp; Site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2926080" cy="50292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🏗️  Create, manage, and administer modern SharePoint sites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📋  Module 3 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411480" cy="4114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1155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SharePoint Sites Overview — Types, when to use each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27632"/>
            <a:ext cx="411480" cy="41148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M365 Groups &amp; Teams Integration — Behind the scenes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57984"/>
            <a:ext cx="411480" cy="41148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762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Hub Sites — Organising your site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88336"/>
            <a:ext cx="411480" cy="4114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066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Creating Sites — Admin center &amp; PowerShell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18688"/>
            <a:ext cx="411480" cy="41148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3697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Site Admin Operations — Membership, access, recycle bin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673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Storage Management — Tenant vs site-level quotas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79392"/>
            <a:ext cx="411480" cy="41148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Site Lifecycle — Delete, restore, and retention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809744"/>
            <a:ext cx="411480" cy="41148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280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PowerShell Basics — Connect and inspect sites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340096"/>
            <a:ext cx="411480" cy="41148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5838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Lab 3 Preview &amp; Knowledge 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🎯  Module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Create a modern SharePoint site from the SharePoint admin center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Identify where site ownership, admins, and settings are managed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Perform day-to-day site admin tasks (membership, access requests, recycle bin)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Explain and observe how storage limits work at tenant and site level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Delete and restore a site safely using a test site</a:t>
            </a:r>
          </a:p>
          <a:p>
            <a:pPr>
              <a:spcAft>
                <a:spcPts val="600"/>
              </a:spcAft>
              <a:defRPr sz="1800">
                <a:solidFill>
                  <a:srgbClr val="242424"/>
                </a:solidFill>
                <a:latin typeface="Segoe UI"/>
              </a:defRPr>
            </a:pPr>
            <a:r>
              <a:t>✅ Connect to SharePoint Online using PowerShell and retrieve site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🏗️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SharePoint Sites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Understanding site types, architecture, and when to use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What is a SharePoint Site?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A site (formerly 'site collection') is the top-level manageable unit in SharePoint Online. It's the container for pages, document libraries, lists, and sub-resources.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03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103120"/>
            <a:ext cx="219456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🔗 Unique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80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Each site gets its own URL</a:t>
            </a:r>
            <a:br/>
            <a:r>
              <a:t>under your tenant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103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2103120"/>
            <a:ext cx="219456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👷 Owner / Admins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880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Site-scoped administration</a:t>
            </a:r>
            <a:br/>
            <a:r>
              <a:t>and membership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103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2103120"/>
            <a:ext cx="2194560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9D6"/>
                </a:solidFill>
                <a:latin typeface="Segoe UI"/>
              </a:defRPr>
            </a:pPr>
            <a:r>
              <a:t>🔐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880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SharePoint groups with</a:t>
            </a:r>
            <a:br/>
            <a:r>
              <a:t>inheritance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103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2103120"/>
            <a:ext cx="21945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📦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880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Consumes tenant pool or</a:t>
            </a:r>
            <a:br/>
            <a:r>
              <a:t>has a manual quota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103120"/>
            <a:ext cx="219456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2103120"/>
            <a:ext cx="219456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🌍 Sharing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880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Site-level sharing posture</a:t>
            </a:r>
            <a:br/>
            <a:r>
              <a:t>(same or more restrictive than org)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💡 Many governance and security controls are scoped to the site level — this is why site management matters.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Modern Site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👥 Team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Purpose: Team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Backed by a Microsoft 365 Group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Can be connected to a Microsoft Team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Shared mailbox, calendar, Planner, OneNote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Members collaborate; membership via group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Default: private (members only)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Best for: project teams, departments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03520" cy="91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294"/>
                </a:solidFill>
                <a:latin typeface="Segoe UI"/>
              </a:defRPr>
            </a:pPr>
            <a:r>
              <a:t>📢 Communication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Purpose: Broadcast &amp; 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NOT backed by a Microsoft 365 Group (by default)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Cannot natively connect to Teams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Beautiful page layouts and templates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Permissions via SharePoint groups (classic model)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Default: public within org (everyone can read)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Best for: intranets, news, announcements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🎯 Choose Team Site for collaboration, Communication Site for broadcasting.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Segoe UI"/>
              </a:defRPr>
            </a:pPr>
            <a:r>
              <a:t>Microsoft 365 Groups &amp; Teams — 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Team Sites and Teams are connected through Microsoft 365 Groups. Understanding this relationship is crucial.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9260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Create a Team Site</a:t>
            </a:r>
            <a:br/>
            <a:r>
              <a:t>(SP Admin Center)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2880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29260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M365 Group</a:t>
            </a:r>
            <a:br/>
            <a:r>
              <a:t>is auto-created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2880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828800"/>
            <a:ext cx="29260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0116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Can optionally add</a:t>
            </a:r>
            <a:br/>
            <a:r>
              <a:t>a Teams team later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92608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Create a Teams team</a:t>
            </a:r>
            <a:br/>
            <a:r>
              <a:t>(Teams Admin/User)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84048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3840480"/>
            <a:ext cx="292608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023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M365 Group +</a:t>
            </a:r>
            <a:br/>
            <a:r>
              <a:t>SP Team Site 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84048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3840480"/>
            <a:ext cx="292608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023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42424"/>
                </a:solidFill>
                <a:latin typeface="Segoe UI"/>
              </a:defRPr>
            </a:pPr>
            <a:r>
              <a:t>Site appears in</a:t>
            </a:r>
            <a:br/>
            <a:r>
              <a:t>SP Admin Center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9280"/>
            <a:ext cx="10515600" cy="457200"/>
          </a:xfrm>
          <a:prstGeom prst="roundRect">
            <a:avLst>
              <a:gd name="adj" fmla="val 5000"/>
            </a:avLst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875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Segoe UI"/>
              </a:defRPr>
            </a:pPr>
            <a:r>
              <a:t>⚠️ Deleting a Teams-connected SP site can break the Team. Deleting a Team deletes the SP site.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Hub Sites — Organising Your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6060"/>
                </a:solidFill>
                <a:latin typeface="Segoe UI"/>
              </a:defRPr>
            </a:pPr>
            <a:r>
              <a:t>Hub sites group related sites under a shared brand, navigation, and search experience — without changing permissions.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7432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🧭 Shared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Associated sites inherit the hub's</a:t>
            </a:r>
            <a:br/>
            <a:r>
              <a:t>global navigation 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743200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294"/>
                </a:solidFill>
                <a:latin typeface="Segoe UI"/>
              </a:defRPr>
            </a:pPr>
            <a:r>
              <a:t>🎨 Common Branding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Theme, logo, and header</a:t>
            </a:r>
            <a:br/>
            <a:r>
              <a:t>applied across all associated sites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2743200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69D6"/>
                </a:solidFill>
                <a:latin typeface="Segoe UI"/>
              </a:defRPr>
            </a:pPr>
            <a:r>
              <a:t>🔍 Scoped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Search can be scoped to all</a:t>
            </a:r>
            <a:br/>
            <a:r>
              <a:t>site content across the 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8288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828800"/>
            <a:ext cx="27432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📰 News Rollup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Aggregate news posts from</a:t>
            </a:r>
            <a:br/>
            <a:r>
              <a:t>all associated sites in one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📌 Hub sites do NOT affect permissions — each associated site keeps its own permissions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📌 A site can associate (join) or dissociate (leave) a hub at any time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📌 Hub registration is done by SharePoint admins; association can be delegated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When to Use Which? — Quick Decision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  <a:gridCol w="25603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Team Site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Communication Site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Hub Site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Project team collaboration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 Best fit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❌ Not ideal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Associate to hub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Company intranet / news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❌ Not ideal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 Best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Register as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Department portal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 For team work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 For broadcasting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Associate to hub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Organise 10+ related 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✅ Register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Creating &amp; Managing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Admin center workflow and day-to-day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Creating a Site — Admin Center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1488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4884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Open Active 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SharePoint admin center &gt;</a:t>
            </a:r>
            <a:br/>
            <a:r>
              <a:t>Sites &gt; Active sites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371600"/>
            <a:ext cx="21488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371600"/>
            <a:ext cx="214884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37560" y="1554480"/>
            <a:ext cx="548640" cy="54864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2860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Click 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7432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Select '+ Create' to start</a:t>
            </a:r>
            <a:br/>
            <a:r>
              <a:t>the site provision wizard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371600"/>
            <a:ext cx="21488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371600"/>
            <a:ext cx="2148840" cy="54864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0" y="1554480"/>
            <a:ext cx="548640" cy="548640"/>
          </a:xfrm>
          <a:prstGeom prst="ellipse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69D6"/>
                </a:solidFill>
                <a:latin typeface="Segoe UI"/>
              </a:defRPr>
            </a:pPr>
            <a:r>
              <a:t>Choose Site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432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Team site or</a:t>
            </a:r>
            <a:br/>
            <a:r>
              <a:t>Communication site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371600"/>
            <a:ext cx="21488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1371600"/>
            <a:ext cx="2148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1000" y="155448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2860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Configure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432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Name, URL, owner, language,</a:t>
            </a:r>
            <a:br/>
            <a:r>
              <a:t>time zone,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371600"/>
            <a:ext cx="214884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371600"/>
            <a:ext cx="214884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32720" y="1554480"/>
            <a:ext cx="548640" cy="54864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2860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Site is Provisioned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7432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Site appears in Active sites</a:t>
            </a:r>
            <a:br/>
            <a:r>
              <a:t>within seconds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💡 UI can vary between tenants and over time. Learn to find the Create entry point, not memorize exact clicks.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Site Details Panel — What to Look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📋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Site URL and name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Primary owner / admin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Storage usage (current / limit)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Hub association status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Last activity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18872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188720"/>
            <a:ext cx="3566160" cy="91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294"/>
                </a:solidFill>
                <a:latin typeface="Segoe UI"/>
              </a:defRPr>
            </a:pPr>
            <a:r>
              <a:t>👥 Membership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Site admins (collection admins)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Owners, Members, Visitors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Microsoft 365 Group members (if applicable)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Quick add/remove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188720"/>
            <a:ext cx="3566160" cy="41148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188720"/>
            <a:ext cx="3566160" cy="914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69D6"/>
                </a:solidFill>
                <a:latin typeface="Segoe UI"/>
              </a:defRPr>
            </a:pPr>
            <a:r>
              <a:t>⚙️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External sharing configuration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Default sharing link type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Storage limit (if manual mode)</a:t>
            </a:r>
          </a:p>
          <a:p>
            <a:pPr>
              <a:spcAft>
                <a:spcPts val="600"/>
              </a:spcAft>
              <a:defRPr sz="1300">
                <a:solidFill>
                  <a:srgbClr val="242424"/>
                </a:solidFill>
                <a:latin typeface="Segoe UI"/>
              </a:defRPr>
            </a:pPr>
            <a:r>
              <a:t>• Conditional Access policy (if set)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📌 Always confirm you're looking at the correct site before making changes!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Day-to-Day Site Admin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👥 Membership / Site Admins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Add or remove additional site admins for break-glass access. Common when site owners leave or need a backup admin.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09728" cy="10058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🙋 Access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Verify whether access requests are enabled and who receives them. Route requests to the right person to avoid bottlenecks.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" cy="100584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47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🗑️ Recycle Bin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Restore deleted files or pages when users make mistakes. Two-stage recycle bin: site-level → site collection-level.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1772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🔍 Monthly Access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Review who has access on a regular cadence (monthly recommended). Check Owners/Members/Visitors + Activity signals.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Storage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Understanding tenant pool vs per-site quotas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Storage Controls: Two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🔄 Automatic (Pooled)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Default for most tenants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Storage shared across all sites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SharePoint manages allocation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No per-site limits to configure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Simple but less granular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9144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294"/>
                </a:solidFill>
                <a:latin typeface="Segoe UI"/>
              </a:defRPr>
            </a:pPr>
            <a:r>
              <a:t>⚙️ Manual (Per-Site Limits)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Admin sets max GB per site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Storage warnings configurable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More granular governance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Requires ongoing management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Useful for large organisations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📏 Total tenant storage = 1 TB base + 10 GB × number of licensed users  |  Max per site = 25 TB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♻️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Site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Delete, restore, and the safety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Site Delete &amp; Restore — Safety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286000" cy="24688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286000" cy="5486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783080"/>
            <a:ext cx="594360" cy="59436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7C10"/>
                </a:solidFill>
                <a:latin typeface="Segoe UI"/>
              </a:defRPr>
            </a:pPr>
            <a:r>
              <a:t>Active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Site is live and</a:t>
            </a:r>
            <a:br/>
            <a:r>
              <a:t>accessible to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45920"/>
            <a:ext cx="2286000" cy="24688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645920"/>
            <a:ext cx="2286000" cy="54864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23360" y="1783080"/>
            <a:ext cx="594360" cy="59436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13438"/>
                </a:solidFill>
                <a:latin typeface="Segoe UI"/>
              </a:defRPr>
            </a:pPr>
            <a:r>
              <a:t>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17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Admin deletes from</a:t>
            </a:r>
            <a:br/>
            <a:r>
              <a:t>Active sites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286000" cy="24688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22860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95160" y="1783080"/>
            <a:ext cx="594360" cy="5943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Deleted 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17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Recoverable for ~93 days</a:t>
            </a:r>
            <a:br/>
            <a:r>
              <a:t>from Deleted sites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645920"/>
            <a:ext cx="2286000" cy="24688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1645920"/>
            <a:ext cx="2286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783080"/>
            <a:ext cx="594360" cy="5943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Restore / Purge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0175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Restore to Active sites</a:t>
            </a:r>
            <a:br/>
            <a:r>
              <a:t>or permanently 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 🚫 Do NOT delete the organization's root site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 🚫 Do NOT delete any site you do not own</a:t>
            </a:r>
          </a:p>
          <a:p>
            <a:pPr>
              <a:spcAft>
                <a:spcPts val="600"/>
              </a:spcAft>
              <a:defRPr sz="1500">
                <a:solidFill>
                  <a:srgbClr val="242424"/>
                </a:solidFill>
                <a:latin typeface="Segoe UI"/>
              </a:defRPr>
            </a:pPr>
            <a:r>
              <a:t> ✅ Use a dedicated NW-Pxx-RestoreTest site for the delete/restore drill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Recycle Bin — Two-Stage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0" cy="914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🗑️ First Stage (Site Recycle Bin)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Accessible by site users and admins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Deleted files, pages, list items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Items stay for 93 days (total for both stages)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Users can self-service restore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606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0292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Segoe UI"/>
              </a:defRPr>
            </a:pPr>
            <a:r>
              <a:t>🗑️ Second Stage (Site Collection)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Only accessible by site collection admins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Items deleted from first-stage recycle bin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Last chance before permanent deletion</a:t>
            </a:r>
          </a:p>
          <a:p>
            <a:pPr>
              <a:spcAft>
                <a:spcPts val="600"/>
              </a:spcAft>
              <a:defRPr sz="1400">
                <a:solidFill>
                  <a:srgbClr val="242424"/>
                </a:solidFill>
                <a:latin typeface="Segoe UI"/>
              </a:defRPr>
            </a:pPr>
            <a:r>
              <a:t>• Admin recovery only (not self-service)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⏱️ Total retention: 93 days across both stages. After 93 days, items are permanently deleted.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2286000" cy="54864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00B294"/>
                </a:solidFill>
                <a:latin typeface="Segoe UI"/>
              </a:defRPr>
            </a:pPr>
            <a:r>
              <a:t>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PowerShell for Site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Connect, inspect, and manage sites via command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PowerShell Basics — Connect &amp;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Step 1: Connect to SharePoint Online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D321"/>
                </a:solidFill>
                <a:latin typeface="Cascadia Code"/>
              </a:defRPr>
            </a:pPr>
            <a:r>
              <a:t>Connect-SPOService -Url https://contoso-admin.sharepoint.com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Uses your admin credentials to connect to the SP admin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294"/>
                </a:solidFill>
                <a:latin typeface="Segoe UI"/>
              </a:defRPr>
            </a:pPr>
            <a:r>
              <a:t>Step 2: List/Get Site Properties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D321"/>
                </a:solidFill>
                <a:latin typeface="Cascadia Code"/>
              </a:defRPr>
            </a:pPr>
            <a:r>
              <a:t>Get-SPOSite -Identity https://contoso.sharepoint.com/sites/NW-P01-ProjectSite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Retrieves details for a specific site: URL, owner, storage, template.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69D6"/>
                </a:solidFill>
                <a:latin typeface="Segoe UI"/>
              </a:defRPr>
            </a:pPr>
            <a:r>
              <a:t>Step 3: Get All Sites (use with caution)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40"/>
            <a:ext cx="10515600" cy="5029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ED321"/>
                </a:solidFill>
                <a:latin typeface="Cascadia Code"/>
              </a:defRPr>
            </a:pPr>
            <a:r>
              <a:t>Get-SPOSite -Limit All | Select-Object Url, Owner, StorageUsageCurrent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Lists all sites. In shared tenant, just look — don't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Segoe UI"/>
              </a:defRPr>
            </a:pPr>
            <a:r>
              <a:t>⚠️ In this course: read-only commands only. Target only YOUR NW-Pxx-... sites. Never run Set/Remove on other participants' sites.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Key PowerShell Cmdlets — Quick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34747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Cmdlet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Cascadia Code"/>
                        </a:defRPr>
                      </a:pPr>
                      <a:r>
                        <a:t>Connect-SPOService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Connect to SharePoint admin service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Required before any other cmdlet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Cascadia Code"/>
                        </a:defRPr>
                      </a:pPr>
                      <a:r>
                        <a:t>Get-SPOSite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Retrieve site 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Read-only; safe to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Cascadia Code"/>
                        </a:defRPr>
                      </a:pPr>
                      <a:r>
                        <a:t>New-SPOSite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Create a new site (classic)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Modern sites: use admin center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Cascadia Code"/>
                        </a:defRPr>
                      </a:pPr>
                      <a:r>
                        <a:t>Set-SPOSite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Modify site 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⚠️ Use carefully in shared 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Cascadia Code"/>
                        </a:defRPr>
                      </a:pPr>
                      <a:r>
                        <a:t>Remove-SPOSite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Delete a site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⚠️ Lab: only NW-Pxx-RestoreTest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Cascadia Code"/>
                        </a:defRPr>
                      </a:pPr>
                      <a:r>
                        <a:t>Restore-SPODeletedSite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Restore from Deleted 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  <a:latin typeface="Segoe UI"/>
                        </a:defRPr>
                      </a:pPr>
                      <a:r>
                        <a:t>Restores within 93-day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Site Governance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📛 Naming Convention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Enforce consistent naming (e.g., NW-Dept-Purpose) for discoverability and admin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👤 Ownership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Every site MUST have at least 2 owners. Orphan sites are a governance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📦 Storage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Review storage trends monthly. Set alerts before sites hit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🔐 Sharing Posture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Set site-level sharing tighter than org default for sensitive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🗑️ Lifecycle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Define when inactive sites should be archived or deleted. Use activity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Segoe UI"/>
              </a:defRPr>
            </a:pPr>
            <a:r>
              <a:t>📋 Regular Access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060"/>
                </a:solidFill>
                <a:latin typeface="Segoe UI"/>
              </a:defRPr>
            </a:pPr>
            <a:r>
              <a:t>Review site membership monthly. Remove stale access. Document findings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1B2F"/>
                </a:solidFill>
                <a:latin typeface="Segoe UI"/>
              </a:defRPr>
            </a:pPr>
            <a:r>
              <a:t>🏢 Lab Scenario &amp; Shared Tenant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Scenario: Project Northwind Intranet Modernization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Create your own practice sites using NW-Pxx-... naming only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Persistent site: NW-Pxx-ProjectSite (keep this for later modules)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Disposable site: NW-Pxx-RestoreTest (for delete/restore drill)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Tenant-wide changes (e.g., storage mode) are TRAINER-ONLY</a:t>
            </a:r>
          </a:p>
          <a:p>
            <a:pPr>
              <a:spcAft>
                <a:spcPts val="600"/>
              </a:spcAft>
              <a:defRPr sz="1700">
                <a:solidFill>
                  <a:srgbClr val="242424"/>
                </a:solidFill>
                <a:latin typeface="Segoe UI"/>
              </a:defRPr>
            </a:pPr>
            <a:r>
              <a:t>📋 PowerShell: read-only commands; target only YOUR sites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🔒 NW-Pxx-ProjectSite is your foundation for Modules 4–8. Don't delete it!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1B2F"/>
                </a:solidFill>
                <a:latin typeface="Segoe UI"/>
              </a:defRPr>
            </a:pPr>
            <a:r>
              <a:t>🔬 Lab 3 Preview — Managing Site Collections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91440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1556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Create NW-Pxx-ProjectSite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0789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Your persistent practice site for the rest of the course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73352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64792"/>
            <a:ext cx="91440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719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Explore site details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74650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Capture owner, membership, activity, storage observations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40864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432304"/>
            <a:ext cx="91440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5059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86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Check access request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1401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Observe who receives requests; document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08376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099816"/>
            <a:ext cx="91440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1810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0540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Monthly access review drill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08152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Review site membership and document gaps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75888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767328"/>
            <a:ext cx="91440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8561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721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Recycle bin restore drill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749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Delete a test file then restore it from recycle bin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4340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434840"/>
            <a:ext cx="91440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45312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Delete/restore test site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41655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Create NW-Pxx-RestoreTest → delete → restore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10912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5102352"/>
            <a:ext cx="914400" cy="320040"/>
          </a:xfrm>
          <a:prstGeom prst="roundRect">
            <a:avLst>
              <a:gd name="adj" fmla="val 5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1206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Task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056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2424"/>
                </a:solidFill>
                <a:latin typeface="Segoe UI"/>
              </a:defRPr>
            </a:pPr>
            <a:r>
              <a:t>PowerShell connection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08406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Segoe UI"/>
              </a:defRPr>
            </a:pPr>
            <a:r>
              <a:t>Connect-SPOService + Get-SPOSite on your site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69864"/>
            <a:ext cx="10515600" cy="457200"/>
          </a:xfrm>
          <a:prstGeom prst="roundRect">
            <a:avLst>
              <a:gd name="adj" fmla="val 5000"/>
            </a:avLst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788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8D4"/>
                </a:solidFill>
                <a:latin typeface="Segoe UI"/>
              </a:defRPr>
            </a:pPr>
            <a:r>
              <a:t>📸 Capture screenshots: site details, access review notes, recycle bin restore, PowerShell output.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📝 Module 3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✅ SharePoint sites are the primary manageable unit — each has URL, owners, permissions, storage</a:t>
            </a:r>
          </a:p>
          <a:p>
            <a:pPr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✅ Team Sites = collaboration (M365 Group-backed); Communication Sites = broadcasting</a:t>
            </a:r>
          </a:p>
          <a:p>
            <a:pPr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✅ Hub Sites organise sites with shared navigation, branding, and search — without changing permissions</a:t>
            </a:r>
          </a:p>
          <a:p>
            <a:pPr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✅ Sites are created from the admin center or PowerShell; always follow naming conventions</a:t>
            </a:r>
          </a:p>
          <a:p>
            <a:pPr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✅ Day-to-day ops: membership, access requests, recycle bin (two-stage recovery)</a:t>
            </a:r>
          </a:p>
          <a:p>
            <a:pPr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✅ Storage: tenant pool (automatic) vs per-site limits (manual) — know which mode you're in</a:t>
            </a:r>
          </a:p>
          <a:p>
            <a:pPr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✅ Delete/restore has a 93-day safety window — always use a test site for drills</a:t>
            </a:r>
          </a:p>
          <a:p>
            <a:pPr>
              <a:spcAft>
                <a:spcPts val="600"/>
              </a:spcAft>
              <a:defRPr sz="1600">
                <a:solidFill>
                  <a:srgbClr val="242424"/>
                </a:solidFill>
                <a:latin typeface="Segoe UI"/>
              </a:defRPr>
            </a:pPr>
            <a:r>
              <a:t>✅ PowerShell: Connect-SPOService → Get-SPOSite — start with read-only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 Light"/>
              </a:defRPr>
            </a:pPr>
            <a:r>
              <a:t>Day 1 Complete!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294"/>
                </a:solidFill>
                <a:latin typeface="Segoe UI"/>
              </a:defRPr>
            </a:pPr>
            <a:r>
              <a:t>Tenant Foundations &amp; Site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92608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2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926080"/>
            <a:ext cx="9144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063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Microsoft 365 &amp; SharePoint Online overview, admin centers, service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79476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2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3794760"/>
            <a:ext cx="91440" cy="73152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3886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294"/>
                </a:solidFill>
                <a:latin typeface="Segoe UI"/>
              </a:defRPr>
            </a:pPr>
            <a:r>
              <a:t>Module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Identity, access, external sharing, guest access, Conditional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663440"/>
            <a:ext cx="8229600" cy="731520"/>
          </a:xfrm>
          <a:prstGeom prst="roundRect">
            <a:avLst>
              <a:gd name="adj" fmla="val 5000"/>
            </a:avLst>
          </a:prstGeom>
          <a:solidFill>
            <a:srgbClr val="2B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4663440"/>
            <a:ext cx="91440" cy="731520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Module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800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Segoe UI"/>
              </a:defRPr>
            </a:pPr>
            <a:r>
              <a:t>Site types, creation, management, storage, lifecycle, PowerShell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🚀 Tomorrow: Permissions, Metadata, Search &amp; Customization (Day 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1B2F"/>
                </a:solidFill>
                <a:latin typeface="Segoe UI"/>
              </a:defRPr>
            </a:pPr>
            <a:r>
              <a:t>🧠 Knowledge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1247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97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Why do we isolate work to NW-Pxx-... sites in this course?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Prevent collisions; avoid impacting other participants in shared tenant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762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When can you set a per-site storage limit?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Only when the tenant storage management mode is set to Manual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227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0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Why use a dedicated NW-Pxx-RestoreTest site for the delete drill?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Avoid damaging the persistent practice site; avoid impacting others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548640" cy="457200"/>
          </a:xfrm>
          <a:prstGeom prst="roundRect">
            <a:avLst>
              <a:gd name="adj" fmla="val 5000"/>
            </a:avLst>
          </a:prstGeom>
          <a:solidFill>
            <a:srgbClr val="6B6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793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51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42424"/>
                </a:solidFill>
                <a:latin typeface="Segoe UI"/>
              </a:defRPr>
            </a:pPr>
            <a:r>
              <a:t>What must happen before running Get-SPOSite?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Segoe UI"/>
              </a:defRPr>
            </a:pPr>
            <a:r>
              <a:t>→ You must first connect via Connect-SPOService with the admin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B69D6"/>
                </a:solidFill>
                <a:latin typeface="Segoe UI"/>
              </a:defRPr>
            </a:pPr>
            <a:r>
              <a:t>💬 Discuss with your neighbour — then we'll share answers.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 Light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294"/>
                </a:solidFill>
                <a:latin typeface="Segoe UI"/>
              </a:defRPr>
            </a:pPr>
            <a:r>
              <a:t>End of Day 1 — See you tomorrow for Day 2!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Day 2: Permissions · Metadata · Search · Customization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Module 3  |  Working with Site Collections (Modern Sites)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