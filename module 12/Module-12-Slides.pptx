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1146" y="2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211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Module 12 — Workflow Automation with Power Automate and Power Apps. This optional module shows how SharePoint lists integrate with Power Automate for approval workflows and how Power Apps can customise list forms. We also touch on governance: environments and DLP policies.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Workflow automation isn't just about convenience — for admins it's about identity, ownership, operational impact and data movement. Always ask: who owns this? What happens if it fails? Where does data flow?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clear learning outcomes aligned to the student guide.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let's start with the integration between SharePoint and Power Automate.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Power Automate's SharePoint connector provides key triggers like 'When an item is created' and 'When an item is created or modified'. For approval workflows that update the same item, always prefer 'When an item is created' to avoid loops. Reference: https://learn.microsoft.com/en-us/sharepoint/dev/business-apps/power-automate/sharepoint-connector-actions-triggers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common admin-friendly approval pattern. 'Start and wait for an approval' blocks the flow run until the approver responds. Refs: https://learn.microsoft.com/en-us/power-automate/get-started-approvals https://learn.microsoft.com/en-us/power-automate/modern-approvals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Detail the approval step configuration: type, title, assigned to, details, and the item link. These map to the lab worksheet fields.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automation is powerful, but there are common pitfalls admins must prevent.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#1 pitfall: using 'When an item is created or modified' and then updating the same item creates a re-trigger loop. Mitigations: use 'created' only trigger, or apply trigger conditions. Ref: https://learn.microsoft.com/en-us/power-automate/customize-triggers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Flows and apps must have a clear owner, a backup owner, and documentation. If the creator leaves, the flow may become orphaned and stop running.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beyond flows — let's customise the list form experience with Power Apps.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SharePoint lists integrate with Power Apps to customise the list form. Typical admin use cases: re-order fields, conditional visibility, helper text. Ref: https://learn.microsoft.com/en-us/sharepoint/dev/business-apps/power-apps/get-started/create-your-first-custom-form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steps: open list → Integrate → Power Apps → Customise forms → make changes → Publish to SharePoint.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now the admin governance layer — environments and DLP policies.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Environments are containers in the Power Platform that isolate apps, flows, data, and connections. Admins use environments to separate dev/test/prod or business units.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DLP policies classify connectors into groups and restrict which connectors can be used together. This prevents sensitive data from flowing to untrusted services. Refs: https://learn.microsoft.com/en-us/power-platform/admin/prevent-data-loss https://learn.microsoft.com/en-us/power-platform/guidance/adoption/dlp-strategy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example: a flow using SharePoint (Business) + Dropbox (Non-Business) would be blocked by DLP. Move Dropbox to Business or use an alternative connector.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time for the hands-on lab.</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Lab 12 preview: participants build an approval flow, test it, customise the list form, and optionally review governance controls. Estimated time: 60–90 minutes.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Critical safety rules for the shared training tenant. Violations can impact other participants and the entire training class.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questions to check understanding. Encourage discussion on governance trade-offs.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Module 12 complete — and with it, the full course! Congratulate learners on completing all 12 modules.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10058400" cy="457200"/>
          </a:xfrm>
          <a:prstGeom prst="rect">
            <a:avLst/>
          </a:prstGeom>
          <a:noFill/>
        </p:spPr>
        <p:txBody>
          <a:bodyPr wrap="square">
            <a:spAutoFit/>
          </a:bodyPr>
          <a:lstStyle/>
          <a:p>
            <a:pPr algn="ctr">
              <a:defRPr sz="1400" b="1">
                <a:solidFill>
                  <a:srgbClr val="00B294"/>
                </a:solidFill>
                <a:latin typeface="Segoe UI"/>
              </a:defRPr>
            </a:pPr>
            <a:r>
              <a:t>MODERN SHAREPOINT ONLINE FOR ADMINISTRATORS  ·  DAY 4 (OPTIONAL)</a:t>
            </a:r>
          </a:p>
        </p:txBody>
      </p:sp>
      <p:sp>
        <p:nvSpPr>
          <p:cNvPr id="5" name="TextBox 4"/>
          <p:cNvSpPr txBox="1"/>
          <p:nvPr/>
        </p:nvSpPr>
        <p:spPr>
          <a:xfrm>
            <a:off x="914400" y="2103120"/>
            <a:ext cx="10058400" cy="1371600"/>
          </a:xfrm>
          <a:prstGeom prst="rect">
            <a:avLst/>
          </a:prstGeom>
          <a:noFill/>
        </p:spPr>
        <p:txBody>
          <a:bodyPr wrap="square">
            <a:spAutoFit/>
          </a:bodyPr>
          <a:lstStyle/>
          <a:p>
            <a:pPr algn="ctr">
              <a:defRPr sz="6000" b="1">
                <a:solidFill>
                  <a:srgbClr val="FFFFFF"/>
                </a:solidFill>
                <a:latin typeface="Segoe UI"/>
              </a:defRPr>
            </a:pPr>
            <a:r>
              <a:t>Module 12</a:t>
            </a:r>
          </a:p>
        </p:txBody>
      </p:sp>
      <p:sp>
        <p:nvSpPr>
          <p:cNvPr id="6" name="TextBox 5"/>
          <p:cNvSpPr txBox="1"/>
          <p:nvPr/>
        </p:nvSpPr>
        <p:spPr>
          <a:xfrm>
            <a:off x="914400" y="3474720"/>
            <a:ext cx="10058400" cy="914400"/>
          </a:xfrm>
          <a:prstGeom prst="rect">
            <a:avLst/>
          </a:prstGeom>
          <a:noFill/>
        </p:spPr>
        <p:txBody>
          <a:bodyPr wrap="square">
            <a:spAutoFit/>
          </a:bodyPr>
          <a:lstStyle/>
          <a:p>
            <a:pPr algn="ctr">
              <a:defRPr sz="3000" b="0">
                <a:solidFill>
                  <a:srgbClr val="00B294"/>
                </a:solidFill>
                <a:latin typeface="Segoe UI"/>
              </a:defRPr>
            </a:pPr>
            <a:r>
              <a:t>Workflow Automation with Power Automate &amp; Power Apps</a:t>
            </a:r>
          </a:p>
        </p:txBody>
      </p:sp>
      <p:sp>
        <p:nvSpPr>
          <p:cNvPr id="7" name="TextBox 6"/>
          <p:cNvSpPr txBox="1"/>
          <p:nvPr/>
        </p:nvSpPr>
        <p:spPr>
          <a:xfrm>
            <a:off x="1828800" y="4754880"/>
            <a:ext cx="8229600" cy="548640"/>
          </a:xfrm>
          <a:prstGeom prst="rect">
            <a:avLst/>
          </a:prstGeom>
          <a:noFill/>
        </p:spPr>
        <p:txBody>
          <a:bodyPr wrap="square">
            <a:spAutoFit/>
          </a:bodyPr>
          <a:lstStyle/>
          <a:p>
            <a:pPr algn="ctr">
              <a:defRPr sz="1600" b="0">
                <a:solidFill>
                  <a:srgbClr val="AAAAAA"/>
                </a:solidFill>
                <a:latin typeface="Segoe UI"/>
              </a:defRPr>
            </a:pPr>
            <a:r>
              <a:t>Automate safely  ·  Govern intentionally  ·  Customise list forms</a:t>
            </a:r>
          </a:p>
        </p:txBody>
      </p:sp>
      <p:sp>
        <p:nvSpPr>
          <p:cNvPr id="8" name="Rectangle 7"/>
          <p:cNvSpPr/>
          <p:nvPr/>
        </p:nvSpPr>
        <p:spPr>
          <a:xfrm>
            <a:off x="5029200" y="557784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1B1B2F"/>
                </a:solidFill>
                <a:latin typeface="Segoe UI"/>
              </a:defRPr>
            </a:pPr>
            <a:r>
              <a:t>The Admin Mindset: Automate Safely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Workflow automation is never 'just a flow' — it is an operational asset</a:t>
            </a:r>
          </a:p>
        </p:txBody>
      </p:sp>
      <p:sp>
        <p:nvSpPr>
          <p:cNvPr id="5" name="Rounded Rectangle 4"/>
          <p:cNvSpPr/>
          <p:nvPr/>
        </p:nvSpPr>
        <p:spPr>
          <a:xfrm>
            <a:off x="73152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7" name="TextBox 6"/>
          <p:cNvSpPr txBox="1"/>
          <p:nvPr/>
        </p:nvSpPr>
        <p:spPr>
          <a:xfrm>
            <a:off x="1005840" y="2468880"/>
            <a:ext cx="2011680" cy="338554"/>
          </a:xfrm>
          <a:prstGeom prst="rect">
            <a:avLst/>
          </a:prstGeom>
          <a:noFill/>
        </p:spPr>
        <p:txBody>
          <a:bodyPr wrap="square">
            <a:spAutoFit/>
          </a:bodyPr>
          <a:lstStyle/>
          <a:p>
            <a:pPr algn="ctr">
              <a:defRPr sz="2800" b="1">
                <a:solidFill>
                  <a:srgbClr val="0078D4"/>
                </a:solidFill>
                <a:latin typeface="Segoe UI"/>
              </a:defRPr>
            </a:pPr>
            <a:r>
              <a:rPr sz="1600" dirty="0"/>
              <a:t>Identity &amp;</a:t>
            </a:r>
          </a:p>
        </p:txBody>
      </p:sp>
      <p:sp>
        <p:nvSpPr>
          <p:cNvPr id="8" name="TextBox 7"/>
          <p:cNvSpPr txBox="1"/>
          <p:nvPr/>
        </p:nvSpPr>
        <p:spPr>
          <a:xfrm>
            <a:off x="1005840" y="3017520"/>
            <a:ext cx="2011680" cy="457200"/>
          </a:xfrm>
          <a:prstGeom prst="rect">
            <a:avLst/>
          </a:prstGeom>
          <a:noFill/>
        </p:spPr>
        <p:txBody>
          <a:bodyPr wrap="square">
            <a:spAutoFit/>
          </a:bodyPr>
          <a:lstStyle/>
          <a:p>
            <a:pPr algn="ctr">
              <a:defRPr sz="1600" b="1">
                <a:solidFill>
                  <a:srgbClr val="242424"/>
                </a:solidFill>
                <a:latin typeface="Segoe UI"/>
              </a:defRPr>
            </a:pPr>
            <a:r>
              <a:t>Ownership</a:t>
            </a:r>
          </a:p>
        </p:txBody>
      </p:sp>
      <p:sp>
        <p:nvSpPr>
          <p:cNvPr id="9" name="Rectangle 8"/>
          <p:cNvSpPr/>
          <p:nvPr/>
        </p:nvSpPr>
        <p:spPr>
          <a:xfrm>
            <a:off x="128016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749039"/>
            <a:ext cx="2194560" cy="1097280"/>
          </a:xfrm>
          <a:prstGeom prst="rect">
            <a:avLst/>
          </a:prstGeom>
          <a:noFill/>
        </p:spPr>
        <p:txBody>
          <a:bodyPr wrap="square">
            <a:spAutoFit/>
          </a:bodyPr>
          <a:lstStyle/>
          <a:p>
            <a:pPr algn="ctr">
              <a:defRPr sz="1300" b="0">
                <a:solidFill>
                  <a:srgbClr val="606060"/>
                </a:solidFill>
                <a:latin typeface="Segoe UI"/>
              </a:defRPr>
            </a:pPr>
            <a:r>
              <a:t>Who owns the flow/app?</a:t>
            </a:r>
            <a:br/>
            <a:r>
              <a:t>Who can edit it?</a:t>
            </a:r>
            <a:br/>
            <a:r>
              <a:t>Backup owner assigned?</a:t>
            </a:r>
          </a:p>
        </p:txBody>
      </p:sp>
      <p:sp>
        <p:nvSpPr>
          <p:cNvPr id="11" name="Rounded Rectangle 10"/>
          <p:cNvSpPr/>
          <p:nvPr/>
        </p:nvSpPr>
        <p:spPr>
          <a:xfrm>
            <a:off x="356616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3" name="TextBox 12"/>
          <p:cNvSpPr txBox="1"/>
          <p:nvPr/>
        </p:nvSpPr>
        <p:spPr>
          <a:xfrm>
            <a:off x="3840480" y="2468880"/>
            <a:ext cx="2011680" cy="338554"/>
          </a:xfrm>
          <a:prstGeom prst="rect">
            <a:avLst/>
          </a:prstGeom>
          <a:noFill/>
        </p:spPr>
        <p:txBody>
          <a:bodyPr wrap="square">
            <a:spAutoFit/>
          </a:bodyPr>
          <a:lstStyle/>
          <a:p>
            <a:pPr algn="ctr">
              <a:defRPr sz="2800" b="1">
                <a:solidFill>
                  <a:srgbClr val="0078D4"/>
                </a:solidFill>
                <a:latin typeface="Segoe UI"/>
              </a:defRPr>
            </a:pPr>
            <a:r>
              <a:rPr sz="1600" dirty="0"/>
              <a:t>Oper</a:t>
            </a:r>
            <a:r>
              <a:rPr lang="en-US" sz="1600" dirty="0"/>
              <a:t>a</a:t>
            </a:r>
            <a:r>
              <a:rPr sz="1600" dirty="0"/>
              <a:t>tional</a:t>
            </a:r>
          </a:p>
        </p:txBody>
      </p:sp>
      <p:sp>
        <p:nvSpPr>
          <p:cNvPr id="14" name="TextBox 13"/>
          <p:cNvSpPr txBox="1"/>
          <p:nvPr/>
        </p:nvSpPr>
        <p:spPr>
          <a:xfrm>
            <a:off x="3840480" y="3017520"/>
            <a:ext cx="2011680" cy="457200"/>
          </a:xfrm>
          <a:prstGeom prst="rect">
            <a:avLst/>
          </a:prstGeom>
          <a:noFill/>
        </p:spPr>
        <p:txBody>
          <a:bodyPr wrap="square">
            <a:spAutoFit/>
          </a:bodyPr>
          <a:lstStyle/>
          <a:p>
            <a:pPr algn="ctr">
              <a:defRPr sz="1600" b="1">
                <a:solidFill>
                  <a:srgbClr val="242424"/>
                </a:solidFill>
                <a:latin typeface="Segoe UI"/>
              </a:defRPr>
            </a:pPr>
            <a:r>
              <a:t>Impact</a:t>
            </a:r>
          </a:p>
        </p:txBody>
      </p:sp>
      <p:sp>
        <p:nvSpPr>
          <p:cNvPr id="15" name="Rectangle 14"/>
          <p:cNvSpPr/>
          <p:nvPr/>
        </p:nvSpPr>
        <p:spPr>
          <a:xfrm>
            <a:off x="411480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40" y="3749039"/>
            <a:ext cx="2194560" cy="1097280"/>
          </a:xfrm>
          <a:prstGeom prst="rect">
            <a:avLst/>
          </a:prstGeom>
          <a:noFill/>
        </p:spPr>
        <p:txBody>
          <a:bodyPr wrap="square">
            <a:spAutoFit/>
          </a:bodyPr>
          <a:lstStyle/>
          <a:p>
            <a:pPr algn="ctr">
              <a:defRPr sz="1300" b="0">
                <a:solidFill>
                  <a:srgbClr val="606060"/>
                </a:solidFill>
                <a:latin typeface="Segoe UI"/>
              </a:defRPr>
            </a:pPr>
            <a:r>
              <a:t>Notifications, run counts,</a:t>
            </a:r>
            <a:br/>
            <a:r>
              <a:t>failure alerts, SLA</a:t>
            </a:r>
            <a:br/>
            <a:r>
              <a:t>implications</a:t>
            </a:r>
          </a:p>
        </p:txBody>
      </p:sp>
      <p:sp>
        <p:nvSpPr>
          <p:cNvPr id="17" name="Rounded Rectangle 16"/>
          <p:cNvSpPr/>
          <p:nvPr/>
        </p:nvSpPr>
        <p:spPr>
          <a:xfrm>
            <a:off x="640080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9" name="TextBox 18"/>
          <p:cNvSpPr txBox="1"/>
          <p:nvPr/>
        </p:nvSpPr>
        <p:spPr>
          <a:xfrm>
            <a:off x="6675120" y="2468880"/>
            <a:ext cx="2011680" cy="338554"/>
          </a:xfrm>
          <a:prstGeom prst="rect">
            <a:avLst/>
          </a:prstGeom>
          <a:noFill/>
        </p:spPr>
        <p:txBody>
          <a:bodyPr wrap="square">
            <a:spAutoFit/>
          </a:bodyPr>
          <a:lstStyle/>
          <a:p>
            <a:pPr algn="ctr">
              <a:defRPr sz="2800" b="1">
                <a:solidFill>
                  <a:srgbClr val="0078D4"/>
                </a:solidFill>
                <a:latin typeface="Segoe UI"/>
              </a:defRPr>
            </a:pPr>
            <a:r>
              <a:rPr sz="1600" dirty="0"/>
              <a:t>Data</a:t>
            </a:r>
          </a:p>
        </p:txBody>
      </p:sp>
      <p:sp>
        <p:nvSpPr>
          <p:cNvPr id="20" name="TextBox 19"/>
          <p:cNvSpPr txBox="1"/>
          <p:nvPr/>
        </p:nvSpPr>
        <p:spPr>
          <a:xfrm>
            <a:off x="6675120" y="3017520"/>
            <a:ext cx="2011680" cy="457200"/>
          </a:xfrm>
          <a:prstGeom prst="rect">
            <a:avLst/>
          </a:prstGeom>
          <a:noFill/>
        </p:spPr>
        <p:txBody>
          <a:bodyPr wrap="square">
            <a:spAutoFit/>
          </a:bodyPr>
          <a:lstStyle/>
          <a:p>
            <a:pPr algn="ctr">
              <a:defRPr sz="1600" b="1">
                <a:solidFill>
                  <a:srgbClr val="242424"/>
                </a:solidFill>
                <a:latin typeface="Segoe UI"/>
              </a:defRPr>
            </a:pPr>
            <a:r>
              <a:t>Movement</a:t>
            </a:r>
          </a:p>
        </p:txBody>
      </p:sp>
      <p:sp>
        <p:nvSpPr>
          <p:cNvPr id="21" name="Rectangle 20"/>
          <p:cNvSpPr/>
          <p:nvPr/>
        </p:nvSpPr>
        <p:spPr>
          <a:xfrm>
            <a:off x="694944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3749039"/>
            <a:ext cx="2194560" cy="1097280"/>
          </a:xfrm>
          <a:prstGeom prst="rect">
            <a:avLst/>
          </a:prstGeom>
          <a:noFill/>
        </p:spPr>
        <p:txBody>
          <a:bodyPr wrap="square">
            <a:spAutoFit/>
          </a:bodyPr>
          <a:lstStyle/>
          <a:p>
            <a:pPr algn="ctr">
              <a:defRPr sz="1300" b="0">
                <a:solidFill>
                  <a:srgbClr val="606060"/>
                </a:solidFill>
                <a:latin typeface="Segoe UI"/>
              </a:defRPr>
            </a:pPr>
            <a:r>
              <a:t>Which connectors move data?</a:t>
            </a:r>
            <a:br/>
            <a:r>
              <a:t>Do DLP policies allow it?</a:t>
            </a:r>
            <a:br/>
            <a:r>
              <a:t>Data residency concerns?</a:t>
            </a:r>
          </a:p>
        </p:txBody>
      </p:sp>
      <p:sp>
        <p:nvSpPr>
          <p:cNvPr id="23" name="Rounded Rectangle 22"/>
          <p:cNvSpPr/>
          <p:nvPr/>
        </p:nvSpPr>
        <p:spPr>
          <a:xfrm>
            <a:off x="9235440" y="173736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5" name="TextBox 24"/>
          <p:cNvSpPr txBox="1"/>
          <p:nvPr/>
        </p:nvSpPr>
        <p:spPr>
          <a:xfrm>
            <a:off x="9509760" y="2468880"/>
            <a:ext cx="2011680" cy="338554"/>
          </a:xfrm>
          <a:prstGeom prst="rect">
            <a:avLst/>
          </a:prstGeom>
          <a:noFill/>
        </p:spPr>
        <p:txBody>
          <a:bodyPr wrap="square">
            <a:spAutoFit/>
          </a:bodyPr>
          <a:lstStyle/>
          <a:p>
            <a:pPr algn="ctr">
              <a:defRPr sz="2800" b="1">
                <a:solidFill>
                  <a:srgbClr val="0078D4"/>
                </a:solidFill>
                <a:latin typeface="Segoe UI"/>
              </a:defRPr>
            </a:pPr>
            <a:r>
              <a:rPr sz="1600" dirty="0"/>
              <a:t>Shared-Tenant</a:t>
            </a:r>
          </a:p>
        </p:txBody>
      </p:sp>
      <p:sp>
        <p:nvSpPr>
          <p:cNvPr id="26" name="TextBox 25"/>
          <p:cNvSpPr txBox="1"/>
          <p:nvPr/>
        </p:nvSpPr>
        <p:spPr>
          <a:xfrm>
            <a:off x="9509760" y="3017520"/>
            <a:ext cx="2011680" cy="457200"/>
          </a:xfrm>
          <a:prstGeom prst="rect">
            <a:avLst/>
          </a:prstGeom>
          <a:noFill/>
        </p:spPr>
        <p:txBody>
          <a:bodyPr wrap="square">
            <a:spAutoFit/>
          </a:bodyPr>
          <a:lstStyle/>
          <a:p>
            <a:pPr algn="ctr">
              <a:defRPr sz="1600" b="1">
                <a:solidFill>
                  <a:srgbClr val="242424"/>
                </a:solidFill>
                <a:latin typeface="Segoe UI"/>
              </a:defRPr>
            </a:pPr>
            <a:r>
              <a:t>Safety</a:t>
            </a:r>
          </a:p>
        </p:txBody>
      </p:sp>
      <p:sp>
        <p:nvSpPr>
          <p:cNvPr id="27" name="Rectangle 26"/>
          <p:cNvSpPr/>
          <p:nvPr/>
        </p:nvSpPr>
        <p:spPr>
          <a:xfrm>
            <a:off x="9784080" y="356616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18320" y="3749039"/>
            <a:ext cx="2194560" cy="1097280"/>
          </a:xfrm>
          <a:prstGeom prst="rect">
            <a:avLst/>
          </a:prstGeom>
          <a:noFill/>
        </p:spPr>
        <p:txBody>
          <a:bodyPr wrap="square">
            <a:spAutoFit/>
          </a:bodyPr>
          <a:lstStyle/>
          <a:p>
            <a:pPr algn="ctr">
              <a:defRPr sz="1300" b="0">
                <a:solidFill>
                  <a:srgbClr val="606060"/>
                </a:solidFill>
                <a:latin typeface="Segoe UI"/>
              </a:defRPr>
            </a:pPr>
            <a:r>
              <a:t>Build only against your</a:t>
            </a:r>
            <a:br/>
            <a:r>
              <a:t>own NW-Pxx artifacts.</a:t>
            </a:r>
            <a:br/>
            <a:r>
              <a:t>Governance = Trainer-only</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 / 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Learning Outcomes</a:t>
            </a:r>
          </a:p>
        </p:txBody>
      </p:sp>
      <p:sp>
        <p:nvSpPr>
          <p:cNvPr id="4" name="Rounded Rectangle 3"/>
          <p:cNvSpPr/>
          <p:nvPr/>
        </p:nvSpPr>
        <p:spPr>
          <a:xfrm>
            <a:off x="731520" y="137160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1</a:t>
            </a:r>
          </a:p>
        </p:txBody>
      </p:sp>
      <p:sp>
        <p:nvSpPr>
          <p:cNvPr id="5" name="TextBox 4"/>
          <p:cNvSpPr txBox="1"/>
          <p:nvPr/>
        </p:nvSpPr>
        <p:spPr>
          <a:xfrm>
            <a:off x="1463040" y="1417320"/>
            <a:ext cx="9601200" cy="457200"/>
          </a:xfrm>
          <a:prstGeom prst="rect">
            <a:avLst/>
          </a:prstGeom>
          <a:noFill/>
        </p:spPr>
        <p:txBody>
          <a:bodyPr wrap="square">
            <a:spAutoFit/>
          </a:bodyPr>
          <a:lstStyle/>
          <a:p>
            <a:pPr algn="l">
              <a:defRPr sz="1800" b="0">
                <a:solidFill>
                  <a:srgbClr val="242424"/>
                </a:solidFill>
                <a:latin typeface="Segoe UI"/>
              </a:defRPr>
            </a:pPr>
            <a:r>
              <a:t>Describe how SharePoint lists integrate with Power Automate triggers and actions</a:t>
            </a:r>
          </a:p>
        </p:txBody>
      </p:sp>
      <p:sp>
        <p:nvSpPr>
          <p:cNvPr id="6" name="Rounded Rectangle 5"/>
          <p:cNvSpPr/>
          <p:nvPr/>
        </p:nvSpPr>
        <p:spPr>
          <a:xfrm>
            <a:off x="731520" y="233172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2</a:t>
            </a:r>
          </a:p>
        </p:txBody>
      </p:sp>
      <p:sp>
        <p:nvSpPr>
          <p:cNvPr id="7" name="TextBox 6"/>
          <p:cNvSpPr txBox="1"/>
          <p:nvPr/>
        </p:nvSpPr>
        <p:spPr>
          <a:xfrm>
            <a:off x="1463040" y="2377440"/>
            <a:ext cx="9601200" cy="457200"/>
          </a:xfrm>
          <a:prstGeom prst="rect">
            <a:avLst/>
          </a:prstGeom>
          <a:noFill/>
        </p:spPr>
        <p:txBody>
          <a:bodyPr wrap="square">
            <a:spAutoFit/>
          </a:bodyPr>
          <a:lstStyle/>
          <a:p>
            <a:pPr algn="l">
              <a:defRPr sz="1800" b="0">
                <a:solidFill>
                  <a:srgbClr val="242424"/>
                </a:solidFill>
                <a:latin typeface="Segoe UI"/>
              </a:defRPr>
            </a:pPr>
            <a:r>
              <a:t>Implement a basic approval pattern using 'Start and wait for an approval'</a:t>
            </a:r>
          </a:p>
        </p:txBody>
      </p:sp>
      <p:sp>
        <p:nvSpPr>
          <p:cNvPr id="8" name="Rounded Rectangle 7"/>
          <p:cNvSpPr/>
          <p:nvPr/>
        </p:nvSpPr>
        <p:spPr>
          <a:xfrm>
            <a:off x="731520" y="329184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3</a:t>
            </a:r>
          </a:p>
        </p:txBody>
      </p:sp>
      <p:sp>
        <p:nvSpPr>
          <p:cNvPr id="9" name="TextBox 8"/>
          <p:cNvSpPr txBox="1"/>
          <p:nvPr/>
        </p:nvSpPr>
        <p:spPr>
          <a:xfrm>
            <a:off x="1463040" y="3337560"/>
            <a:ext cx="9601200" cy="457200"/>
          </a:xfrm>
          <a:prstGeom prst="rect">
            <a:avLst/>
          </a:prstGeom>
          <a:noFill/>
        </p:spPr>
        <p:txBody>
          <a:bodyPr wrap="square">
            <a:spAutoFit/>
          </a:bodyPr>
          <a:lstStyle/>
          <a:p>
            <a:pPr algn="l">
              <a:defRPr sz="1800" b="0">
                <a:solidFill>
                  <a:srgbClr val="242424"/>
                </a:solidFill>
                <a:latin typeface="Segoe UI"/>
              </a:defRPr>
            </a:pPr>
            <a:r>
              <a:t>Explain common automation pitfalls (trigger scope, loop avoidance, ownership)</a:t>
            </a:r>
          </a:p>
        </p:txBody>
      </p:sp>
      <p:sp>
        <p:nvSpPr>
          <p:cNvPr id="10" name="Rounded Rectangle 9"/>
          <p:cNvSpPr/>
          <p:nvPr/>
        </p:nvSpPr>
        <p:spPr>
          <a:xfrm>
            <a:off x="731520" y="425196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4</a:t>
            </a:r>
          </a:p>
        </p:txBody>
      </p:sp>
      <p:sp>
        <p:nvSpPr>
          <p:cNvPr id="11" name="TextBox 10"/>
          <p:cNvSpPr txBox="1"/>
          <p:nvPr/>
        </p:nvSpPr>
        <p:spPr>
          <a:xfrm>
            <a:off x="1463040" y="4297680"/>
            <a:ext cx="9601200" cy="457200"/>
          </a:xfrm>
          <a:prstGeom prst="rect">
            <a:avLst/>
          </a:prstGeom>
          <a:noFill/>
        </p:spPr>
        <p:txBody>
          <a:bodyPr wrap="square">
            <a:spAutoFit/>
          </a:bodyPr>
          <a:lstStyle/>
          <a:p>
            <a:pPr algn="l">
              <a:defRPr sz="1800" b="0">
                <a:solidFill>
                  <a:srgbClr val="242424"/>
                </a:solidFill>
                <a:latin typeface="Segoe UI"/>
              </a:defRPr>
            </a:pPr>
            <a:r>
              <a:t>Customise a SharePoint list form using Power Apps</a:t>
            </a:r>
          </a:p>
        </p:txBody>
      </p:sp>
      <p:sp>
        <p:nvSpPr>
          <p:cNvPr id="12" name="Rounded Rectangle 11"/>
          <p:cNvSpPr/>
          <p:nvPr/>
        </p:nvSpPr>
        <p:spPr>
          <a:xfrm>
            <a:off x="731520" y="5212080"/>
            <a:ext cx="502920" cy="50292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2000" b="1">
                <a:solidFill>
                  <a:srgbClr val="FFFFFF"/>
                </a:solidFill>
                <a:latin typeface="Segoe UI"/>
              </a:defRPr>
            </a:pPr>
            <a:r>
              <a:t>5</a:t>
            </a:r>
          </a:p>
        </p:txBody>
      </p:sp>
      <p:sp>
        <p:nvSpPr>
          <p:cNvPr id="13" name="TextBox 12"/>
          <p:cNvSpPr txBox="1"/>
          <p:nvPr/>
        </p:nvSpPr>
        <p:spPr>
          <a:xfrm>
            <a:off x="1463040" y="5257800"/>
            <a:ext cx="9601200" cy="457200"/>
          </a:xfrm>
          <a:prstGeom prst="rect">
            <a:avLst/>
          </a:prstGeom>
          <a:noFill/>
        </p:spPr>
        <p:txBody>
          <a:bodyPr wrap="square">
            <a:spAutoFit/>
          </a:bodyPr>
          <a:lstStyle/>
          <a:p>
            <a:pPr algn="l">
              <a:defRPr sz="1800" b="0">
                <a:solidFill>
                  <a:srgbClr val="242424"/>
                </a:solidFill>
                <a:latin typeface="Segoe UI"/>
              </a:defRPr>
            </a:pPr>
            <a:r>
              <a:t>Describe admin governance controls: environments and DLP policies</a:t>
            </a:r>
          </a:p>
        </p:txBody>
      </p:sp>
      <p:sp>
        <p:nvSpPr>
          <p:cNvPr id="14" name="Rectangle 13"/>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16" name="TextBox 15"/>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3 /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SharePoint + Power Automate</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Triggers, actions, and the approval pattern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SharePoint Connector: Triggers &amp; Actions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How Power Automate watches and interacts with SharePoint lists</a:t>
            </a:r>
          </a:p>
        </p:txBody>
      </p:sp>
      <p:sp>
        <p:nvSpPr>
          <p:cNvPr id="5" name="Rounded Rectangle 4"/>
          <p:cNvSpPr/>
          <p:nvPr/>
        </p:nvSpPr>
        <p:spPr>
          <a:xfrm>
            <a:off x="731520" y="164592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45920"/>
            <a:ext cx="512064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457200"/>
          </a:xfrm>
          <a:prstGeom prst="rect">
            <a:avLst/>
          </a:prstGeom>
          <a:noFill/>
        </p:spPr>
        <p:txBody>
          <a:bodyPr wrap="square">
            <a:spAutoFit/>
          </a:bodyPr>
          <a:lstStyle/>
          <a:p>
            <a:pPr algn="ctr">
              <a:defRPr sz="2200" b="1">
                <a:solidFill>
                  <a:srgbClr val="0078D4"/>
                </a:solidFill>
                <a:latin typeface="Segoe UI"/>
              </a:defRPr>
            </a:pPr>
            <a:r>
              <a:t>⚡  Common Triggers</a:t>
            </a:r>
          </a:p>
        </p:txBody>
      </p:sp>
      <p:sp>
        <p:nvSpPr>
          <p:cNvPr id="8" name="TextBox 7"/>
          <p:cNvSpPr txBox="1"/>
          <p:nvPr/>
        </p:nvSpPr>
        <p:spPr>
          <a:xfrm>
            <a:off x="1097280" y="2468880"/>
            <a:ext cx="4572000" cy="2743200"/>
          </a:xfrm>
          <a:prstGeom prst="rect">
            <a:avLst/>
          </a:prstGeom>
          <a:noFill/>
        </p:spPr>
        <p:txBody>
          <a:bodyPr wrap="square">
            <a:spAutoFit/>
          </a:bodyPr>
          <a:lstStyle/>
          <a:p>
            <a:pPr>
              <a:spcAft>
                <a:spcPts val="600"/>
              </a:spcAft>
              <a:defRPr sz="1500">
                <a:solidFill>
                  <a:srgbClr val="242424"/>
                </a:solidFill>
                <a:latin typeface="Segoe UI"/>
              </a:defRPr>
            </a:pPr>
            <a:r>
              <a:t>▸ When an item is created</a:t>
            </a:r>
          </a:p>
          <a:p>
            <a:pPr>
              <a:spcAft>
                <a:spcPts val="600"/>
              </a:spcAft>
              <a:defRPr sz="1500">
                <a:solidFill>
                  <a:srgbClr val="242424"/>
                </a:solidFill>
                <a:latin typeface="Segoe UI"/>
              </a:defRPr>
            </a:pPr>
            <a:r>
              <a:t>▸ When an item is created or modified</a:t>
            </a:r>
          </a:p>
          <a:p>
            <a:pPr>
              <a:spcAft>
                <a:spcPts val="600"/>
              </a:spcAft>
              <a:defRPr sz="1500">
                <a:solidFill>
                  <a:srgbClr val="242424"/>
                </a:solidFill>
                <a:latin typeface="Segoe UI"/>
              </a:defRPr>
            </a:pPr>
            <a:r>
              <a:t>▸ For a selected item (manual trigger)</a:t>
            </a:r>
          </a:p>
          <a:p>
            <a:pPr>
              <a:spcAft>
                <a:spcPts val="600"/>
              </a:spcAft>
              <a:defRPr sz="1500">
                <a:solidFill>
                  <a:srgbClr val="242424"/>
                </a:solidFill>
                <a:latin typeface="Segoe UI"/>
              </a:defRPr>
            </a:pPr>
            <a:r>
              <a:t>▸ When a file is created (in a folder)</a:t>
            </a:r>
          </a:p>
          <a:p>
            <a:pPr>
              <a:spcAft>
                <a:spcPts val="600"/>
              </a:spcAft>
              <a:defRPr sz="1500">
                <a:solidFill>
                  <a:srgbClr val="242424"/>
                </a:solidFill>
                <a:latin typeface="Segoe UI"/>
              </a:defRPr>
            </a:pPr>
            <a:r>
              <a:t>▸ When a file is created or modified (properties only)</a:t>
            </a:r>
          </a:p>
        </p:txBody>
      </p:sp>
      <p:sp>
        <p:nvSpPr>
          <p:cNvPr id="9" name="Rounded Rectangle 8"/>
          <p:cNvSpPr/>
          <p:nvPr/>
        </p:nvSpPr>
        <p:spPr>
          <a:xfrm>
            <a:off x="6309360" y="1645920"/>
            <a:ext cx="5120640" cy="38404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645920"/>
            <a:ext cx="512064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828800"/>
            <a:ext cx="4754880" cy="457200"/>
          </a:xfrm>
          <a:prstGeom prst="rect">
            <a:avLst/>
          </a:prstGeom>
          <a:noFill/>
        </p:spPr>
        <p:txBody>
          <a:bodyPr wrap="square">
            <a:spAutoFit/>
          </a:bodyPr>
          <a:lstStyle/>
          <a:p>
            <a:pPr algn="ctr">
              <a:defRPr sz="2200" b="1">
                <a:solidFill>
                  <a:srgbClr val="00B294"/>
                </a:solidFill>
                <a:latin typeface="Segoe UI"/>
              </a:defRPr>
            </a:pPr>
            <a:r>
              <a:t>🔧  Common Actions</a:t>
            </a:r>
          </a:p>
        </p:txBody>
      </p:sp>
      <p:sp>
        <p:nvSpPr>
          <p:cNvPr id="12" name="TextBox 11"/>
          <p:cNvSpPr txBox="1"/>
          <p:nvPr/>
        </p:nvSpPr>
        <p:spPr>
          <a:xfrm>
            <a:off x="6675120" y="2468880"/>
            <a:ext cx="4572000" cy="2743200"/>
          </a:xfrm>
          <a:prstGeom prst="rect">
            <a:avLst/>
          </a:prstGeom>
          <a:noFill/>
        </p:spPr>
        <p:txBody>
          <a:bodyPr wrap="square">
            <a:spAutoFit/>
          </a:bodyPr>
          <a:lstStyle/>
          <a:p>
            <a:pPr>
              <a:spcAft>
                <a:spcPts val="600"/>
              </a:spcAft>
              <a:defRPr sz="1500">
                <a:solidFill>
                  <a:srgbClr val="242424"/>
                </a:solidFill>
                <a:latin typeface="Segoe UI"/>
              </a:defRPr>
            </a:pPr>
            <a:r>
              <a:t>▸ Create item / Update item</a:t>
            </a:r>
          </a:p>
          <a:p>
            <a:pPr>
              <a:spcAft>
                <a:spcPts val="600"/>
              </a:spcAft>
              <a:defRPr sz="1500">
                <a:solidFill>
                  <a:srgbClr val="242424"/>
                </a:solidFill>
                <a:latin typeface="Segoe UI"/>
              </a:defRPr>
            </a:pPr>
            <a:r>
              <a:t>▸ Get item / Get items (with filter query)</a:t>
            </a:r>
          </a:p>
          <a:p>
            <a:pPr>
              <a:spcAft>
                <a:spcPts val="600"/>
              </a:spcAft>
              <a:defRPr sz="1500">
                <a:solidFill>
                  <a:srgbClr val="242424"/>
                </a:solidFill>
                <a:latin typeface="Segoe UI"/>
              </a:defRPr>
            </a:pPr>
            <a:r>
              <a:t>▸ Send an HTTP request to SharePoint</a:t>
            </a:r>
          </a:p>
          <a:p>
            <a:pPr>
              <a:spcAft>
                <a:spcPts val="600"/>
              </a:spcAft>
              <a:defRPr sz="1500">
                <a:solidFill>
                  <a:srgbClr val="242424"/>
                </a:solidFill>
                <a:latin typeface="Segoe UI"/>
              </a:defRPr>
            </a:pPr>
            <a:r>
              <a:t>▸ Create file / Copy file</a:t>
            </a:r>
          </a:p>
          <a:p>
            <a:pPr>
              <a:spcAft>
                <a:spcPts val="600"/>
              </a:spcAft>
              <a:defRPr sz="1500">
                <a:solidFill>
                  <a:srgbClr val="242424"/>
                </a:solidFill>
                <a:latin typeface="Segoe UI"/>
              </a:defRPr>
            </a:pPr>
            <a:r>
              <a:t>▸ Grant access to an item or folder</a:t>
            </a:r>
          </a:p>
        </p:txBody>
      </p:sp>
      <p:sp>
        <p:nvSpPr>
          <p:cNvPr id="13" name="Rounded Rectangle 12"/>
          <p:cNvSpPr/>
          <p:nvPr/>
        </p:nvSpPr>
        <p:spPr>
          <a:xfrm>
            <a:off x="1371600" y="585216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5897880"/>
            <a:ext cx="8869680" cy="365760"/>
          </a:xfrm>
          <a:prstGeom prst="rect">
            <a:avLst/>
          </a:prstGeom>
          <a:noFill/>
        </p:spPr>
        <p:txBody>
          <a:bodyPr wrap="square">
            <a:spAutoFit/>
          </a:bodyPr>
          <a:lstStyle/>
          <a:p>
            <a:pPr algn="l">
              <a:defRPr sz="1400" b="0">
                <a:solidFill>
                  <a:srgbClr val="242424"/>
                </a:solidFill>
                <a:latin typeface="Segoe UI"/>
              </a:defRPr>
            </a:pPr>
            <a:r>
              <a:t>💡 Admin tip: Prefer 'When an item is created' for approval flows that update the same item — avoids re-trigger loops</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5 / 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The Approval Pattern: Start and Wait</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A four-step pattern that covers most admin approval scenarios</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Trigger</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When an item is created</a:t>
            </a:r>
            <a:br/>
            <a:r>
              <a:t>in NW-Pxx-AppRequests</a:t>
            </a:r>
          </a:p>
        </p:txBody>
      </p:sp>
      <p:sp>
        <p:nvSpPr>
          <p:cNvPr id="10" name="TextBox 9"/>
          <p:cNvSpPr txBox="1"/>
          <p:nvPr/>
        </p:nvSpPr>
        <p:spPr>
          <a:xfrm>
            <a:off x="324612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1" name="Rounded Rectangle 10"/>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4" name="TextBox 13"/>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Approval</a:t>
            </a:r>
          </a:p>
        </p:txBody>
      </p:sp>
      <p:sp>
        <p:nvSpPr>
          <p:cNvPr id="15" name="TextBox 14"/>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Start and wait for</a:t>
            </a:r>
            <a:br/>
            <a:r>
              <a:t>an approval</a:t>
            </a:r>
            <a:br/>
            <a:r>
              <a:t>(Approve/Reject)</a:t>
            </a:r>
          </a:p>
        </p:txBody>
      </p:sp>
      <p:sp>
        <p:nvSpPr>
          <p:cNvPr id="16" name="TextBox 15"/>
          <p:cNvSpPr txBox="1"/>
          <p:nvPr/>
        </p:nvSpPr>
        <p:spPr>
          <a:xfrm>
            <a:off x="6126480"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17" name="Rounded Rectangle 16"/>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20" name="TextBox 19"/>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Condition</a:t>
            </a:r>
          </a:p>
        </p:txBody>
      </p:sp>
      <p:sp>
        <p:nvSpPr>
          <p:cNvPr id="21" name="TextBox 20"/>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Check outcome:</a:t>
            </a:r>
            <a:br/>
            <a:r>
              <a:t>Approved or Rejected?</a:t>
            </a:r>
          </a:p>
        </p:txBody>
      </p:sp>
      <p:sp>
        <p:nvSpPr>
          <p:cNvPr id="22" name="TextBox 21"/>
          <p:cNvSpPr txBox="1"/>
          <p:nvPr/>
        </p:nvSpPr>
        <p:spPr>
          <a:xfrm>
            <a:off x="9006839" y="2926080"/>
            <a:ext cx="274320" cy="457200"/>
          </a:xfrm>
          <a:prstGeom prst="rect">
            <a:avLst/>
          </a:prstGeom>
          <a:noFill/>
        </p:spPr>
        <p:txBody>
          <a:bodyPr wrap="square">
            <a:spAutoFit/>
          </a:bodyPr>
          <a:lstStyle/>
          <a:p>
            <a:pPr algn="ctr">
              <a:defRPr sz="2400" b="1">
                <a:solidFill>
                  <a:srgbClr val="606060"/>
                </a:solidFill>
                <a:latin typeface="Segoe UI"/>
              </a:defRPr>
            </a:pPr>
            <a:r>
              <a:t>→</a:t>
            </a:r>
          </a:p>
        </p:txBody>
      </p:sp>
      <p:sp>
        <p:nvSpPr>
          <p:cNvPr id="23" name="Rounded Rectangle 22"/>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6" name="TextBox 25"/>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Update Item</a:t>
            </a:r>
          </a:p>
        </p:txBody>
      </p:sp>
      <p:sp>
        <p:nvSpPr>
          <p:cNvPr id="27" name="TextBox 26"/>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Set Status to</a:t>
            </a:r>
            <a:br/>
            <a:r>
              <a:t>Approved / Rejected</a:t>
            </a:r>
            <a:br/>
            <a:r>
              <a:t>+ append comments</a:t>
            </a:r>
          </a:p>
        </p:txBody>
      </p:sp>
      <p:sp>
        <p:nvSpPr>
          <p:cNvPr id="28" name="Rounded Rectangle 27"/>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645920" y="4983480"/>
            <a:ext cx="8869680" cy="640080"/>
          </a:xfrm>
          <a:prstGeom prst="rect">
            <a:avLst/>
          </a:prstGeom>
          <a:noFill/>
        </p:spPr>
        <p:txBody>
          <a:bodyPr wrap="square">
            <a:spAutoFit/>
          </a:bodyPr>
          <a:lstStyle/>
          <a:p>
            <a:pPr algn="l">
              <a:defRPr sz="1400" b="0">
                <a:solidFill>
                  <a:srgbClr val="242424"/>
                </a:solidFill>
                <a:latin typeface="Segoe UI"/>
              </a:defRPr>
            </a:pPr>
            <a:r>
              <a:t>🔑 Key concept: 'Start and wait for an approval' blocks the flow run until the approver responds. The flow pauses — no polling, no looping.</a:t>
            </a:r>
          </a:p>
        </p:txBody>
      </p:sp>
      <p:sp>
        <p:nvSpPr>
          <p:cNvPr id="30" name="Rectangle 29"/>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2" name="TextBox 31"/>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6 /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Configuring the Approval Step</a:t>
            </a:r>
          </a:p>
        </p:txBody>
      </p:sp>
      <p:sp>
        <p:nvSpPr>
          <p:cNvPr id="4" name="Rounded Rectangle 3"/>
          <p:cNvSpPr/>
          <p:nvPr/>
        </p:nvSpPr>
        <p:spPr>
          <a:xfrm>
            <a:off x="548640"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371600"/>
            <a:ext cx="3474720" cy="54864"/>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54480"/>
            <a:ext cx="2926080" cy="457200"/>
          </a:xfrm>
          <a:prstGeom prst="rect">
            <a:avLst/>
          </a:prstGeom>
          <a:noFill/>
        </p:spPr>
        <p:txBody>
          <a:bodyPr wrap="square">
            <a:spAutoFit/>
          </a:bodyPr>
          <a:lstStyle/>
          <a:p>
            <a:pPr algn="l">
              <a:defRPr sz="2000" b="1">
                <a:solidFill>
                  <a:srgbClr val="0078D4"/>
                </a:solidFill>
                <a:latin typeface="Segoe UI"/>
              </a:defRPr>
            </a:pPr>
            <a:r>
              <a:t>Approval Type</a:t>
            </a:r>
          </a:p>
        </p:txBody>
      </p:sp>
      <p:sp>
        <p:nvSpPr>
          <p:cNvPr id="7" name="TextBox 6"/>
          <p:cNvSpPr txBox="1"/>
          <p:nvPr/>
        </p:nvSpPr>
        <p:spPr>
          <a:xfrm>
            <a:off x="822960" y="2103120"/>
            <a:ext cx="2926080" cy="1097280"/>
          </a:xfrm>
          <a:prstGeom prst="rect">
            <a:avLst/>
          </a:prstGeom>
          <a:noFill/>
        </p:spPr>
        <p:txBody>
          <a:bodyPr wrap="square">
            <a:spAutoFit/>
          </a:bodyPr>
          <a:lstStyle/>
          <a:p>
            <a:pPr algn="l">
              <a:defRPr sz="1400" b="0">
                <a:solidFill>
                  <a:srgbClr val="242424"/>
                </a:solidFill>
                <a:latin typeface="Segoe UI"/>
              </a:defRPr>
            </a:pPr>
            <a:r>
              <a:t>Approve/Reject — First to respond</a:t>
            </a:r>
            <a:br/>
            <a:r>
              <a:t>(or Everyone must approve)</a:t>
            </a:r>
          </a:p>
        </p:txBody>
      </p:sp>
      <p:sp>
        <p:nvSpPr>
          <p:cNvPr id="8" name="Rounded Rectangle 7"/>
          <p:cNvSpPr/>
          <p:nvPr/>
        </p:nvSpPr>
        <p:spPr>
          <a:xfrm>
            <a:off x="429767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297679" y="1371600"/>
            <a:ext cx="347472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1999" y="1554480"/>
            <a:ext cx="2926080" cy="457200"/>
          </a:xfrm>
          <a:prstGeom prst="rect">
            <a:avLst/>
          </a:prstGeom>
          <a:noFill/>
        </p:spPr>
        <p:txBody>
          <a:bodyPr wrap="square">
            <a:spAutoFit/>
          </a:bodyPr>
          <a:lstStyle/>
          <a:p>
            <a:pPr algn="l">
              <a:defRPr sz="2000" b="1">
                <a:solidFill>
                  <a:srgbClr val="00B294"/>
                </a:solidFill>
                <a:latin typeface="Segoe UI"/>
              </a:defRPr>
            </a:pPr>
            <a:r>
              <a:t>Title</a:t>
            </a:r>
          </a:p>
        </p:txBody>
      </p:sp>
      <p:sp>
        <p:nvSpPr>
          <p:cNvPr id="11" name="TextBox 10"/>
          <p:cNvSpPr txBox="1"/>
          <p:nvPr/>
        </p:nvSpPr>
        <p:spPr>
          <a:xfrm>
            <a:off x="4571999" y="2103120"/>
            <a:ext cx="2926080" cy="1097280"/>
          </a:xfrm>
          <a:prstGeom prst="rect">
            <a:avLst/>
          </a:prstGeom>
          <a:noFill/>
        </p:spPr>
        <p:txBody>
          <a:bodyPr wrap="square">
            <a:spAutoFit/>
          </a:bodyPr>
          <a:lstStyle/>
          <a:p>
            <a:pPr algn="l">
              <a:defRPr sz="1400" b="0">
                <a:solidFill>
                  <a:srgbClr val="242424"/>
                </a:solidFill>
                <a:latin typeface="Segoe UI"/>
              </a:defRPr>
            </a:pPr>
            <a:r>
              <a:t>NW-Pxx App Request Approval:</a:t>
            </a:r>
            <a:br/>
            <a:r>
              <a:t>+ dynamic Title field from trigger</a:t>
            </a:r>
          </a:p>
        </p:txBody>
      </p:sp>
      <p:sp>
        <p:nvSpPr>
          <p:cNvPr id="12" name="Rounded Rectangle 11"/>
          <p:cNvSpPr/>
          <p:nvPr/>
        </p:nvSpPr>
        <p:spPr>
          <a:xfrm>
            <a:off x="8046719" y="137160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046719" y="1371600"/>
            <a:ext cx="3474720" cy="54864"/>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39" y="1554480"/>
            <a:ext cx="2926080" cy="457200"/>
          </a:xfrm>
          <a:prstGeom prst="rect">
            <a:avLst/>
          </a:prstGeom>
          <a:noFill/>
        </p:spPr>
        <p:txBody>
          <a:bodyPr wrap="square">
            <a:spAutoFit/>
          </a:bodyPr>
          <a:lstStyle/>
          <a:p>
            <a:pPr algn="l">
              <a:defRPr sz="2000" b="1">
                <a:solidFill>
                  <a:srgbClr val="6B69D6"/>
                </a:solidFill>
                <a:latin typeface="Segoe UI"/>
              </a:defRPr>
            </a:pPr>
            <a:r>
              <a:t>Assigned To</a:t>
            </a:r>
          </a:p>
        </p:txBody>
      </p:sp>
      <p:sp>
        <p:nvSpPr>
          <p:cNvPr id="15" name="TextBox 14"/>
          <p:cNvSpPr txBox="1"/>
          <p:nvPr/>
        </p:nvSpPr>
        <p:spPr>
          <a:xfrm>
            <a:off x="8321039" y="2103120"/>
            <a:ext cx="2926080" cy="1097280"/>
          </a:xfrm>
          <a:prstGeom prst="rect">
            <a:avLst/>
          </a:prstGeom>
          <a:noFill/>
        </p:spPr>
        <p:txBody>
          <a:bodyPr wrap="square">
            <a:spAutoFit/>
          </a:bodyPr>
          <a:lstStyle/>
          <a:p>
            <a:pPr algn="l">
              <a:defRPr sz="1400" b="0">
                <a:solidFill>
                  <a:srgbClr val="242424"/>
                </a:solidFill>
                <a:latin typeface="Segoe UI"/>
              </a:defRPr>
            </a:pPr>
            <a:r>
              <a:t>Item Owner email (or your own email</a:t>
            </a:r>
            <a:br/>
            <a:r>
              <a:t>for training safety)</a:t>
            </a:r>
          </a:p>
        </p:txBody>
      </p:sp>
      <p:sp>
        <p:nvSpPr>
          <p:cNvPr id="16" name="Rounded Rectangle 15"/>
          <p:cNvSpPr/>
          <p:nvPr/>
        </p:nvSpPr>
        <p:spPr>
          <a:xfrm>
            <a:off x="548640"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48640" y="3749039"/>
            <a:ext cx="347472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3931919"/>
            <a:ext cx="2926080" cy="457200"/>
          </a:xfrm>
          <a:prstGeom prst="rect">
            <a:avLst/>
          </a:prstGeom>
          <a:noFill/>
        </p:spPr>
        <p:txBody>
          <a:bodyPr wrap="square">
            <a:spAutoFit/>
          </a:bodyPr>
          <a:lstStyle/>
          <a:p>
            <a:pPr algn="l">
              <a:defRPr sz="2000" b="1">
                <a:solidFill>
                  <a:srgbClr val="FF8C00"/>
                </a:solidFill>
                <a:latin typeface="Segoe UI"/>
              </a:defRPr>
            </a:pPr>
            <a:r>
              <a:t>Details</a:t>
            </a:r>
          </a:p>
        </p:txBody>
      </p:sp>
      <p:sp>
        <p:nvSpPr>
          <p:cNvPr id="19" name="TextBox 18"/>
          <p:cNvSpPr txBox="1"/>
          <p:nvPr/>
        </p:nvSpPr>
        <p:spPr>
          <a:xfrm>
            <a:off x="822960" y="4480559"/>
            <a:ext cx="2926080" cy="1097280"/>
          </a:xfrm>
          <a:prstGeom prst="rect">
            <a:avLst/>
          </a:prstGeom>
          <a:noFill/>
        </p:spPr>
        <p:txBody>
          <a:bodyPr wrap="square">
            <a:spAutoFit/>
          </a:bodyPr>
          <a:lstStyle/>
          <a:p>
            <a:pPr algn="l">
              <a:defRPr sz="1400" b="0">
                <a:solidFill>
                  <a:srgbClr val="242424"/>
                </a:solidFill>
                <a:latin typeface="Segoe UI"/>
              </a:defRPr>
            </a:pPr>
            <a:r>
              <a:t>Include key fields: Title, RequestType,</a:t>
            </a:r>
            <a:br/>
            <a:r>
              <a:t>DueDate — give approvers context</a:t>
            </a:r>
          </a:p>
        </p:txBody>
      </p:sp>
      <p:sp>
        <p:nvSpPr>
          <p:cNvPr id="20" name="Rounded Rectangle 19"/>
          <p:cNvSpPr/>
          <p:nvPr/>
        </p:nvSpPr>
        <p:spPr>
          <a:xfrm>
            <a:off x="429767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4297679" y="3749039"/>
            <a:ext cx="3474720" cy="54864"/>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3931919"/>
            <a:ext cx="2926080" cy="457200"/>
          </a:xfrm>
          <a:prstGeom prst="rect">
            <a:avLst/>
          </a:prstGeom>
          <a:noFill/>
        </p:spPr>
        <p:txBody>
          <a:bodyPr wrap="square">
            <a:spAutoFit/>
          </a:bodyPr>
          <a:lstStyle/>
          <a:p>
            <a:pPr algn="l">
              <a:defRPr sz="2000" b="1">
                <a:solidFill>
                  <a:srgbClr val="107C10"/>
                </a:solidFill>
                <a:latin typeface="Segoe UI"/>
              </a:defRPr>
            </a:pPr>
            <a:r>
              <a:t>Item Link</a:t>
            </a:r>
          </a:p>
        </p:txBody>
      </p:sp>
      <p:sp>
        <p:nvSpPr>
          <p:cNvPr id="23" name="TextBox 22"/>
          <p:cNvSpPr txBox="1"/>
          <p:nvPr/>
        </p:nvSpPr>
        <p:spPr>
          <a:xfrm>
            <a:off x="4571999" y="4480559"/>
            <a:ext cx="2926080" cy="1097280"/>
          </a:xfrm>
          <a:prstGeom prst="rect">
            <a:avLst/>
          </a:prstGeom>
          <a:noFill/>
        </p:spPr>
        <p:txBody>
          <a:bodyPr wrap="square">
            <a:spAutoFit/>
          </a:bodyPr>
          <a:lstStyle/>
          <a:p>
            <a:pPr algn="l">
              <a:defRPr sz="1400" b="0">
                <a:solidFill>
                  <a:srgbClr val="242424"/>
                </a:solidFill>
                <a:latin typeface="Segoe UI"/>
              </a:defRPr>
            </a:pPr>
            <a:r>
              <a:t>Link back to the SharePoint list item</a:t>
            </a:r>
            <a:br/>
            <a:r>
              <a:t>so approver can review in place</a:t>
            </a:r>
          </a:p>
        </p:txBody>
      </p:sp>
      <p:sp>
        <p:nvSpPr>
          <p:cNvPr id="24" name="Rounded Rectangle 23"/>
          <p:cNvSpPr/>
          <p:nvPr/>
        </p:nvSpPr>
        <p:spPr>
          <a:xfrm>
            <a:off x="8046719" y="3749039"/>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046719" y="3749039"/>
            <a:ext cx="3474720" cy="54864"/>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39" y="3931919"/>
            <a:ext cx="2926080" cy="457200"/>
          </a:xfrm>
          <a:prstGeom prst="rect">
            <a:avLst/>
          </a:prstGeom>
          <a:noFill/>
        </p:spPr>
        <p:txBody>
          <a:bodyPr wrap="square">
            <a:spAutoFit/>
          </a:bodyPr>
          <a:lstStyle/>
          <a:p>
            <a:pPr algn="l">
              <a:defRPr sz="2000" b="1">
                <a:solidFill>
                  <a:srgbClr val="D13438"/>
                </a:solidFill>
                <a:latin typeface="Segoe UI"/>
              </a:defRPr>
            </a:pPr>
            <a:r>
              <a:t>Enable Notifications</a:t>
            </a:r>
          </a:p>
        </p:txBody>
      </p:sp>
      <p:sp>
        <p:nvSpPr>
          <p:cNvPr id="27" name="TextBox 26"/>
          <p:cNvSpPr txBox="1"/>
          <p:nvPr/>
        </p:nvSpPr>
        <p:spPr>
          <a:xfrm>
            <a:off x="8321039" y="4480559"/>
            <a:ext cx="2926080" cy="1097280"/>
          </a:xfrm>
          <a:prstGeom prst="rect">
            <a:avLst/>
          </a:prstGeom>
          <a:noFill/>
        </p:spPr>
        <p:txBody>
          <a:bodyPr wrap="square">
            <a:spAutoFit/>
          </a:bodyPr>
          <a:lstStyle/>
          <a:p>
            <a:pPr algn="l">
              <a:defRPr sz="1400" b="0">
                <a:solidFill>
                  <a:srgbClr val="242424"/>
                </a:solidFill>
                <a:latin typeface="Segoe UI"/>
              </a:defRPr>
            </a:pPr>
            <a:r>
              <a:t>Email notification sent automatically</a:t>
            </a:r>
            <a:br/>
            <a:r>
              <a:t>when approval is created</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7 / 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Common Pitfalls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Loops, ownership gaps, and how admins prevent them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Pitfall: Infinite Loops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The #1 automation mistake — and how admins prevent it</a:t>
            </a:r>
          </a:p>
        </p:txBody>
      </p:sp>
      <p:sp>
        <p:nvSpPr>
          <p:cNvPr id="5" name="Rounded Rectangle 4"/>
          <p:cNvSpPr/>
          <p:nvPr/>
        </p:nvSpPr>
        <p:spPr>
          <a:xfrm>
            <a:off x="731520" y="1645920"/>
            <a:ext cx="51206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45920"/>
            <a:ext cx="51206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1828800"/>
            <a:ext cx="4754880" cy="457200"/>
          </a:xfrm>
          <a:prstGeom prst="rect">
            <a:avLst/>
          </a:prstGeom>
          <a:noFill/>
        </p:spPr>
        <p:txBody>
          <a:bodyPr wrap="square">
            <a:spAutoFit/>
          </a:bodyPr>
          <a:lstStyle/>
          <a:p>
            <a:pPr algn="ctr">
              <a:defRPr sz="2200" b="1">
                <a:solidFill>
                  <a:srgbClr val="D13438"/>
                </a:solidFill>
                <a:latin typeface="Segoe UI"/>
              </a:defRPr>
            </a:pPr>
            <a:r>
              <a:t>❌  The Problem</a:t>
            </a:r>
          </a:p>
        </p:txBody>
      </p:sp>
      <p:sp>
        <p:nvSpPr>
          <p:cNvPr id="8" name="TextBox 7"/>
          <p:cNvSpPr txBox="1"/>
          <p:nvPr/>
        </p:nvSpPr>
        <p:spPr>
          <a:xfrm>
            <a:off x="1097280" y="2468880"/>
            <a:ext cx="4572000" cy="2743200"/>
          </a:xfrm>
          <a:prstGeom prst="rect">
            <a:avLst/>
          </a:prstGeom>
          <a:noFill/>
        </p:spPr>
        <p:txBody>
          <a:bodyPr wrap="square">
            <a:spAutoFit/>
          </a:bodyPr>
          <a:lstStyle/>
          <a:p>
            <a:pPr>
              <a:spcAft>
                <a:spcPts val="600"/>
              </a:spcAft>
              <a:defRPr sz="1500">
                <a:solidFill>
                  <a:srgbClr val="242424"/>
                </a:solidFill>
                <a:latin typeface="Segoe UI"/>
              </a:defRPr>
            </a:pPr>
            <a:r>
              <a:t>▸ Trigger: 'When an item is created or modified'</a:t>
            </a:r>
          </a:p>
          <a:p>
            <a:pPr>
              <a:spcAft>
                <a:spcPts val="600"/>
              </a:spcAft>
              <a:defRPr sz="1500">
                <a:solidFill>
                  <a:srgbClr val="242424"/>
                </a:solidFill>
                <a:latin typeface="Segoe UI"/>
              </a:defRPr>
            </a:pPr>
            <a:r>
              <a:t>▸ Action: Update the SAME item (Status, Notes)</a:t>
            </a:r>
          </a:p>
          <a:p>
            <a:pPr>
              <a:spcAft>
                <a:spcPts val="600"/>
              </a:spcAft>
              <a:defRPr sz="1500">
                <a:solidFill>
                  <a:srgbClr val="242424"/>
                </a:solidFill>
                <a:latin typeface="Segoe UI"/>
              </a:defRPr>
            </a:pPr>
            <a:r>
              <a:t>▸ Update triggers the flow AGAIN</a:t>
            </a:r>
          </a:p>
          <a:p>
            <a:pPr>
              <a:spcAft>
                <a:spcPts val="600"/>
              </a:spcAft>
              <a:defRPr sz="1500">
                <a:solidFill>
                  <a:srgbClr val="242424"/>
                </a:solidFill>
                <a:latin typeface="Segoe UI"/>
              </a:defRPr>
            </a:pPr>
            <a:r>
              <a:t>▸ → Infinite loop until run limit hit</a:t>
            </a:r>
          </a:p>
          <a:p>
            <a:pPr>
              <a:spcAft>
                <a:spcPts val="600"/>
              </a:spcAft>
              <a:defRPr sz="1500">
                <a:solidFill>
                  <a:srgbClr val="242424"/>
                </a:solidFill>
                <a:latin typeface="Segoe UI"/>
              </a:defRPr>
            </a:pPr>
            <a:r>
              <a:t>▸ → Hundreds of flow runs, spam notifications</a:t>
            </a:r>
          </a:p>
        </p:txBody>
      </p:sp>
      <p:sp>
        <p:nvSpPr>
          <p:cNvPr id="9" name="Rounded Rectangle 8"/>
          <p:cNvSpPr/>
          <p:nvPr/>
        </p:nvSpPr>
        <p:spPr>
          <a:xfrm>
            <a:off x="6309360" y="1645920"/>
            <a:ext cx="5120640" cy="36576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309360" y="1645920"/>
            <a:ext cx="51206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828800"/>
            <a:ext cx="4754880" cy="457200"/>
          </a:xfrm>
          <a:prstGeom prst="rect">
            <a:avLst/>
          </a:prstGeom>
          <a:noFill/>
        </p:spPr>
        <p:txBody>
          <a:bodyPr wrap="square">
            <a:spAutoFit/>
          </a:bodyPr>
          <a:lstStyle/>
          <a:p>
            <a:pPr algn="ctr">
              <a:defRPr sz="2200" b="1">
                <a:solidFill>
                  <a:srgbClr val="107C10"/>
                </a:solidFill>
                <a:latin typeface="Segoe UI"/>
              </a:defRPr>
            </a:pPr>
            <a:r>
              <a:t>✅  Mitigations</a:t>
            </a:r>
          </a:p>
        </p:txBody>
      </p:sp>
      <p:sp>
        <p:nvSpPr>
          <p:cNvPr id="12" name="TextBox 11"/>
          <p:cNvSpPr txBox="1"/>
          <p:nvPr/>
        </p:nvSpPr>
        <p:spPr>
          <a:xfrm>
            <a:off x="6675120" y="2468880"/>
            <a:ext cx="4572000" cy="2743200"/>
          </a:xfrm>
          <a:prstGeom prst="rect">
            <a:avLst/>
          </a:prstGeom>
          <a:noFill/>
        </p:spPr>
        <p:txBody>
          <a:bodyPr wrap="square">
            <a:spAutoFit/>
          </a:bodyPr>
          <a:lstStyle/>
          <a:p>
            <a:pPr>
              <a:spcAft>
                <a:spcPts val="600"/>
              </a:spcAft>
              <a:defRPr sz="1500">
                <a:solidFill>
                  <a:srgbClr val="242424"/>
                </a:solidFill>
                <a:latin typeface="Segoe UI"/>
              </a:defRPr>
            </a:pPr>
            <a:r>
              <a:t>▸ Use 'When an item is created' (not modified)</a:t>
            </a:r>
          </a:p>
          <a:p>
            <a:pPr>
              <a:spcAft>
                <a:spcPts val="600"/>
              </a:spcAft>
              <a:defRPr sz="1500">
                <a:solidFill>
                  <a:srgbClr val="242424"/>
                </a:solidFill>
                <a:latin typeface="Segoe UI"/>
              </a:defRPr>
            </a:pPr>
            <a:r>
              <a:t>▸ If you must use created/modified:</a:t>
            </a:r>
          </a:p>
          <a:p>
            <a:pPr>
              <a:spcAft>
                <a:spcPts val="600"/>
              </a:spcAft>
              <a:defRPr sz="1500">
                <a:solidFill>
                  <a:srgbClr val="242424"/>
                </a:solidFill>
                <a:latin typeface="Segoe UI"/>
              </a:defRPr>
            </a:pPr>
            <a:r>
              <a:t>▸   → Add a trigger condition on a flag column</a:t>
            </a:r>
          </a:p>
          <a:p>
            <a:pPr>
              <a:spcAft>
                <a:spcPts val="600"/>
              </a:spcAft>
              <a:defRPr sz="1500">
                <a:solidFill>
                  <a:srgbClr val="242424"/>
                </a:solidFill>
                <a:latin typeface="Segoe UI"/>
              </a:defRPr>
            </a:pPr>
            <a:r>
              <a:t>▸   → e.g. @equals(triggerBody()?['Status'], 'Submitted')</a:t>
            </a:r>
          </a:p>
          <a:p>
            <a:pPr>
              <a:spcAft>
                <a:spcPts val="600"/>
              </a:spcAft>
              <a:defRPr sz="1500">
                <a:solidFill>
                  <a:srgbClr val="242424"/>
                </a:solidFill>
                <a:latin typeface="Segoe UI"/>
              </a:defRPr>
            </a:pPr>
            <a:r>
              <a:t>▸ Test with a single item before going live</a:t>
            </a:r>
          </a:p>
        </p:txBody>
      </p:sp>
      <p:sp>
        <p:nvSpPr>
          <p:cNvPr id="13" name="Rounded Rectangle 12"/>
          <p:cNvSpPr/>
          <p:nvPr/>
        </p:nvSpPr>
        <p:spPr>
          <a:xfrm>
            <a:off x="1371600" y="5669280"/>
            <a:ext cx="9418320" cy="45720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5920" y="5715000"/>
            <a:ext cx="8869680" cy="365760"/>
          </a:xfrm>
          <a:prstGeom prst="rect">
            <a:avLst/>
          </a:prstGeom>
          <a:noFill/>
        </p:spPr>
        <p:txBody>
          <a:bodyPr wrap="square">
            <a:spAutoFit/>
          </a:bodyPr>
          <a:lstStyle/>
          <a:p>
            <a:pPr algn="l">
              <a:defRPr sz="1300" b="0">
                <a:solidFill>
                  <a:srgbClr val="242424"/>
                </a:solidFill>
                <a:latin typeface="Segoe UI"/>
              </a:defRPr>
            </a:pPr>
            <a:r>
              <a:t>📖  Reference: learn.microsoft.com → Power Automate → Customize triggers with conditions</a:t>
            </a:r>
          </a:p>
        </p:txBody>
      </p:sp>
      <p:sp>
        <p:nvSpPr>
          <p:cNvPr id="15" name="Rectangle 1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17" name="TextBox 1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9 /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Pitfall: Ownership &amp; Continuity</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What happens when the flow creator leaves the organisation?</a:t>
            </a:r>
          </a:p>
        </p:txBody>
      </p:sp>
      <p:sp>
        <p:nvSpPr>
          <p:cNvPr id="5" name="Rounded Rectangle 4"/>
          <p:cNvSpPr/>
          <p:nvPr/>
        </p:nvSpPr>
        <p:spPr>
          <a:xfrm>
            <a:off x="73152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554480"/>
            <a:ext cx="73152" cy="18288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69164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8" name="TextBox 7"/>
          <p:cNvSpPr txBox="1"/>
          <p:nvPr/>
        </p:nvSpPr>
        <p:spPr>
          <a:xfrm>
            <a:off x="1554480" y="1691640"/>
            <a:ext cx="4206240" cy="365760"/>
          </a:xfrm>
          <a:prstGeom prst="rect">
            <a:avLst/>
          </a:prstGeom>
          <a:noFill/>
        </p:spPr>
        <p:txBody>
          <a:bodyPr wrap="square">
            <a:spAutoFit/>
          </a:bodyPr>
          <a:lstStyle/>
          <a:p>
            <a:pPr algn="l">
              <a:defRPr sz="1800" b="1">
                <a:solidFill>
                  <a:srgbClr val="0078D4"/>
                </a:solidFill>
                <a:latin typeface="Segoe UI"/>
              </a:defRPr>
            </a:pPr>
            <a:r>
              <a:t>Clear Owner</a:t>
            </a:r>
          </a:p>
        </p:txBody>
      </p:sp>
      <p:sp>
        <p:nvSpPr>
          <p:cNvPr id="9" name="TextBox 8"/>
          <p:cNvSpPr txBox="1"/>
          <p:nvPr/>
        </p:nvSpPr>
        <p:spPr>
          <a:xfrm>
            <a:off x="1554480" y="2103120"/>
            <a:ext cx="4206240" cy="640080"/>
          </a:xfrm>
          <a:prstGeom prst="rect">
            <a:avLst/>
          </a:prstGeom>
          <a:noFill/>
        </p:spPr>
        <p:txBody>
          <a:bodyPr wrap="square">
            <a:spAutoFit/>
          </a:bodyPr>
          <a:lstStyle/>
          <a:p>
            <a:pPr algn="l">
              <a:defRPr sz="1400" b="0">
                <a:solidFill>
                  <a:srgbClr val="242424"/>
                </a:solidFill>
                <a:latin typeface="Segoe UI"/>
              </a:defRPr>
            </a:pPr>
            <a:r>
              <a:t>Every flow/app must have</a:t>
            </a:r>
            <a:br/>
            <a:r>
              <a:t>an identifiable owner</a:t>
            </a:r>
          </a:p>
        </p:txBody>
      </p:sp>
      <p:sp>
        <p:nvSpPr>
          <p:cNvPr id="10" name="TextBox 9"/>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Document in M12-Flow-Design-Worksheet</a:t>
            </a:r>
          </a:p>
        </p:txBody>
      </p:sp>
      <p:sp>
        <p:nvSpPr>
          <p:cNvPr id="11" name="Rounded Rectangle 10"/>
          <p:cNvSpPr/>
          <p:nvPr/>
        </p:nvSpPr>
        <p:spPr>
          <a:xfrm>
            <a:off x="6400800" y="1554480"/>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0" y="1554480"/>
            <a:ext cx="73152" cy="182880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69164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4" name="TextBox 13"/>
          <p:cNvSpPr txBox="1"/>
          <p:nvPr/>
        </p:nvSpPr>
        <p:spPr>
          <a:xfrm>
            <a:off x="7223760" y="1691640"/>
            <a:ext cx="4206240" cy="365760"/>
          </a:xfrm>
          <a:prstGeom prst="rect">
            <a:avLst/>
          </a:prstGeom>
          <a:noFill/>
        </p:spPr>
        <p:txBody>
          <a:bodyPr wrap="square">
            <a:spAutoFit/>
          </a:bodyPr>
          <a:lstStyle/>
          <a:p>
            <a:pPr algn="l">
              <a:defRPr sz="1800" b="1">
                <a:solidFill>
                  <a:srgbClr val="00B294"/>
                </a:solidFill>
                <a:latin typeface="Segoe UI"/>
              </a:defRPr>
            </a:pPr>
            <a:r>
              <a:t>Backup Owner</a:t>
            </a:r>
          </a:p>
        </p:txBody>
      </p:sp>
      <p:sp>
        <p:nvSpPr>
          <p:cNvPr id="15" name="TextBox 14"/>
          <p:cNvSpPr txBox="1"/>
          <p:nvPr/>
        </p:nvSpPr>
        <p:spPr>
          <a:xfrm>
            <a:off x="7223760" y="2103120"/>
            <a:ext cx="4206240" cy="640080"/>
          </a:xfrm>
          <a:prstGeom prst="rect">
            <a:avLst/>
          </a:prstGeom>
          <a:noFill/>
        </p:spPr>
        <p:txBody>
          <a:bodyPr wrap="square">
            <a:spAutoFit/>
          </a:bodyPr>
          <a:lstStyle/>
          <a:p>
            <a:pPr algn="l">
              <a:defRPr sz="1400" b="0">
                <a:solidFill>
                  <a:srgbClr val="242424"/>
                </a:solidFill>
                <a:latin typeface="Segoe UI"/>
              </a:defRPr>
            </a:pPr>
            <a:r>
              <a:t>Assign a co-owner who can</a:t>
            </a:r>
            <a:br/>
            <a:r>
              <a:t>maintain the flow if needed</a:t>
            </a:r>
          </a:p>
        </p:txBody>
      </p:sp>
      <p:sp>
        <p:nvSpPr>
          <p:cNvPr id="16" name="TextBox 15"/>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Share the flow with a colleague</a:t>
            </a:r>
          </a:p>
        </p:txBody>
      </p:sp>
      <p:sp>
        <p:nvSpPr>
          <p:cNvPr id="17" name="Rounded Rectangle 16"/>
          <p:cNvSpPr/>
          <p:nvPr/>
        </p:nvSpPr>
        <p:spPr>
          <a:xfrm>
            <a:off x="73152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31520" y="3749039"/>
            <a:ext cx="73152" cy="1828800"/>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05840" y="388619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0" name="TextBox 19"/>
          <p:cNvSpPr txBox="1"/>
          <p:nvPr/>
        </p:nvSpPr>
        <p:spPr>
          <a:xfrm>
            <a:off x="1554480" y="3886199"/>
            <a:ext cx="4206240" cy="365760"/>
          </a:xfrm>
          <a:prstGeom prst="rect">
            <a:avLst/>
          </a:prstGeom>
          <a:noFill/>
        </p:spPr>
        <p:txBody>
          <a:bodyPr wrap="square">
            <a:spAutoFit/>
          </a:bodyPr>
          <a:lstStyle/>
          <a:p>
            <a:pPr algn="l">
              <a:defRPr sz="1800" b="1">
                <a:solidFill>
                  <a:srgbClr val="6B69D6"/>
                </a:solidFill>
                <a:latin typeface="Segoe UI"/>
              </a:defRPr>
            </a:pPr>
            <a:r>
              <a:t>Documentation</a:t>
            </a:r>
          </a:p>
        </p:txBody>
      </p:sp>
      <p:sp>
        <p:nvSpPr>
          <p:cNvPr id="21" name="TextBox 20"/>
          <p:cNvSpPr txBox="1"/>
          <p:nvPr/>
        </p:nvSpPr>
        <p:spPr>
          <a:xfrm>
            <a:off x="1554480" y="4297679"/>
            <a:ext cx="4206240" cy="640080"/>
          </a:xfrm>
          <a:prstGeom prst="rect">
            <a:avLst/>
          </a:prstGeom>
          <a:noFill/>
        </p:spPr>
        <p:txBody>
          <a:bodyPr wrap="square">
            <a:spAutoFit/>
          </a:bodyPr>
          <a:lstStyle/>
          <a:p>
            <a:pPr algn="l">
              <a:defRPr sz="1400" b="0">
                <a:solidFill>
                  <a:srgbClr val="242424"/>
                </a:solidFill>
                <a:latin typeface="Segoe UI"/>
              </a:defRPr>
            </a:pPr>
            <a:r>
              <a:t>Record: what list, what fields,</a:t>
            </a:r>
            <a:br/>
            <a:r>
              <a:t>what outcome, what trigger</a:t>
            </a:r>
          </a:p>
        </p:txBody>
      </p:sp>
      <p:sp>
        <p:nvSpPr>
          <p:cNvPr id="22" name="TextBox 21"/>
          <p:cNvSpPr txBox="1"/>
          <p:nvPr/>
        </p:nvSpPr>
        <p:spPr>
          <a:xfrm>
            <a:off x="1554480" y="5029199"/>
            <a:ext cx="4206240" cy="365760"/>
          </a:xfrm>
          <a:prstGeom prst="rect">
            <a:avLst/>
          </a:prstGeom>
          <a:noFill/>
        </p:spPr>
        <p:txBody>
          <a:bodyPr wrap="square">
            <a:spAutoFit/>
          </a:bodyPr>
          <a:lstStyle/>
          <a:p>
            <a:pPr algn="l">
              <a:defRPr sz="1200" b="0">
                <a:solidFill>
                  <a:srgbClr val="606060"/>
                </a:solidFill>
                <a:latin typeface="Segoe UI"/>
              </a:defRPr>
            </a:pPr>
            <a:r>
              <a:t>Use participant pack worksheets</a:t>
            </a:r>
          </a:p>
        </p:txBody>
      </p:sp>
      <p:sp>
        <p:nvSpPr>
          <p:cNvPr id="23" name="Rounded Rectangle 22"/>
          <p:cNvSpPr/>
          <p:nvPr/>
        </p:nvSpPr>
        <p:spPr>
          <a:xfrm>
            <a:off x="6400800" y="3749039"/>
            <a:ext cx="5303520" cy="18288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00800" y="3749039"/>
            <a:ext cx="73152" cy="182880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0" y="388619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6" name="TextBox 25"/>
          <p:cNvSpPr txBox="1"/>
          <p:nvPr/>
        </p:nvSpPr>
        <p:spPr>
          <a:xfrm>
            <a:off x="7223760" y="3886199"/>
            <a:ext cx="4206240" cy="365760"/>
          </a:xfrm>
          <a:prstGeom prst="rect">
            <a:avLst/>
          </a:prstGeom>
          <a:noFill/>
        </p:spPr>
        <p:txBody>
          <a:bodyPr wrap="square">
            <a:spAutoFit/>
          </a:bodyPr>
          <a:lstStyle/>
          <a:p>
            <a:pPr algn="l">
              <a:defRPr sz="1800" b="1">
                <a:solidFill>
                  <a:srgbClr val="FF8C00"/>
                </a:solidFill>
                <a:latin typeface="Segoe UI"/>
              </a:defRPr>
            </a:pPr>
            <a:r>
              <a:t>Service Accounts</a:t>
            </a:r>
          </a:p>
        </p:txBody>
      </p:sp>
      <p:sp>
        <p:nvSpPr>
          <p:cNvPr id="27" name="TextBox 26"/>
          <p:cNvSpPr txBox="1"/>
          <p:nvPr/>
        </p:nvSpPr>
        <p:spPr>
          <a:xfrm>
            <a:off x="7223760" y="4297679"/>
            <a:ext cx="4206240" cy="640080"/>
          </a:xfrm>
          <a:prstGeom prst="rect">
            <a:avLst/>
          </a:prstGeom>
          <a:noFill/>
        </p:spPr>
        <p:txBody>
          <a:bodyPr wrap="square">
            <a:spAutoFit/>
          </a:bodyPr>
          <a:lstStyle/>
          <a:p>
            <a:pPr algn="l">
              <a:defRPr sz="1400" b="0">
                <a:solidFill>
                  <a:srgbClr val="242424"/>
                </a:solidFill>
                <a:latin typeface="Segoe UI"/>
              </a:defRPr>
            </a:pPr>
            <a:r>
              <a:t>For production: consider using</a:t>
            </a:r>
            <a:br/>
            <a:r>
              <a:t>service accounts for connections</a:t>
            </a:r>
          </a:p>
        </p:txBody>
      </p:sp>
      <p:sp>
        <p:nvSpPr>
          <p:cNvPr id="28" name="TextBox 27"/>
          <p:cNvSpPr txBox="1"/>
          <p:nvPr/>
        </p:nvSpPr>
        <p:spPr>
          <a:xfrm>
            <a:off x="7223760" y="5029199"/>
            <a:ext cx="4206240" cy="365760"/>
          </a:xfrm>
          <a:prstGeom prst="rect">
            <a:avLst/>
          </a:prstGeom>
          <a:noFill/>
        </p:spPr>
        <p:txBody>
          <a:bodyPr wrap="square">
            <a:spAutoFit/>
          </a:bodyPr>
          <a:lstStyle/>
          <a:p>
            <a:pPr algn="l">
              <a:defRPr sz="1200" b="0">
                <a:solidFill>
                  <a:srgbClr val="606060"/>
                </a:solidFill>
                <a:latin typeface="Segoe UI"/>
              </a:defRPr>
            </a:pPr>
            <a:r>
              <a:t>Reduces dependency on individuals</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10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Power Apps Custom Forms</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Customise SharePoint list forms without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Power Apps: Customising List Forms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Improve the data-entry experience without writing code</a:t>
            </a:r>
          </a:p>
        </p:txBody>
      </p:sp>
      <p:sp>
        <p:nvSpPr>
          <p:cNvPr id="5" name="Rounded Rectangle 4"/>
          <p:cNvSpPr/>
          <p:nvPr/>
        </p:nvSpPr>
        <p:spPr>
          <a:xfrm>
            <a:off x="548640" y="155448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73736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7" name="TextBox 6"/>
          <p:cNvSpPr txBox="1"/>
          <p:nvPr/>
        </p:nvSpPr>
        <p:spPr>
          <a:xfrm>
            <a:off x="1463040" y="1737360"/>
            <a:ext cx="2286000" cy="365760"/>
          </a:xfrm>
          <a:prstGeom prst="rect">
            <a:avLst/>
          </a:prstGeom>
          <a:noFill/>
        </p:spPr>
        <p:txBody>
          <a:bodyPr wrap="square">
            <a:spAutoFit/>
          </a:bodyPr>
          <a:lstStyle/>
          <a:p>
            <a:pPr algn="l">
              <a:defRPr sz="1800" b="1">
                <a:solidFill>
                  <a:srgbClr val="0078D4"/>
                </a:solidFill>
                <a:latin typeface="Segoe UI"/>
              </a:defRPr>
            </a:pPr>
            <a:r>
              <a:t>Re-order Fields</a:t>
            </a:r>
          </a:p>
        </p:txBody>
      </p:sp>
      <p:sp>
        <p:nvSpPr>
          <p:cNvPr id="8" name="TextBox 7"/>
          <p:cNvSpPr txBox="1"/>
          <p:nvPr/>
        </p:nvSpPr>
        <p:spPr>
          <a:xfrm>
            <a:off x="1463040" y="2194560"/>
            <a:ext cx="2286000" cy="1097280"/>
          </a:xfrm>
          <a:prstGeom prst="rect">
            <a:avLst/>
          </a:prstGeom>
          <a:noFill/>
        </p:spPr>
        <p:txBody>
          <a:bodyPr wrap="square">
            <a:spAutoFit/>
          </a:bodyPr>
          <a:lstStyle/>
          <a:p>
            <a:pPr algn="l">
              <a:defRPr sz="1300" b="0">
                <a:solidFill>
                  <a:srgbClr val="242424"/>
                </a:solidFill>
                <a:latin typeface="Segoe UI"/>
              </a:defRPr>
            </a:pPr>
            <a:r>
              <a:t>Move the most important fields</a:t>
            </a:r>
            <a:br/>
            <a:r>
              <a:t>(Status, Owner) to the top</a:t>
            </a:r>
            <a:br/>
            <a:r>
              <a:t>of the form</a:t>
            </a:r>
          </a:p>
        </p:txBody>
      </p:sp>
      <p:sp>
        <p:nvSpPr>
          <p:cNvPr id="9" name="Rounded Rectangle 8"/>
          <p:cNvSpPr/>
          <p:nvPr/>
        </p:nvSpPr>
        <p:spPr>
          <a:xfrm>
            <a:off x="4297679" y="155448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1999" y="173736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1" name="TextBox 10"/>
          <p:cNvSpPr txBox="1"/>
          <p:nvPr/>
        </p:nvSpPr>
        <p:spPr>
          <a:xfrm>
            <a:off x="5212079" y="1737360"/>
            <a:ext cx="2286000" cy="365760"/>
          </a:xfrm>
          <a:prstGeom prst="rect">
            <a:avLst/>
          </a:prstGeom>
          <a:noFill/>
        </p:spPr>
        <p:txBody>
          <a:bodyPr wrap="square">
            <a:spAutoFit/>
          </a:bodyPr>
          <a:lstStyle/>
          <a:p>
            <a:pPr algn="l">
              <a:defRPr sz="1800" b="1">
                <a:solidFill>
                  <a:srgbClr val="0078D4"/>
                </a:solidFill>
                <a:latin typeface="Segoe UI"/>
              </a:defRPr>
            </a:pPr>
            <a:r>
              <a:t>Conditional Visibility</a:t>
            </a:r>
          </a:p>
        </p:txBody>
      </p:sp>
      <p:sp>
        <p:nvSpPr>
          <p:cNvPr id="12" name="TextBox 11"/>
          <p:cNvSpPr txBox="1"/>
          <p:nvPr/>
        </p:nvSpPr>
        <p:spPr>
          <a:xfrm>
            <a:off x="5212079" y="2314304"/>
            <a:ext cx="2286000" cy="1097280"/>
          </a:xfrm>
          <a:prstGeom prst="rect">
            <a:avLst/>
          </a:prstGeom>
          <a:noFill/>
        </p:spPr>
        <p:txBody>
          <a:bodyPr wrap="square">
            <a:spAutoFit/>
          </a:bodyPr>
          <a:lstStyle/>
          <a:p>
            <a:pPr algn="l">
              <a:defRPr sz="1300" b="0">
                <a:solidFill>
                  <a:srgbClr val="242424"/>
                </a:solidFill>
                <a:latin typeface="Segoe UI"/>
              </a:defRPr>
            </a:pPr>
            <a:r>
              <a:rPr dirty="0"/>
              <a:t>Show/hide fields based on</a:t>
            </a:r>
            <a:br>
              <a:rPr dirty="0"/>
            </a:br>
            <a:r>
              <a:rPr dirty="0"/>
              <a:t>conditions (e.g. show Notes</a:t>
            </a:r>
            <a:br>
              <a:rPr dirty="0"/>
            </a:br>
            <a:r>
              <a:rPr dirty="0"/>
              <a:t>only when Status = Rejected)</a:t>
            </a:r>
          </a:p>
        </p:txBody>
      </p:sp>
      <p:sp>
        <p:nvSpPr>
          <p:cNvPr id="13" name="Rounded Rectangle 12"/>
          <p:cNvSpPr/>
          <p:nvPr/>
        </p:nvSpPr>
        <p:spPr>
          <a:xfrm>
            <a:off x="8046719" y="155448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39" y="173736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5" name="TextBox 14"/>
          <p:cNvSpPr txBox="1"/>
          <p:nvPr/>
        </p:nvSpPr>
        <p:spPr>
          <a:xfrm>
            <a:off x="8961119" y="1737360"/>
            <a:ext cx="2286000" cy="365760"/>
          </a:xfrm>
          <a:prstGeom prst="rect">
            <a:avLst/>
          </a:prstGeom>
          <a:noFill/>
        </p:spPr>
        <p:txBody>
          <a:bodyPr wrap="square">
            <a:spAutoFit/>
          </a:bodyPr>
          <a:lstStyle/>
          <a:p>
            <a:pPr algn="l">
              <a:defRPr sz="1800" b="1">
                <a:solidFill>
                  <a:srgbClr val="0078D4"/>
                </a:solidFill>
                <a:latin typeface="Segoe UI"/>
              </a:defRPr>
            </a:pPr>
            <a:r>
              <a:t>Helper Text</a:t>
            </a:r>
          </a:p>
        </p:txBody>
      </p:sp>
      <p:sp>
        <p:nvSpPr>
          <p:cNvPr id="16" name="TextBox 15"/>
          <p:cNvSpPr txBox="1"/>
          <p:nvPr/>
        </p:nvSpPr>
        <p:spPr>
          <a:xfrm>
            <a:off x="8961119" y="2194560"/>
            <a:ext cx="2286000" cy="1097280"/>
          </a:xfrm>
          <a:prstGeom prst="rect">
            <a:avLst/>
          </a:prstGeom>
          <a:noFill/>
        </p:spPr>
        <p:txBody>
          <a:bodyPr wrap="square">
            <a:spAutoFit/>
          </a:bodyPr>
          <a:lstStyle/>
          <a:p>
            <a:pPr algn="l">
              <a:defRPr sz="1300" b="0">
                <a:solidFill>
                  <a:srgbClr val="242424"/>
                </a:solidFill>
                <a:latin typeface="Segoe UI"/>
              </a:defRPr>
            </a:pPr>
            <a:r>
              <a:t>Add labels, instructions, or</a:t>
            </a:r>
            <a:br/>
            <a:r>
              <a:t>banner text to guide users</a:t>
            </a:r>
            <a:br/>
            <a:r>
              <a:t>through the form</a:t>
            </a:r>
          </a:p>
        </p:txBody>
      </p:sp>
      <p:sp>
        <p:nvSpPr>
          <p:cNvPr id="17" name="Rounded Rectangle 16"/>
          <p:cNvSpPr/>
          <p:nvPr/>
        </p:nvSpPr>
        <p:spPr>
          <a:xfrm>
            <a:off x="548640" y="393192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114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9" name="TextBox 18"/>
          <p:cNvSpPr txBox="1"/>
          <p:nvPr/>
        </p:nvSpPr>
        <p:spPr>
          <a:xfrm>
            <a:off x="1463040" y="4114800"/>
            <a:ext cx="2286000" cy="365760"/>
          </a:xfrm>
          <a:prstGeom prst="rect">
            <a:avLst/>
          </a:prstGeom>
          <a:noFill/>
        </p:spPr>
        <p:txBody>
          <a:bodyPr wrap="square">
            <a:spAutoFit/>
          </a:bodyPr>
          <a:lstStyle/>
          <a:p>
            <a:pPr algn="l">
              <a:defRPr sz="1800" b="1">
                <a:solidFill>
                  <a:srgbClr val="0078D4"/>
                </a:solidFill>
                <a:latin typeface="Segoe UI"/>
              </a:defRPr>
            </a:pPr>
            <a:r>
              <a:t>Branding</a:t>
            </a:r>
          </a:p>
        </p:txBody>
      </p:sp>
      <p:sp>
        <p:nvSpPr>
          <p:cNvPr id="20" name="TextBox 19"/>
          <p:cNvSpPr txBox="1"/>
          <p:nvPr/>
        </p:nvSpPr>
        <p:spPr>
          <a:xfrm>
            <a:off x="1463040" y="4572000"/>
            <a:ext cx="2286000" cy="1097280"/>
          </a:xfrm>
          <a:prstGeom prst="rect">
            <a:avLst/>
          </a:prstGeom>
          <a:noFill/>
        </p:spPr>
        <p:txBody>
          <a:bodyPr wrap="square">
            <a:spAutoFit/>
          </a:bodyPr>
          <a:lstStyle/>
          <a:p>
            <a:pPr algn="l">
              <a:defRPr sz="1300" b="0">
                <a:solidFill>
                  <a:srgbClr val="242424"/>
                </a:solidFill>
                <a:latin typeface="Segoe UI"/>
              </a:defRPr>
            </a:pPr>
            <a:r>
              <a:t>Add organisation logo or</a:t>
            </a:r>
            <a:br/>
            <a:r>
              <a:t>colour-coded headers to</a:t>
            </a:r>
            <a:br/>
            <a:r>
              <a:t>match branding guidelines</a:t>
            </a:r>
          </a:p>
        </p:txBody>
      </p:sp>
      <p:sp>
        <p:nvSpPr>
          <p:cNvPr id="21" name="Rounded Rectangle 20"/>
          <p:cNvSpPr/>
          <p:nvPr/>
        </p:nvSpPr>
        <p:spPr>
          <a:xfrm>
            <a:off x="4297679" y="393192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1999" y="4114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3" name="TextBox 22"/>
          <p:cNvSpPr txBox="1"/>
          <p:nvPr/>
        </p:nvSpPr>
        <p:spPr>
          <a:xfrm>
            <a:off x="5212079" y="4114800"/>
            <a:ext cx="2286000" cy="365760"/>
          </a:xfrm>
          <a:prstGeom prst="rect">
            <a:avLst/>
          </a:prstGeom>
          <a:noFill/>
        </p:spPr>
        <p:txBody>
          <a:bodyPr wrap="square">
            <a:spAutoFit/>
          </a:bodyPr>
          <a:lstStyle/>
          <a:p>
            <a:pPr algn="l">
              <a:defRPr sz="1800" b="1">
                <a:solidFill>
                  <a:srgbClr val="0078D4"/>
                </a:solidFill>
                <a:latin typeface="Segoe UI"/>
              </a:defRPr>
            </a:pPr>
            <a:r>
              <a:t>Validation</a:t>
            </a:r>
          </a:p>
        </p:txBody>
      </p:sp>
      <p:sp>
        <p:nvSpPr>
          <p:cNvPr id="24" name="TextBox 23"/>
          <p:cNvSpPr txBox="1"/>
          <p:nvPr/>
        </p:nvSpPr>
        <p:spPr>
          <a:xfrm>
            <a:off x="5212079" y="4572000"/>
            <a:ext cx="2286000" cy="1097280"/>
          </a:xfrm>
          <a:prstGeom prst="rect">
            <a:avLst/>
          </a:prstGeom>
          <a:noFill/>
        </p:spPr>
        <p:txBody>
          <a:bodyPr wrap="square">
            <a:spAutoFit/>
          </a:bodyPr>
          <a:lstStyle/>
          <a:p>
            <a:pPr algn="l">
              <a:defRPr sz="1300" b="0">
                <a:solidFill>
                  <a:srgbClr val="242424"/>
                </a:solidFill>
                <a:latin typeface="Segoe UI"/>
              </a:defRPr>
            </a:pPr>
            <a:r>
              <a:t>Add simple validation rules</a:t>
            </a:r>
            <a:br/>
            <a:r>
              <a:t>(required fields, format</a:t>
            </a:r>
            <a:br/>
            <a:r>
              <a:t>checks) before submission</a:t>
            </a:r>
          </a:p>
        </p:txBody>
      </p:sp>
      <p:sp>
        <p:nvSpPr>
          <p:cNvPr id="25" name="Rounded Rectangle 24"/>
          <p:cNvSpPr/>
          <p:nvPr/>
        </p:nvSpPr>
        <p:spPr>
          <a:xfrm>
            <a:off x="8046719" y="3931920"/>
            <a:ext cx="34747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21039" y="4114800"/>
            <a:ext cx="54864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7" name="TextBox 26"/>
          <p:cNvSpPr txBox="1"/>
          <p:nvPr/>
        </p:nvSpPr>
        <p:spPr>
          <a:xfrm>
            <a:off x="8961119" y="4114800"/>
            <a:ext cx="2286000" cy="365760"/>
          </a:xfrm>
          <a:prstGeom prst="rect">
            <a:avLst/>
          </a:prstGeom>
          <a:noFill/>
        </p:spPr>
        <p:txBody>
          <a:bodyPr wrap="square">
            <a:spAutoFit/>
          </a:bodyPr>
          <a:lstStyle/>
          <a:p>
            <a:pPr algn="l">
              <a:defRPr sz="1800" b="1">
                <a:solidFill>
                  <a:srgbClr val="0078D4"/>
                </a:solidFill>
                <a:latin typeface="Segoe UI"/>
              </a:defRPr>
            </a:pPr>
            <a:r>
              <a:t>Read-Only Fields</a:t>
            </a:r>
          </a:p>
        </p:txBody>
      </p:sp>
      <p:sp>
        <p:nvSpPr>
          <p:cNvPr id="28" name="TextBox 27"/>
          <p:cNvSpPr txBox="1"/>
          <p:nvPr/>
        </p:nvSpPr>
        <p:spPr>
          <a:xfrm>
            <a:off x="8961119" y="4572000"/>
            <a:ext cx="2286000" cy="1097280"/>
          </a:xfrm>
          <a:prstGeom prst="rect">
            <a:avLst/>
          </a:prstGeom>
          <a:noFill/>
        </p:spPr>
        <p:txBody>
          <a:bodyPr wrap="square">
            <a:spAutoFit/>
          </a:bodyPr>
          <a:lstStyle/>
          <a:p>
            <a:pPr algn="l">
              <a:defRPr sz="1300" b="0">
                <a:solidFill>
                  <a:srgbClr val="242424"/>
                </a:solidFill>
                <a:latin typeface="Segoe UI"/>
              </a:defRPr>
            </a:pPr>
            <a:r>
              <a:t>Lock certain fields based on</a:t>
            </a:r>
            <a:br/>
            <a:r>
              <a:t>user role or item status</a:t>
            </a:r>
            <a:br/>
            <a:r>
              <a:t>(e.g. Approved items locked)</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12 / 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Customising a List Form: Step by Step</a:t>
            </a:r>
          </a:p>
        </p:txBody>
      </p:sp>
      <p:sp>
        <p:nvSpPr>
          <p:cNvPr id="4" name="Rounded Rectangle 3"/>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7" name="TextBox 6"/>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Open List</a:t>
            </a:r>
          </a:p>
        </p:txBody>
      </p:sp>
      <p:sp>
        <p:nvSpPr>
          <p:cNvPr id="8" name="TextBox 7"/>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Navigate to your</a:t>
            </a:r>
            <a:br/>
            <a:r>
              <a:t>NW-Pxx-AppRequests</a:t>
            </a:r>
            <a:br/>
            <a:r>
              <a:t>list in SharePoint</a:t>
            </a:r>
          </a:p>
        </p:txBody>
      </p:sp>
      <p:sp>
        <p:nvSpPr>
          <p:cNvPr id="9" name="Rounded Rectangle 8"/>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2" name="TextBox 11"/>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Integrate</a:t>
            </a:r>
          </a:p>
        </p:txBody>
      </p:sp>
      <p:sp>
        <p:nvSpPr>
          <p:cNvPr id="13" name="TextBox 12"/>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Command bar →</a:t>
            </a:r>
            <a:br/>
            <a:r>
              <a:t>Integrate → Power Apps</a:t>
            </a:r>
            <a:br/>
            <a:r>
              <a:t>→ Customise forms</a:t>
            </a:r>
          </a:p>
        </p:txBody>
      </p:sp>
      <p:sp>
        <p:nvSpPr>
          <p:cNvPr id="14" name="Rounded Rectangle 13"/>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17" name="TextBox 16"/>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Edit in Studio</a:t>
            </a:r>
          </a:p>
        </p:txBody>
      </p:sp>
      <p:sp>
        <p:nvSpPr>
          <p:cNvPr id="18" name="TextBox 17"/>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Power Apps Studio opens.</a:t>
            </a:r>
            <a:br/>
            <a:r>
              <a:t>Re-order fields, add labels,</a:t>
            </a:r>
            <a:br/>
            <a:r>
              <a:t>set conditional visibility</a:t>
            </a:r>
          </a:p>
        </p:txBody>
      </p:sp>
      <p:sp>
        <p:nvSpPr>
          <p:cNvPr id="19" name="Rounded Rectangle 18"/>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2" name="TextBox 21"/>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Publish</a:t>
            </a:r>
          </a:p>
        </p:txBody>
      </p:sp>
      <p:sp>
        <p:nvSpPr>
          <p:cNvPr id="23" name="TextBox 22"/>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Save → Publish to</a:t>
            </a:r>
            <a:br/>
            <a:r>
              <a:t>SharePoint → return to</a:t>
            </a:r>
            <a:br/>
            <a:r>
              <a:t>list and verify changes</a:t>
            </a:r>
          </a:p>
        </p:txBody>
      </p:sp>
      <p:sp>
        <p:nvSpPr>
          <p:cNvPr id="24" name="Rounded Rectangle 23"/>
          <p:cNvSpPr/>
          <p:nvPr/>
        </p:nvSpPr>
        <p:spPr>
          <a:xfrm>
            <a:off x="1371600" y="4937760"/>
            <a:ext cx="9418320" cy="54864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5920" y="4983480"/>
            <a:ext cx="8869680" cy="457200"/>
          </a:xfrm>
          <a:prstGeom prst="rect">
            <a:avLst/>
          </a:prstGeom>
          <a:noFill/>
        </p:spPr>
        <p:txBody>
          <a:bodyPr wrap="square">
            <a:spAutoFit/>
          </a:bodyPr>
          <a:lstStyle/>
          <a:p>
            <a:pPr algn="l">
              <a:defRPr sz="1300" b="0">
                <a:solidFill>
                  <a:srgbClr val="242424"/>
                </a:solidFill>
                <a:latin typeface="Segoe UI"/>
              </a:defRPr>
            </a:pPr>
            <a:r>
              <a:t>💡 To revert to the default SharePoint form, go to Power Apps → See all apps → delete the customisation or reset the form in SharePoint</a:t>
            </a:r>
          </a:p>
        </p:txBody>
      </p:sp>
      <p:sp>
        <p:nvSpPr>
          <p:cNvPr id="26" name="Rectangle 2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28" name="TextBox 2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13 / 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Governance: Environments &amp; DLP</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Controlling where solutions live and what connectors can do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Environments: Where Solutions Live</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Isolate workloads, control access, and manage lifecycle</a:t>
            </a:r>
          </a:p>
        </p:txBody>
      </p:sp>
      <p:sp>
        <p:nvSpPr>
          <p:cNvPr id="5" name="Rounded Rectangle 4"/>
          <p:cNvSpPr/>
          <p:nvPr/>
        </p:nvSpPr>
        <p:spPr>
          <a:xfrm>
            <a:off x="731520" y="164592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31520" y="1645920"/>
            <a:ext cx="256032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8" name="TextBox 7"/>
          <p:cNvSpPr txBox="1"/>
          <p:nvPr/>
        </p:nvSpPr>
        <p:spPr>
          <a:xfrm>
            <a:off x="1005840" y="2468880"/>
            <a:ext cx="2011680" cy="457200"/>
          </a:xfrm>
          <a:prstGeom prst="rect">
            <a:avLst/>
          </a:prstGeom>
          <a:noFill/>
        </p:spPr>
        <p:txBody>
          <a:bodyPr wrap="square">
            <a:spAutoFit/>
          </a:bodyPr>
          <a:lstStyle/>
          <a:p>
            <a:pPr algn="ctr">
              <a:defRPr sz="2400" b="1">
                <a:solidFill>
                  <a:srgbClr val="0078D4"/>
                </a:solidFill>
                <a:latin typeface="Segoe UI"/>
              </a:defRPr>
            </a:pPr>
            <a:r>
              <a:t>Default</a:t>
            </a:r>
          </a:p>
        </p:txBody>
      </p:sp>
      <p:sp>
        <p:nvSpPr>
          <p:cNvPr id="9" name="Rectangle 8"/>
          <p:cNvSpPr/>
          <p:nvPr/>
        </p:nvSpPr>
        <p:spPr>
          <a:xfrm>
            <a:off x="1280160" y="3017520"/>
            <a:ext cx="1463040" cy="36576"/>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200400"/>
            <a:ext cx="2194560" cy="1371600"/>
          </a:xfrm>
          <a:prstGeom prst="rect">
            <a:avLst/>
          </a:prstGeom>
          <a:noFill/>
        </p:spPr>
        <p:txBody>
          <a:bodyPr wrap="square">
            <a:spAutoFit/>
          </a:bodyPr>
          <a:lstStyle/>
          <a:p>
            <a:pPr algn="ctr">
              <a:defRPr sz="1300" b="0">
                <a:solidFill>
                  <a:srgbClr val="242424"/>
                </a:solidFill>
                <a:latin typeface="Segoe UI"/>
              </a:defRPr>
            </a:pPr>
            <a:r>
              <a:t>Every tenant has one.</a:t>
            </a:r>
            <a:br/>
            <a:r>
              <a:t>All users can create flows/apps</a:t>
            </a:r>
            <a:br/>
            <a:r>
              <a:t>here unless restricted.</a:t>
            </a:r>
          </a:p>
        </p:txBody>
      </p:sp>
      <p:sp>
        <p:nvSpPr>
          <p:cNvPr id="11" name="Rounded Rectangle 10"/>
          <p:cNvSpPr/>
          <p:nvPr/>
        </p:nvSpPr>
        <p:spPr>
          <a:xfrm>
            <a:off x="3566160" y="164592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566160" y="1645920"/>
            <a:ext cx="256032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4048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14" name="TextBox 13"/>
          <p:cNvSpPr txBox="1"/>
          <p:nvPr/>
        </p:nvSpPr>
        <p:spPr>
          <a:xfrm>
            <a:off x="3840480" y="2468880"/>
            <a:ext cx="2011680" cy="457200"/>
          </a:xfrm>
          <a:prstGeom prst="rect">
            <a:avLst/>
          </a:prstGeom>
          <a:noFill/>
        </p:spPr>
        <p:txBody>
          <a:bodyPr wrap="square">
            <a:spAutoFit/>
          </a:bodyPr>
          <a:lstStyle/>
          <a:p>
            <a:pPr algn="ctr">
              <a:defRPr sz="2400" b="1">
                <a:solidFill>
                  <a:srgbClr val="00B294"/>
                </a:solidFill>
                <a:latin typeface="Segoe UI"/>
              </a:defRPr>
            </a:pPr>
            <a:r>
              <a:t>Sandbox</a:t>
            </a:r>
          </a:p>
        </p:txBody>
      </p:sp>
      <p:sp>
        <p:nvSpPr>
          <p:cNvPr id="15" name="Rectangle 14"/>
          <p:cNvSpPr/>
          <p:nvPr/>
        </p:nvSpPr>
        <p:spPr>
          <a:xfrm>
            <a:off x="4114800" y="3017520"/>
            <a:ext cx="1463040"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49040" y="3200400"/>
            <a:ext cx="2194560" cy="1371600"/>
          </a:xfrm>
          <a:prstGeom prst="rect">
            <a:avLst/>
          </a:prstGeom>
          <a:noFill/>
        </p:spPr>
        <p:txBody>
          <a:bodyPr wrap="square">
            <a:spAutoFit/>
          </a:bodyPr>
          <a:lstStyle/>
          <a:p>
            <a:pPr algn="ctr">
              <a:defRPr sz="1300" b="0">
                <a:solidFill>
                  <a:srgbClr val="242424"/>
                </a:solidFill>
                <a:latin typeface="Segoe UI"/>
              </a:defRPr>
            </a:pPr>
            <a:r>
              <a:t>For development and testing.</a:t>
            </a:r>
            <a:br/>
            <a:r>
              <a:t>Can be reset or deleted.</a:t>
            </a:r>
            <a:br/>
            <a:r>
              <a:t>No production workloads.</a:t>
            </a:r>
          </a:p>
        </p:txBody>
      </p:sp>
      <p:sp>
        <p:nvSpPr>
          <p:cNvPr id="17" name="Rounded Rectangle 16"/>
          <p:cNvSpPr/>
          <p:nvPr/>
        </p:nvSpPr>
        <p:spPr>
          <a:xfrm>
            <a:off x="6400800" y="164592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0" y="1645920"/>
            <a:ext cx="256032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0" name="TextBox 19"/>
          <p:cNvSpPr txBox="1"/>
          <p:nvPr/>
        </p:nvSpPr>
        <p:spPr>
          <a:xfrm>
            <a:off x="6675120" y="2468880"/>
            <a:ext cx="2011680" cy="457200"/>
          </a:xfrm>
          <a:prstGeom prst="rect">
            <a:avLst/>
          </a:prstGeom>
          <a:noFill/>
        </p:spPr>
        <p:txBody>
          <a:bodyPr wrap="square">
            <a:spAutoFit/>
          </a:bodyPr>
          <a:lstStyle/>
          <a:p>
            <a:pPr algn="ctr">
              <a:defRPr sz="2400" b="1">
                <a:solidFill>
                  <a:srgbClr val="6B69D6"/>
                </a:solidFill>
                <a:latin typeface="Segoe UI"/>
              </a:defRPr>
            </a:pPr>
            <a:r>
              <a:t>Production</a:t>
            </a:r>
          </a:p>
        </p:txBody>
      </p:sp>
      <p:sp>
        <p:nvSpPr>
          <p:cNvPr id="21" name="Rectangle 20"/>
          <p:cNvSpPr/>
          <p:nvPr/>
        </p:nvSpPr>
        <p:spPr>
          <a:xfrm>
            <a:off x="6949440" y="3017520"/>
            <a:ext cx="146304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3200400"/>
            <a:ext cx="2194560" cy="1371600"/>
          </a:xfrm>
          <a:prstGeom prst="rect">
            <a:avLst/>
          </a:prstGeom>
          <a:noFill/>
        </p:spPr>
        <p:txBody>
          <a:bodyPr wrap="square">
            <a:spAutoFit/>
          </a:bodyPr>
          <a:lstStyle/>
          <a:p>
            <a:pPr algn="ctr">
              <a:defRPr sz="1300" b="0">
                <a:solidFill>
                  <a:srgbClr val="242424"/>
                </a:solidFill>
                <a:latin typeface="Segoe UI"/>
              </a:defRPr>
            </a:pPr>
            <a:r>
              <a:t>For business-critical flows/apps.</a:t>
            </a:r>
            <a:br/>
            <a:r>
              <a:t>Managed lifecycle.</a:t>
            </a:r>
            <a:br/>
            <a:r>
              <a:t>Backup and recovery support.</a:t>
            </a:r>
          </a:p>
        </p:txBody>
      </p:sp>
      <p:sp>
        <p:nvSpPr>
          <p:cNvPr id="23" name="Rounded Rectangle 22"/>
          <p:cNvSpPr/>
          <p:nvPr/>
        </p:nvSpPr>
        <p:spPr>
          <a:xfrm>
            <a:off x="9235440" y="1645920"/>
            <a:ext cx="2560320" cy="329184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9235440" y="1645920"/>
            <a:ext cx="256032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509760" y="1920240"/>
            <a:ext cx="2011680" cy="548640"/>
          </a:xfrm>
          <a:prstGeom prst="rect">
            <a:avLst/>
          </a:prstGeom>
          <a:noFill/>
        </p:spPr>
        <p:txBody>
          <a:bodyPr wrap="square">
            <a:spAutoFit/>
          </a:bodyPr>
          <a:lstStyle/>
          <a:p>
            <a:pPr algn="ctr">
              <a:defRPr sz="3600" b="0">
                <a:solidFill>
                  <a:srgbClr val="242424"/>
                </a:solidFill>
                <a:latin typeface="Segoe UI"/>
              </a:defRPr>
            </a:pPr>
            <a:r>
              <a:t>👤</a:t>
            </a:r>
          </a:p>
        </p:txBody>
      </p:sp>
      <p:sp>
        <p:nvSpPr>
          <p:cNvPr id="26" name="TextBox 25"/>
          <p:cNvSpPr txBox="1"/>
          <p:nvPr/>
        </p:nvSpPr>
        <p:spPr>
          <a:xfrm>
            <a:off x="9509760" y="2468880"/>
            <a:ext cx="2011680" cy="457200"/>
          </a:xfrm>
          <a:prstGeom prst="rect">
            <a:avLst/>
          </a:prstGeom>
          <a:noFill/>
        </p:spPr>
        <p:txBody>
          <a:bodyPr wrap="square">
            <a:spAutoFit/>
          </a:bodyPr>
          <a:lstStyle/>
          <a:p>
            <a:pPr algn="ctr">
              <a:defRPr sz="2400" b="1">
                <a:solidFill>
                  <a:srgbClr val="FF8C00"/>
                </a:solidFill>
                <a:latin typeface="Segoe UI"/>
              </a:defRPr>
            </a:pPr>
            <a:r>
              <a:t>Developer</a:t>
            </a:r>
          </a:p>
        </p:txBody>
      </p:sp>
      <p:sp>
        <p:nvSpPr>
          <p:cNvPr id="27" name="Rectangle 26"/>
          <p:cNvSpPr/>
          <p:nvPr/>
        </p:nvSpPr>
        <p:spPr>
          <a:xfrm>
            <a:off x="9784080" y="3017520"/>
            <a:ext cx="146304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418320" y="3200400"/>
            <a:ext cx="2194560" cy="1371600"/>
          </a:xfrm>
          <a:prstGeom prst="rect">
            <a:avLst/>
          </a:prstGeom>
          <a:noFill/>
        </p:spPr>
        <p:txBody>
          <a:bodyPr wrap="square">
            <a:spAutoFit/>
          </a:bodyPr>
          <a:lstStyle/>
          <a:p>
            <a:pPr algn="ctr">
              <a:defRPr sz="1300" b="0">
                <a:solidFill>
                  <a:srgbClr val="242424"/>
                </a:solidFill>
                <a:latin typeface="Segoe UI"/>
              </a:defRPr>
            </a:pPr>
            <a:r>
              <a:t>Personal environment for</a:t>
            </a:r>
            <a:br/>
            <a:r>
              <a:t>maker exploration.</a:t>
            </a:r>
            <a:br/>
            <a:r>
              <a:t>Limited capacity.</a:t>
            </a:r>
          </a:p>
        </p:txBody>
      </p:sp>
      <p:sp>
        <p:nvSpPr>
          <p:cNvPr id="29" name="Rectangle 2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1" name="TextBox 3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15 / 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Data Loss Prevention (DLP) Policies</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Control which connectors can be used — and used together</a:t>
            </a:r>
          </a:p>
        </p:txBody>
      </p:sp>
      <p:sp>
        <p:nvSpPr>
          <p:cNvPr id="5" name="Rounded Rectangle 4"/>
          <p:cNvSpPr/>
          <p:nvPr/>
        </p:nvSpPr>
        <p:spPr>
          <a:xfrm>
            <a:off x="548640" y="1554480"/>
            <a:ext cx="352044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554480"/>
            <a:ext cx="35204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737360"/>
            <a:ext cx="3154680" cy="457200"/>
          </a:xfrm>
          <a:prstGeom prst="rect">
            <a:avLst/>
          </a:prstGeom>
          <a:noFill/>
        </p:spPr>
        <p:txBody>
          <a:bodyPr wrap="square">
            <a:spAutoFit/>
          </a:bodyPr>
          <a:lstStyle/>
          <a:p>
            <a:pPr algn="ctr">
              <a:defRPr sz="2200" b="1">
                <a:solidFill>
                  <a:srgbClr val="107C10"/>
                </a:solidFill>
                <a:latin typeface="Segoe UI"/>
              </a:defRPr>
            </a:pPr>
            <a:r>
              <a:t>Business</a:t>
            </a:r>
          </a:p>
        </p:txBody>
      </p:sp>
      <p:sp>
        <p:nvSpPr>
          <p:cNvPr id="8" name="TextBox 7"/>
          <p:cNvSpPr txBox="1"/>
          <p:nvPr/>
        </p:nvSpPr>
        <p:spPr>
          <a:xfrm>
            <a:off x="822960" y="2286000"/>
            <a:ext cx="2971800" cy="1371600"/>
          </a:xfrm>
          <a:prstGeom prst="rect">
            <a:avLst/>
          </a:prstGeom>
          <a:noFill/>
        </p:spPr>
        <p:txBody>
          <a:bodyPr wrap="square">
            <a:spAutoFit/>
          </a:bodyPr>
          <a:lstStyle/>
          <a:p>
            <a:pPr algn="ctr">
              <a:defRPr sz="1400" b="0">
                <a:solidFill>
                  <a:srgbClr val="242424"/>
                </a:solidFill>
                <a:latin typeface="Segoe UI"/>
              </a:defRPr>
            </a:pPr>
            <a:r>
              <a:t>Trusted connectors that handle</a:t>
            </a:r>
            <a:br/>
            <a:r>
              <a:t>business data (SharePoint,</a:t>
            </a:r>
            <a:br/>
            <a:r>
              <a:t>Outlook, Teams, Dataverse)</a:t>
            </a:r>
          </a:p>
        </p:txBody>
      </p:sp>
      <p:sp>
        <p:nvSpPr>
          <p:cNvPr id="9" name="Rectangle 8"/>
          <p:cNvSpPr/>
          <p:nvPr/>
        </p:nvSpPr>
        <p:spPr>
          <a:xfrm>
            <a:off x="1005840" y="3749039"/>
            <a:ext cx="2606040" cy="36576"/>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3931920"/>
            <a:ext cx="2971800" cy="640080"/>
          </a:xfrm>
          <a:prstGeom prst="rect">
            <a:avLst/>
          </a:prstGeom>
          <a:noFill/>
        </p:spPr>
        <p:txBody>
          <a:bodyPr wrap="square">
            <a:spAutoFit/>
          </a:bodyPr>
          <a:lstStyle/>
          <a:p>
            <a:pPr algn="ctr">
              <a:defRPr sz="1200" b="0">
                <a:solidFill>
                  <a:srgbClr val="606060"/>
                </a:solidFill>
                <a:latin typeface="Segoe UI"/>
              </a:defRPr>
            </a:pPr>
            <a:r>
              <a:t>Connectors here can talk</a:t>
            </a:r>
            <a:br/>
            <a:r>
              <a:t>to each other</a:t>
            </a:r>
          </a:p>
        </p:txBody>
      </p:sp>
      <p:sp>
        <p:nvSpPr>
          <p:cNvPr id="11" name="Rounded Rectangle 10"/>
          <p:cNvSpPr/>
          <p:nvPr/>
        </p:nvSpPr>
        <p:spPr>
          <a:xfrm>
            <a:off x="4343400" y="1554480"/>
            <a:ext cx="352044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554480"/>
            <a:ext cx="352044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26280" y="1737360"/>
            <a:ext cx="3154680" cy="457200"/>
          </a:xfrm>
          <a:prstGeom prst="rect">
            <a:avLst/>
          </a:prstGeom>
          <a:noFill/>
        </p:spPr>
        <p:txBody>
          <a:bodyPr wrap="square">
            <a:spAutoFit/>
          </a:bodyPr>
          <a:lstStyle/>
          <a:p>
            <a:pPr algn="ctr">
              <a:defRPr sz="2200" b="1">
                <a:solidFill>
                  <a:srgbClr val="FF8C00"/>
                </a:solidFill>
                <a:latin typeface="Segoe UI"/>
              </a:defRPr>
            </a:pPr>
            <a:r>
              <a:t>Non-Business</a:t>
            </a:r>
          </a:p>
        </p:txBody>
      </p:sp>
      <p:sp>
        <p:nvSpPr>
          <p:cNvPr id="14" name="TextBox 13"/>
          <p:cNvSpPr txBox="1"/>
          <p:nvPr/>
        </p:nvSpPr>
        <p:spPr>
          <a:xfrm>
            <a:off x="4617720" y="2286000"/>
            <a:ext cx="2971800" cy="1371600"/>
          </a:xfrm>
          <a:prstGeom prst="rect">
            <a:avLst/>
          </a:prstGeom>
          <a:noFill/>
        </p:spPr>
        <p:txBody>
          <a:bodyPr wrap="square">
            <a:spAutoFit/>
          </a:bodyPr>
          <a:lstStyle/>
          <a:p>
            <a:pPr algn="ctr">
              <a:defRPr sz="1400" b="0">
                <a:solidFill>
                  <a:srgbClr val="242424"/>
                </a:solidFill>
                <a:latin typeface="Segoe UI"/>
              </a:defRPr>
            </a:pPr>
            <a:r>
              <a:t>Less trusted / personal</a:t>
            </a:r>
            <a:br/>
            <a:r>
              <a:t>connectors (Twitter, Gmail,</a:t>
            </a:r>
            <a:br/>
            <a:r>
              <a:t>Dropbox, custom APIs)</a:t>
            </a:r>
          </a:p>
        </p:txBody>
      </p:sp>
      <p:sp>
        <p:nvSpPr>
          <p:cNvPr id="15" name="Rectangle 14"/>
          <p:cNvSpPr/>
          <p:nvPr/>
        </p:nvSpPr>
        <p:spPr>
          <a:xfrm>
            <a:off x="4800600" y="3749039"/>
            <a:ext cx="2606040" cy="3657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17720" y="3931920"/>
            <a:ext cx="2971800" cy="640080"/>
          </a:xfrm>
          <a:prstGeom prst="rect">
            <a:avLst/>
          </a:prstGeom>
          <a:noFill/>
        </p:spPr>
        <p:txBody>
          <a:bodyPr wrap="square">
            <a:spAutoFit/>
          </a:bodyPr>
          <a:lstStyle/>
          <a:p>
            <a:pPr algn="ctr">
              <a:defRPr sz="1200" b="0">
                <a:solidFill>
                  <a:srgbClr val="606060"/>
                </a:solidFill>
                <a:latin typeface="Segoe UI"/>
              </a:defRPr>
            </a:pPr>
            <a:r>
              <a:t>Connectors here can talk</a:t>
            </a:r>
            <a:br/>
            <a:r>
              <a:t>to each other</a:t>
            </a:r>
          </a:p>
        </p:txBody>
      </p:sp>
      <p:sp>
        <p:nvSpPr>
          <p:cNvPr id="17" name="Rounded Rectangle 16"/>
          <p:cNvSpPr/>
          <p:nvPr/>
        </p:nvSpPr>
        <p:spPr>
          <a:xfrm>
            <a:off x="8138160" y="1554480"/>
            <a:ext cx="3520440" cy="32004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1554480"/>
            <a:ext cx="35204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21040" y="1737360"/>
            <a:ext cx="3154680" cy="457200"/>
          </a:xfrm>
          <a:prstGeom prst="rect">
            <a:avLst/>
          </a:prstGeom>
          <a:noFill/>
        </p:spPr>
        <p:txBody>
          <a:bodyPr wrap="square">
            <a:spAutoFit/>
          </a:bodyPr>
          <a:lstStyle/>
          <a:p>
            <a:pPr algn="ctr">
              <a:defRPr sz="2200" b="1">
                <a:solidFill>
                  <a:srgbClr val="D13438"/>
                </a:solidFill>
                <a:latin typeface="Segoe UI"/>
              </a:defRPr>
            </a:pPr>
            <a:r>
              <a:t>Blocked</a:t>
            </a:r>
          </a:p>
        </p:txBody>
      </p:sp>
      <p:sp>
        <p:nvSpPr>
          <p:cNvPr id="20" name="TextBox 19"/>
          <p:cNvSpPr txBox="1"/>
          <p:nvPr/>
        </p:nvSpPr>
        <p:spPr>
          <a:xfrm>
            <a:off x="8412480" y="2286000"/>
            <a:ext cx="2971800" cy="1371600"/>
          </a:xfrm>
          <a:prstGeom prst="rect">
            <a:avLst/>
          </a:prstGeom>
          <a:noFill/>
        </p:spPr>
        <p:txBody>
          <a:bodyPr wrap="square">
            <a:spAutoFit/>
          </a:bodyPr>
          <a:lstStyle/>
          <a:p>
            <a:pPr algn="ctr">
              <a:defRPr sz="1400" b="0">
                <a:solidFill>
                  <a:srgbClr val="242424"/>
                </a:solidFill>
                <a:latin typeface="Segoe UI"/>
              </a:defRPr>
            </a:pPr>
            <a:r>
              <a:t>Connectors completely</a:t>
            </a:r>
            <a:br/>
            <a:r>
              <a:t>prohibited from use in</a:t>
            </a:r>
            <a:br/>
            <a:r>
              <a:t>the environment</a:t>
            </a:r>
          </a:p>
        </p:txBody>
      </p:sp>
      <p:sp>
        <p:nvSpPr>
          <p:cNvPr id="21" name="Rectangle 20"/>
          <p:cNvSpPr/>
          <p:nvPr/>
        </p:nvSpPr>
        <p:spPr>
          <a:xfrm>
            <a:off x="8595360" y="3749039"/>
            <a:ext cx="2606040" cy="36576"/>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3931920"/>
            <a:ext cx="2971800" cy="640080"/>
          </a:xfrm>
          <a:prstGeom prst="rect">
            <a:avLst/>
          </a:prstGeom>
          <a:noFill/>
        </p:spPr>
        <p:txBody>
          <a:bodyPr wrap="square">
            <a:spAutoFit/>
          </a:bodyPr>
          <a:lstStyle/>
          <a:p>
            <a:pPr algn="ctr">
              <a:defRPr sz="1200" b="0">
                <a:solidFill>
                  <a:srgbClr val="606060"/>
                </a:solidFill>
                <a:latin typeface="Segoe UI"/>
              </a:defRPr>
            </a:pPr>
            <a:r>
              <a:t>Cannot be used in any</a:t>
            </a:r>
            <a:br/>
            <a:r>
              <a:t>flow or app</a:t>
            </a:r>
          </a:p>
        </p:txBody>
      </p:sp>
      <p:sp>
        <p:nvSpPr>
          <p:cNvPr id="23" name="Rounded Rectangle 22"/>
          <p:cNvSpPr/>
          <p:nvPr/>
        </p:nvSpPr>
        <p:spPr>
          <a:xfrm>
            <a:off x="731520" y="5120640"/>
            <a:ext cx="10698480" cy="640080"/>
          </a:xfrm>
          <a:prstGeom prst="roundRect">
            <a:avLst>
              <a:gd name="adj" fmla="val 5000"/>
            </a:avLst>
          </a:prstGeom>
          <a:solidFill>
            <a:srgbClr val="FDE7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166360"/>
            <a:ext cx="10149840" cy="548640"/>
          </a:xfrm>
          <a:prstGeom prst="rect">
            <a:avLst/>
          </a:prstGeom>
          <a:noFill/>
        </p:spPr>
        <p:txBody>
          <a:bodyPr wrap="square">
            <a:spAutoFit/>
          </a:bodyPr>
          <a:lstStyle/>
          <a:p>
            <a:pPr algn="l">
              <a:defRPr sz="1400" b="0">
                <a:solidFill>
                  <a:srgbClr val="D13438"/>
                </a:solidFill>
                <a:latin typeface="Segoe UI"/>
              </a:defRPr>
            </a:pPr>
            <a:r>
              <a:t>🔒 Key rule: Connectors in 'Business' CANNOT be combined with connectors in 'Non-Business' within the same flow or app. This prevents sensitive data from crossing trust boundaries.</a:t>
            </a:r>
          </a:p>
        </p:txBody>
      </p:sp>
      <p:sp>
        <p:nvSpPr>
          <p:cNvPr id="25" name="Rectangle 24"/>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27" name="TextBox 26"/>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16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DLP in Practice: What Gets Blocked?</a:t>
            </a:r>
          </a:p>
        </p:txBody>
      </p:sp>
      <p:sp>
        <p:nvSpPr>
          <p:cNvPr id="4" name="Rounded Rectangle 3"/>
          <p:cNvSpPr/>
          <p:nvPr/>
        </p:nvSpPr>
        <p:spPr>
          <a:xfrm>
            <a:off x="731520" y="1371600"/>
            <a:ext cx="5120640" cy="2286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5120640" cy="73152"/>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54480"/>
            <a:ext cx="4754880" cy="457200"/>
          </a:xfrm>
          <a:prstGeom prst="rect">
            <a:avLst/>
          </a:prstGeom>
          <a:noFill/>
        </p:spPr>
        <p:txBody>
          <a:bodyPr wrap="square">
            <a:spAutoFit/>
          </a:bodyPr>
          <a:lstStyle/>
          <a:p>
            <a:pPr algn="ctr">
              <a:defRPr sz="2200" b="1">
                <a:solidFill>
                  <a:srgbClr val="107C10"/>
                </a:solidFill>
                <a:latin typeface="Segoe UI"/>
              </a:defRPr>
            </a:pPr>
            <a:r>
              <a:t>✅  Allowed Flow</a:t>
            </a:r>
          </a:p>
        </p:txBody>
      </p:sp>
      <p:sp>
        <p:nvSpPr>
          <p:cNvPr id="7" name="TextBox 6"/>
          <p:cNvSpPr txBox="1"/>
          <p:nvPr/>
        </p:nvSpPr>
        <p:spPr>
          <a:xfrm>
            <a:off x="1097280" y="2103120"/>
            <a:ext cx="4572000" cy="1371600"/>
          </a:xfrm>
          <a:prstGeom prst="rect">
            <a:avLst/>
          </a:prstGeom>
          <a:noFill/>
        </p:spPr>
        <p:txBody>
          <a:bodyPr wrap="square">
            <a:spAutoFit/>
          </a:bodyPr>
          <a:lstStyle/>
          <a:p>
            <a:pPr>
              <a:spcAft>
                <a:spcPts val="600"/>
              </a:spcAft>
              <a:defRPr sz="1400">
                <a:solidFill>
                  <a:srgbClr val="242424"/>
                </a:solidFill>
                <a:latin typeface="Segoe UI"/>
              </a:defRPr>
            </a:pPr>
            <a:r>
              <a:t>▸ SharePoint (Business) → Outlook (Business) → Teams (Business)</a:t>
            </a:r>
          </a:p>
          <a:p>
            <a:pPr>
              <a:spcAft>
                <a:spcPts val="600"/>
              </a:spcAft>
              <a:defRPr sz="1400">
                <a:solidFill>
                  <a:srgbClr val="242424"/>
                </a:solidFill>
                <a:latin typeface="Segoe UI"/>
              </a:defRPr>
            </a:pPr>
            <a:r>
              <a:t>▸ All connectors in the same DLP group</a:t>
            </a:r>
          </a:p>
          <a:p>
            <a:pPr>
              <a:spcAft>
                <a:spcPts val="600"/>
              </a:spcAft>
              <a:defRPr sz="1400">
                <a:solidFill>
                  <a:srgbClr val="242424"/>
                </a:solidFill>
                <a:latin typeface="Segoe UI"/>
              </a:defRPr>
            </a:pPr>
            <a:r>
              <a:t>▸ Data stays within trusted boundary</a:t>
            </a:r>
          </a:p>
        </p:txBody>
      </p:sp>
      <p:sp>
        <p:nvSpPr>
          <p:cNvPr id="8" name="Rounded Rectangle 7"/>
          <p:cNvSpPr/>
          <p:nvPr/>
        </p:nvSpPr>
        <p:spPr>
          <a:xfrm>
            <a:off x="6309360" y="1371600"/>
            <a:ext cx="5120640" cy="2286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309360" y="1371600"/>
            <a:ext cx="5120640" cy="73152"/>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554480"/>
            <a:ext cx="4754880" cy="457200"/>
          </a:xfrm>
          <a:prstGeom prst="rect">
            <a:avLst/>
          </a:prstGeom>
          <a:noFill/>
        </p:spPr>
        <p:txBody>
          <a:bodyPr wrap="square">
            <a:spAutoFit/>
          </a:bodyPr>
          <a:lstStyle/>
          <a:p>
            <a:pPr algn="ctr">
              <a:defRPr sz="2200" b="1">
                <a:solidFill>
                  <a:srgbClr val="D13438"/>
                </a:solidFill>
                <a:latin typeface="Segoe UI"/>
              </a:defRPr>
            </a:pPr>
            <a:r>
              <a:t>❌  Blocked Flow</a:t>
            </a:r>
          </a:p>
        </p:txBody>
      </p:sp>
      <p:sp>
        <p:nvSpPr>
          <p:cNvPr id="11" name="TextBox 10"/>
          <p:cNvSpPr txBox="1"/>
          <p:nvPr/>
        </p:nvSpPr>
        <p:spPr>
          <a:xfrm>
            <a:off x="6675120" y="2103120"/>
            <a:ext cx="4572000" cy="1371600"/>
          </a:xfrm>
          <a:prstGeom prst="rect">
            <a:avLst/>
          </a:prstGeom>
          <a:noFill/>
        </p:spPr>
        <p:txBody>
          <a:bodyPr wrap="square">
            <a:spAutoFit/>
          </a:bodyPr>
          <a:lstStyle/>
          <a:p>
            <a:pPr>
              <a:spcAft>
                <a:spcPts val="600"/>
              </a:spcAft>
              <a:defRPr sz="1400">
                <a:solidFill>
                  <a:srgbClr val="242424"/>
                </a:solidFill>
                <a:latin typeface="Segoe UI"/>
              </a:defRPr>
            </a:pPr>
            <a:r>
              <a:t>▸ SharePoint (Business) → Dropbox (Non-Business)</a:t>
            </a:r>
          </a:p>
          <a:p>
            <a:pPr>
              <a:spcAft>
                <a:spcPts val="600"/>
              </a:spcAft>
              <a:defRPr sz="1400">
                <a:solidFill>
                  <a:srgbClr val="242424"/>
                </a:solidFill>
                <a:latin typeface="Segoe UI"/>
              </a:defRPr>
            </a:pPr>
            <a:r>
              <a:t>▸ Connectors from DIFFERENT DLP groups</a:t>
            </a:r>
          </a:p>
          <a:p>
            <a:pPr>
              <a:spcAft>
                <a:spcPts val="600"/>
              </a:spcAft>
              <a:defRPr sz="1400">
                <a:solidFill>
                  <a:srgbClr val="242424"/>
                </a:solidFill>
                <a:latin typeface="Segoe UI"/>
              </a:defRPr>
            </a:pPr>
            <a:r>
              <a:t>▸ DLP policy prevents this combination</a:t>
            </a:r>
          </a:p>
        </p:txBody>
      </p:sp>
      <p:sp>
        <p:nvSpPr>
          <p:cNvPr id="12" name="Rounded Rectangle 11"/>
          <p:cNvSpPr/>
          <p:nvPr/>
        </p:nvSpPr>
        <p:spPr>
          <a:xfrm>
            <a:off x="731520" y="4023360"/>
            <a:ext cx="1069848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4023360"/>
            <a:ext cx="1069848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206240"/>
            <a:ext cx="10332720" cy="457200"/>
          </a:xfrm>
          <a:prstGeom prst="rect">
            <a:avLst/>
          </a:prstGeom>
          <a:noFill/>
        </p:spPr>
        <p:txBody>
          <a:bodyPr wrap="square">
            <a:spAutoFit/>
          </a:bodyPr>
          <a:lstStyle/>
          <a:p>
            <a:pPr algn="ctr">
              <a:defRPr sz="2000" b="1">
                <a:solidFill>
                  <a:srgbClr val="6B69D6"/>
                </a:solidFill>
                <a:latin typeface="Segoe UI"/>
              </a:defRPr>
            </a:pPr>
            <a:r>
              <a:t>🔧  What the Admin Can Do</a:t>
            </a:r>
          </a:p>
        </p:txBody>
      </p:sp>
      <p:sp>
        <p:nvSpPr>
          <p:cNvPr id="15" name="TextBox 14"/>
          <p:cNvSpPr txBox="1"/>
          <p:nvPr/>
        </p:nvSpPr>
        <p:spPr>
          <a:xfrm>
            <a:off x="1097280" y="4754880"/>
            <a:ext cx="10058400" cy="1097280"/>
          </a:xfrm>
          <a:prstGeom prst="rect">
            <a:avLst/>
          </a:prstGeom>
          <a:noFill/>
        </p:spPr>
        <p:txBody>
          <a:bodyPr wrap="square">
            <a:spAutoFit/>
          </a:bodyPr>
          <a:lstStyle/>
          <a:p>
            <a:pPr>
              <a:spcAft>
                <a:spcPts val="600"/>
              </a:spcAft>
              <a:defRPr sz="1400">
                <a:solidFill>
                  <a:srgbClr val="242424"/>
                </a:solidFill>
                <a:latin typeface="Segoe UI"/>
              </a:defRPr>
            </a:pPr>
            <a:r>
              <a:t>▸ Move a connector between groups (e.g. promote Dropbox to Business if approved)</a:t>
            </a:r>
          </a:p>
          <a:p>
            <a:pPr>
              <a:spcAft>
                <a:spcPts val="600"/>
              </a:spcAft>
              <a:defRPr sz="1400">
                <a:solidFill>
                  <a:srgbClr val="242424"/>
                </a:solidFill>
                <a:latin typeface="Segoe UI"/>
              </a:defRPr>
            </a:pPr>
            <a:r>
              <a:t>▸ Block a connector entirely (add to Blocked group)</a:t>
            </a:r>
          </a:p>
          <a:p>
            <a:pPr>
              <a:spcAft>
                <a:spcPts val="600"/>
              </a:spcAft>
              <a:defRPr sz="1400">
                <a:solidFill>
                  <a:srgbClr val="242424"/>
                </a:solidFill>
                <a:latin typeface="Segoe UI"/>
              </a:defRPr>
            </a:pPr>
            <a:r>
              <a:t>▸ Create environment-specific DLP policies (different rules for dev vs production)</a:t>
            </a:r>
          </a:p>
          <a:p>
            <a:pPr>
              <a:spcAft>
                <a:spcPts val="600"/>
              </a:spcAft>
              <a:defRPr sz="1400">
                <a:solidFill>
                  <a:srgbClr val="242424"/>
                </a:solidFill>
                <a:latin typeface="Segoe UI"/>
              </a:defRPr>
            </a:pPr>
            <a:r>
              <a:t>▸ Apply tenant-wide DLP policies that override environment-level policies</a:t>
            </a:r>
          </a:p>
        </p:txBody>
      </p:sp>
      <p:sp>
        <p:nvSpPr>
          <p:cNvPr id="16" name="Rectangle 15"/>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18" name="TextBox 17"/>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17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2926080"/>
            <a:ext cx="2286000" cy="54864"/>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645920"/>
            <a:ext cx="10058400" cy="1097280"/>
          </a:xfrm>
          <a:prstGeom prst="rect">
            <a:avLst/>
          </a:prstGeom>
          <a:noFill/>
        </p:spPr>
        <p:txBody>
          <a:bodyPr wrap="square">
            <a:spAutoFit/>
          </a:bodyPr>
          <a:lstStyle/>
          <a:p>
            <a:pPr algn="ctr">
              <a:defRPr sz="6000" b="0">
                <a:solidFill>
                  <a:srgbClr val="00B294"/>
                </a:solidFill>
                <a:latin typeface="Segoe UI"/>
              </a:defRPr>
            </a:pPr>
            <a:r>
              <a:t>🔬</a:t>
            </a:r>
          </a:p>
        </p:txBody>
      </p:sp>
      <p:sp>
        <p:nvSpPr>
          <p:cNvPr id="4" name="TextBox 3"/>
          <p:cNvSpPr txBox="1"/>
          <p:nvPr/>
        </p:nvSpPr>
        <p:spPr>
          <a:xfrm>
            <a:off x="914400" y="3200400"/>
            <a:ext cx="10058400" cy="1097280"/>
          </a:xfrm>
          <a:prstGeom prst="rect">
            <a:avLst/>
          </a:prstGeom>
          <a:noFill/>
        </p:spPr>
        <p:txBody>
          <a:bodyPr wrap="square">
            <a:spAutoFit/>
          </a:bodyPr>
          <a:lstStyle/>
          <a:p>
            <a:pPr algn="ctr">
              <a:defRPr sz="4000" b="1">
                <a:solidFill>
                  <a:srgbClr val="FFFFFF"/>
                </a:solidFill>
                <a:latin typeface="Segoe UI"/>
              </a:defRPr>
            </a:pPr>
            <a:r>
              <a:t>Lab &amp; Validation</a:t>
            </a:r>
          </a:p>
        </p:txBody>
      </p:sp>
      <p:sp>
        <p:nvSpPr>
          <p:cNvPr id="5" name="TextBox 4"/>
          <p:cNvSpPr txBox="1"/>
          <p:nvPr/>
        </p:nvSpPr>
        <p:spPr>
          <a:xfrm>
            <a:off x="1371600" y="4389120"/>
            <a:ext cx="9144000" cy="731520"/>
          </a:xfrm>
          <a:prstGeom prst="rect">
            <a:avLst/>
          </a:prstGeom>
          <a:noFill/>
        </p:spPr>
        <p:txBody>
          <a:bodyPr wrap="square">
            <a:spAutoFit/>
          </a:bodyPr>
          <a:lstStyle/>
          <a:p>
            <a:pPr algn="ctr">
              <a:defRPr sz="1800" b="0">
                <a:solidFill>
                  <a:srgbClr val="BBBBBB"/>
                </a:solidFill>
                <a:latin typeface="Segoe UI"/>
              </a:defRPr>
            </a:pPr>
            <a:r>
              <a:t>Build, test, and customise — hands-on practice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Lab 12 Preview</a:t>
            </a:r>
          </a:p>
        </p:txBody>
      </p:sp>
      <p:sp>
        <p:nvSpPr>
          <p:cNvPr id="4" name="TextBox 3"/>
          <p:cNvSpPr txBox="1"/>
          <p:nvPr/>
        </p:nvSpPr>
        <p:spPr>
          <a:xfrm>
            <a:off x="731520" y="1005840"/>
            <a:ext cx="9144000" cy="457200"/>
          </a:xfrm>
          <a:prstGeom prst="rect">
            <a:avLst/>
          </a:prstGeom>
          <a:noFill/>
        </p:spPr>
        <p:txBody>
          <a:bodyPr wrap="square">
            <a:spAutoFit/>
          </a:bodyPr>
          <a:lstStyle/>
          <a:p>
            <a:pPr algn="l">
              <a:defRPr sz="1600" b="0">
                <a:solidFill>
                  <a:srgbClr val="606060"/>
                </a:solidFill>
                <a:latin typeface="Segoe UI"/>
              </a:defRPr>
            </a:pPr>
            <a:r>
              <a:t>Hands-on: Build an approval flow + customise list form  (60–90 min)</a:t>
            </a:r>
          </a:p>
        </p:txBody>
      </p:sp>
      <p:sp>
        <p:nvSpPr>
          <p:cNvPr id="5" name="Rounded Rectangle 4"/>
          <p:cNvSpPr/>
          <p:nvPr/>
        </p:nvSpPr>
        <p:spPr>
          <a:xfrm>
            <a:off x="54864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1645920"/>
            <a:ext cx="2651760" cy="73152"/>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08760" y="1828800"/>
            <a:ext cx="640080" cy="640080"/>
          </a:xfrm>
          <a:prstGeom prst="roundRect">
            <a:avLst>
              <a:gd name="adj" fmla="val 5000"/>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1</a:t>
            </a:r>
          </a:p>
        </p:txBody>
      </p:sp>
      <p:sp>
        <p:nvSpPr>
          <p:cNvPr id="8" name="TextBox 7"/>
          <p:cNvSpPr txBox="1"/>
          <p:nvPr/>
        </p:nvSpPr>
        <p:spPr>
          <a:xfrm>
            <a:off x="731520" y="2651760"/>
            <a:ext cx="2286000" cy="457200"/>
          </a:xfrm>
          <a:prstGeom prst="rect">
            <a:avLst/>
          </a:prstGeom>
          <a:noFill/>
        </p:spPr>
        <p:txBody>
          <a:bodyPr wrap="square">
            <a:spAutoFit/>
          </a:bodyPr>
          <a:lstStyle/>
          <a:p>
            <a:pPr algn="ctr">
              <a:defRPr sz="1800" b="1">
                <a:solidFill>
                  <a:srgbClr val="0078D4"/>
                </a:solidFill>
                <a:latin typeface="Segoe UI"/>
              </a:defRPr>
            </a:pPr>
            <a:r>
              <a:t>Prepare Item</a:t>
            </a:r>
          </a:p>
        </p:txBody>
      </p:sp>
      <p:sp>
        <p:nvSpPr>
          <p:cNvPr id="9" name="TextBox 8"/>
          <p:cNvSpPr txBox="1"/>
          <p:nvPr/>
        </p:nvSpPr>
        <p:spPr>
          <a:xfrm>
            <a:off x="731520" y="3200400"/>
            <a:ext cx="2286000" cy="1097280"/>
          </a:xfrm>
          <a:prstGeom prst="rect">
            <a:avLst/>
          </a:prstGeom>
          <a:noFill/>
        </p:spPr>
        <p:txBody>
          <a:bodyPr wrap="square">
            <a:spAutoFit/>
          </a:bodyPr>
          <a:lstStyle/>
          <a:p>
            <a:pPr algn="ctr">
              <a:defRPr sz="1400" b="0">
                <a:solidFill>
                  <a:srgbClr val="242424"/>
                </a:solidFill>
                <a:latin typeface="Segoe UI"/>
              </a:defRPr>
            </a:pPr>
            <a:r>
              <a:t>Create a test request in</a:t>
            </a:r>
            <a:br/>
            <a:r>
              <a:t>NW-Pxx-AppRequests</a:t>
            </a:r>
            <a:br/>
            <a:r>
              <a:t>with Status = Submitted</a:t>
            </a:r>
          </a:p>
        </p:txBody>
      </p:sp>
      <p:sp>
        <p:nvSpPr>
          <p:cNvPr id="10" name="Rounded Rectangle 9"/>
          <p:cNvSpPr/>
          <p:nvPr/>
        </p:nvSpPr>
        <p:spPr>
          <a:xfrm>
            <a:off x="3429000"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429000" y="1645920"/>
            <a:ext cx="2651760" cy="73152"/>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389120" y="1828800"/>
            <a:ext cx="640080" cy="640080"/>
          </a:xfrm>
          <a:prstGeom prst="roundRect">
            <a:avLst>
              <a:gd name="adj" fmla="val 5000"/>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2</a:t>
            </a:r>
          </a:p>
        </p:txBody>
      </p:sp>
      <p:sp>
        <p:nvSpPr>
          <p:cNvPr id="13" name="TextBox 12"/>
          <p:cNvSpPr txBox="1"/>
          <p:nvPr/>
        </p:nvSpPr>
        <p:spPr>
          <a:xfrm>
            <a:off x="3611880" y="2651760"/>
            <a:ext cx="2286000" cy="457200"/>
          </a:xfrm>
          <a:prstGeom prst="rect">
            <a:avLst/>
          </a:prstGeom>
          <a:noFill/>
        </p:spPr>
        <p:txBody>
          <a:bodyPr wrap="square">
            <a:spAutoFit/>
          </a:bodyPr>
          <a:lstStyle/>
          <a:p>
            <a:pPr algn="ctr">
              <a:defRPr sz="1800" b="1">
                <a:solidFill>
                  <a:srgbClr val="00B294"/>
                </a:solidFill>
                <a:latin typeface="Segoe UI"/>
              </a:defRPr>
            </a:pPr>
            <a:r>
              <a:t>Build Flow</a:t>
            </a:r>
          </a:p>
        </p:txBody>
      </p:sp>
      <p:sp>
        <p:nvSpPr>
          <p:cNvPr id="14" name="TextBox 13"/>
          <p:cNvSpPr txBox="1"/>
          <p:nvPr/>
        </p:nvSpPr>
        <p:spPr>
          <a:xfrm>
            <a:off x="3611880" y="3200400"/>
            <a:ext cx="2286000" cy="1097280"/>
          </a:xfrm>
          <a:prstGeom prst="rect">
            <a:avLst/>
          </a:prstGeom>
          <a:noFill/>
        </p:spPr>
        <p:txBody>
          <a:bodyPr wrap="square">
            <a:spAutoFit/>
          </a:bodyPr>
          <a:lstStyle/>
          <a:p>
            <a:pPr algn="ctr">
              <a:defRPr sz="1400" b="0">
                <a:solidFill>
                  <a:srgbClr val="242424"/>
                </a:solidFill>
                <a:latin typeface="Segoe UI"/>
              </a:defRPr>
            </a:pPr>
            <a:r>
              <a:t>Automated cloud flow with</a:t>
            </a:r>
            <a:br/>
            <a:r>
              <a:t>trigger → approval →</a:t>
            </a:r>
            <a:br/>
            <a:r>
              <a:t>condition → update item</a:t>
            </a:r>
          </a:p>
        </p:txBody>
      </p:sp>
      <p:sp>
        <p:nvSpPr>
          <p:cNvPr id="15" name="Rounded Rectangle 14"/>
          <p:cNvSpPr/>
          <p:nvPr/>
        </p:nvSpPr>
        <p:spPr>
          <a:xfrm>
            <a:off x="630935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309359" y="1645920"/>
            <a:ext cx="2651760"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269479" y="1828800"/>
            <a:ext cx="640080" cy="64008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3</a:t>
            </a:r>
          </a:p>
        </p:txBody>
      </p:sp>
      <p:sp>
        <p:nvSpPr>
          <p:cNvPr id="18" name="TextBox 17"/>
          <p:cNvSpPr txBox="1"/>
          <p:nvPr/>
        </p:nvSpPr>
        <p:spPr>
          <a:xfrm>
            <a:off x="6492239" y="2651760"/>
            <a:ext cx="2286000" cy="457200"/>
          </a:xfrm>
          <a:prstGeom prst="rect">
            <a:avLst/>
          </a:prstGeom>
          <a:noFill/>
        </p:spPr>
        <p:txBody>
          <a:bodyPr wrap="square">
            <a:spAutoFit/>
          </a:bodyPr>
          <a:lstStyle/>
          <a:p>
            <a:pPr algn="ctr">
              <a:defRPr sz="1800" b="1">
                <a:solidFill>
                  <a:srgbClr val="6B69D6"/>
                </a:solidFill>
                <a:latin typeface="Segoe UI"/>
              </a:defRPr>
            </a:pPr>
            <a:r>
              <a:t>Test Flow</a:t>
            </a:r>
          </a:p>
        </p:txBody>
      </p:sp>
      <p:sp>
        <p:nvSpPr>
          <p:cNvPr id="19" name="TextBox 18"/>
          <p:cNvSpPr txBox="1"/>
          <p:nvPr/>
        </p:nvSpPr>
        <p:spPr>
          <a:xfrm>
            <a:off x="6492239" y="3200400"/>
            <a:ext cx="2286000" cy="1097280"/>
          </a:xfrm>
          <a:prstGeom prst="rect">
            <a:avLst/>
          </a:prstGeom>
          <a:noFill/>
        </p:spPr>
        <p:txBody>
          <a:bodyPr wrap="square">
            <a:spAutoFit/>
          </a:bodyPr>
          <a:lstStyle/>
          <a:p>
            <a:pPr algn="ctr">
              <a:defRPr sz="1400" b="0">
                <a:solidFill>
                  <a:srgbClr val="242424"/>
                </a:solidFill>
                <a:latin typeface="Segoe UI"/>
              </a:defRPr>
            </a:pPr>
            <a:r>
              <a:t>Create new item, approve/</a:t>
            </a:r>
            <a:br/>
            <a:r>
              <a:t>reject, verify status</a:t>
            </a:r>
            <a:br/>
            <a:r>
              <a:t>updates in the list</a:t>
            </a:r>
          </a:p>
        </p:txBody>
      </p:sp>
      <p:sp>
        <p:nvSpPr>
          <p:cNvPr id="20" name="Rounded Rectangle 19"/>
          <p:cNvSpPr/>
          <p:nvPr/>
        </p:nvSpPr>
        <p:spPr>
          <a:xfrm>
            <a:off x="9189719" y="1645920"/>
            <a:ext cx="2651760" cy="29260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189719" y="1645920"/>
            <a:ext cx="265176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0149839" y="1828800"/>
            <a:ext cx="640080" cy="640080"/>
          </a:xfrm>
          <a:prstGeom prst="roundRect">
            <a:avLst>
              <a:gd name="adj" fmla="val 5000"/>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600"/>
              </a:spcBef>
              <a:defRPr sz="2800" b="1">
                <a:solidFill>
                  <a:srgbClr val="FFFFFF"/>
                </a:solidFill>
                <a:latin typeface="Segoe UI"/>
              </a:defRPr>
            </a:pPr>
            <a:r>
              <a:t>4</a:t>
            </a:r>
          </a:p>
        </p:txBody>
      </p:sp>
      <p:sp>
        <p:nvSpPr>
          <p:cNvPr id="23" name="TextBox 22"/>
          <p:cNvSpPr txBox="1"/>
          <p:nvPr/>
        </p:nvSpPr>
        <p:spPr>
          <a:xfrm>
            <a:off x="9372599" y="2651760"/>
            <a:ext cx="2286000" cy="457200"/>
          </a:xfrm>
          <a:prstGeom prst="rect">
            <a:avLst/>
          </a:prstGeom>
          <a:noFill/>
        </p:spPr>
        <p:txBody>
          <a:bodyPr wrap="square">
            <a:spAutoFit/>
          </a:bodyPr>
          <a:lstStyle/>
          <a:p>
            <a:pPr algn="ctr">
              <a:defRPr sz="1800" b="1">
                <a:solidFill>
                  <a:srgbClr val="FF8C00"/>
                </a:solidFill>
                <a:latin typeface="Segoe UI"/>
              </a:defRPr>
            </a:pPr>
            <a:r>
              <a:t>Custom Form</a:t>
            </a:r>
          </a:p>
        </p:txBody>
      </p:sp>
      <p:sp>
        <p:nvSpPr>
          <p:cNvPr id="24" name="TextBox 23"/>
          <p:cNvSpPr txBox="1"/>
          <p:nvPr/>
        </p:nvSpPr>
        <p:spPr>
          <a:xfrm>
            <a:off x="9372599" y="3200400"/>
            <a:ext cx="2286000" cy="1097280"/>
          </a:xfrm>
          <a:prstGeom prst="rect">
            <a:avLst/>
          </a:prstGeom>
          <a:noFill/>
        </p:spPr>
        <p:txBody>
          <a:bodyPr wrap="square">
            <a:spAutoFit/>
          </a:bodyPr>
          <a:lstStyle/>
          <a:p>
            <a:pPr algn="ctr">
              <a:defRPr sz="1400" b="0">
                <a:solidFill>
                  <a:srgbClr val="242424"/>
                </a:solidFill>
                <a:latin typeface="Segoe UI"/>
              </a:defRPr>
            </a:pPr>
            <a:r>
              <a:t>Integrate → Power Apps →</a:t>
            </a:r>
            <a:br/>
            <a:r>
              <a:t>Customise forms → re-order</a:t>
            </a:r>
            <a:br/>
            <a:r>
              <a:t>fields → Publish</a:t>
            </a:r>
          </a:p>
        </p:txBody>
      </p:sp>
      <p:sp>
        <p:nvSpPr>
          <p:cNvPr id="25" name="Rounded Rectangle 24"/>
          <p:cNvSpPr/>
          <p:nvPr/>
        </p:nvSpPr>
        <p:spPr>
          <a:xfrm>
            <a:off x="1371600" y="4937760"/>
            <a:ext cx="9418320" cy="731520"/>
          </a:xfrm>
          <a:prstGeom prst="roundRect">
            <a:avLst>
              <a:gd name="adj" fmla="val 5000"/>
            </a:avLst>
          </a:prstGeom>
          <a:solidFill>
            <a:srgbClr val="DEE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45920" y="4983480"/>
            <a:ext cx="8869680" cy="640080"/>
          </a:xfrm>
          <a:prstGeom prst="rect">
            <a:avLst/>
          </a:prstGeom>
          <a:noFill/>
        </p:spPr>
        <p:txBody>
          <a:bodyPr wrap="square">
            <a:spAutoFit/>
          </a:bodyPr>
          <a:lstStyle/>
          <a:p>
            <a:pPr algn="l">
              <a:defRPr sz="1300" b="0">
                <a:solidFill>
                  <a:srgbClr val="242424"/>
                </a:solidFill>
                <a:latin typeface="Segoe UI"/>
              </a:defRPr>
            </a:pPr>
            <a:r>
              <a:t>📝  Optional Exercise 5:  Governance walk-through (trainer-led) — review environments and DLP policies in the Power Platform admin center. Record notes in M12-Governance-DLP-Notes.txt</a:t>
            </a:r>
          </a:p>
        </p:txBody>
      </p:sp>
      <p:sp>
        <p:nvSpPr>
          <p:cNvPr id="27" name="Rectangle 26"/>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29" name="TextBox 28"/>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19 / 22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Shared-Tenant Safety Rules</a:t>
            </a:r>
          </a:p>
        </p:txBody>
      </p:sp>
      <p:sp>
        <p:nvSpPr>
          <p:cNvPr id="4" name="Rounded Rectangle 3"/>
          <p:cNvSpPr/>
          <p:nvPr/>
        </p:nvSpPr>
        <p:spPr>
          <a:xfrm>
            <a:off x="73152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1371600"/>
            <a:ext cx="73152" cy="2011680"/>
          </a:xfrm>
          <a:prstGeom prst="rect">
            <a:avLst/>
          </a:prstGeom>
          <a:solidFill>
            <a:srgbClr val="107C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7" name="TextBox 6"/>
          <p:cNvSpPr txBox="1"/>
          <p:nvPr/>
        </p:nvSpPr>
        <p:spPr>
          <a:xfrm>
            <a:off x="1554480" y="1554480"/>
            <a:ext cx="4206240" cy="365760"/>
          </a:xfrm>
          <a:prstGeom prst="rect">
            <a:avLst/>
          </a:prstGeom>
          <a:noFill/>
        </p:spPr>
        <p:txBody>
          <a:bodyPr wrap="square">
            <a:spAutoFit/>
          </a:bodyPr>
          <a:lstStyle/>
          <a:p>
            <a:pPr algn="l">
              <a:defRPr sz="1800" b="1">
                <a:solidFill>
                  <a:srgbClr val="107C10"/>
                </a:solidFill>
                <a:latin typeface="Segoe UI"/>
              </a:defRPr>
            </a:pPr>
            <a:r>
              <a:t>Own artifacts only</a:t>
            </a:r>
          </a:p>
        </p:txBody>
      </p:sp>
      <p:sp>
        <p:nvSpPr>
          <p:cNvPr id="8" name="TextBox 7"/>
          <p:cNvSpPr txBox="1"/>
          <p:nvPr/>
        </p:nvSpPr>
        <p:spPr>
          <a:xfrm>
            <a:off x="1554480" y="2011680"/>
            <a:ext cx="4206240" cy="731520"/>
          </a:xfrm>
          <a:prstGeom prst="rect">
            <a:avLst/>
          </a:prstGeom>
          <a:noFill/>
        </p:spPr>
        <p:txBody>
          <a:bodyPr wrap="square">
            <a:spAutoFit/>
          </a:bodyPr>
          <a:lstStyle/>
          <a:p>
            <a:pPr algn="l">
              <a:defRPr sz="1400" b="0">
                <a:solidFill>
                  <a:srgbClr val="242424"/>
                </a:solidFill>
                <a:latin typeface="Segoe UI"/>
              </a:defRPr>
            </a:pPr>
            <a:r>
              <a:t>Create flows and apps only for</a:t>
            </a:r>
            <a:br/>
            <a:r>
              <a:t>your own NW-Pxx list/site</a:t>
            </a:r>
          </a:p>
        </p:txBody>
      </p:sp>
      <p:sp>
        <p:nvSpPr>
          <p:cNvPr id="9" name="TextBox 8"/>
          <p:cNvSpPr txBox="1"/>
          <p:nvPr/>
        </p:nvSpPr>
        <p:spPr>
          <a:xfrm>
            <a:off x="1554480" y="2834640"/>
            <a:ext cx="4206240" cy="365760"/>
          </a:xfrm>
          <a:prstGeom prst="rect">
            <a:avLst/>
          </a:prstGeom>
          <a:noFill/>
        </p:spPr>
        <p:txBody>
          <a:bodyPr wrap="square">
            <a:spAutoFit/>
          </a:bodyPr>
          <a:lstStyle/>
          <a:p>
            <a:pPr algn="l">
              <a:defRPr sz="1200" b="0">
                <a:solidFill>
                  <a:srgbClr val="606060"/>
                </a:solidFill>
                <a:latin typeface="Segoe UI"/>
              </a:defRPr>
            </a:pPr>
            <a:r>
              <a:t>Never automate against another participant's list</a:t>
            </a:r>
          </a:p>
        </p:txBody>
      </p:sp>
      <p:sp>
        <p:nvSpPr>
          <p:cNvPr id="10" name="Rounded Rectangle 9"/>
          <p:cNvSpPr/>
          <p:nvPr/>
        </p:nvSpPr>
        <p:spPr>
          <a:xfrm>
            <a:off x="6400800" y="1371600"/>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1371600"/>
            <a:ext cx="73152" cy="201168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1554480"/>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3" name="TextBox 12"/>
          <p:cNvSpPr txBox="1"/>
          <p:nvPr/>
        </p:nvSpPr>
        <p:spPr>
          <a:xfrm>
            <a:off x="7223760" y="1554480"/>
            <a:ext cx="4206240" cy="365760"/>
          </a:xfrm>
          <a:prstGeom prst="rect">
            <a:avLst/>
          </a:prstGeom>
          <a:noFill/>
        </p:spPr>
        <p:txBody>
          <a:bodyPr wrap="square">
            <a:spAutoFit/>
          </a:bodyPr>
          <a:lstStyle/>
          <a:p>
            <a:pPr algn="l">
              <a:defRPr sz="1800" b="1">
                <a:solidFill>
                  <a:srgbClr val="0078D4"/>
                </a:solidFill>
                <a:latin typeface="Segoe UI"/>
              </a:defRPr>
            </a:pPr>
            <a:r>
              <a:t>Approver = You</a:t>
            </a:r>
          </a:p>
        </p:txBody>
      </p:sp>
      <p:sp>
        <p:nvSpPr>
          <p:cNvPr id="14" name="TextBox 13"/>
          <p:cNvSpPr txBox="1"/>
          <p:nvPr/>
        </p:nvSpPr>
        <p:spPr>
          <a:xfrm>
            <a:off x="7223760" y="2011680"/>
            <a:ext cx="4206240" cy="731520"/>
          </a:xfrm>
          <a:prstGeom prst="rect">
            <a:avLst/>
          </a:prstGeom>
          <a:noFill/>
        </p:spPr>
        <p:txBody>
          <a:bodyPr wrap="square">
            <a:spAutoFit/>
          </a:bodyPr>
          <a:lstStyle/>
          <a:p>
            <a:pPr algn="l">
              <a:defRPr sz="1400" b="0">
                <a:solidFill>
                  <a:srgbClr val="242424"/>
                </a:solidFill>
                <a:latin typeface="Segoe UI"/>
              </a:defRPr>
            </a:pPr>
            <a:r>
              <a:t>Set the approver to yourself</a:t>
            </a:r>
            <a:br/>
            <a:r>
              <a:t>or a trainer-designated account</a:t>
            </a:r>
          </a:p>
        </p:txBody>
      </p:sp>
      <p:sp>
        <p:nvSpPr>
          <p:cNvPr id="15" name="TextBox 14"/>
          <p:cNvSpPr txBox="1"/>
          <p:nvPr/>
        </p:nvSpPr>
        <p:spPr>
          <a:xfrm>
            <a:off x="7223760" y="2834640"/>
            <a:ext cx="4206240" cy="365760"/>
          </a:xfrm>
          <a:prstGeom prst="rect">
            <a:avLst/>
          </a:prstGeom>
          <a:noFill/>
        </p:spPr>
        <p:txBody>
          <a:bodyPr wrap="square">
            <a:spAutoFit/>
          </a:bodyPr>
          <a:lstStyle/>
          <a:p>
            <a:pPr algn="l">
              <a:defRPr sz="1200" b="0">
                <a:solidFill>
                  <a:srgbClr val="606060"/>
                </a:solidFill>
                <a:latin typeface="Segoe UI"/>
              </a:defRPr>
            </a:pPr>
            <a:r>
              <a:t>Avoids spamming other users with email approvals</a:t>
            </a:r>
          </a:p>
        </p:txBody>
      </p:sp>
      <p:sp>
        <p:nvSpPr>
          <p:cNvPr id="16" name="Rounded Rectangle 15"/>
          <p:cNvSpPr/>
          <p:nvPr/>
        </p:nvSpPr>
        <p:spPr>
          <a:xfrm>
            <a:off x="73152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31520" y="3749039"/>
            <a:ext cx="73152" cy="2011680"/>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0584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19" name="TextBox 18"/>
          <p:cNvSpPr txBox="1"/>
          <p:nvPr/>
        </p:nvSpPr>
        <p:spPr>
          <a:xfrm>
            <a:off x="1554480" y="3931919"/>
            <a:ext cx="4206240" cy="365760"/>
          </a:xfrm>
          <a:prstGeom prst="rect">
            <a:avLst/>
          </a:prstGeom>
          <a:noFill/>
        </p:spPr>
        <p:txBody>
          <a:bodyPr wrap="square">
            <a:spAutoFit/>
          </a:bodyPr>
          <a:lstStyle/>
          <a:p>
            <a:pPr algn="l">
              <a:defRPr sz="1800" b="1">
                <a:solidFill>
                  <a:srgbClr val="00B294"/>
                </a:solidFill>
                <a:latin typeface="Segoe UI"/>
              </a:defRPr>
            </a:pPr>
            <a:r>
              <a:t>Use 'item created'</a:t>
            </a:r>
          </a:p>
        </p:txBody>
      </p:sp>
      <p:sp>
        <p:nvSpPr>
          <p:cNvPr id="20" name="TextBox 19"/>
          <p:cNvSpPr txBox="1"/>
          <p:nvPr/>
        </p:nvSpPr>
        <p:spPr>
          <a:xfrm>
            <a:off x="1554480" y="4389119"/>
            <a:ext cx="4206240" cy="731520"/>
          </a:xfrm>
          <a:prstGeom prst="rect">
            <a:avLst/>
          </a:prstGeom>
          <a:noFill/>
        </p:spPr>
        <p:txBody>
          <a:bodyPr wrap="square">
            <a:spAutoFit/>
          </a:bodyPr>
          <a:lstStyle/>
          <a:p>
            <a:pPr algn="l">
              <a:defRPr sz="1400" b="0">
                <a:solidFill>
                  <a:srgbClr val="242424"/>
                </a:solidFill>
                <a:latin typeface="Segoe UI"/>
              </a:defRPr>
            </a:pPr>
            <a:r>
              <a:t>Prefer 'When an item is created'</a:t>
            </a:r>
            <a:br/>
            <a:r>
              <a:t>for flows that update items</a:t>
            </a:r>
          </a:p>
        </p:txBody>
      </p:sp>
      <p:sp>
        <p:nvSpPr>
          <p:cNvPr id="21" name="TextBox 20"/>
          <p:cNvSpPr txBox="1"/>
          <p:nvPr/>
        </p:nvSpPr>
        <p:spPr>
          <a:xfrm>
            <a:off x="1554480" y="5212079"/>
            <a:ext cx="4206240" cy="365760"/>
          </a:xfrm>
          <a:prstGeom prst="rect">
            <a:avLst/>
          </a:prstGeom>
          <a:noFill/>
        </p:spPr>
        <p:txBody>
          <a:bodyPr wrap="square">
            <a:spAutoFit/>
          </a:bodyPr>
          <a:lstStyle/>
          <a:p>
            <a:pPr algn="l">
              <a:defRPr sz="1200" b="0">
                <a:solidFill>
                  <a:srgbClr val="606060"/>
                </a:solidFill>
                <a:latin typeface="Segoe UI"/>
              </a:defRPr>
            </a:pPr>
            <a:r>
              <a:t>Prevents infinite loop re-triggers</a:t>
            </a:r>
          </a:p>
        </p:txBody>
      </p:sp>
      <p:sp>
        <p:nvSpPr>
          <p:cNvPr id="22" name="Rounded Rectangle 21"/>
          <p:cNvSpPr/>
          <p:nvPr/>
        </p:nvSpPr>
        <p:spPr>
          <a:xfrm>
            <a:off x="6400800" y="3749039"/>
            <a:ext cx="5303520" cy="201168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00800" y="3749039"/>
            <a:ext cx="73152" cy="2011680"/>
          </a:xfrm>
          <a:prstGeom prst="rect">
            <a:avLst/>
          </a:prstGeom>
          <a:solidFill>
            <a:srgbClr val="D134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75120" y="3931919"/>
            <a:ext cx="457200" cy="457200"/>
          </a:xfrm>
          <a:prstGeom prst="rect">
            <a:avLst/>
          </a:prstGeom>
          <a:noFill/>
        </p:spPr>
        <p:txBody>
          <a:bodyPr wrap="square">
            <a:spAutoFit/>
          </a:bodyPr>
          <a:lstStyle/>
          <a:p>
            <a:pPr algn="ctr">
              <a:defRPr sz="2800" b="0">
                <a:solidFill>
                  <a:srgbClr val="242424"/>
                </a:solidFill>
                <a:latin typeface="Segoe UI"/>
              </a:defRPr>
            </a:pPr>
            <a:r>
              <a:t>🚫</a:t>
            </a:r>
          </a:p>
        </p:txBody>
      </p:sp>
      <p:sp>
        <p:nvSpPr>
          <p:cNvPr id="25" name="TextBox 24"/>
          <p:cNvSpPr txBox="1"/>
          <p:nvPr/>
        </p:nvSpPr>
        <p:spPr>
          <a:xfrm>
            <a:off x="7223760" y="3931919"/>
            <a:ext cx="4206240" cy="365760"/>
          </a:xfrm>
          <a:prstGeom prst="rect">
            <a:avLst/>
          </a:prstGeom>
          <a:noFill/>
        </p:spPr>
        <p:txBody>
          <a:bodyPr wrap="square">
            <a:spAutoFit/>
          </a:bodyPr>
          <a:lstStyle/>
          <a:p>
            <a:pPr algn="l">
              <a:defRPr sz="1800" b="1">
                <a:solidFill>
                  <a:srgbClr val="D13438"/>
                </a:solidFill>
                <a:latin typeface="Segoe UI"/>
              </a:defRPr>
            </a:pPr>
            <a:r>
              <a:t>Governance = Trainer</a:t>
            </a:r>
          </a:p>
        </p:txBody>
      </p:sp>
      <p:sp>
        <p:nvSpPr>
          <p:cNvPr id="26" name="TextBox 25"/>
          <p:cNvSpPr txBox="1"/>
          <p:nvPr/>
        </p:nvSpPr>
        <p:spPr>
          <a:xfrm>
            <a:off x="7223760" y="4389119"/>
            <a:ext cx="4206240" cy="731520"/>
          </a:xfrm>
          <a:prstGeom prst="rect">
            <a:avLst/>
          </a:prstGeom>
          <a:noFill/>
        </p:spPr>
        <p:txBody>
          <a:bodyPr wrap="square">
            <a:spAutoFit/>
          </a:bodyPr>
          <a:lstStyle/>
          <a:p>
            <a:pPr algn="l">
              <a:defRPr sz="1400" b="0">
                <a:solidFill>
                  <a:srgbClr val="242424"/>
                </a:solidFill>
                <a:latin typeface="Segoe UI"/>
              </a:defRPr>
            </a:pPr>
            <a:r>
              <a:t>Tenant-wide changes (environments,</a:t>
            </a:r>
            <a:br/>
            <a:r>
              <a:t>DLP) are Trainer-only unless assigned</a:t>
            </a:r>
          </a:p>
        </p:txBody>
      </p:sp>
      <p:sp>
        <p:nvSpPr>
          <p:cNvPr id="27" name="TextBox 26"/>
          <p:cNvSpPr txBox="1"/>
          <p:nvPr/>
        </p:nvSpPr>
        <p:spPr>
          <a:xfrm>
            <a:off x="7223760" y="5212079"/>
            <a:ext cx="4206240" cy="365760"/>
          </a:xfrm>
          <a:prstGeom prst="rect">
            <a:avLst/>
          </a:prstGeom>
          <a:noFill/>
        </p:spPr>
        <p:txBody>
          <a:bodyPr wrap="square">
            <a:spAutoFit/>
          </a:bodyPr>
          <a:lstStyle/>
          <a:p>
            <a:pPr algn="l">
              <a:defRPr sz="1200" b="0">
                <a:solidFill>
                  <a:srgbClr val="606060"/>
                </a:solidFill>
                <a:latin typeface="Segoe UI"/>
              </a:defRPr>
            </a:pPr>
            <a:r>
              <a:t>Accidental DLP changes can block everyone</a:t>
            </a:r>
          </a:p>
        </p:txBody>
      </p:sp>
      <p:sp>
        <p:nvSpPr>
          <p:cNvPr id="28" name="Rectangle 27"/>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30" name="TextBox 29"/>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20 / 22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058400" cy="731520"/>
          </a:xfrm>
          <a:prstGeom prst="rect">
            <a:avLst/>
          </a:prstGeom>
          <a:noFill/>
        </p:spPr>
        <p:txBody>
          <a:bodyPr wrap="square">
            <a:spAutoFit/>
          </a:bodyPr>
          <a:lstStyle/>
          <a:p>
            <a:pPr algn="l">
              <a:defRPr sz="3200" b="1">
                <a:solidFill>
                  <a:srgbClr val="1B1B2F"/>
                </a:solidFill>
                <a:latin typeface="Segoe UI"/>
              </a:defRPr>
            </a:pPr>
            <a:r>
              <a:t>❓  Knowledge Check</a:t>
            </a:r>
          </a:p>
        </p:txBody>
      </p:sp>
      <p:sp>
        <p:nvSpPr>
          <p:cNvPr id="4" name="Rounded Rectangle 3"/>
          <p:cNvSpPr/>
          <p:nvPr/>
        </p:nvSpPr>
        <p:spPr>
          <a:xfrm>
            <a:off x="548640" y="128016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1732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1</a:t>
            </a:r>
          </a:p>
        </p:txBody>
      </p:sp>
      <p:sp>
        <p:nvSpPr>
          <p:cNvPr id="6" name="TextBox 5"/>
          <p:cNvSpPr txBox="1"/>
          <p:nvPr/>
        </p:nvSpPr>
        <p:spPr>
          <a:xfrm>
            <a:off x="1463040" y="1417320"/>
            <a:ext cx="9875520" cy="548640"/>
          </a:xfrm>
          <a:prstGeom prst="rect">
            <a:avLst/>
          </a:prstGeom>
          <a:noFill/>
        </p:spPr>
        <p:txBody>
          <a:bodyPr wrap="square">
            <a:spAutoFit/>
          </a:bodyPr>
          <a:lstStyle/>
          <a:p>
            <a:pPr algn="l">
              <a:defRPr sz="1600" b="0">
                <a:solidFill>
                  <a:srgbClr val="242424"/>
                </a:solidFill>
                <a:latin typeface="Segoe UI"/>
              </a:defRPr>
            </a:pPr>
            <a:r>
              <a:t>Why should you prefer 'When an item is created' over 'created or modified' for approval flows?</a:t>
            </a:r>
          </a:p>
        </p:txBody>
      </p:sp>
      <p:sp>
        <p:nvSpPr>
          <p:cNvPr id="7" name="Rounded Rectangle 6"/>
          <p:cNvSpPr/>
          <p:nvPr/>
        </p:nvSpPr>
        <p:spPr>
          <a:xfrm>
            <a:off x="548640" y="228600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1520" y="242316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2</a:t>
            </a:r>
          </a:p>
        </p:txBody>
      </p:sp>
      <p:sp>
        <p:nvSpPr>
          <p:cNvPr id="9" name="TextBox 8"/>
          <p:cNvSpPr txBox="1"/>
          <p:nvPr/>
        </p:nvSpPr>
        <p:spPr>
          <a:xfrm>
            <a:off x="1463040" y="2423160"/>
            <a:ext cx="9875520" cy="548640"/>
          </a:xfrm>
          <a:prstGeom prst="rect">
            <a:avLst/>
          </a:prstGeom>
          <a:noFill/>
        </p:spPr>
        <p:txBody>
          <a:bodyPr wrap="square">
            <a:spAutoFit/>
          </a:bodyPr>
          <a:lstStyle/>
          <a:p>
            <a:pPr algn="l">
              <a:defRPr sz="1600" b="0">
                <a:solidFill>
                  <a:srgbClr val="242424"/>
                </a:solidFill>
                <a:latin typeface="Segoe UI"/>
              </a:defRPr>
            </a:pPr>
            <a:r>
              <a:t>What does 'Start and wait for an approval' do — does it poll, loop, or block?</a:t>
            </a:r>
          </a:p>
        </p:txBody>
      </p:sp>
      <p:sp>
        <p:nvSpPr>
          <p:cNvPr id="10" name="Rounded Rectangle 9"/>
          <p:cNvSpPr/>
          <p:nvPr/>
        </p:nvSpPr>
        <p:spPr>
          <a:xfrm>
            <a:off x="548640" y="329184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731520" y="342900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3</a:t>
            </a:r>
          </a:p>
        </p:txBody>
      </p:sp>
      <p:sp>
        <p:nvSpPr>
          <p:cNvPr id="12" name="TextBox 11"/>
          <p:cNvSpPr txBox="1"/>
          <p:nvPr/>
        </p:nvSpPr>
        <p:spPr>
          <a:xfrm>
            <a:off x="1463040" y="3429000"/>
            <a:ext cx="9875520" cy="548640"/>
          </a:xfrm>
          <a:prstGeom prst="rect">
            <a:avLst/>
          </a:prstGeom>
          <a:noFill/>
        </p:spPr>
        <p:txBody>
          <a:bodyPr wrap="square">
            <a:spAutoFit/>
          </a:bodyPr>
          <a:lstStyle/>
          <a:p>
            <a:pPr algn="l">
              <a:defRPr sz="1600" b="0">
                <a:solidFill>
                  <a:srgbClr val="242424"/>
                </a:solidFill>
                <a:latin typeface="Segoe UI"/>
              </a:defRPr>
            </a:pPr>
            <a:r>
              <a:t>Name two things every flow/app must have for operational continuity.</a:t>
            </a:r>
          </a:p>
        </p:txBody>
      </p:sp>
      <p:sp>
        <p:nvSpPr>
          <p:cNvPr id="13" name="Rounded Rectangle 12"/>
          <p:cNvSpPr/>
          <p:nvPr/>
        </p:nvSpPr>
        <p:spPr>
          <a:xfrm>
            <a:off x="548640" y="429768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1520" y="443484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4</a:t>
            </a:r>
          </a:p>
        </p:txBody>
      </p:sp>
      <p:sp>
        <p:nvSpPr>
          <p:cNvPr id="15" name="TextBox 14"/>
          <p:cNvSpPr txBox="1"/>
          <p:nvPr/>
        </p:nvSpPr>
        <p:spPr>
          <a:xfrm>
            <a:off x="1463040" y="4434840"/>
            <a:ext cx="9875520" cy="548640"/>
          </a:xfrm>
          <a:prstGeom prst="rect">
            <a:avLst/>
          </a:prstGeom>
          <a:noFill/>
        </p:spPr>
        <p:txBody>
          <a:bodyPr wrap="square">
            <a:spAutoFit/>
          </a:bodyPr>
          <a:lstStyle/>
          <a:p>
            <a:pPr algn="l">
              <a:defRPr sz="1600" b="0">
                <a:solidFill>
                  <a:srgbClr val="242424"/>
                </a:solidFill>
                <a:latin typeface="Segoe UI"/>
              </a:defRPr>
            </a:pPr>
            <a:r>
              <a:t>What happens when a flow combines connectors from 'Business' and 'Non-Business' DLP groups?</a:t>
            </a:r>
          </a:p>
        </p:txBody>
      </p:sp>
      <p:sp>
        <p:nvSpPr>
          <p:cNvPr id="16" name="Rounded Rectangle 15"/>
          <p:cNvSpPr/>
          <p:nvPr/>
        </p:nvSpPr>
        <p:spPr>
          <a:xfrm>
            <a:off x="548640" y="5303520"/>
            <a:ext cx="11064240" cy="82296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1520" y="5440680"/>
            <a:ext cx="502920" cy="502920"/>
          </a:xfrm>
          <a:prstGeom prst="roundRect">
            <a:avLst>
              <a:gd name="adj" fmla="val 5000"/>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spcBef>
                <a:spcPts val="400"/>
              </a:spcBef>
              <a:defRPr sz="1800" b="1">
                <a:solidFill>
                  <a:srgbClr val="FFFFFF"/>
                </a:solidFill>
                <a:latin typeface="Segoe UI"/>
              </a:defRPr>
            </a:pPr>
            <a:r>
              <a:t>5</a:t>
            </a:r>
          </a:p>
        </p:txBody>
      </p:sp>
      <p:sp>
        <p:nvSpPr>
          <p:cNvPr id="18" name="TextBox 17"/>
          <p:cNvSpPr txBox="1"/>
          <p:nvPr/>
        </p:nvSpPr>
        <p:spPr>
          <a:xfrm>
            <a:off x="1463040" y="5440680"/>
            <a:ext cx="9875520" cy="548640"/>
          </a:xfrm>
          <a:prstGeom prst="rect">
            <a:avLst/>
          </a:prstGeom>
          <a:noFill/>
        </p:spPr>
        <p:txBody>
          <a:bodyPr wrap="square">
            <a:spAutoFit/>
          </a:bodyPr>
          <a:lstStyle/>
          <a:p>
            <a:pPr algn="l">
              <a:defRPr sz="1600" b="0">
                <a:solidFill>
                  <a:srgbClr val="242424"/>
                </a:solidFill>
                <a:latin typeface="Segoe UI"/>
              </a:defRPr>
            </a:pPr>
            <a:r>
              <a:t>How would you customise a SharePoint list form using Power Apps?</a:t>
            </a:r>
          </a:p>
        </p:txBody>
      </p:sp>
      <p:sp>
        <p:nvSpPr>
          <p:cNvPr id="19" name="Rectangle 18"/>
          <p:cNvSpPr/>
          <p:nvPr/>
        </p:nvSpPr>
        <p:spPr>
          <a:xfrm>
            <a:off x="0" y="6446520"/>
            <a:ext cx="12191695" cy="411480"/>
          </a:xfrm>
          <a:prstGeom prst="rect">
            <a:avLst/>
          </a:prstGeom>
          <a:solidFill>
            <a:srgbClr val="1B1B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7200" y="6492240"/>
            <a:ext cx="6400800" cy="320040"/>
          </a:xfrm>
          <a:prstGeom prst="rect">
            <a:avLst/>
          </a:prstGeom>
          <a:noFill/>
        </p:spPr>
        <p:txBody>
          <a:bodyPr wrap="square">
            <a:spAutoFit/>
          </a:bodyPr>
          <a:lstStyle/>
          <a:p>
            <a:pPr algn="l">
              <a:defRPr sz="1000" b="0">
                <a:solidFill>
                  <a:srgbClr val="AAAAAA"/>
                </a:solidFill>
                <a:latin typeface="Segoe UI"/>
              </a:defRPr>
            </a:pPr>
            <a:r>
              <a:t>Module 12  |  Workflow Automation with Power Automate &amp; Power Apps</a:t>
            </a:r>
          </a:p>
        </p:txBody>
      </p:sp>
      <p:sp>
        <p:nvSpPr>
          <p:cNvPr id="21" name="TextBox 20"/>
          <p:cNvSpPr txBox="1"/>
          <p:nvPr/>
        </p:nvSpPr>
        <p:spPr>
          <a:xfrm>
            <a:off x="10820095" y="6492240"/>
            <a:ext cx="1097280" cy="320040"/>
          </a:xfrm>
          <a:prstGeom prst="rect">
            <a:avLst/>
          </a:prstGeom>
          <a:noFill/>
        </p:spPr>
        <p:txBody>
          <a:bodyPr wrap="square">
            <a:spAutoFit/>
          </a:bodyPr>
          <a:lstStyle/>
          <a:p>
            <a:pPr algn="r">
              <a:defRPr sz="1000" b="0">
                <a:solidFill>
                  <a:srgbClr val="AAAAAA"/>
                </a:solidFill>
                <a:latin typeface="Segoe UI"/>
              </a:defRPr>
            </a:pPr>
            <a:r>
              <a:t>21 / 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B1B2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09728"/>
            <a:ext cx="12191695" cy="36576"/>
          </a:xfrm>
          <a:prstGeom prst="rect">
            <a:avLst/>
          </a:prstGeom>
          <a:solidFill>
            <a:srgbClr val="00B2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828800"/>
            <a:ext cx="10058400" cy="914400"/>
          </a:xfrm>
          <a:prstGeom prst="rect">
            <a:avLst/>
          </a:prstGeom>
          <a:noFill/>
        </p:spPr>
        <p:txBody>
          <a:bodyPr wrap="square">
            <a:spAutoFit/>
          </a:bodyPr>
          <a:lstStyle/>
          <a:p>
            <a:pPr algn="ctr">
              <a:defRPr sz="4400" b="1">
                <a:solidFill>
                  <a:srgbClr val="FFFFFF"/>
                </a:solidFill>
                <a:latin typeface="Segoe UI"/>
              </a:defRPr>
            </a:pPr>
            <a:r>
              <a:t>✅  Module 12 Complete!</a:t>
            </a:r>
          </a:p>
        </p:txBody>
      </p:sp>
      <p:sp>
        <p:nvSpPr>
          <p:cNvPr id="5" name="TextBox 4"/>
          <p:cNvSpPr txBox="1"/>
          <p:nvPr/>
        </p:nvSpPr>
        <p:spPr>
          <a:xfrm>
            <a:off x="914400" y="3017520"/>
            <a:ext cx="10058400" cy="731520"/>
          </a:xfrm>
          <a:prstGeom prst="rect">
            <a:avLst/>
          </a:prstGeom>
          <a:noFill/>
        </p:spPr>
        <p:txBody>
          <a:bodyPr wrap="square">
            <a:spAutoFit/>
          </a:bodyPr>
          <a:lstStyle/>
          <a:p>
            <a:pPr algn="ctr">
              <a:defRPr sz="2400" b="0">
                <a:solidFill>
                  <a:srgbClr val="00B294"/>
                </a:solidFill>
                <a:latin typeface="Segoe UI"/>
              </a:defRPr>
            </a:pPr>
            <a:r>
              <a:t>Workflow Automation with Power Automate &amp; Power Apps</a:t>
            </a:r>
          </a:p>
        </p:txBody>
      </p:sp>
      <p:sp>
        <p:nvSpPr>
          <p:cNvPr id="6" name="Rectangle 5"/>
          <p:cNvSpPr/>
          <p:nvPr/>
        </p:nvSpPr>
        <p:spPr>
          <a:xfrm>
            <a:off x="5029200" y="4023360"/>
            <a:ext cx="2103120" cy="36576"/>
          </a:xfrm>
          <a:prstGeom prst="rect">
            <a:avLst/>
          </a:prstGeom>
          <a:solidFill>
            <a:srgbClr val="6B6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4389120"/>
            <a:ext cx="10058400" cy="731520"/>
          </a:xfrm>
          <a:prstGeom prst="rect">
            <a:avLst/>
          </a:prstGeom>
          <a:noFill/>
        </p:spPr>
        <p:txBody>
          <a:bodyPr wrap="square">
            <a:spAutoFit/>
          </a:bodyPr>
          <a:lstStyle/>
          <a:p>
            <a:pPr algn="ctr">
              <a:defRPr sz="2200" b="0">
                <a:solidFill>
                  <a:srgbClr val="AAAAAA"/>
                </a:solidFill>
                <a:latin typeface="Segoe UI"/>
              </a:defRPr>
            </a:pPr>
            <a:r>
              <a:t>🎉  Congratulations — You have completed the full course!</a:t>
            </a:r>
          </a:p>
        </p:txBody>
      </p:sp>
      <p:sp>
        <p:nvSpPr>
          <p:cNvPr id="8" name="TextBox 7"/>
          <p:cNvSpPr txBox="1"/>
          <p:nvPr/>
        </p:nvSpPr>
        <p:spPr>
          <a:xfrm>
            <a:off x="1828800" y="5303520"/>
            <a:ext cx="8229600" cy="548640"/>
          </a:xfrm>
          <a:prstGeom prst="rect">
            <a:avLst/>
          </a:prstGeom>
          <a:noFill/>
        </p:spPr>
        <p:txBody>
          <a:bodyPr wrap="square">
            <a:spAutoFit/>
          </a:bodyPr>
          <a:lstStyle/>
          <a:p>
            <a:pPr algn="ctr">
              <a:defRPr sz="1600" b="0">
                <a:solidFill>
                  <a:srgbClr val="888888"/>
                </a:solidFill>
                <a:latin typeface="Segoe UI"/>
              </a:defRPr>
            </a:pPr>
            <a:r>
              <a:t>Automate safely  ·  Govern intentionally  ·  Administer with confidence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TotalTime>
  <Words>2554</Words>
  <Application>Microsoft Office PowerPoint</Application>
  <PresentationFormat>Widescreen</PresentationFormat>
  <Paragraphs>300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Albert Jeremy</cp:lastModifiedBy>
  <cp:revision>3</cp:revision>
  <dcterms:created xsi:type="dcterms:W3CDTF">2013-01-27T09:14:16Z</dcterms:created>
  <dcterms:modified xsi:type="dcterms:W3CDTF">2026-02-11T05:31:05Z</dcterms:modified>
  <cp:category/>
</cp:coreProperties>
</file>