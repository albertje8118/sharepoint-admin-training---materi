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Module 10 — Administration and Automation with PowerShell. PowerShell enables repeatable, scalable admin tasks that go far beyond what the admin centers offer. We cover SharePoint Online PowerShell, reporting patterns, safe bulk operations, and a brief intro to Graph PowerShell.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centers are great for interactive work, but PowerShell excels at repeatability, reporting, and controlled bulk actions. In a shared tenant, always start with read-only reporting.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key learning outcomes for this module.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let's start with connecting to SharePoint Online PowerShell.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can connect, you need the SharePoint Online Management Shell module. Two installation paths: MSI download or PowerShell Gallery.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Connect-SPOService establishes a session to your tenant admin center. Format: Connect-SPOService -Url https://&lt;tenant&gt;-admin.sharepoint.com. Only one connection per session; connecting again replaces the previous one. Ref: https://learn.microsoft.com/en-us/powershell/module/microsoft.online.sharepoint.powershell/connect-sposervice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with your connection established, let's build admin reports.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fundamental pattern: Get data → Filter → Select columns → Export. This pattern applies to every reporting task.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site inventory report is the most common admin report. Get-SPOSite -Limit All retrieves all sites, then you filter to your scope.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Get-SPOUser returns all users associated with a site, including their role and whether they are a site admin. Ref: https://learn.microsoft.com/en-us/powershell/module/microsoft.online.sharepoint.powershell/get-spouser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now let's move from reading to writing — safe bulk operations.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Bulk operations are powerful but risky. Follow this four-step safety workflow: export baseline, prepare CSV, test on one target, then expand.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Import-Csv + ForEach-Object pattern is the core of bulk operations. Each row in the CSV is a target; each iteration runs the cmdlet.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SharePoint Online PowerShell covers SPO-specific tasks. For tenant-wide or cross-service scenarios, we use Microsoft Graph PowerShell.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Connect-MgGraph authenticates to Microsoft Graph. Scopes determine what the session can do — you request only what you need. Ref: https://learn.microsoft.com/en-us/powershell/module/microsoft.graph.authentication/connect-mggraph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to use which? SPO PowerShell for SharePoint-specific admin tasks. Graph PowerShell for cross-service scenarios, identity, and tenant-wide access.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scripts are powerful — let's ensure we use them safely in our shared tenant.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rules prevent accidental impact on other participants. Start read-only, scope to NW-Pxx, export baseline before changes, and treat tenant-wide operations as trainer-only.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issues learners encounter during the lab — and how to fix them.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time for the hands-on lab.</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10 preview: connect to SPO PowerShell, export site inventory, export user membership, run a CSV-driven loop, and optionally connect to Graph. Estimated time: 75–105 minutes.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deliverables: four CSV files that demonstrate mastery of the reporting and bulk operation patterns.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questions to check understanding — focus on safety and patterns.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10 complete. Next: Module 11 — Operations at Scale.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12191695"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10058400" cy="457200"/>
          </a:xfrm>
          <a:prstGeom prst="rect">
            <a:avLst/>
          </a:prstGeom>
          <a:noFill/>
        </p:spPr>
        <p:txBody>
          <a:bodyPr wrap="square">
            <a:spAutoFit/>
          </a:bodyPr>
          <a:lstStyle/>
          <a:p>
            <a:pPr algn="ctr">
              <a:defRPr sz="1400" b="1">
                <a:solidFill>
                  <a:srgbClr val="00B294"/>
                </a:solidFill>
                <a:latin typeface="Segoe UI"/>
              </a:defRPr>
            </a:pPr>
            <a:r>
              <a:t>MODERN SHAREPOINT ONLINE FOR ADMINISTRATORS  ·  DAY 3</a:t>
            </a:r>
          </a:p>
        </p:txBody>
      </p:sp>
      <p:sp>
        <p:nvSpPr>
          <p:cNvPr id="5" name="TextBox 4"/>
          <p:cNvSpPr txBox="1"/>
          <p:nvPr/>
        </p:nvSpPr>
        <p:spPr>
          <a:xfrm>
            <a:off x="914400" y="2103120"/>
            <a:ext cx="10058400" cy="1371600"/>
          </a:xfrm>
          <a:prstGeom prst="rect">
            <a:avLst/>
          </a:prstGeom>
          <a:noFill/>
        </p:spPr>
        <p:txBody>
          <a:bodyPr wrap="square">
            <a:spAutoFit/>
          </a:bodyPr>
          <a:lstStyle/>
          <a:p>
            <a:pPr algn="ctr">
              <a:defRPr sz="6000" b="1">
                <a:solidFill>
                  <a:srgbClr val="FFFFFF"/>
                </a:solidFill>
                <a:latin typeface="Segoe UI"/>
              </a:defRPr>
            </a:pPr>
            <a:r>
              <a:t>Module 10</a:t>
            </a:r>
          </a:p>
        </p:txBody>
      </p:sp>
      <p:sp>
        <p:nvSpPr>
          <p:cNvPr id="6" name="TextBox 5"/>
          <p:cNvSpPr txBox="1"/>
          <p:nvPr/>
        </p:nvSpPr>
        <p:spPr>
          <a:xfrm>
            <a:off x="914400" y="3474720"/>
            <a:ext cx="10058400" cy="914400"/>
          </a:xfrm>
          <a:prstGeom prst="rect">
            <a:avLst/>
          </a:prstGeom>
          <a:noFill/>
        </p:spPr>
        <p:txBody>
          <a:bodyPr wrap="square">
            <a:spAutoFit/>
          </a:bodyPr>
          <a:lstStyle/>
          <a:p>
            <a:pPr algn="ctr">
              <a:defRPr sz="3200" b="0">
                <a:solidFill>
                  <a:srgbClr val="00B294"/>
                </a:solidFill>
                <a:latin typeface="Segoe UI"/>
              </a:defRPr>
            </a:pPr>
            <a:r>
              <a:t>Administration and Automation with PowerShell</a:t>
            </a:r>
          </a:p>
        </p:txBody>
      </p:sp>
      <p:sp>
        <p:nvSpPr>
          <p:cNvPr id="7" name="TextBox 6"/>
          <p:cNvSpPr txBox="1"/>
          <p:nvPr/>
        </p:nvSpPr>
        <p:spPr>
          <a:xfrm>
            <a:off x="1828800" y="4754880"/>
            <a:ext cx="8229600" cy="548640"/>
          </a:xfrm>
          <a:prstGeom prst="rect">
            <a:avLst/>
          </a:prstGeom>
          <a:noFill/>
        </p:spPr>
        <p:txBody>
          <a:bodyPr wrap="square">
            <a:spAutoFit/>
          </a:bodyPr>
          <a:lstStyle/>
          <a:p>
            <a:pPr algn="ctr">
              <a:defRPr sz="1600" b="0">
                <a:solidFill>
                  <a:srgbClr val="AAAAAA"/>
                </a:solidFill>
                <a:latin typeface="Segoe UI"/>
              </a:defRPr>
            </a:pPr>
            <a:r>
              <a:t>Script it  ·  Report it  ·  Repeat it safely</a:t>
            </a:r>
          </a:p>
        </p:txBody>
      </p:sp>
      <p:sp>
        <p:nvSpPr>
          <p:cNvPr id="8" name="Rectangle 7"/>
          <p:cNvSpPr/>
          <p:nvPr/>
        </p:nvSpPr>
        <p:spPr>
          <a:xfrm>
            <a:off x="5029200" y="5577840"/>
            <a:ext cx="2103120" cy="36576"/>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400" b="1">
                <a:solidFill>
                  <a:srgbClr val="1B1B2F"/>
                </a:solidFill>
                <a:latin typeface="Segoe UI"/>
              </a:defRPr>
            </a:pPr>
            <a:r>
              <a:t>Why PowerShell Matters for SharePoint Admins</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Go beyond the admin center — automate, report, and scale</a:t>
            </a:r>
          </a:p>
        </p:txBody>
      </p:sp>
      <p:sp>
        <p:nvSpPr>
          <p:cNvPr id="5" name="Rounded Rectangle 4"/>
          <p:cNvSpPr/>
          <p:nvPr/>
        </p:nvSpPr>
        <p:spPr>
          <a:xfrm>
            <a:off x="731520" y="1737360"/>
            <a:ext cx="256032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2011680" cy="548640"/>
          </a:xfrm>
          <a:prstGeom prst="rect">
            <a:avLst/>
          </a:prstGeom>
          <a:noFill/>
        </p:spPr>
        <p:txBody>
          <a:bodyPr wrap="square">
            <a:spAutoFit/>
          </a:bodyPr>
          <a:lstStyle/>
          <a:p>
            <a:pPr algn="ctr">
              <a:defRPr sz="3600" b="0">
                <a:solidFill>
                  <a:srgbClr val="242424"/>
                </a:solidFill>
                <a:latin typeface="Segoe UI"/>
              </a:defRPr>
            </a:pPr>
            <a:r>
              <a:t>🔄</a:t>
            </a:r>
          </a:p>
        </p:txBody>
      </p:sp>
      <p:sp>
        <p:nvSpPr>
          <p:cNvPr id="7" name="TextBox 6"/>
          <p:cNvSpPr txBox="1"/>
          <p:nvPr/>
        </p:nvSpPr>
        <p:spPr>
          <a:xfrm>
            <a:off x="1005840" y="2468880"/>
            <a:ext cx="2011680" cy="731520"/>
          </a:xfrm>
          <a:prstGeom prst="rect">
            <a:avLst/>
          </a:prstGeom>
          <a:noFill/>
        </p:spPr>
        <p:txBody>
          <a:bodyPr wrap="square">
            <a:spAutoFit/>
          </a:bodyPr>
          <a:lstStyle/>
          <a:p>
            <a:pPr algn="ctr">
              <a:defRPr sz="2800" b="1">
                <a:solidFill>
                  <a:srgbClr val="0078D4"/>
                </a:solidFill>
                <a:latin typeface="Segoe UI"/>
              </a:defRPr>
            </a:pPr>
            <a:r>
              <a:t>Repeat-</a:t>
            </a:r>
          </a:p>
        </p:txBody>
      </p:sp>
      <p:sp>
        <p:nvSpPr>
          <p:cNvPr id="8" name="TextBox 7"/>
          <p:cNvSpPr txBox="1"/>
          <p:nvPr/>
        </p:nvSpPr>
        <p:spPr>
          <a:xfrm>
            <a:off x="1005840" y="3017520"/>
            <a:ext cx="2011680" cy="457200"/>
          </a:xfrm>
          <a:prstGeom prst="rect">
            <a:avLst/>
          </a:prstGeom>
          <a:noFill/>
        </p:spPr>
        <p:txBody>
          <a:bodyPr wrap="square">
            <a:spAutoFit/>
          </a:bodyPr>
          <a:lstStyle/>
          <a:p>
            <a:pPr algn="ctr">
              <a:defRPr sz="1600" b="1">
                <a:solidFill>
                  <a:srgbClr val="242424"/>
                </a:solidFill>
                <a:latin typeface="Segoe UI"/>
              </a:defRPr>
            </a:pPr>
            <a:r>
              <a:t>ability</a:t>
            </a:r>
          </a:p>
        </p:txBody>
      </p:sp>
      <p:sp>
        <p:nvSpPr>
          <p:cNvPr id="9" name="Rectangle 8"/>
          <p:cNvSpPr/>
          <p:nvPr/>
        </p:nvSpPr>
        <p:spPr>
          <a:xfrm>
            <a:off x="1280160" y="3566160"/>
            <a:ext cx="1463040"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749039"/>
            <a:ext cx="2194560" cy="1097280"/>
          </a:xfrm>
          <a:prstGeom prst="rect">
            <a:avLst/>
          </a:prstGeom>
          <a:noFill/>
        </p:spPr>
        <p:txBody>
          <a:bodyPr wrap="square">
            <a:spAutoFit/>
          </a:bodyPr>
          <a:lstStyle/>
          <a:p>
            <a:pPr algn="ctr">
              <a:defRPr sz="1300" b="0">
                <a:solidFill>
                  <a:srgbClr val="606060"/>
                </a:solidFill>
                <a:latin typeface="Segoe UI"/>
              </a:defRPr>
            </a:pPr>
            <a:r>
              <a:t>Run the same steps across</a:t>
            </a:r>
            <a:br/>
            <a:r>
              <a:t>hundreds of sites with</a:t>
            </a:r>
            <a:br/>
            <a:r>
              <a:t>a single script</a:t>
            </a:r>
          </a:p>
        </p:txBody>
      </p:sp>
      <p:sp>
        <p:nvSpPr>
          <p:cNvPr id="11" name="Rounded Rectangle 10"/>
          <p:cNvSpPr/>
          <p:nvPr/>
        </p:nvSpPr>
        <p:spPr>
          <a:xfrm>
            <a:off x="3566160" y="1737360"/>
            <a:ext cx="256032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0" y="1920240"/>
            <a:ext cx="2011680" cy="548640"/>
          </a:xfrm>
          <a:prstGeom prst="rect">
            <a:avLst/>
          </a:prstGeom>
          <a:noFill/>
        </p:spPr>
        <p:txBody>
          <a:bodyPr wrap="square">
            <a:spAutoFit/>
          </a:bodyPr>
          <a:lstStyle/>
          <a:p>
            <a:pPr algn="ctr">
              <a:defRPr sz="3600" b="0">
                <a:solidFill>
                  <a:srgbClr val="242424"/>
                </a:solidFill>
                <a:latin typeface="Segoe UI"/>
              </a:defRPr>
            </a:pPr>
            <a:r>
              <a:t>📊</a:t>
            </a:r>
          </a:p>
        </p:txBody>
      </p:sp>
      <p:sp>
        <p:nvSpPr>
          <p:cNvPr id="13" name="TextBox 12"/>
          <p:cNvSpPr txBox="1"/>
          <p:nvPr/>
        </p:nvSpPr>
        <p:spPr>
          <a:xfrm>
            <a:off x="3840480" y="2468880"/>
            <a:ext cx="2011680" cy="731520"/>
          </a:xfrm>
          <a:prstGeom prst="rect">
            <a:avLst/>
          </a:prstGeom>
          <a:noFill/>
        </p:spPr>
        <p:txBody>
          <a:bodyPr wrap="square">
            <a:spAutoFit/>
          </a:bodyPr>
          <a:lstStyle/>
          <a:p>
            <a:pPr algn="ctr">
              <a:defRPr sz="2800" b="1">
                <a:solidFill>
                  <a:srgbClr val="0078D4"/>
                </a:solidFill>
                <a:latin typeface="Segoe UI"/>
              </a:defRPr>
            </a:pPr>
            <a:r>
              <a:t>Rich</a:t>
            </a:r>
          </a:p>
        </p:txBody>
      </p:sp>
      <p:sp>
        <p:nvSpPr>
          <p:cNvPr id="14" name="TextBox 13"/>
          <p:cNvSpPr txBox="1"/>
          <p:nvPr/>
        </p:nvSpPr>
        <p:spPr>
          <a:xfrm>
            <a:off x="3840480" y="3017520"/>
            <a:ext cx="2011680" cy="457200"/>
          </a:xfrm>
          <a:prstGeom prst="rect">
            <a:avLst/>
          </a:prstGeom>
          <a:noFill/>
        </p:spPr>
        <p:txBody>
          <a:bodyPr wrap="square">
            <a:spAutoFit/>
          </a:bodyPr>
          <a:lstStyle/>
          <a:p>
            <a:pPr algn="ctr">
              <a:defRPr sz="1600" b="1">
                <a:solidFill>
                  <a:srgbClr val="242424"/>
                </a:solidFill>
                <a:latin typeface="Segoe UI"/>
              </a:defRPr>
            </a:pPr>
            <a:r>
              <a:t>Reporting</a:t>
            </a:r>
          </a:p>
        </p:txBody>
      </p:sp>
      <p:sp>
        <p:nvSpPr>
          <p:cNvPr id="15" name="Rectangle 14"/>
          <p:cNvSpPr/>
          <p:nvPr/>
        </p:nvSpPr>
        <p:spPr>
          <a:xfrm>
            <a:off x="4114800" y="3566160"/>
            <a:ext cx="1463040"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40" y="3749039"/>
            <a:ext cx="2194560" cy="1097280"/>
          </a:xfrm>
          <a:prstGeom prst="rect">
            <a:avLst/>
          </a:prstGeom>
          <a:noFill/>
        </p:spPr>
        <p:txBody>
          <a:bodyPr wrap="square">
            <a:spAutoFit/>
          </a:bodyPr>
          <a:lstStyle/>
          <a:p>
            <a:pPr algn="ctr">
              <a:defRPr sz="1300" b="0">
                <a:solidFill>
                  <a:srgbClr val="606060"/>
                </a:solidFill>
                <a:latin typeface="Segoe UI"/>
              </a:defRPr>
            </a:pPr>
            <a:r>
              <a:t>Export site inventories,</a:t>
            </a:r>
            <a:br/>
            <a:r>
              <a:t>permissions, and usage</a:t>
            </a:r>
            <a:br/>
            <a:r>
              <a:t>data to CSV</a:t>
            </a:r>
          </a:p>
        </p:txBody>
      </p:sp>
      <p:sp>
        <p:nvSpPr>
          <p:cNvPr id="17" name="Rounded Rectangle 16"/>
          <p:cNvSpPr/>
          <p:nvPr/>
        </p:nvSpPr>
        <p:spPr>
          <a:xfrm>
            <a:off x="6400800" y="1737360"/>
            <a:ext cx="256032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0" y="1920240"/>
            <a:ext cx="2011680" cy="548640"/>
          </a:xfrm>
          <a:prstGeom prst="rect">
            <a:avLst/>
          </a:prstGeom>
          <a:noFill/>
        </p:spPr>
        <p:txBody>
          <a:bodyPr wrap="square">
            <a:spAutoFit/>
          </a:bodyPr>
          <a:lstStyle/>
          <a:p>
            <a:pPr algn="ctr">
              <a:defRPr sz="3600" b="0">
                <a:solidFill>
                  <a:srgbClr val="242424"/>
                </a:solidFill>
                <a:latin typeface="Segoe UI"/>
              </a:defRPr>
            </a:pPr>
            <a:r>
              <a:t>⚡</a:t>
            </a:r>
          </a:p>
        </p:txBody>
      </p:sp>
      <p:sp>
        <p:nvSpPr>
          <p:cNvPr id="19" name="TextBox 18"/>
          <p:cNvSpPr txBox="1"/>
          <p:nvPr/>
        </p:nvSpPr>
        <p:spPr>
          <a:xfrm>
            <a:off x="6675120" y="2468880"/>
            <a:ext cx="2011680" cy="731520"/>
          </a:xfrm>
          <a:prstGeom prst="rect">
            <a:avLst/>
          </a:prstGeom>
          <a:noFill/>
        </p:spPr>
        <p:txBody>
          <a:bodyPr wrap="square">
            <a:spAutoFit/>
          </a:bodyPr>
          <a:lstStyle/>
          <a:p>
            <a:pPr algn="ctr">
              <a:defRPr sz="2800" b="1">
                <a:solidFill>
                  <a:srgbClr val="0078D4"/>
                </a:solidFill>
                <a:latin typeface="Segoe UI"/>
              </a:defRPr>
            </a:pPr>
            <a:r>
              <a:t>Bulk</a:t>
            </a:r>
          </a:p>
        </p:txBody>
      </p:sp>
      <p:sp>
        <p:nvSpPr>
          <p:cNvPr id="20" name="TextBox 19"/>
          <p:cNvSpPr txBox="1"/>
          <p:nvPr/>
        </p:nvSpPr>
        <p:spPr>
          <a:xfrm>
            <a:off x="6675120" y="3017520"/>
            <a:ext cx="2011680" cy="457200"/>
          </a:xfrm>
          <a:prstGeom prst="rect">
            <a:avLst/>
          </a:prstGeom>
          <a:noFill/>
        </p:spPr>
        <p:txBody>
          <a:bodyPr wrap="square">
            <a:spAutoFit/>
          </a:bodyPr>
          <a:lstStyle/>
          <a:p>
            <a:pPr algn="ctr">
              <a:defRPr sz="1600" b="1">
                <a:solidFill>
                  <a:srgbClr val="242424"/>
                </a:solidFill>
                <a:latin typeface="Segoe UI"/>
              </a:defRPr>
            </a:pPr>
            <a:r>
              <a:t>Actions</a:t>
            </a:r>
          </a:p>
        </p:txBody>
      </p:sp>
      <p:sp>
        <p:nvSpPr>
          <p:cNvPr id="21" name="Rectangle 20"/>
          <p:cNvSpPr/>
          <p:nvPr/>
        </p:nvSpPr>
        <p:spPr>
          <a:xfrm>
            <a:off x="6949440" y="3566160"/>
            <a:ext cx="1463040"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0" y="3749039"/>
            <a:ext cx="2194560" cy="1097280"/>
          </a:xfrm>
          <a:prstGeom prst="rect">
            <a:avLst/>
          </a:prstGeom>
          <a:noFill/>
        </p:spPr>
        <p:txBody>
          <a:bodyPr wrap="square">
            <a:spAutoFit/>
          </a:bodyPr>
          <a:lstStyle/>
          <a:p>
            <a:pPr algn="ctr">
              <a:defRPr sz="1300" b="0">
                <a:solidFill>
                  <a:srgbClr val="606060"/>
                </a:solidFill>
                <a:latin typeface="Segoe UI"/>
              </a:defRPr>
            </a:pPr>
            <a:r>
              <a:t>CSV-driven changes scoped</a:t>
            </a:r>
            <a:br/>
            <a:r>
              <a:t>to your targets — fast</a:t>
            </a:r>
            <a:br/>
            <a:r>
              <a:t>and controlled</a:t>
            </a:r>
          </a:p>
        </p:txBody>
      </p:sp>
      <p:sp>
        <p:nvSpPr>
          <p:cNvPr id="23" name="Rounded Rectangle 22"/>
          <p:cNvSpPr/>
          <p:nvPr/>
        </p:nvSpPr>
        <p:spPr>
          <a:xfrm>
            <a:off x="9235440" y="1737360"/>
            <a:ext cx="256032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09760" y="1920240"/>
            <a:ext cx="2011680" cy="548640"/>
          </a:xfrm>
          <a:prstGeom prst="rect">
            <a:avLst/>
          </a:prstGeom>
          <a:noFill/>
        </p:spPr>
        <p:txBody>
          <a:bodyPr wrap="square">
            <a:spAutoFit/>
          </a:bodyPr>
          <a:lstStyle/>
          <a:p>
            <a:pPr algn="ctr">
              <a:defRPr sz="3600" b="0">
                <a:solidFill>
                  <a:srgbClr val="242424"/>
                </a:solidFill>
                <a:latin typeface="Segoe UI"/>
              </a:defRPr>
            </a:pPr>
            <a:r>
              <a:t>🛡️</a:t>
            </a:r>
          </a:p>
        </p:txBody>
      </p:sp>
      <p:sp>
        <p:nvSpPr>
          <p:cNvPr id="25" name="TextBox 24"/>
          <p:cNvSpPr txBox="1"/>
          <p:nvPr/>
        </p:nvSpPr>
        <p:spPr>
          <a:xfrm>
            <a:off x="9509760" y="2468880"/>
            <a:ext cx="2011680" cy="731520"/>
          </a:xfrm>
          <a:prstGeom prst="rect">
            <a:avLst/>
          </a:prstGeom>
          <a:noFill/>
        </p:spPr>
        <p:txBody>
          <a:bodyPr wrap="square">
            <a:spAutoFit/>
          </a:bodyPr>
          <a:lstStyle/>
          <a:p>
            <a:pPr algn="ctr">
              <a:defRPr sz="2800" b="1">
                <a:solidFill>
                  <a:srgbClr val="0078D4"/>
                </a:solidFill>
                <a:latin typeface="Segoe UI"/>
              </a:defRPr>
            </a:pPr>
            <a:r>
              <a:t>Audit</a:t>
            </a:r>
          </a:p>
        </p:txBody>
      </p:sp>
      <p:sp>
        <p:nvSpPr>
          <p:cNvPr id="26" name="TextBox 25"/>
          <p:cNvSpPr txBox="1"/>
          <p:nvPr/>
        </p:nvSpPr>
        <p:spPr>
          <a:xfrm>
            <a:off x="9509760" y="3017520"/>
            <a:ext cx="2011680" cy="457200"/>
          </a:xfrm>
          <a:prstGeom prst="rect">
            <a:avLst/>
          </a:prstGeom>
          <a:noFill/>
        </p:spPr>
        <p:txBody>
          <a:bodyPr wrap="square">
            <a:spAutoFit/>
          </a:bodyPr>
          <a:lstStyle/>
          <a:p>
            <a:pPr algn="ctr">
              <a:defRPr sz="1600" b="1">
                <a:solidFill>
                  <a:srgbClr val="242424"/>
                </a:solidFill>
                <a:latin typeface="Segoe UI"/>
              </a:defRPr>
            </a:pPr>
            <a:r>
              <a:t>Trail</a:t>
            </a:r>
          </a:p>
        </p:txBody>
      </p:sp>
      <p:sp>
        <p:nvSpPr>
          <p:cNvPr id="27" name="Rectangle 26"/>
          <p:cNvSpPr/>
          <p:nvPr/>
        </p:nvSpPr>
        <p:spPr>
          <a:xfrm>
            <a:off x="9784080" y="3566160"/>
            <a:ext cx="1463040"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18320" y="3749039"/>
            <a:ext cx="2194560" cy="1097280"/>
          </a:xfrm>
          <a:prstGeom prst="rect">
            <a:avLst/>
          </a:prstGeom>
          <a:noFill/>
        </p:spPr>
        <p:txBody>
          <a:bodyPr wrap="square">
            <a:spAutoFit/>
          </a:bodyPr>
          <a:lstStyle/>
          <a:p>
            <a:pPr algn="ctr">
              <a:defRPr sz="1300" b="0">
                <a:solidFill>
                  <a:srgbClr val="606060"/>
                </a:solidFill>
                <a:latin typeface="Segoe UI"/>
              </a:defRPr>
            </a:pPr>
            <a:r>
              <a:t>Scripts serve as living</a:t>
            </a:r>
            <a:br/>
            <a:r>
              <a:t>documentation of what</a:t>
            </a:r>
            <a:br/>
            <a:r>
              <a:t>was changed and when</a:t>
            </a:r>
          </a:p>
        </p:txBody>
      </p:sp>
      <p:sp>
        <p:nvSpPr>
          <p:cNvPr id="29" name="Rounded Rectangle 28"/>
          <p:cNvSpPr/>
          <p:nvPr/>
        </p:nvSpPr>
        <p:spPr>
          <a:xfrm>
            <a:off x="731520" y="5394960"/>
            <a:ext cx="10698480" cy="640080"/>
          </a:xfrm>
          <a:prstGeom prst="roundRect">
            <a:avLst>
              <a:gd name="adj" fmla="val 5000"/>
            </a:avLst>
          </a:prstGeom>
          <a:solidFill>
            <a:srgbClr val="FD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440680"/>
            <a:ext cx="10149840" cy="548640"/>
          </a:xfrm>
          <a:prstGeom prst="rect">
            <a:avLst/>
          </a:prstGeom>
          <a:noFill/>
        </p:spPr>
        <p:txBody>
          <a:bodyPr wrap="square">
            <a:spAutoFit/>
          </a:bodyPr>
          <a:lstStyle/>
          <a:p>
            <a:pPr algn="l">
              <a:defRPr sz="1400" b="0">
                <a:solidFill>
                  <a:srgbClr val="D13438"/>
                </a:solidFill>
                <a:latin typeface="Segoe UI"/>
              </a:defRPr>
            </a:pPr>
            <a:r>
              <a:t>⚠️  Shared-tenant rule:  Always start with read-only reporting. Scope by NW-Pxx- prefix before making any changes. Tenant-wide changes are trainer-led only.</a:t>
            </a:r>
          </a:p>
        </p:txBody>
      </p:sp>
      <p:sp>
        <p:nvSpPr>
          <p:cNvPr id="31" name="Rectangle 30"/>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10  |  Administration and Automation with PowerShell</a:t>
            </a:r>
          </a:p>
        </p:txBody>
      </p:sp>
      <p:sp>
        <p:nvSpPr>
          <p:cNvPr id="33" name="TextBox 32"/>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Learning Outcomes</a:t>
            </a:r>
          </a:p>
        </p:txBody>
      </p:sp>
      <p:sp>
        <p:nvSpPr>
          <p:cNvPr id="4" name="Rounded Rectangle 3"/>
          <p:cNvSpPr/>
          <p:nvPr/>
        </p:nvSpPr>
        <p:spPr>
          <a:xfrm>
            <a:off x="731520" y="146304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2000" b="1">
                <a:solidFill>
                  <a:srgbClr val="FFFFFF"/>
                </a:solidFill>
                <a:latin typeface="Segoe UI"/>
              </a:defRPr>
            </a:pPr>
            <a:r>
              <a:t>1</a:t>
            </a:r>
          </a:p>
        </p:txBody>
      </p:sp>
      <p:sp>
        <p:nvSpPr>
          <p:cNvPr id="5" name="TextBox 4"/>
          <p:cNvSpPr txBox="1"/>
          <p:nvPr/>
        </p:nvSpPr>
        <p:spPr>
          <a:xfrm>
            <a:off x="1463040" y="1508760"/>
            <a:ext cx="9601200" cy="457200"/>
          </a:xfrm>
          <a:prstGeom prst="rect">
            <a:avLst/>
          </a:prstGeom>
          <a:noFill/>
        </p:spPr>
        <p:txBody>
          <a:bodyPr wrap="square">
            <a:spAutoFit/>
          </a:bodyPr>
          <a:lstStyle/>
          <a:p>
            <a:pPr algn="l">
              <a:defRPr sz="1800" b="0">
                <a:solidFill>
                  <a:srgbClr val="242424"/>
                </a:solidFill>
                <a:latin typeface="Segoe UI"/>
              </a:defRPr>
            </a:pPr>
            <a:r>
              <a:t>Connect to SharePoint Online using SharePoint Online PowerShell</a:t>
            </a:r>
          </a:p>
        </p:txBody>
      </p:sp>
      <p:sp>
        <p:nvSpPr>
          <p:cNvPr id="6" name="Rounded Rectangle 5"/>
          <p:cNvSpPr/>
          <p:nvPr/>
        </p:nvSpPr>
        <p:spPr>
          <a:xfrm>
            <a:off x="731520" y="251460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2000" b="1">
                <a:solidFill>
                  <a:srgbClr val="FFFFFF"/>
                </a:solidFill>
                <a:latin typeface="Segoe UI"/>
              </a:defRPr>
            </a:pPr>
            <a:r>
              <a:t>2</a:t>
            </a:r>
          </a:p>
        </p:txBody>
      </p:sp>
      <p:sp>
        <p:nvSpPr>
          <p:cNvPr id="7" name="TextBox 6"/>
          <p:cNvSpPr txBox="1"/>
          <p:nvPr/>
        </p:nvSpPr>
        <p:spPr>
          <a:xfrm>
            <a:off x="1463040" y="2560320"/>
            <a:ext cx="9601200" cy="457200"/>
          </a:xfrm>
          <a:prstGeom prst="rect">
            <a:avLst/>
          </a:prstGeom>
          <a:noFill/>
        </p:spPr>
        <p:txBody>
          <a:bodyPr wrap="square">
            <a:spAutoFit/>
          </a:bodyPr>
          <a:lstStyle/>
          <a:p>
            <a:pPr algn="l">
              <a:defRPr sz="1800" b="0">
                <a:solidFill>
                  <a:srgbClr val="242424"/>
                </a:solidFill>
                <a:latin typeface="Segoe UI"/>
              </a:defRPr>
            </a:pPr>
            <a:r>
              <a:t>Generate and export basic admin reports (sites, users/groups)</a:t>
            </a:r>
          </a:p>
        </p:txBody>
      </p:sp>
      <p:sp>
        <p:nvSpPr>
          <p:cNvPr id="8" name="Rounded Rectangle 7"/>
          <p:cNvSpPr/>
          <p:nvPr/>
        </p:nvSpPr>
        <p:spPr>
          <a:xfrm>
            <a:off x="731520" y="356616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2000" b="1">
                <a:solidFill>
                  <a:srgbClr val="FFFFFF"/>
                </a:solidFill>
                <a:latin typeface="Segoe UI"/>
              </a:defRPr>
            </a:pPr>
            <a:r>
              <a:t>3</a:t>
            </a:r>
          </a:p>
        </p:txBody>
      </p:sp>
      <p:sp>
        <p:nvSpPr>
          <p:cNvPr id="9" name="TextBox 8"/>
          <p:cNvSpPr txBox="1"/>
          <p:nvPr/>
        </p:nvSpPr>
        <p:spPr>
          <a:xfrm>
            <a:off x="1463040" y="3611880"/>
            <a:ext cx="9601200" cy="457200"/>
          </a:xfrm>
          <a:prstGeom prst="rect">
            <a:avLst/>
          </a:prstGeom>
          <a:noFill/>
        </p:spPr>
        <p:txBody>
          <a:bodyPr wrap="square">
            <a:spAutoFit/>
          </a:bodyPr>
          <a:lstStyle/>
          <a:p>
            <a:pPr algn="l">
              <a:defRPr sz="1800" b="0">
                <a:solidFill>
                  <a:srgbClr val="242424"/>
                </a:solidFill>
                <a:latin typeface="Segoe UI"/>
              </a:defRPr>
            </a:pPr>
            <a:r>
              <a:t>Run safe bulk operations using CSV-driven scripts</a:t>
            </a:r>
          </a:p>
        </p:txBody>
      </p:sp>
      <p:sp>
        <p:nvSpPr>
          <p:cNvPr id="10" name="Rounded Rectangle 9"/>
          <p:cNvSpPr/>
          <p:nvPr/>
        </p:nvSpPr>
        <p:spPr>
          <a:xfrm>
            <a:off x="731520" y="461772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2000" b="1">
                <a:solidFill>
                  <a:srgbClr val="FFFFFF"/>
                </a:solidFill>
                <a:latin typeface="Segoe UI"/>
              </a:defRPr>
            </a:pPr>
            <a:r>
              <a:t>4</a:t>
            </a:r>
          </a:p>
        </p:txBody>
      </p:sp>
      <p:sp>
        <p:nvSpPr>
          <p:cNvPr id="11" name="TextBox 10"/>
          <p:cNvSpPr txBox="1"/>
          <p:nvPr/>
        </p:nvSpPr>
        <p:spPr>
          <a:xfrm>
            <a:off x="1463040" y="4663440"/>
            <a:ext cx="9601200" cy="457200"/>
          </a:xfrm>
          <a:prstGeom prst="rect">
            <a:avLst/>
          </a:prstGeom>
          <a:noFill/>
        </p:spPr>
        <p:txBody>
          <a:bodyPr wrap="square">
            <a:spAutoFit/>
          </a:bodyPr>
          <a:lstStyle/>
          <a:p>
            <a:pPr algn="l">
              <a:defRPr sz="1800" b="0">
                <a:solidFill>
                  <a:srgbClr val="242424"/>
                </a:solidFill>
                <a:latin typeface="Segoe UI"/>
              </a:defRPr>
            </a:pPr>
            <a:r>
              <a:t>Connect to Microsoft Graph using Graph PowerShell and understand scopes</a:t>
            </a:r>
          </a:p>
        </p:txBody>
      </p:sp>
      <p:sp>
        <p:nvSpPr>
          <p:cNvPr id="12" name="Rectangle 11"/>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10  |  Administration and Automation with PowerShell</a:t>
            </a:r>
          </a:p>
        </p:txBody>
      </p:sp>
      <p:sp>
        <p:nvSpPr>
          <p:cNvPr id="14" name="TextBox 13"/>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SharePoint Online PowerShell</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Connect, query, and manage your tenant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Installing the PowerShell Modules</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Two modules you'll need for this module and beyond</a:t>
            </a:r>
          </a:p>
        </p:txBody>
      </p:sp>
      <p:sp>
        <p:nvSpPr>
          <p:cNvPr id="5" name="Rounded Rectangle 4"/>
          <p:cNvSpPr/>
          <p:nvPr/>
        </p:nvSpPr>
        <p:spPr>
          <a:xfrm>
            <a:off x="731520" y="1554480"/>
            <a:ext cx="5120640" cy="4114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554480"/>
            <a:ext cx="512064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4754880" cy="457200"/>
          </a:xfrm>
          <a:prstGeom prst="rect">
            <a:avLst/>
          </a:prstGeom>
          <a:noFill/>
        </p:spPr>
        <p:txBody>
          <a:bodyPr wrap="square">
            <a:spAutoFit/>
          </a:bodyPr>
          <a:lstStyle/>
          <a:p>
            <a:pPr algn="ctr">
              <a:defRPr sz="2000" b="1">
                <a:solidFill>
                  <a:srgbClr val="0078D4"/>
                </a:solidFill>
                <a:latin typeface="Segoe UI"/>
              </a:defRPr>
            </a:pPr>
            <a:r>
              <a:t>🔵  SharePoint Online Management Shell</a:t>
            </a:r>
          </a:p>
        </p:txBody>
      </p:sp>
      <p:sp>
        <p:nvSpPr>
          <p:cNvPr id="8" name="TextBox 7"/>
          <p:cNvSpPr txBox="1"/>
          <p:nvPr/>
        </p:nvSpPr>
        <p:spPr>
          <a:xfrm>
            <a:off x="1097280" y="2377440"/>
            <a:ext cx="4572000" cy="2926080"/>
          </a:xfrm>
          <a:prstGeom prst="rect">
            <a:avLst/>
          </a:prstGeom>
          <a:noFill/>
        </p:spPr>
        <p:txBody>
          <a:bodyPr wrap="square">
            <a:spAutoFit/>
          </a:bodyPr>
          <a:lstStyle/>
          <a:p>
            <a:pPr>
              <a:spcAft>
                <a:spcPts val="600"/>
              </a:spcAft>
              <a:defRPr sz="1500">
                <a:solidFill>
                  <a:srgbClr val="242424"/>
                </a:solidFill>
                <a:latin typeface="Segoe UI"/>
              </a:defRPr>
            </a:pPr>
            <a:r>
              <a:t>▸ Download MSI from microsoft.com/download</a:t>
            </a:r>
          </a:p>
          <a:p>
            <a:pPr>
              <a:spcAft>
                <a:spcPts val="600"/>
              </a:spcAft>
              <a:defRPr sz="1500">
                <a:solidFill>
                  <a:srgbClr val="242424"/>
                </a:solidFill>
                <a:latin typeface="Segoe UI"/>
              </a:defRPr>
            </a:pPr>
            <a:r>
              <a:t>▸ Provides: Connect-SPOService, Get-SPOSite,</a:t>
            </a:r>
          </a:p>
          <a:p>
            <a:pPr>
              <a:spcAft>
                <a:spcPts val="600"/>
              </a:spcAft>
              <a:defRPr sz="1500">
                <a:solidFill>
                  <a:srgbClr val="242424"/>
                </a:solidFill>
                <a:latin typeface="Segoe UI"/>
              </a:defRPr>
            </a:pPr>
            <a:r>
              <a:t>▸   Get-SPOUser, Set-SPOSite, and more</a:t>
            </a:r>
          </a:p>
          <a:p>
            <a:pPr>
              <a:spcAft>
                <a:spcPts val="600"/>
              </a:spcAft>
              <a:defRPr sz="1500">
                <a:solidFill>
                  <a:srgbClr val="242424"/>
                </a:solidFill>
                <a:latin typeface="Segoe UI"/>
              </a:defRPr>
            </a:pPr>
            <a:r>
              <a:t>▸ Validate: Get-Command Connect-SPOService</a:t>
            </a:r>
          </a:p>
          <a:p>
            <a:pPr>
              <a:spcAft>
                <a:spcPts val="600"/>
              </a:spcAft>
              <a:defRPr sz="1500">
                <a:solidFill>
                  <a:srgbClr val="242424"/>
                </a:solidFill>
                <a:latin typeface="Segoe UI"/>
              </a:defRPr>
            </a:pPr>
            <a:r>
              <a:t>▸ One connection per PowerShell session</a:t>
            </a:r>
          </a:p>
        </p:txBody>
      </p:sp>
      <p:sp>
        <p:nvSpPr>
          <p:cNvPr id="9" name="Rounded Rectangle 8"/>
          <p:cNvSpPr/>
          <p:nvPr/>
        </p:nvSpPr>
        <p:spPr>
          <a:xfrm>
            <a:off x="6309360" y="1554480"/>
            <a:ext cx="5120640" cy="4114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57200"/>
          </a:xfrm>
          <a:prstGeom prst="rect">
            <a:avLst/>
          </a:prstGeom>
          <a:noFill/>
        </p:spPr>
        <p:txBody>
          <a:bodyPr wrap="square">
            <a:spAutoFit/>
          </a:bodyPr>
          <a:lstStyle/>
          <a:p>
            <a:pPr algn="ctr">
              <a:defRPr sz="2000" b="1">
                <a:solidFill>
                  <a:srgbClr val="00B294"/>
                </a:solidFill>
                <a:latin typeface="Segoe UI"/>
              </a:defRPr>
            </a:pPr>
            <a:r>
              <a:t>🟢  Microsoft Graph PowerShell</a:t>
            </a:r>
          </a:p>
        </p:txBody>
      </p:sp>
      <p:sp>
        <p:nvSpPr>
          <p:cNvPr id="12" name="TextBox 11"/>
          <p:cNvSpPr txBox="1"/>
          <p:nvPr/>
        </p:nvSpPr>
        <p:spPr>
          <a:xfrm>
            <a:off x="6675120" y="2377440"/>
            <a:ext cx="4572000" cy="2926080"/>
          </a:xfrm>
          <a:prstGeom prst="rect">
            <a:avLst/>
          </a:prstGeom>
          <a:noFill/>
        </p:spPr>
        <p:txBody>
          <a:bodyPr wrap="square">
            <a:spAutoFit/>
          </a:bodyPr>
          <a:lstStyle/>
          <a:p>
            <a:pPr>
              <a:spcAft>
                <a:spcPts val="600"/>
              </a:spcAft>
              <a:defRPr sz="1500">
                <a:solidFill>
                  <a:srgbClr val="242424"/>
                </a:solidFill>
                <a:latin typeface="Segoe UI"/>
              </a:defRPr>
            </a:pPr>
            <a:r>
              <a:t>▸ Install-Module Microsoft.Graph</a:t>
            </a:r>
          </a:p>
          <a:p>
            <a:pPr>
              <a:spcAft>
                <a:spcPts val="600"/>
              </a:spcAft>
              <a:defRPr sz="1500">
                <a:solidFill>
                  <a:srgbClr val="242424"/>
                </a:solidFill>
                <a:latin typeface="Segoe UI"/>
              </a:defRPr>
            </a:pPr>
            <a:r>
              <a:t>▸   -Scope CurrentUser -Repository PSGallery</a:t>
            </a:r>
          </a:p>
          <a:p>
            <a:pPr>
              <a:spcAft>
                <a:spcPts val="600"/>
              </a:spcAft>
              <a:defRPr sz="1500">
                <a:solidFill>
                  <a:srgbClr val="242424"/>
                </a:solidFill>
                <a:latin typeface="Segoe UI"/>
              </a:defRPr>
            </a:pPr>
            <a:r>
              <a:t>▸ Provides: Connect-MgGraph, Get-MgUser, etc.</a:t>
            </a:r>
          </a:p>
          <a:p>
            <a:pPr>
              <a:spcAft>
                <a:spcPts val="600"/>
              </a:spcAft>
              <a:defRPr sz="1500">
                <a:solidFill>
                  <a:srgbClr val="242424"/>
                </a:solidFill>
                <a:latin typeface="Segoe UI"/>
              </a:defRPr>
            </a:pPr>
            <a:r>
              <a:t>▸ Validate: Get-Command Connect-MgGraph</a:t>
            </a:r>
          </a:p>
          <a:p>
            <a:pPr>
              <a:spcAft>
                <a:spcPts val="600"/>
              </a:spcAft>
              <a:defRPr sz="1500">
                <a:solidFill>
                  <a:srgbClr val="242424"/>
                </a:solidFill>
                <a:latin typeface="Segoe UI"/>
              </a:defRPr>
            </a:pPr>
            <a:r>
              <a:t>▸ Scopes govern what the session can do</a:t>
            </a:r>
          </a:p>
        </p:txBody>
      </p:sp>
      <p:sp>
        <p:nvSpPr>
          <p:cNvPr id="13" name="Rectangle 12"/>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10  |  Administration and Automation with PowerShell</a:t>
            </a:r>
          </a:p>
        </p:txBody>
      </p:sp>
      <p:sp>
        <p:nvSpPr>
          <p:cNvPr id="15" name="TextBox 14"/>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Connecting to SharePoint Online PowerShell</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Establish your admin session to the tenant</a:t>
            </a:r>
          </a:p>
        </p:txBody>
      </p:sp>
      <p:sp>
        <p:nvSpPr>
          <p:cNvPr id="5" name="Rounded Rectangle 4"/>
          <p:cNvSpPr/>
          <p:nvPr/>
        </p:nvSpPr>
        <p:spPr>
          <a:xfrm>
            <a:off x="731520" y="1645920"/>
            <a:ext cx="10698480" cy="1097280"/>
          </a:xfrm>
          <a:prstGeom prst="roundRect">
            <a:avLst>
              <a:gd name="adj" fmla="val 5000"/>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83080"/>
            <a:ext cx="10058400" cy="822960"/>
          </a:xfrm>
          <a:prstGeom prst="rect">
            <a:avLst/>
          </a:prstGeom>
          <a:noFill/>
        </p:spPr>
        <p:txBody>
          <a:bodyPr wrap="square">
            <a:spAutoFit/>
          </a:bodyPr>
          <a:lstStyle/>
          <a:p>
            <a:pPr algn="l">
              <a:defRPr sz="2200" b="0">
                <a:solidFill>
                  <a:srgbClr val="00B294"/>
                </a:solidFill>
                <a:latin typeface="Cascadia Code"/>
              </a:defRPr>
            </a:pPr>
            <a:r>
              <a:t>Connect-SPOService -Url https://&lt;tenant&gt;-admin.sharepoint.com</a:t>
            </a:r>
          </a:p>
        </p:txBody>
      </p:sp>
      <p:sp>
        <p:nvSpPr>
          <p:cNvPr id="7" name="Rounded Rectangle 6"/>
          <p:cNvSpPr/>
          <p:nvPr/>
        </p:nvSpPr>
        <p:spPr>
          <a:xfrm>
            <a:off x="731520" y="3017520"/>
            <a:ext cx="5303520" cy="1371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3017520"/>
            <a:ext cx="73152" cy="13716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108960"/>
            <a:ext cx="457200" cy="365760"/>
          </a:xfrm>
          <a:prstGeom prst="rect">
            <a:avLst/>
          </a:prstGeom>
          <a:noFill/>
        </p:spPr>
        <p:txBody>
          <a:bodyPr wrap="square">
            <a:spAutoFit/>
          </a:bodyPr>
          <a:lstStyle/>
          <a:p>
            <a:pPr algn="ctr">
              <a:defRPr sz="2400" b="0">
                <a:solidFill>
                  <a:srgbClr val="242424"/>
                </a:solidFill>
                <a:latin typeface="Segoe UI"/>
              </a:defRPr>
            </a:pPr>
            <a:r>
              <a:t>🔗</a:t>
            </a:r>
          </a:p>
        </p:txBody>
      </p:sp>
      <p:sp>
        <p:nvSpPr>
          <p:cNvPr id="10" name="TextBox 9"/>
          <p:cNvSpPr txBox="1"/>
          <p:nvPr/>
        </p:nvSpPr>
        <p:spPr>
          <a:xfrm>
            <a:off x="1554480" y="3108960"/>
            <a:ext cx="4206240" cy="320040"/>
          </a:xfrm>
          <a:prstGeom prst="rect">
            <a:avLst/>
          </a:prstGeom>
          <a:noFill/>
        </p:spPr>
        <p:txBody>
          <a:bodyPr wrap="square">
            <a:spAutoFit/>
          </a:bodyPr>
          <a:lstStyle/>
          <a:p>
            <a:pPr algn="l">
              <a:defRPr sz="1600" b="1">
                <a:solidFill>
                  <a:srgbClr val="0078D4"/>
                </a:solidFill>
                <a:latin typeface="Segoe UI"/>
              </a:defRPr>
            </a:pPr>
            <a:r>
              <a:t>One Connection</a:t>
            </a:r>
          </a:p>
        </p:txBody>
      </p:sp>
      <p:sp>
        <p:nvSpPr>
          <p:cNvPr id="11" name="TextBox 10"/>
          <p:cNvSpPr txBox="1"/>
          <p:nvPr/>
        </p:nvSpPr>
        <p:spPr>
          <a:xfrm>
            <a:off x="1554480" y="3474720"/>
            <a:ext cx="4206240" cy="822960"/>
          </a:xfrm>
          <a:prstGeom prst="rect">
            <a:avLst/>
          </a:prstGeom>
          <a:noFill/>
        </p:spPr>
        <p:txBody>
          <a:bodyPr wrap="square">
            <a:spAutoFit/>
          </a:bodyPr>
          <a:lstStyle/>
          <a:p>
            <a:pPr algn="l">
              <a:defRPr sz="1200" b="0">
                <a:solidFill>
                  <a:srgbClr val="242424"/>
                </a:solidFill>
                <a:latin typeface="Segoe UI"/>
              </a:defRPr>
            </a:pPr>
            <a:r>
              <a:t>Only one SPO connection per PowerShell session.</a:t>
            </a:r>
            <a:br/>
            <a:r>
              <a:t>Running Connect-SPOService again replaces the existing connection.</a:t>
            </a:r>
          </a:p>
        </p:txBody>
      </p:sp>
      <p:sp>
        <p:nvSpPr>
          <p:cNvPr id="12" name="Rounded Rectangle 11"/>
          <p:cNvSpPr/>
          <p:nvPr/>
        </p:nvSpPr>
        <p:spPr>
          <a:xfrm>
            <a:off x="6400800" y="3017520"/>
            <a:ext cx="5303520" cy="1371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3017520"/>
            <a:ext cx="73152" cy="1371600"/>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3108960"/>
            <a:ext cx="457200" cy="365760"/>
          </a:xfrm>
          <a:prstGeom prst="rect">
            <a:avLst/>
          </a:prstGeom>
          <a:noFill/>
        </p:spPr>
        <p:txBody>
          <a:bodyPr wrap="square">
            <a:spAutoFit/>
          </a:bodyPr>
          <a:lstStyle/>
          <a:p>
            <a:pPr algn="ctr">
              <a:defRPr sz="2400" b="0">
                <a:solidFill>
                  <a:srgbClr val="242424"/>
                </a:solidFill>
                <a:latin typeface="Segoe UI"/>
              </a:defRPr>
            </a:pPr>
            <a:r>
              <a:t>🔑</a:t>
            </a:r>
          </a:p>
        </p:txBody>
      </p:sp>
      <p:sp>
        <p:nvSpPr>
          <p:cNvPr id="15" name="TextBox 14"/>
          <p:cNvSpPr txBox="1"/>
          <p:nvPr/>
        </p:nvSpPr>
        <p:spPr>
          <a:xfrm>
            <a:off x="7223760" y="3108960"/>
            <a:ext cx="4206240" cy="320040"/>
          </a:xfrm>
          <a:prstGeom prst="rect">
            <a:avLst/>
          </a:prstGeom>
          <a:noFill/>
        </p:spPr>
        <p:txBody>
          <a:bodyPr wrap="square">
            <a:spAutoFit/>
          </a:bodyPr>
          <a:lstStyle/>
          <a:p>
            <a:pPr algn="l">
              <a:defRPr sz="1600" b="1">
                <a:solidFill>
                  <a:srgbClr val="00B294"/>
                </a:solidFill>
                <a:latin typeface="Segoe UI"/>
              </a:defRPr>
            </a:pPr>
            <a:r>
              <a:t>Authentication</a:t>
            </a:r>
          </a:p>
        </p:txBody>
      </p:sp>
      <p:sp>
        <p:nvSpPr>
          <p:cNvPr id="16" name="TextBox 15"/>
          <p:cNvSpPr txBox="1"/>
          <p:nvPr/>
        </p:nvSpPr>
        <p:spPr>
          <a:xfrm>
            <a:off x="7223760" y="3474720"/>
            <a:ext cx="4206240" cy="822960"/>
          </a:xfrm>
          <a:prstGeom prst="rect">
            <a:avLst/>
          </a:prstGeom>
          <a:noFill/>
        </p:spPr>
        <p:txBody>
          <a:bodyPr wrap="square">
            <a:spAutoFit/>
          </a:bodyPr>
          <a:lstStyle/>
          <a:p>
            <a:pPr algn="l">
              <a:defRPr sz="1200" b="0">
                <a:solidFill>
                  <a:srgbClr val="242424"/>
                </a:solidFill>
                <a:latin typeface="Segoe UI"/>
              </a:defRPr>
            </a:pPr>
            <a:r>
              <a:t>Uses modern auth (MFA supported).</a:t>
            </a:r>
            <a:br/>
            <a:r>
              <a:t>Credentials apply to all subsequent SPO cmdlets in the session.</a:t>
            </a:r>
          </a:p>
        </p:txBody>
      </p:sp>
      <p:sp>
        <p:nvSpPr>
          <p:cNvPr id="17" name="Rounded Rectangle 16"/>
          <p:cNvSpPr/>
          <p:nvPr/>
        </p:nvSpPr>
        <p:spPr>
          <a:xfrm>
            <a:off x="731520" y="4572000"/>
            <a:ext cx="5303520" cy="1371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572000"/>
            <a:ext cx="73152" cy="1371600"/>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663440"/>
            <a:ext cx="457200" cy="365760"/>
          </a:xfrm>
          <a:prstGeom prst="rect">
            <a:avLst/>
          </a:prstGeom>
          <a:noFill/>
        </p:spPr>
        <p:txBody>
          <a:bodyPr wrap="square">
            <a:spAutoFit/>
          </a:bodyPr>
          <a:lstStyle/>
          <a:p>
            <a:pPr algn="ctr">
              <a:defRPr sz="2400" b="0">
                <a:solidFill>
                  <a:srgbClr val="242424"/>
                </a:solidFill>
                <a:latin typeface="Segoe UI"/>
              </a:defRPr>
            </a:pPr>
            <a:r>
              <a:t>📍</a:t>
            </a:r>
          </a:p>
        </p:txBody>
      </p:sp>
      <p:sp>
        <p:nvSpPr>
          <p:cNvPr id="20" name="TextBox 19"/>
          <p:cNvSpPr txBox="1"/>
          <p:nvPr/>
        </p:nvSpPr>
        <p:spPr>
          <a:xfrm>
            <a:off x="1554480" y="4663440"/>
            <a:ext cx="4206240" cy="320040"/>
          </a:xfrm>
          <a:prstGeom prst="rect">
            <a:avLst/>
          </a:prstGeom>
          <a:noFill/>
        </p:spPr>
        <p:txBody>
          <a:bodyPr wrap="square">
            <a:spAutoFit/>
          </a:bodyPr>
          <a:lstStyle/>
          <a:p>
            <a:pPr algn="l">
              <a:defRPr sz="1600" b="1">
                <a:solidFill>
                  <a:srgbClr val="6B69D6"/>
                </a:solidFill>
                <a:latin typeface="Segoe UI"/>
              </a:defRPr>
            </a:pPr>
            <a:r>
              <a:t>Admin URL Format</a:t>
            </a:r>
          </a:p>
        </p:txBody>
      </p:sp>
      <p:sp>
        <p:nvSpPr>
          <p:cNvPr id="21" name="TextBox 20"/>
          <p:cNvSpPr txBox="1"/>
          <p:nvPr/>
        </p:nvSpPr>
        <p:spPr>
          <a:xfrm>
            <a:off x="1554480" y="5029200"/>
            <a:ext cx="4206240" cy="822960"/>
          </a:xfrm>
          <a:prstGeom prst="rect">
            <a:avLst/>
          </a:prstGeom>
          <a:noFill/>
        </p:spPr>
        <p:txBody>
          <a:bodyPr wrap="square">
            <a:spAutoFit/>
          </a:bodyPr>
          <a:lstStyle/>
          <a:p>
            <a:pPr algn="l">
              <a:defRPr sz="1200" b="0">
                <a:solidFill>
                  <a:srgbClr val="242424"/>
                </a:solidFill>
                <a:latin typeface="Segoe UI"/>
              </a:defRPr>
            </a:pPr>
            <a:r>
              <a:t>Always use the -admin endpoint:</a:t>
            </a:r>
            <a:br/>
            <a:r>
              <a:t>https://&lt;tenant&gt;-admin.sharepoint.com (not the regular site URL).</a:t>
            </a:r>
          </a:p>
        </p:txBody>
      </p:sp>
      <p:sp>
        <p:nvSpPr>
          <p:cNvPr id="22" name="Rounded Rectangle 21"/>
          <p:cNvSpPr/>
          <p:nvPr/>
        </p:nvSpPr>
        <p:spPr>
          <a:xfrm>
            <a:off x="6400800" y="4572000"/>
            <a:ext cx="5303520" cy="1371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0" y="4572000"/>
            <a:ext cx="73152" cy="13716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0" y="4663440"/>
            <a:ext cx="457200" cy="365760"/>
          </a:xfrm>
          <a:prstGeom prst="rect">
            <a:avLst/>
          </a:prstGeom>
          <a:noFill/>
        </p:spPr>
        <p:txBody>
          <a:bodyPr wrap="square">
            <a:spAutoFit/>
          </a:bodyPr>
          <a:lstStyle/>
          <a:p>
            <a:pPr algn="ctr">
              <a:defRPr sz="2400" b="0">
                <a:solidFill>
                  <a:srgbClr val="242424"/>
                </a:solidFill>
                <a:latin typeface="Segoe UI"/>
              </a:defRPr>
            </a:pPr>
            <a:r>
              <a:t>⚡</a:t>
            </a:r>
          </a:p>
        </p:txBody>
      </p:sp>
      <p:sp>
        <p:nvSpPr>
          <p:cNvPr id="25" name="TextBox 24"/>
          <p:cNvSpPr txBox="1"/>
          <p:nvPr/>
        </p:nvSpPr>
        <p:spPr>
          <a:xfrm>
            <a:off x="7223760" y="4663440"/>
            <a:ext cx="4206240" cy="320040"/>
          </a:xfrm>
          <a:prstGeom prst="rect">
            <a:avLst/>
          </a:prstGeom>
          <a:noFill/>
        </p:spPr>
        <p:txBody>
          <a:bodyPr wrap="square">
            <a:spAutoFit/>
          </a:bodyPr>
          <a:lstStyle/>
          <a:p>
            <a:pPr algn="l">
              <a:defRPr sz="1600" b="1">
                <a:solidFill>
                  <a:srgbClr val="FF8C00"/>
                </a:solidFill>
                <a:latin typeface="Segoe UI"/>
              </a:defRPr>
            </a:pPr>
            <a:r>
              <a:t>Session Scope</a:t>
            </a:r>
          </a:p>
        </p:txBody>
      </p:sp>
      <p:sp>
        <p:nvSpPr>
          <p:cNvPr id="26" name="TextBox 25"/>
          <p:cNvSpPr txBox="1"/>
          <p:nvPr/>
        </p:nvSpPr>
        <p:spPr>
          <a:xfrm>
            <a:off x="7223760" y="5029200"/>
            <a:ext cx="4206240" cy="822960"/>
          </a:xfrm>
          <a:prstGeom prst="rect">
            <a:avLst/>
          </a:prstGeom>
          <a:noFill/>
        </p:spPr>
        <p:txBody>
          <a:bodyPr wrap="square">
            <a:spAutoFit/>
          </a:bodyPr>
          <a:lstStyle/>
          <a:p>
            <a:pPr algn="l">
              <a:defRPr sz="1200" b="0">
                <a:solidFill>
                  <a:srgbClr val="242424"/>
                </a:solidFill>
                <a:latin typeface="Segoe UI"/>
              </a:defRPr>
            </a:pPr>
            <a:r>
              <a:t>After connecting, all SPO cmdlets run against this tenant.</a:t>
            </a:r>
            <a:br/>
            <a:r>
              <a:t>Disconnect with Disconnect-SPOService when done.</a:t>
            </a:r>
          </a:p>
        </p:txBody>
      </p:sp>
      <p:sp>
        <p:nvSpPr>
          <p:cNvPr id="27" name="Rectangle 26"/>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10  |  Administration and Automation with PowerShell</a:t>
            </a:r>
          </a:p>
        </p:txBody>
      </p:sp>
      <p:sp>
        <p:nvSpPr>
          <p:cNvPr id="29" name="TextBox 28"/>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Reporting Patterns</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The admin's daily toolbox — filter, select, export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The PowerShell Pipeline Pattern</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Four steps that apply to every reporting task</a:t>
            </a:r>
          </a:p>
        </p:txBody>
      </p:sp>
      <p:sp>
        <p:nvSpPr>
          <p:cNvPr id="5" name="Rounded Rectangle 4"/>
          <p:cNvSpPr/>
          <p:nvPr/>
        </p:nvSpPr>
        <p:spPr>
          <a:xfrm>
            <a:off x="548640"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26517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08760" y="1828800"/>
            <a:ext cx="640080" cy="64008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1</a:t>
            </a:r>
          </a:p>
        </p:txBody>
      </p:sp>
      <p:sp>
        <p:nvSpPr>
          <p:cNvPr id="8" name="TextBox 7"/>
          <p:cNvSpPr txBox="1"/>
          <p:nvPr/>
        </p:nvSpPr>
        <p:spPr>
          <a:xfrm>
            <a:off x="731520" y="2651760"/>
            <a:ext cx="2286000" cy="457200"/>
          </a:xfrm>
          <a:prstGeom prst="rect">
            <a:avLst/>
          </a:prstGeom>
          <a:noFill/>
        </p:spPr>
        <p:txBody>
          <a:bodyPr wrap="square">
            <a:spAutoFit/>
          </a:bodyPr>
          <a:lstStyle/>
          <a:p>
            <a:pPr algn="ctr">
              <a:defRPr sz="1800" b="1">
                <a:solidFill>
                  <a:srgbClr val="0078D4"/>
                </a:solidFill>
                <a:latin typeface="Segoe UI"/>
              </a:defRPr>
            </a:pPr>
            <a:r>
              <a:t>Get Data</a:t>
            </a:r>
          </a:p>
        </p:txBody>
      </p:sp>
      <p:sp>
        <p:nvSpPr>
          <p:cNvPr id="9" name="TextBox 8"/>
          <p:cNvSpPr txBox="1"/>
          <p:nvPr/>
        </p:nvSpPr>
        <p:spPr>
          <a:xfrm>
            <a:off x="731520" y="3200400"/>
            <a:ext cx="2286000" cy="1097280"/>
          </a:xfrm>
          <a:prstGeom prst="rect">
            <a:avLst/>
          </a:prstGeom>
          <a:noFill/>
        </p:spPr>
        <p:txBody>
          <a:bodyPr wrap="square">
            <a:spAutoFit/>
          </a:bodyPr>
          <a:lstStyle/>
          <a:p>
            <a:pPr algn="ctr">
              <a:defRPr sz="1400" b="0">
                <a:solidFill>
                  <a:srgbClr val="242424"/>
                </a:solidFill>
                <a:latin typeface="Segoe UI"/>
              </a:defRPr>
            </a:pPr>
            <a:r>
              <a:t>Run the cmdlet to retrieve</a:t>
            </a:r>
            <a:br/>
            <a:r>
              <a:t>all objects from the source</a:t>
            </a:r>
            <a:br/>
            <a:r>
              <a:t>(Get-SPOSite -Limit All)</a:t>
            </a:r>
          </a:p>
        </p:txBody>
      </p:sp>
      <p:sp>
        <p:nvSpPr>
          <p:cNvPr id="10" name="TextBox 9"/>
          <p:cNvSpPr txBox="1"/>
          <p:nvPr/>
        </p:nvSpPr>
        <p:spPr>
          <a:xfrm>
            <a:off x="3246120" y="2926080"/>
            <a:ext cx="274320" cy="457200"/>
          </a:xfrm>
          <a:prstGeom prst="rect">
            <a:avLst/>
          </a:prstGeom>
          <a:noFill/>
        </p:spPr>
        <p:txBody>
          <a:bodyPr wrap="square">
            <a:spAutoFit/>
          </a:bodyPr>
          <a:lstStyle/>
          <a:p>
            <a:pPr algn="ctr">
              <a:defRPr sz="2400" b="1">
                <a:solidFill>
                  <a:srgbClr val="606060"/>
                </a:solidFill>
                <a:latin typeface="Segoe UI"/>
              </a:defRPr>
            </a:pPr>
            <a:r>
              <a:t>→</a:t>
            </a:r>
          </a:p>
        </p:txBody>
      </p:sp>
      <p:sp>
        <p:nvSpPr>
          <p:cNvPr id="11" name="Rounded Rectangle 10"/>
          <p:cNvSpPr/>
          <p:nvPr/>
        </p:nvSpPr>
        <p:spPr>
          <a:xfrm>
            <a:off x="3429000"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1645920"/>
            <a:ext cx="265176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89120" y="1828800"/>
            <a:ext cx="640080" cy="640080"/>
          </a:xfrm>
          <a:prstGeom prst="roundRect">
            <a:avLst>
              <a:gd name="adj" fmla="val 5000"/>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2</a:t>
            </a:r>
          </a:p>
        </p:txBody>
      </p:sp>
      <p:sp>
        <p:nvSpPr>
          <p:cNvPr id="14" name="TextBox 13"/>
          <p:cNvSpPr txBox="1"/>
          <p:nvPr/>
        </p:nvSpPr>
        <p:spPr>
          <a:xfrm>
            <a:off x="3611880" y="2651760"/>
            <a:ext cx="2286000" cy="457200"/>
          </a:xfrm>
          <a:prstGeom prst="rect">
            <a:avLst/>
          </a:prstGeom>
          <a:noFill/>
        </p:spPr>
        <p:txBody>
          <a:bodyPr wrap="square">
            <a:spAutoFit/>
          </a:bodyPr>
          <a:lstStyle/>
          <a:p>
            <a:pPr algn="ctr">
              <a:defRPr sz="1800" b="1">
                <a:solidFill>
                  <a:srgbClr val="00B294"/>
                </a:solidFill>
                <a:latin typeface="Segoe UI"/>
              </a:defRPr>
            </a:pPr>
            <a:r>
              <a:t>Filter</a:t>
            </a:r>
          </a:p>
        </p:txBody>
      </p:sp>
      <p:sp>
        <p:nvSpPr>
          <p:cNvPr id="15" name="TextBox 14"/>
          <p:cNvSpPr txBox="1"/>
          <p:nvPr/>
        </p:nvSpPr>
        <p:spPr>
          <a:xfrm>
            <a:off x="3611880" y="3200400"/>
            <a:ext cx="2286000" cy="1097280"/>
          </a:xfrm>
          <a:prstGeom prst="rect">
            <a:avLst/>
          </a:prstGeom>
          <a:noFill/>
        </p:spPr>
        <p:txBody>
          <a:bodyPr wrap="square">
            <a:spAutoFit/>
          </a:bodyPr>
          <a:lstStyle/>
          <a:p>
            <a:pPr algn="ctr">
              <a:defRPr sz="1400" b="0">
                <a:solidFill>
                  <a:srgbClr val="242424"/>
                </a:solidFill>
                <a:latin typeface="Segoe UI"/>
              </a:defRPr>
            </a:pPr>
            <a:r>
              <a:t>Narrow results to your scope</a:t>
            </a:r>
            <a:br/>
            <a:r>
              <a:t>using Where-Object</a:t>
            </a:r>
            <a:br/>
            <a:r>
              <a:t>(match NW-Pxx prefix)</a:t>
            </a:r>
          </a:p>
        </p:txBody>
      </p:sp>
      <p:sp>
        <p:nvSpPr>
          <p:cNvPr id="16" name="TextBox 15"/>
          <p:cNvSpPr txBox="1"/>
          <p:nvPr/>
        </p:nvSpPr>
        <p:spPr>
          <a:xfrm>
            <a:off x="6126480" y="2926080"/>
            <a:ext cx="274320" cy="457200"/>
          </a:xfrm>
          <a:prstGeom prst="rect">
            <a:avLst/>
          </a:prstGeom>
          <a:noFill/>
        </p:spPr>
        <p:txBody>
          <a:bodyPr wrap="square">
            <a:spAutoFit/>
          </a:bodyPr>
          <a:lstStyle/>
          <a:p>
            <a:pPr algn="ctr">
              <a:defRPr sz="2400" b="1">
                <a:solidFill>
                  <a:srgbClr val="606060"/>
                </a:solidFill>
                <a:latin typeface="Segoe UI"/>
              </a:defRPr>
            </a:pPr>
            <a:r>
              <a:t>→</a:t>
            </a:r>
          </a:p>
        </p:txBody>
      </p:sp>
      <p:sp>
        <p:nvSpPr>
          <p:cNvPr id="17" name="Rounded Rectangle 16"/>
          <p:cNvSpPr/>
          <p:nvPr/>
        </p:nvSpPr>
        <p:spPr>
          <a:xfrm>
            <a:off x="6309359"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59" y="1645920"/>
            <a:ext cx="265176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269479" y="1828800"/>
            <a:ext cx="640080" cy="64008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3</a:t>
            </a:r>
          </a:p>
        </p:txBody>
      </p:sp>
      <p:sp>
        <p:nvSpPr>
          <p:cNvPr id="20" name="TextBox 19"/>
          <p:cNvSpPr txBox="1"/>
          <p:nvPr/>
        </p:nvSpPr>
        <p:spPr>
          <a:xfrm>
            <a:off x="6492239" y="2651760"/>
            <a:ext cx="2286000" cy="457200"/>
          </a:xfrm>
          <a:prstGeom prst="rect">
            <a:avLst/>
          </a:prstGeom>
          <a:noFill/>
        </p:spPr>
        <p:txBody>
          <a:bodyPr wrap="square">
            <a:spAutoFit/>
          </a:bodyPr>
          <a:lstStyle/>
          <a:p>
            <a:pPr algn="ctr">
              <a:defRPr sz="1800" b="1">
                <a:solidFill>
                  <a:srgbClr val="6B69D6"/>
                </a:solidFill>
                <a:latin typeface="Segoe UI"/>
              </a:defRPr>
            </a:pPr>
            <a:r>
              <a:t>Select</a:t>
            </a:r>
          </a:p>
        </p:txBody>
      </p:sp>
      <p:sp>
        <p:nvSpPr>
          <p:cNvPr id="21" name="TextBox 20"/>
          <p:cNvSpPr txBox="1"/>
          <p:nvPr/>
        </p:nvSpPr>
        <p:spPr>
          <a:xfrm>
            <a:off x="6492239" y="3200400"/>
            <a:ext cx="2286000" cy="1097280"/>
          </a:xfrm>
          <a:prstGeom prst="rect">
            <a:avLst/>
          </a:prstGeom>
          <a:noFill/>
        </p:spPr>
        <p:txBody>
          <a:bodyPr wrap="square">
            <a:spAutoFit/>
          </a:bodyPr>
          <a:lstStyle/>
          <a:p>
            <a:pPr algn="ctr">
              <a:defRPr sz="1400" b="0">
                <a:solidFill>
                  <a:srgbClr val="242424"/>
                </a:solidFill>
                <a:latin typeface="Segoe UI"/>
              </a:defRPr>
            </a:pPr>
            <a:r>
              <a:t>Choose only the columns</a:t>
            </a:r>
            <a:br/>
            <a:r>
              <a:t>you need with Select-Object</a:t>
            </a:r>
            <a:br/>
            <a:r>
              <a:t>(Url, Title, Storage)</a:t>
            </a:r>
          </a:p>
        </p:txBody>
      </p:sp>
      <p:sp>
        <p:nvSpPr>
          <p:cNvPr id="22" name="TextBox 21"/>
          <p:cNvSpPr txBox="1"/>
          <p:nvPr/>
        </p:nvSpPr>
        <p:spPr>
          <a:xfrm>
            <a:off x="9006839" y="2926080"/>
            <a:ext cx="274320" cy="457200"/>
          </a:xfrm>
          <a:prstGeom prst="rect">
            <a:avLst/>
          </a:prstGeom>
          <a:noFill/>
        </p:spPr>
        <p:txBody>
          <a:bodyPr wrap="square">
            <a:spAutoFit/>
          </a:bodyPr>
          <a:lstStyle/>
          <a:p>
            <a:pPr algn="ctr">
              <a:defRPr sz="2400" b="1">
                <a:solidFill>
                  <a:srgbClr val="606060"/>
                </a:solidFill>
                <a:latin typeface="Segoe UI"/>
              </a:defRPr>
            </a:pPr>
            <a:r>
              <a:t>→</a:t>
            </a:r>
          </a:p>
        </p:txBody>
      </p:sp>
      <p:sp>
        <p:nvSpPr>
          <p:cNvPr id="23" name="Rounded Rectangle 22"/>
          <p:cNvSpPr/>
          <p:nvPr/>
        </p:nvSpPr>
        <p:spPr>
          <a:xfrm>
            <a:off x="9189719"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89719" y="1645920"/>
            <a:ext cx="265176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149839" y="1828800"/>
            <a:ext cx="640080" cy="640080"/>
          </a:xfrm>
          <a:prstGeom prst="roundRect">
            <a:avLst>
              <a:gd name="adj" fmla="val 5000"/>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4</a:t>
            </a:r>
          </a:p>
        </p:txBody>
      </p:sp>
      <p:sp>
        <p:nvSpPr>
          <p:cNvPr id="26" name="TextBox 25"/>
          <p:cNvSpPr txBox="1"/>
          <p:nvPr/>
        </p:nvSpPr>
        <p:spPr>
          <a:xfrm>
            <a:off x="9372599" y="2651760"/>
            <a:ext cx="2286000" cy="457200"/>
          </a:xfrm>
          <a:prstGeom prst="rect">
            <a:avLst/>
          </a:prstGeom>
          <a:noFill/>
        </p:spPr>
        <p:txBody>
          <a:bodyPr wrap="square">
            <a:spAutoFit/>
          </a:bodyPr>
          <a:lstStyle/>
          <a:p>
            <a:pPr algn="ctr">
              <a:defRPr sz="1800" b="1">
                <a:solidFill>
                  <a:srgbClr val="FF8C00"/>
                </a:solidFill>
                <a:latin typeface="Segoe UI"/>
              </a:defRPr>
            </a:pPr>
            <a:r>
              <a:t>Export</a:t>
            </a:r>
          </a:p>
        </p:txBody>
      </p:sp>
      <p:sp>
        <p:nvSpPr>
          <p:cNvPr id="27" name="TextBox 26"/>
          <p:cNvSpPr txBox="1"/>
          <p:nvPr/>
        </p:nvSpPr>
        <p:spPr>
          <a:xfrm>
            <a:off x="9372599" y="3200400"/>
            <a:ext cx="2286000" cy="1097280"/>
          </a:xfrm>
          <a:prstGeom prst="rect">
            <a:avLst/>
          </a:prstGeom>
          <a:noFill/>
        </p:spPr>
        <p:txBody>
          <a:bodyPr wrap="square">
            <a:spAutoFit/>
          </a:bodyPr>
          <a:lstStyle/>
          <a:p>
            <a:pPr algn="ctr">
              <a:defRPr sz="1400" b="0">
                <a:solidFill>
                  <a:srgbClr val="242424"/>
                </a:solidFill>
                <a:latin typeface="Segoe UI"/>
              </a:defRPr>
            </a:pPr>
            <a:r>
              <a:t>Send output to CSV or file</a:t>
            </a:r>
            <a:br/>
            <a:r>
              <a:t>using Export-Csv or Out-File</a:t>
            </a:r>
            <a:br/>
            <a:r>
              <a:t>(-NoTypeInformation)</a:t>
            </a:r>
          </a:p>
        </p:txBody>
      </p:sp>
      <p:sp>
        <p:nvSpPr>
          <p:cNvPr id="28" name="Rounded Rectangle 27"/>
          <p:cNvSpPr/>
          <p:nvPr/>
        </p:nvSpPr>
        <p:spPr>
          <a:xfrm>
            <a:off x="731520" y="4937760"/>
            <a:ext cx="10698480" cy="914400"/>
          </a:xfrm>
          <a:prstGeom prst="roundRect">
            <a:avLst>
              <a:gd name="adj" fmla="val 5000"/>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97280" y="5029200"/>
            <a:ext cx="10058400" cy="731520"/>
          </a:xfrm>
          <a:prstGeom prst="rect">
            <a:avLst/>
          </a:prstGeom>
          <a:noFill/>
        </p:spPr>
        <p:txBody>
          <a:bodyPr wrap="square">
            <a:spAutoFit/>
          </a:bodyPr>
          <a:lstStyle/>
          <a:p>
            <a:pPr algn="l">
              <a:defRPr sz="1400" b="0">
                <a:solidFill>
                  <a:srgbClr val="00B294"/>
                </a:solidFill>
                <a:latin typeface="Cascadia Code"/>
              </a:defRPr>
            </a:pPr>
            <a:r>
              <a:t>Get-SPOSite -Limit All | Where-Object { $_.Url -match 'NW-Pxx' }</a:t>
            </a:r>
            <a:br/>
            <a:r>
              <a:t>  | Select-Object Url, Title, StorageUsageCurrent | Export-Csv .\Report.csv -NoTypeInformation</a:t>
            </a:r>
          </a:p>
        </p:txBody>
      </p:sp>
      <p:sp>
        <p:nvSpPr>
          <p:cNvPr id="30" name="Rectangle 29"/>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10  |  Administration and Automation with PowerShell</a:t>
            </a:r>
          </a:p>
        </p:txBody>
      </p:sp>
      <p:sp>
        <p:nvSpPr>
          <p:cNvPr id="32" name="TextBox 31"/>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Report 1: Site Inventory</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Export a filtered list of all your NW-Pxx sites</a:t>
            </a:r>
          </a:p>
        </p:txBody>
      </p:sp>
      <p:sp>
        <p:nvSpPr>
          <p:cNvPr id="5" name="Rounded Rectangle 4"/>
          <p:cNvSpPr/>
          <p:nvPr/>
        </p:nvSpPr>
        <p:spPr>
          <a:xfrm>
            <a:off x="731520" y="1645920"/>
            <a:ext cx="10698480" cy="1280160"/>
          </a:xfrm>
          <a:prstGeom prst="roundRect">
            <a:avLst>
              <a:gd name="adj" fmla="val 5000"/>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37360"/>
            <a:ext cx="10058400" cy="1097280"/>
          </a:xfrm>
          <a:prstGeom prst="rect">
            <a:avLst/>
          </a:prstGeom>
          <a:noFill/>
        </p:spPr>
        <p:txBody>
          <a:bodyPr wrap="square">
            <a:spAutoFit/>
          </a:bodyPr>
          <a:lstStyle/>
          <a:p>
            <a:pPr algn="l">
              <a:defRPr sz="1600" b="0">
                <a:solidFill>
                  <a:srgbClr val="00B294"/>
                </a:solidFill>
                <a:latin typeface="Cascadia Code"/>
              </a:defRPr>
            </a:pPr>
            <a:r>
              <a:t># Site inventory report</a:t>
            </a:r>
            <a:br/>
            <a:r>
              <a:t>Get-SPOSite -Limit All `</a:t>
            </a:r>
            <a:br/>
            <a:r>
              <a:t>  | Where-Object { $_.Url -match 'NW-Pxx' } `</a:t>
            </a:r>
            <a:br/>
            <a:r>
              <a:t>  | Select-Object Url, Title, StorageUsageCurrent, Template `</a:t>
            </a:r>
            <a:br/>
            <a:r>
              <a:t>  | Export-Csv .\NW-Pxx-Sites.csv -NoTypeInformation</a:t>
            </a:r>
          </a:p>
        </p:txBody>
      </p:sp>
      <p:sp>
        <p:nvSpPr>
          <p:cNvPr id="7" name="Rounded Rectangle 6"/>
          <p:cNvSpPr/>
          <p:nvPr/>
        </p:nvSpPr>
        <p:spPr>
          <a:xfrm>
            <a:off x="731520" y="3291840"/>
            <a:ext cx="2560320" cy="1371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3291840"/>
            <a:ext cx="2560320"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474720"/>
            <a:ext cx="2194560" cy="365760"/>
          </a:xfrm>
          <a:prstGeom prst="rect">
            <a:avLst/>
          </a:prstGeom>
          <a:noFill/>
        </p:spPr>
        <p:txBody>
          <a:bodyPr wrap="square">
            <a:spAutoFit/>
          </a:bodyPr>
          <a:lstStyle/>
          <a:p>
            <a:pPr algn="l">
              <a:defRPr sz="1800" b="1">
                <a:solidFill>
                  <a:srgbClr val="0078D4"/>
                </a:solidFill>
                <a:latin typeface="Cascadia Code"/>
              </a:defRPr>
            </a:pPr>
            <a:r>
              <a:t>Url</a:t>
            </a:r>
          </a:p>
        </p:txBody>
      </p:sp>
      <p:sp>
        <p:nvSpPr>
          <p:cNvPr id="10" name="TextBox 9"/>
          <p:cNvSpPr txBox="1"/>
          <p:nvPr/>
        </p:nvSpPr>
        <p:spPr>
          <a:xfrm>
            <a:off x="914400" y="3931920"/>
            <a:ext cx="2194560" cy="457200"/>
          </a:xfrm>
          <a:prstGeom prst="rect">
            <a:avLst/>
          </a:prstGeom>
          <a:noFill/>
        </p:spPr>
        <p:txBody>
          <a:bodyPr wrap="square">
            <a:spAutoFit/>
          </a:bodyPr>
          <a:lstStyle/>
          <a:p>
            <a:pPr algn="l">
              <a:defRPr sz="1400" b="0">
                <a:solidFill>
                  <a:srgbClr val="242424"/>
                </a:solidFill>
                <a:latin typeface="Segoe UI"/>
              </a:defRPr>
            </a:pPr>
            <a:r>
              <a:t>Full site URL</a:t>
            </a:r>
          </a:p>
        </p:txBody>
      </p:sp>
      <p:sp>
        <p:nvSpPr>
          <p:cNvPr id="11" name="Rounded Rectangle 10"/>
          <p:cNvSpPr/>
          <p:nvPr/>
        </p:nvSpPr>
        <p:spPr>
          <a:xfrm>
            <a:off x="3566160" y="3291840"/>
            <a:ext cx="2560320" cy="1371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66160" y="3291840"/>
            <a:ext cx="256032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9040" y="3474720"/>
            <a:ext cx="2194560" cy="365760"/>
          </a:xfrm>
          <a:prstGeom prst="rect">
            <a:avLst/>
          </a:prstGeom>
          <a:noFill/>
        </p:spPr>
        <p:txBody>
          <a:bodyPr wrap="square">
            <a:spAutoFit/>
          </a:bodyPr>
          <a:lstStyle/>
          <a:p>
            <a:pPr algn="l">
              <a:defRPr sz="1800" b="1">
                <a:solidFill>
                  <a:srgbClr val="00B294"/>
                </a:solidFill>
                <a:latin typeface="Cascadia Code"/>
              </a:defRPr>
            </a:pPr>
            <a:r>
              <a:t>Title</a:t>
            </a:r>
          </a:p>
        </p:txBody>
      </p:sp>
      <p:sp>
        <p:nvSpPr>
          <p:cNvPr id="14" name="TextBox 13"/>
          <p:cNvSpPr txBox="1"/>
          <p:nvPr/>
        </p:nvSpPr>
        <p:spPr>
          <a:xfrm>
            <a:off x="3749040" y="3931920"/>
            <a:ext cx="2194560" cy="457200"/>
          </a:xfrm>
          <a:prstGeom prst="rect">
            <a:avLst/>
          </a:prstGeom>
          <a:noFill/>
        </p:spPr>
        <p:txBody>
          <a:bodyPr wrap="square">
            <a:spAutoFit/>
          </a:bodyPr>
          <a:lstStyle/>
          <a:p>
            <a:pPr algn="l">
              <a:defRPr sz="1400" b="0">
                <a:solidFill>
                  <a:srgbClr val="242424"/>
                </a:solidFill>
                <a:latin typeface="Segoe UI"/>
              </a:defRPr>
            </a:pPr>
            <a:r>
              <a:t>Site display name</a:t>
            </a:r>
          </a:p>
        </p:txBody>
      </p:sp>
      <p:sp>
        <p:nvSpPr>
          <p:cNvPr id="15" name="Rounded Rectangle 14"/>
          <p:cNvSpPr/>
          <p:nvPr/>
        </p:nvSpPr>
        <p:spPr>
          <a:xfrm>
            <a:off x="6400800" y="3291840"/>
            <a:ext cx="2560320" cy="1371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0" y="3291840"/>
            <a:ext cx="2560320" cy="54864"/>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3474720"/>
            <a:ext cx="2194560" cy="365760"/>
          </a:xfrm>
          <a:prstGeom prst="rect">
            <a:avLst/>
          </a:prstGeom>
          <a:noFill/>
        </p:spPr>
        <p:txBody>
          <a:bodyPr wrap="square">
            <a:spAutoFit/>
          </a:bodyPr>
          <a:lstStyle/>
          <a:p>
            <a:pPr algn="l">
              <a:defRPr sz="1800" b="1">
                <a:solidFill>
                  <a:srgbClr val="6B69D6"/>
                </a:solidFill>
                <a:latin typeface="Cascadia Code"/>
              </a:defRPr>
            </a:pPr>
            <a:r>
              <a:t>StorageUsageCurrent</a:t>
            </a:r>
          </a:p>
        </p:txBody>
      </p:sp>
      <p:sp>
        <p:nvSpPr>
          <p:cNvPr id="18" name="TextBox 17"/>
          <p:cNvSpPr txBox="1"/>
          <p:nvPr/>
        </p:nvSpPr>
        <p:spPr>
          <a:xfrm>
            <a:off x="6583680" y="3931920"/>
            <a:ext cx="2194560" cy="457200"/>
          </a:xfrm>
          <a:prstGeom prst="rect">
            <a:avLst/>
          </a:prstGeom>
          <a:noFill/>
        </p:spPr>
        <p:txBody>
          <a:bodyPr wrap="square">
            <a:spAutoFit/>
          </a:bodyPr>
          <a:lstStyle/>
          <a:p>
            <a:pPr algn="l">
              <a:defRPr sz="1400" b="0">
                <a:solidFill>
                  <a:srgbClr val="242424"/>
                </a:solidFill>
                <a:latin typeface="Segoe UI"/>
              </a:defRPr>
            </a:pPr>
            <a:r>
              <a:t>Storage used (MB)</a:t>
            </a:r>
          </a:p>
        </p:txBody>
      </p:sp>
      <p:sp>
        <p:nvSpPr>
          <p:cNvPr id="19" name="Rounded Rectangle 18"/>
          <p:cNvSpPr/>
          <p:nvPr/>
        </p:nvSpPr>
        <p:spPr>
          <a:xfrm>
            <a:off x="9235440" y="3291840"/>
            <a:ext cx="2560320" cy="1371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235440" y="3291840"/>
            <a:ext cx="2560320"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0" y="3474720"/>
            <a:ext cx="2194560" cy="365760"/>
          </a:xfrm>
          <a:prstGeom prst="rect">
            <a:avLst/>
          </a:prstGeom>
          <a:noFill/>
        </p:spPr>
        <p:txBody>
          <a:bodyPr wrap="square">
            <a:spAutoFit/>
          </a:bodyPr>
          <a:lstStyle/>
          <a:p>
            <a:pPr algn="l">
              <a:defRPr sz="1800" b="1">
                <a:solidFill>
                  <a:srgbClr val="FF8C00"/>
                </a:solidFill>
                <a:latin typeface="Cascadia Code"/>
              </a:defRPr>
            </a:pPr>
            <a:r>
              <a:t>Template</a:t>
            </a:r>
          </a:p>
        </p:txBody>
      </p:sp>
      <p:sp>
        <p:nvSpPr>
          <p:cNvPr id="22" name="TextBox 21"/>
          <p:cNvSpPr txBox="1"/>
          <p:nvPr/>
        </p:nvSpPr>
        <p:spPr>
          <a:xfrm>
            <a:off x="9418320" y="3931920"/>
            <a:ext cx="2194560" cy="457200"/>
          </a:xfrm>
          <a:prstGeom prst="rect">
            <a:avLst/>
          </a:prstGeom>
          <a:noFill/>
        </p:spPr>
        <p:txBody>
          <a:bodyPr wrap="square">
            <a:spAutoFit/>
          </a:bodyPr>
          <a:lstStyle/>
          <a:p>
            <a:pPr algn="l">
              <a:defRPr sz="1400" b="0">
                <a:solidFill>
                  <a:srgbClr val="242424"/>
                </a:solidFill>
                <a:latin typeface="Segoe UI"/>
              </a:defRPr>
            </a:pPr>
            <a:r>
              <a:t>Site template (e.g. STS#3)</a:t>
            </a:r>
          </a:p>
        </p:txBody>
      </p:sp>
      <p:sp>
        <p:nvSpPr>
          <p:cNvPr id="23" name="Rounded Rectangle 22"/>
          <p:cNvSpPr/>
          <p:nvPr/>
        </p:nvSpPr>
        <p:spPr>
          <a:xfrm>
            <a:off x="1371600" y="5029200"/>
            <a:ext cx="9418320" cy="54864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45920" y="5074920"/>
            <a:ext cx="8869680" cy="457200"/>
          </a:xfrm>
          <a:prstGeom prst="rect">
            <a:avLst/>
          </a:prstGeom>
          <a:noFill/>
        </p:spPr>
        <p:txBody>
          <a:bodyPr wrap="square">
            <a:spAutoFit/>
          </a:bodyPr>
          <a:lstStyle/>
          <a:p>
            <a:pPr algn="l">
              <a:defRPr sz="1400" b="0">
                <a:solidFill>
                  <a:srgbClr val="242424"/>
                </a:solidFill>
                <a:latin typeface="Segoe UI"/>
              </a:defRPr>
            </a:pPr>
            <a:r>
              <a:t>💡 Add more columns as needed: Owner, SharingCapability, LastContentModifiedDate, LockState</a:t>
            </a:r>
          </a:p>
        </p:txBody>
      </p:sp>
      <p:sp>
        <p:nvSpPr>
          <p:cNvPr id="25" name="Rectangle 2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10  |  Administration and Automation with PowerShell</a:t>
            </a:r>
          </a:p>
        </p:txBody>
      </p:sp>
      <p:sp>
        <p:nvSpPr>
          <p:cNvPr id="27" name="TextBox 26"/>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Report 2: User Membership</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Who has access to your site — and at what level?</a:t>
            </a:r>
          </a:p>
        </p:txBody>
      </p:sp>
      <p:sp>
        <p:nvSpPr>
          <p:cNvPr id="5" name="Rounded Rectangle 4"/>
          <p:cNvSpPr/>
          <p:nvPr/>
        </p:nvSpPr>
        <p:spPr>
          <a:xfrm>
            <a:off x="731520" y="1554480"/>
            <a:ext cx="10698480" cy="640080"/>
          </a:xfrm>
          <a:prstGeom prst="roundRect">
            <a:avLst>
              <a:gd name="adj" fmla="val 5000"/>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45920"/>
            <a:ext cx="10058400" cy="457200"/>
          </a:xfrm>
          <a:prstGeom prst="rect">
            <a:avLst/>
          </a:prstGeom>
          <a:noFill/>
        </p:spPr>
        <p:txBody>
          <a:bodyPr wrap="square">
            <a:spAutoFit/>
          </a:bodyPr>
          <a:lstStyle/>
          <a:p>
            <a:pPr algn="l">
              <a:defRPr sz="1600" b="0">
                <a:solidFill>
                  <a:srgbClr val="00B294"/>
                </a:solidFill>
                <a:latin typeface="Cascadia Code"/>
              </a:defRPr>
            </a:pPr>
            <a:r>
              <a:t>$siteUrl = "https://&lt;tenant&gt;.sharepoint.com/sites/NW-Pxx-ProjectSite"</a:t>
            </a:r>
          </a:p>
        </p:txBody>
      </p:sp>
      <p:sp>
        <p:nvSpPr>
          <p:cNvPr id="7" name="Rounded Rectangle 6"/>
          <p:cNvSpPr/>
          <p:nvPr/>
        </p:nvSpPr>
        <p:spPr>
          <a:xfrm>
            <a:off x="731520" y="2377440"/>
            <a:ext cx="10698480" cy="1097280"/>
          </a:xfrm>
          <a:prstGeom prst="roundRect">
            <a:avLst>
              <a:gd name="adj" fmla="val 5000"/>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68880"/>
            <a:ext cx="10058400" cy="914400"/>
          </a:xfrm>
          <a:prstGeom prst="rect">
            <a:avLst/>
          </a:prstGeom>
          <a:noFill/>
        </p:spPr>
        <p:txBody>
          <a:bodyPr wrap="square">
            <a:spAutoFit/>
          </a:bodyPr>
          <a:lstStyle/>
          <a:p>
            <a:pPr algn="l">
              <a:defRPr sz="1600" b="0">
                <a:solidFill>
                  <a:srgbClr val="00B294"/>
                </a:solidFill>
                <a:latin typeface="Cascadia Code"/>
              </a:defRPr>
            </a:pPr>
            <a:r>
              <a:t>Get-SPOUser -Site $siteUrl `</a:t>
            </a:r>
            <a:br/>
            <a:r>
              <a:t>  | Select-Object LoginName, DisplayName, IsSiteAdmin `</a:t>
            </a:r>
            <a:br/>
            <a:r>
              <a:t>  | Export-Csv .\NW-Pxx-Users.csv -NoTypeInformation</a:t>
            </a:r>
          </a:p>
        </p:txBody>
      </p:sp>
      <p:sp>
        <p:nvSpPr>
          <p:cNvPr id="9" name="Rounded Rectangle 8"/>
          <p:cNvSpPr/>
          <p:nvPr/>
        </p:nvSpPr>
        <p:spPr>
          <a:xfrm>
            <a:off x="548640" y="3749039"/>
            <a:ext cx="3520440" cy="16459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749039"/>
            <a:ext cx="3520440"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931920"/>
            <a:ext cx="2971800" cy="365760"/>
          </a:xfrm>
          <a:prstGeom prst="rect">
            <a:avLst/>
          </a:prstGeom>
          <a:noFill/>
        </p:spPr>
        <p:txBody>
          <a:bodyPr wrap="square">
            <a:spAutoFit/>
          </a:bodyPr>
          <a:lstStyle/>
          <a:p>
            <a:pPr algn="l">
              <a:defRPr sz="1800" b="1">
                <a:solidFill>
                  <a:srgbClr val="0078D4"/>
                </a:solidFill>
                <a:latin typeface="Cascadia Code"/>
              </a:defRPr>
            </a:pPr>
            <a:r>
              <a:t>LoginName</a:t>
            </a:r>
          </a:p>
        </p:txBody>
      </p:sp>
      <p:sp>
        <p:nvSpPr>
          <p:cNvPr id="12" name="TextBox 11"/>
          <p:cNvSpPr txBox="1"/>
          <p:nvPr/>
        </p:nvSpPr>
        <p:spPr>
          <a:xfrm>
            <a:off x="822960" y="4389120"/>
            <a:ext cx="2971800" cy="731520"/>
          </a:xfrm>
          <a:prstGeom prst="rect">
            <a:avLst/>
          </a:prstGeom>
          <a:noFill/>
        </p:spPr>
        <p:txBody>
          <a:bodyPr wrap="square">
            <a:spAutoFit/>
          </a:bodyPr>
          <a:lstStyle/>
          <a:p>
            <a:pPr algn="l">
              <a:defRPr sz="1400" b="0">
                <a:solidFill>
                  <a:srgbClr val="242424"/>
                </a:solidFill>
                <a:latin typeface="Segoe UI"/>
              </a:defRPr>
            </a:pPr>
            <a:r>
              <a:t>User or group identity</a:t>
            </a:r>
            <a:br/>
            <a:r>
              <a:t>(UPN or claim format)</a:t>
            </a:r>
          </a:p>
        </p:txBody>
      </p:sp>
      <p:sp>
        <p:nvSpPr>
          <p:cNvPr id="13" name="Rounded Rectangle 12"/>
          <p:cNvSpPr/>
          <p:nvPr/>
        </p:nvSpPr>
        <p:spPr>
          <a:xfrm>
            <a:off x="4343400" y="3749039"/>
            <a:ext cx="3520440" cy="16459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43400" y="3749039"/>
            <a:ext cx="352044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3931920"/>
            <a:ext cx="2971800" cy="365760"/>
          </a:xfrm>
          <a:prstGeom prst="rect">
            <a:avLst/>
          </a:prstGeom>
          <a:noFill/>
        </p:spPr>
        <p:txBody>
          <a:bodyPr wrap="square">
            <a:spAutoFit/>
          </a:bodyPr>
          <a:lstStyle/>
          <a:p>
            <a:pPr algn="l">
              <a:defRPr sz="1800" b="1">
                <a:solidFill>
                  <a:srgbClr val="00B294"/>
                </a:solidFill>
                <a:latin typeface="Cascadia Code"/>
              </a:defRPr>
            </a:pPr>
            <a:r>
              <a:t>DisplayName</a:t>
            </a:r>
          </a:p>
        </p:txBody>
      </p:sp>
      <p:sp>
        <p:nvSpPr>
          <p:cNvPr id="16" name="TextBox 15"/>
          <p:cNvSpPr txBox="1"/>
          <p:nvPr/>
        </p:nvSpPr>
        <p:spPr>
          <a:xfrm>
            <a:off x="4617720" y="4389120"/>
            <a:ext cx="2971800" cy="731520"/>
          </a:xfrm>
          <a:prstGeom prst="rect">
            <a:avLst/>
          </a:prstGeom>
          <a:noFill/>
        </p:spPr>
        <p:txBody>
          <a:bodyPr wrap="square">
            <a:spAutoFit/>
          </a:bodyPr>
          <a:lstStyle/>
          <a:p>
            <a:pPr algn="l">
              <a:defRPr sz="1400" b="0">
                <a:solidFill>
                  <a:srgbClr val="242424"/>
                </a:solidFill>
                <a:latin typeface="Segoe UI"/>
              </a:defRPr>
            </a:pPr>
            <a:r>
              <a:t>Friendly name shown</a:t>
            </a:r>
            <a:br/>
            <a:r>
              <a:t>in the admin center</a:t>
            </a:r>
          </a:p>
        </p:txBody>
      </p:sp>
      <p:sp>
        <p:nvSpPr>
          <p:cNvPr id="17" name="Rounded Rectangle 16"/>
          <p:cNvSpPr/>
          <p:nvPr/>
        </p:nvSpPr>
        <p:spPr>
          <a:xfrm>
            <a:off x="8138160" y="3749039"/>
            <a:ext cx="3520440" cy="16459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38160" y="3749039"/>
            <a:ext cx="3520440" cy="54864"/>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3931920"/>
            <a:ext cx="2971800" cy="365760"/>
          </a:xfrm>
          <a:prstGeom prst="rect">
            <a:avLst/>
          </a:prstGeom>
          <a:noFill/>
        </p:spPr>
        <p:txBody>
          <a:bodyPr wrap="square">
            <a:spAutoFit/>
          </a:bodyPr>
          <a:lstStyle/>
          <a:p>
            <a:pPr algn="l">
              <a:defRPr sz="1800" b="1">
                <a:solidFill>
                  <a:srgbClr val="6B69D6"/>
                </a:solidFill>
                <a:latin typeface="Cascadia Code"/>
              </a:defRPr>
            </a:pPr>
            <a:r>
              <a:t>IsSiteAdmin</a:t>
            </a:r>
          </a:p>
        </p:txBody>
      </p:sp>
      <p:sp>
        <p:nvSpPr>
          <p:cNvPr id="20" name="TextBox 19"/>
          <p:cNvSpPr txBox="1"/>
          <p:nvPr/>
        </p:nvSpPr>
        <p:spPr>
          <a:xfrm>
            <a:off x="8412480" y="4389120"/>
            <a:ext cx="2971800" cy="731520"/>
          </a:xfrm>
          <a:prstGeom prst="rect">
            <a:avLst/>
          </a:prstGeom>
          <a:noFill/>
        </p:spPr>
        <p:txBody>
          <a:bodyPr wrap="square">
            <a:spAutoFit/>
          </a:bodyPr>
          <a:lstStyle/>
          <a:p>
            <a:pPr algn="l">
              <a:defRPr sz="1400" b="0">
                <a:solidFill>
                  <a:srgbClr val="242424"/>
                </a:solidFill>
                <a:latin typeface="Segoe UI"/>
              </a:defRPr>
            </a:pPr>
            <a:r>
              <a:t>True/False — is this user</a:t>
            </a:r>
            <a:br/>
            <a:r>
              <a:t>a site collection admin?</a:t>
            </a:r>
          </a:p>
        </p:txBody>
      </p:sp>
      <p:sp>
        <p:nvSpPr>
          <p:cNvPr id="21" name="Rectangle 20"/>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10  |  Administration and Automation with PowerShell</a:t>
            </a:r>
          </a:p>
        </p:txBody>
      </p:sp>
      <p:sp>
        <p:nvSpPr>
          <p:cNvPr id="23" name="TextBox 22"/>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Bulk Operations</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CSV-driven changes — powerful but handle with care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Safe Bulk Operations: The 4-Step Workflow</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Never skip the baseline — always test on one target first</a:t>
            </a:r>
          </a:p>
        </p:txBody>
      </p:sp>
      <p:sp>
        <p:nvSpPr>
          <p:cNvPr id="5" name="Rounded Rectangle 4"/>
          <p:cNvSpPr/>
          <p:nvPr/>
        </p:nvSpPr>
        <p:spPr>
          <a:xfrm>
            <a:off x="548640"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26517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08760" y="1828800"/>
            <a:ext cx="640080" cy="64008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1</a:t>
            </a:r>
          </a:p>
        </p:txBody>
      </p:sp>
      <p:sp>
        <p:nvSpPr>
          <p:cNvPr id="8" name="TextBox 7"/>
          <p:cNvSpPr txBox="1"/>
          <p:nvPr/>
        </p:nvSpPr>
        <p:spPr>
          <a:xfrm>
            <a:off x="731520" y="2651760"/>
            <a:ext cx="2286000" cy="457200"/>
          </a:xfrm>
          <a:prstGeom prst="rect">
            <a:avLst/>
          </a:prstGeom>
          <a:noFill/>
        </p:spPr>
        <p:txBody>
          <a:bodyPr wrap="square">
            <a:spAutoFit/>
          </a:bodyPr>
          <a:lstStyle/>
          <a:p>
            <a:pPr algn="ctr">
              <a:defRPr sz="1800" b="1">
                <a:solidFill>
                  <a:srgbClr val="0078D4"/>
                </a:solidFill>
                <a:latin typeface="Segoe UI"/>
              </a:defRPr>
            </a:pPr>
            <a:r>
              <a:t>Export Baseline</a:t>
            </a:r>
          </a:p>
        </p:txBody>
      </p:sp>
      <p:sp>
        <p:nvSpPr>
          <p:cNvPr id="9" name="TextBox 8"/>
          <p:cNvSpPr txBox="1"/>
          <p:nvPr/>
        </p:nvSpPr>
        <p:spPr>
          <a:xfrm>
            <a:off x="731520" y="3200400"/>
            <a:ext cx="2286000" cy="1097280"/>
          </a:xfrm>
          <a:prstGeom prst="rect">
            <a:avLst/>
          </a:prstGeom>
          <a:noFill/>
        </p:spPr>
        <p:txBody>
          <a:bodyPr wrap="square">
            <a:spAutoFit/>
          </a:bodyPr>
          <a:lstStyle/>
          <a:p>
            <a:pPr algn="ctr">
              <a:defRPr sz="1400" b="0">
                <a:solidFill>
                  <a:srgbClr val="242424"/>
                </a:solidFill>
                <a:latin typeface="Segoe UI"/>
              </a:defRPr>
            </a:pPr>
            <a:r>
              <a:t>Capture the current state</a:t>
            </a:r>
            <a:br/>
            <a:r>
              <a:t>before making changes.</a:t>
            </a:r>
            <a:br/>
            <a:r>
              <a:t>This is your safety net.</a:t>
            </a:r>
          </a:p>
        </p:txBody>
      </p:sp>
      <p:sp>
        <p:nvSpPr>
          <p:cNvPr id="10" name="TextBox 9"/>
          <p:cNvSpPr txBox="1"/>
          <p:nvPr/>
        </p:nvSpPr>
        <p:spPr>
          <a:xfrm>
            <a:off x="3246120" y="2926080"/>
            <a:ext cx="274320" cy="457200"/>
          </a:xfrm>
          <a:prstGeom prst="rect">
            <a:avLst/>
          </a:prstGeom>
          <a:noFill/>
        </p:spPr>
        <p:txBody>
          <a:bodyPr wrap="square">
            <a:spAutoFit/>
          </a:bodyPr>
          <a:lstStyle/>
          <a:p>
            <a:pPr algn="ctr">
              <a:defRPr sz="2400" b="1">
                <a:solidFill>
                  <a:srgbClr val="606060"/>
                </a:solidFill>
                <a:latin typeface="Segoe UI"/>
              </a:defRPr>
            </a:pPr>
            <a:r>
              <a:t>→</a:t>
            </a:r>
          </a:p>
        </p:txBody>
      </p:sp>
      <p:sp>
        <p:nvSpPr>
          <p:cNvPr id="11" name="Rounded Rectangle 10"/>
          <p:cNvSpPr/>
          <p:nvPr/>
        </p:nvSpPr>
        <p:spPr>
          <a:xfrm>
            <a:off x="3429000"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1645920"/>
            <a:ext cx="265176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89120" y="1828800"/>
            <a:ext cx="640080" cy="640080"/>
          </a:xfrm>
          <a:prstGeom prst="roundRect">
            <a:avLst>
              <a:gd name="adj" fmla="val 5000"/>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2</a:t>
            </a:r>
          </a:p>
        </p:txBody>
      </p:sp>
      <p:sp>
        <p:nvSpPr>
          <p:cNvPr id="14" name="TextBox 13"/>
          <p:cNvSpPr txBox="1"/>
          <p:nvPr/>
        </p:nvSpPr>
        <p:spPr>
          <a:xfrm>
            <a:off x="3611880" y="2651760"/>
            <a:ext cx="2286000" cy="457200"/>
          </a:xfrm>
          <a:prstGeom prst="rect">
            <a:avLst/>
          </a:prstGeom>
          <a:noFill/>
        </p:spPr>
        <p:txBody>
          <a:bodyPr wrap="square">
            <a:spAutoFit/>
          </a:bodyPr>
          <a:lstStyle/>
          <a:p>
            <a:pPr algn="ctr">
              <a:defRPr sz="1800" b="1">
                <a:solidFill>
                  <a:srgbClr val="00B294"/>
                </a:solidFill>
                <a:latin typeface="Segoe UI"/>
              </a:defRPr>
            </a:pPr>
            <a:r>
              <a:t>Prepare CSV</a:t>
            </a:r>
          </a:p>
        </p:txBody>
      </p:sp>
      <p:sp>
        <p:nvSpPr>
          <p:cNvPr id="15" name="TextBox 14"/>
          <p:cNvSpPr txBox="1"/>
          <p:nvPr/>
        </p:nvSpPr>
        <p:spPr>
          <a:xfrm>
            <a:off x="3611880" y="3200400"/>
            <a:ext cx="2286000" cy="1097280"/>
          </a:xfrm>
          <a:prstGeom prst="rect">
            <a:avLst/>
          </a:prstGeom>
          <a:noFill/>
        </p:spPr>
        <p:txBody>
          <a:bodyPr wrap="square">
            <a:spAutoFit/>
          </a:bodyPr>
          <a:lstStyle/>
          <a:p>
            <a:pPr algn="ctr">
              <a:defRPr sz="1400" b="0">
                <a:solidFill>
                  <a:srgbClr val="242424"/>
                </a:solidFill>
                <a:latin typeface="Segoe UI"/>
              </a:defRPr>
            </a:pPr>
            <a:r>
              <a:t>Create a small CSV file</a:t>
            </a:r>
            <a:br/>
            <a:r>
              <a:t>with your target URLs/IDs.</a:t>
            </a:r>
            <a:br/>
            <a:r>
              <a:t>Start with 1–2 rows.</a:t>
            </a:r>
          </a:p>
        </p:txBody>
      </p:sp>
      <p:sp>
        <p:nvSpPr>
          <p:cNvPr id="16" name="TextBox 15"/>
          <p:cNvSpPr txBox="1"/>
          <p:nvPr/>
        </p:nvSpPr>
        <p:spPr>
          <a:xfrm>
            <a:off x="6126480" y="2926080"/>
            <a:ext cx="274320" cy="457200"/>
          </a:xfrm>
          <a:prstGeom prst="rect">
            <a:avLst/>
          </a:prstGeom>
          <a:noFill/>
        </p:spPr>
        <p:txBody>
          <a:bodyPr wrap="square">
            <a:spAutoFit/>
          </a:bodyPr>
          <a:lstStyle/>
          <a:p>
            <a:pPr algn="ctr">
              <a:defRPr sz="2400" b="1">
                <a:solidFill>
                  <a:srgbClr val="606060"/>
                </a:solidFill>
                <a:latin typeface="Segoe UI"/>
              </a:defRPr>
            </a:pPr>
            <a:r>
              <a:t>→</a:t>
            </a:r>
          </a:p>
        </p:txBody>
      </p:sp>
      <p:sp>
        <p:nvSpPr>
          <p:cNvPr id="17" name="Rounded Rectangle 16"/>
          <p:cNvSpPr/>
          <p:nvPr/>
        </p:nvSpPr>
        <p:spPr>
          <a:xfrm>
            <a:off x="6309359"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59" y="1645920"/>
            <a:ext cx="265176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269479" y="1828800"/>
            <a:ext cx="640080" cy="64008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3</a:t>
            </a:r>
          </a:p>
        </p:txBody>
      </p:sp>
      <p:sp>
        <p:nvSpPr>
          <p:cNvPr id="20" name="TextBox 19"/>
          <p:cNvSpPr txBox="1"/>
          <p:nvPr/>
        </p:nvSpPr>
        <p:spPr>
          <a:xfrm>
            <a:off x="6492239" y="2651760"/>
            <a:ext cx="2286000" cy="457200"/>
          </a:xfrm>
          <a:prstGeom prst="rect">
            <a:avLst/>
          </a:prstGeom>
          <a:noFill/>
        </p:spPr>
        <p:txBody>
          <a:bodyPr wrap="square">
            <a:spAutoFit/>
          </a:bodyPr>
          <a:lstStyle/>
          <a:p>
            <a:pPr algn="ctr">
              <a:defRPr sz="1800" b="1">
                <a:solidFill>
                  <a:srgbClr val="6B69D6"/>
                </a:solidFill>
                <a:latin typeface="Segoe UI"/>
              </a:defRPr>
            </a:pPr>
            <a:r>
              <a:t>Test on One</a:t>
            </a:r>
          </a:p>
        </p:txBody>
      </p:sp>
      <p:sp>
        <p:nvSpPr>
          <p:cNvPr id="21" name="TextBox 20"/>
          <p:cNvSpPr txBox="1"/>
          <p:nvPr/>
        </p:nvSpPr>
        <p:spPr>
          <a:xfrm>
            <a:off x="6492239" y="3200400"/>
            <a:ext cx="2286000" cy="1097280"/>
          </a:xfrm>
          <a:prstGeom prst="rect">
            <a:avLst/>
          </a:prstGeom>
          <a:noFill/>
        </p:spPr>
        <p:txBody>
          <a:bodyPr wrap="square">
            <a:spAutoFit/>
          </a:bodyPr>
          <a:lstStyle/>
          <a:p>
            <a:pPr algn="ctr">
              <a:defRPr sz="1400" b="0">
                <a:solidFill>
                  <a:srgbClr val="242424"/>
                </a:solidFill>
                <a:latin typeface="Segoe UI"/>
              </a:defRPr>
            </a:pPr>
            <a:r>
              <a:t>Run the script against a</a:t>
            </a:r>
            <a:br/>
            <a:r>
              <a:t>single safe target.</a:t>
            </a:r>
            <a:br/>
            <a:r>
              <a:t>Validate the outcome.</a:t>
            </a:r>
          </a:p>
        </p:txBody>
      </p:sp>
      <p:sp>
        <p:nvSpPr>
          <p:cNvPr id="22" name="TextBox 21"/>
          <p:cNvSpPr txBox="1"/>
          <p:nvPr/>
        </p:nvSpPr>
        <p:spPr>
          <a:xfrm>
            <a:off x="9006839" y="2926080"/>
            <a:ext cx="274320" cy="457200"/>
          </a:xfrm>
          <a:prstGeom prst="rect">
            <a:avLst/>
          </a:prstGeom>
          <a:noFill/>
        </p:spPr>
        <p:txBody>
          <a:bodyPr wrap="square">
            <a:spAutoFit/>
          </a:bodyPr>
          <a:lstStyle/>
          <a:p>
            <a:pPr algn="ctr">
              <a:defRPr sz="2400" b="1">
                <a:solidFill>
                  <a:srgbClr val="606060"/>
                </a:solidFill>
                <a:latin typeface="Segoe UI"/>
              </a:defRPr>
            </a:pPr>
            <a:r>
              <a:t>→</a:t>
            </a:r>
          </a:p>
        </p:txBody>
      </p:sp>
      <p:sp>
        <p:nvSpPr>
          <p:cNvPr id="23" name="Rounded Rectangle 22"/>
          <p:cNvSpPr/>
          <p:nvPr/>
        </p:nvSpPr>
        <p:spPr>
          <a:xfrm>
            <a:off x="9189719"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89719" y="1645920"/>
            <a:ext cx="265176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149839" y="1828800"/>
            <a:ext cx="640080" cy="640080"/>
          </a:xfrm>
          <a:prstGeom prst="roundRect">
            <a:avLst>
              <a:gd name="adj" fmla="val 5000"/>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4</a:t>
            </a:r>
          </a:p>
        </p:txBody>
      </p:sp>
      <p:sp>
        <p:nvSpPr>
          <p:cNvPr id="26" name="TextBox 25"/>
          <p:cNvSpPr txBox="1"/>
          <p:nvPr/>
        </p:nvSpPr>
        <p:spPr>
          <a:xfrm>
            <a:off x="9372599" y="2651760"/>
            <a:ext cx="2286000" cy="457200"/>
          </a:xfrm>
          <a:prstGeom prst="rect">
            <a:avLst/>
          </a:prstGeom>
          <a:noFill/>
        </p:spPr>
        <p:txBody>
          <a:bodyPr wrap="square">
            <a:spAutoFit/>
          </a:bodyPr>
          <a:lstStyle/>
          <a:p>
            <a:pPr algn="ctr">
              <a:defRPr sz="1800" b="1">
                <a:solidFill>
                  <a:srgbClr val="FF8C00"/>
                </a:solidFill>
                <a:latin typeface="Segoe UI"/>
              </a:defRPr>
            </a:pPr>
            <a:r>
              <a:t>Expand</a:t>
            </a:r>
          </a:p>
        </p:txBody>
      </p:sp>
      <p:sp>
        <p:nvSpPr>
          <p:cNvPr id="27" name="TextBox 26"/>
          <p:cNvSpPr txBox="1"/>
          <p:nvPr/>
        </p:nvSpPr>
        <p:spPr>
          <a:xfrm>
            <a:off x="9372599" y="3200400"/>
            <a:ext cx="2286000" cy="1097280"/>
          </a:xfrm>
          <a:prstGeom prst="rect">
            <a:avLst/>
          </a:prstGeom>
          <a:noFill/>
        </p:spPr>
        <p:txBody>
          <a:bodyPr wrap="square">
            <a:spAutoFit/>
          </a:bodyPr>
          <a:lstStyle/>
          <a:p>
            <a:pPr algn="ctr">
              <a:defRPr sz="1400" b="0">
                <a:solidFill>
                  <a:srgbClr val="242424"/>
                </a:solidFill>
                <a:latin typeface="Segoe UI"/>
              </a:defRPr>
            </a:pPr>
            <a:r>
              <a:t>Only when validated,</a:t>
            </a:r>
            <a:br/>
            <a:r>
              <a:t>add more rows to the CSV</a:t>
            </a:r>
            <a:br/>
            <a:r>
              <a:t>and run at scale.</a:t>
            </a:r>
          </a:p>
        </p:txBody>
      </p:sp>
      <p:sp>
        <p:nvSpPr>
          <p:cNvPr id="28" name="Rounded Rectangle 27"/>
          <p:cNvSpPr/>
          <p:nvPr/>
        </p:nvSpPr>
        <p:spPr>
          <a:xfrm>
            <a:off x="731520" y="4937760"/>
            <a:ext cx="10698480" cy="640080"/>
          </a:xfrm>
          <a:prstGeom prst="roundRect">
            <a:avLst>
              <a:gd name="adj" fmla="val 5000"/>
            </a:avLst>
          </a:prstGeom>
          <a:solidFill>
            <a:srgbClr val="FD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4983480"/>
            <a:ext cx="10149840" cy="548640"/>
          </a:xfrm>
          <a:prstGeom prst="rect">
            <a:avLst/>
          </a:prstGeom>
          <a:noFill/>
        </p:spPr>
        <p:txBody>
          <a:bodyPr wrap="square">
            <a:spAutoFit/>
          </a:bodyPr>
          <a:lstStyle/>
          <a:p>
            <a:pPr algn="l">
              <a:defRPr sz="1400" b="0">
                <a:solidFill>
                  <a:srgbClr val="D13438"/>
                </a:solidFill>
                <a:latin typeface="Segoe UI"/>
              </a:defRPr>
            </a:pPr>
            <a:r>
              <a:t>⚠️  Critical:  In a shared tenant, NEVER run bulk changes against sites you don't own. Always filter to NW-Pxx- prefix. Export a baseline CSV first — you'll need it for rollback.</a:t>
            </a:r>
          </a:p>
        </p:txBody>
      </p:sp>
      <p:sp>
        <p:nvSpPr>
          <p:cNvPr id="30" name="Rectangle 29"/>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10  |  Administration and Automation with PowerShell</a:t>
            </a:r>
          </a:p>
        </p:txBody>
      </p:sp>
      <p:sp>
        <p:nvSpPr>
          <p:cNvPr id="32" name="TextBox 31"/>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CSV-Driven Loop Pattern</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Import-Csv → ForEach-Object → cmdlet — the pattern you'll use everywhere</a:t>
            </a:r>
          </a:p>
        </p:txBody>
      </p:sp>
      <p:sp>
        <p:nvSpPr>
          <p:cNvPr id="5" name="Rounded Rectangle 4"/>
          <p:cNvSpPr/>
          <p:nvPr/>
        </p:nvSpPr>
        <p:spPr>
          <a:xfrm>
            <a:off x="731520" y="1645920"/>
            <a:ext cx="512064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5120640"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754880" cy="365760"/>
          </a:xfrm>
          <a:prstGeom prst="rect">
            <a:avLst/>
          </a:prstGeom>
          <a:noFill/>
        </p:spPr>
        <p:txBody>
          <a:bodyPr wrap="square">
            <a:spAutoFit/>
          </a:bodyPr>
          <a:lstStyle/>
          <a:p>
            <a:pPr algn="l">
              <a:defRPr sz="1800" b="1">
                <a:solidFill>
                  <a:srgbClr val="0078D4"/>
                </a:solidFill>
                <a:latin typeface="Segoe UI"/>
              </a:defRPr>
            </a:pPr>
            <a:r>
              <a:t>📄  Targets.csv</a:t>
            </a:r>
          </a:p>
        </p:txBody>
      </p:sp>
      <p:sp>
        <p:nvSpPr>
          <p:cNvPr id="8" name="TextBox 7"/>
          <p:cNvSpPr txBox="1"/>
          <p:nvPr/>
        </p:nvSpPr>
        <p:spPr>
          <a:xfrm>
            <a:off x="1097280" y="2194560"/>
            <a:ext cx="4572000" cy="1097280"/>
          </a:xfrm>
          <a:prstGeom prst="rect">
            <a:avLst/>
          </a:prstGeom>
          <a:noFill/>
        </p:spPr>
        <p:txBody>
          <a:bodyPr wrap="square">
            <a:spAutoFit/>
          </a:bodyPr>
          <a:lstStyle/>
          <a:p>
            <a:pPr algn="l">
              <a:defRPr sz="1400" b="0">
                <a:solidFill>
                  <a:srgbClr val="242424"/>
                </a:solidFill>
                <a:latin typeface="Cascadia Code"/>
              </a:defRPr>
            </a:pPr>
            <a:r>
              <a:t>SiteUrl</a:t>
            </a:r>
            <a:br/>
            <a:r>
              <a:t>https://&lt;tenant&gt;.sharepoint.com/sites/NW-Pxx-ProjectSite</a:t>
            </a:r>
            <a:br/>
            <a:r>
              <a:t>https://&lt;tenant&gt;.sharepoint.com/sites/NW-Pxx-TeamSite</a:t>
            </a:r>
          </a:p>
        </p:txBody>
      </p:sp>
      <p:sp>
        <p:nvSpPr>
          <p:cNvPr id="9" name="Rounded Rectangle 8"/>
          <p:cNvSpPr/>
          <p:nvPr/>
        </p:nvSpPr>
        <p:spPr>
          <a:xfrm>
            <a:off x="6309360" y="1645920"/>
            <a:ext cx="5120640" cy="1828800"/>
          </a:xfrm>
          <a:prstGeom prst="roundRect">
            <a:avLst>
              <a:gd name="adj" fmla="val 5000"/>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783080"/>
            <a:ext cx="4754880" cy="365760"/>
          </a:xfrm>
          <a:prstGeom prst="rect">
            <a:avLst/>
          </a:prstGeom>
          <a:noFill/>
        </p:spPr>
        <p:txBody>
          <a:bodyPr wrap="square">
            <a:spAutoFit/>
          </a:bodyPr>
          <a:lstStyle/>
          <a:p>
            <a:pPr algn="l">
              <a:defRPr sz="1800" b="1">
                <a:solidFill>
                  <a:srgbClr val="00B294"/>
                </a:solidFill>
                <a:latin typeface="Segoe UI"/>
              </a:defRPr>
            </a:pPr>
            <a:r>
              <a:t>⚡  PowerShell Script</a:t>
            </a:r>
          </a:p>
        </p:txBody>
      </p:sp>
      <p:sp>
        <p:nvSpPr>
          <p:cNvPr id="11" name="TextBox 10"/>
          <p:cNvSpPr txBox="1"/>
          <p:nvPr/>
        </p:nvSpPr>
        <p:spPr>
          <a:xfrm>
            <a:off x="6492240" y="2194560"/>
            <a:ext cx="4754880" cy="1097280"/>
          </a:xfrm>
          <a:prstGeom prst="rect">
            <a:avLst/>
          </a:prstGeom>
          <a:noFill/>
        </p:spPr>
        <p:txBody>
          <a:bodyPr wrap="square">
            <a:spAutoFit/>
          </a:bodyPr>
          <a:lstStyle/>
          <a:p>
            <a:pPr algn="l">
              <a:defRPr sz="1400" b="0">
                <a:solidFill>
                  <a:srgbClr val="00B294"/>
                </a:solidFill>
                <a:latin typeface="Cascadia Code"/>
              </a:defRPr>
            </a:pPr>
            <a:r>
              <a:t>Import-Csv .\Targets.csv |</a:t>
            </a:r>
            <a:br/>
            <a:r>
              <a:t>  ForEach-Object {</a:t>
            </a:r>
            <a:br/>
            <a:r>
              <a:t>    Get-SPOUser -Site $_.SiteUrl</a:t>
            </a:r>
            <a:br/>
            <a:r>
              <a:t>  } | Export-Csv .\Report.csv -NTI</a:t>
            </a:r>
          </a:p>
        </p:txBody>
      </p:sp>
      <p:sp>
        <p:nvSpPr>
          <p:cNvPr id="12" name="Rounded Rectangle 11"/>
          <p:cNvSpPr/>
          <p:nvPr/>
        </p:nvSpPr>
        <p:spPr>
          <a:xfrm>
            <a:off x="731520" y="3840480"/>
            <a:ext cx="25603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840480"/>
            <a:ext cx="2560320"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023360"/>
            <a:ext cx="2194560" cy="365760"/>
          </a:xfrm>
          <a:prstGeom prst="rect">
            <a:avLst/>
          </a:prstGeom>
          <a:noFill/>
        </p:spPr>
        <p:txBody>
          <a:bodyPr wrap="square">
            <a:spAutoFit/>
          </a:bodyPr>
          <a:lstStyle/>
          <a:p>
            <a:pPr algn="l">
              <a:defRPr sz="1600" b="1">
                <a:solidFill>
                  <a:srgbClr val="0078D4"/>
                </a:solidFill>
                <a:latin typeface="Cascadia Code"/>
              </a:defRPr>
            </a:pPr>
            <a:r>
              <a:t>Import-Csv</a:t>
            </a:r>
          </a:p>
        </p:txBody>
      </p:sp>
      <p:sp>
        <p:nvSpPr>
          <p:cNvPr id="15" name="TextBox 14"/>
          <p:cNvSpPr txBox="1"/>
          <p:nvPr/>
        </p:nvSpPr>
        <p:spPr>
          <a:xfrm>
            <a:off x="914400" y="4480560"/>
            <a:ext cx="2194560" cy="914400"/>
          </a:xfrm>
          <a:prstGeom prst="rect">
            <a:avLst/>
          </a:prstGeom>
          <a:noFill/>
        </p:spPr>
        <p:txBody>
          <a:bodyPr wrap="square">
            <a:spAutoFit/>
          </a:bodyPr>
          <a:lstStyle/>
          <a:p>
            <a:pPr algn="l">
              <a:defRPr sz="1200" b="0">
                <a:solidFill>
                  <a:srgbClr val="242424"/>
                </a:solidFill>
                <a:latin typeface="Segoe UI"/>
              </a:defRPr>
            </a:pPr>
            <a:r>
              <a:t>Reads each row as an</a:t>
            </a:r>
            <a:br/>
            <a:r>
              <a:t>object with properties</a:t>
            </a:r>
            <a:br/>
            <a:r>
              <a:t>matching column headers</a:t>
            </a:r>
          </a:p>
        </p:txBody>
      </p:sp>
      <p:sp>
        <p:nvSpPr>
          <p:cNvPr id="16" name="Rounded Rectangle 15"/>
          <p:cNvSpPr/>
          <p:nvPr/>
        </p:nvSpPr>
        <p:spPr>
          <a:xfrm>
            <a:off x="3566160" y="3840480"/>
            <a:ext cx="25603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66160" y="3840480"/>
            <a:ext cx="256032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49040" y="4023360"/>
            <a:ext cx="2194560" cy="365760"/>
          </a:xfrm>
          <a:prstGeom prst="rect">
            <a:avLst/>
          </a:prstGeom>
          <a:noFill/>
        </p:spPr>
        <p:txBody>
          <a:bodyPr wrap="square">
            <a:spAutoFit/>
          </a:bodyPr>
          <a:lstStyle/>
          <a:p>
            <a:pPr algn="l">
              <a:defRPr sz="1600" b="1">
                <a:solidFill>
                  <a:srgbClr val="00B294"/>
                </a:solidFill>
                <a:latin typeface="Cascadia Code"/>
              </a:defRPr>
            </a:pPr>
            <a:r>
              <a:t>ForEach-Object</a:t>
            </a:r>
          </a:p>
        </p:txBody>
      </p:sp>
      <p:sp>
        <p:nvSpPr>
          <p:cNvPr id="19" name="TextBox 18"/>
          <p:cNvSpPr txBox="1"/>
          <p:nvPr/>
        </p:nvSpPr>
        <p:spPr>
          <a:xfrm>
            <a:off x="3749040" y="4480560"/>
            <a:ext cx="2194560" cy="914400"/>
          </a:xfrm>
          <a:prstGeom prst="rect">
            <a:avLst/>
          </a:prstGeom>
          <a:noFill/>
        </p:spPr>
        <p:txBody>
          <a:bodyPr wrap="square">
            <a:spAutoFit/>
          </a:bodyPr>
          <a:lstStyle/>
          <a:p>
            <a:pPr algn="l">
              <a:defRPr sz="1200" b="0">
                <a:solidFill>
                  <a:srgbClr val="242424"/>
                </a:solidFill>
                <a:latin typeface="Segoe UI"/>
              </a:defRPr>
            </a:pPr>
            <a:r>
              <a:t>Iterates over each row.</a:t>
            </a:r>
            <a:br/>
            <a:r>
              <a:t>$_ represents the current</a:t>
            </a:r>
            <a:br/>
            <a:r>
              <a:t>row in the pipeline</a:t>
            </a:r>
          </a:p>
        </p:txBody>
      </p:sp>
      <p:sp>
        <p:nvSpPr>
          <p:cNvPr id="20" name="Rounded Rectangle 19"/>
          <p:cNvSpPr/>
          <p:nvPr/>
        </p:nvSpPr>
        <p:spPr>
          <a:xfrm>
            <a:off x="6400800" y="3840480"/>
            <a:ext cx="25603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0" y="3840480"/>
            <a:ext cx="2560320" cy="54864"/>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0" y="4023360"/>
            <a:ext cx="2194560" cy="365760"/>
          </a:xfrm>
          <a:prstGeom prst="rect">
            <a:avLst/>
          </a:prstGeom>
          <a:noFill/>
        </p:spPr>
        <p:txBody>
          <a:bodyPr wrap="square">
            <a:spAutoFit/>
          </a:bodyPr>
          <a:lstStyle/>
          <a:p>
            <a:pPr algn="l">
              <a:defRPr sz="1600" b="1">
                <a:solidFill>
                  <a:srgbClr val="6B69D6"/>
                </a:solidFill>
                <a:latin typeface="Cascadia Code"/>
              </a:defRPr>
            </a:pPr>
            <a:r>
              <a:t>Cmdlet</a:t>
            </a:r>
          </a:p>
        </p:txBody>
      </p:sp>
      <p:sp>
        <p:nvSpPr>
          <p:cNvPr id="23" name="TextBox 22"/>
          <p:cNvSpPr txBox="1"/>
          <p:nvPr/>
        </p:nvSpPr>
        <p:spPr>
          <a:xfrm>
            <a:off x="6583680" y="4480560"/>
            <a:ext cx="2194560" cy="914400"/>
          </a:xfrm>
          <a:prstGeom prst="rect">
            <a:avLst/>
          </a:prstGeom>
          <a:noFill/>
        </p:spPr>
        <p:txBody>
          <a:bodyPr wrap="square">
            <a:spAutoFit/>
          </a:bodyPr>
          <a:lstStyle/>
          <a:p>
            <a:pPr algn="l">
              <a:defRPr sz="1200" b="0">
                <a:solidFill>
                  <a:srgbClr val="242424"/>
                </a:solidFill>
                <a:latin typeface="Segoe UI"/>
              </a:defRPr>
            </a:pPr>
            <a:r>
              <a:t>Your admin cmdlet runs</a:t>
            </a:r>
            <a:br/>
            <a:r>
              <a:t>once per row — scoped to</a:t>
            </a:r>
            <a:br/>
            <a:r>
              <a:t>that specific target</a:t>
            </a:r>
          </a:p>
        </p:txBody>
      </p:sp>
      <p:sp>
        <p:nvSpPr>
          <p:cNvPr id="24" name="Rounded Rectangle 23"/>
          <p:cNvSpPr/>
          <p:nvPr/>
        </p:nvSpPr>
        <p:spPr>
          <a:xfrm>
            <a:off x="9235440" y="3840480"/>
            <a:ext cx="25603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235440" y="3840480"/>
            <a:ext cx="2560320"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18320" y="4023360"/>
            <a:ext cx="2194560" cy="365760"/>
          </a:xfrm>
          <a:prstGeom prst="rect">
            <a:avLst/>
          </a:prstGeom>
          <a:noFill/>
        </p:spPr>
        <p:txBody>
          <a:bodyPr wrap="square">
            <a:spAutoFit/>
          </a:bodyPr>
          <a:lstStyle/>
          <a:p>
            <a:pPr algn="l">
              <a:defRPr sz="1600" b="1">
                <a:solidFill>
                  <a:srgbClr val="FF8C00"/>
                </a:solidFill>
                <a:latin typeface="Cascadia Code"/>
              </a:defRPr>
            </a:pPr>
            <a:r>
              <a:t>Export-Csv</a:t>
            </a:r>
          </a:p>
        </p:txBody>
      </p:sp>
      <p:sp>
        <p:nvSpPr>
          <p:cNvPr id="27" name="TextBox 26"/>
          <p:cNvSpPr txBox="1"/>
          <p:nvPr/>
        </p:nvSpPr>
        <p:spPr>
          <a:xfrm>
            <a:off x="9418320" y="4480560"/>
            <a:ext cx="2194560" cy="914400"/>
          </a:xfrm>
          <a:prstGeom prst="rect">
            <a:avLst/>
          </a:prstGeom>
          <a:noFill/>
        </p:spPr>
        <p:txBody>
          <a:bodyPr wrap="square">
            <a:spAutoFit/>
          </a:bodyPr>
          <a:lstStyle/>
          <a:p>
            <a:pPr algn="l">
              <a:defRPr sz="1200" b="0">
                <a:solidFill>
                  <a:srgbClr val="242424"/>
                </a:solidFill>
                <a:latin typeface="Segoe UI"/>
              </a:defRPr>
            </a:pPr>
            <a:r>
              <a:t>Collects all outputs and</a:t>
            </a:r>
            <a:br/>
            <a:r>
              <a:t>writes them to a single</a:t>
            </a:r>
            <a:br/>
            <a:r>
              <a:t>CSV file for review</a:t>
            </a:r>
          </a:p>
        </p:txBody>
      </p:sp>
      <p:sp>
        <p:nvSpPr>
          <p:cNvPr id="28" name="Rectangle 27"/>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10  |  Administration and Automation with PowerShell</a:t>
            </a:r>
          </a:p>
        </p:txBody>
      </p:sp>
      <p:sp>
        <p:nvSpPr>
          <p:cNvPr id="30" name="TextBox 29"/>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Microsoft Graph PowerShell</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Tenant-wide API access with scoped permissions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Connect-MgGraph and Scopes</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Request only the permissions you need — principle of least privilege</a:t>
            </a:r>
          </a:p>
        </p:txBody>
      </p:sp>
      <p:sp>
        <p:nvSpPr>
          <p:cNvPr id="5" name="Rounded Rectangle 4"/>
          <p:cNvSpPr/>
          <p:nvPr/>
        </p:nvSpPr>
        <p:spPr>
          <a:xfrm>
            <a:off x="731520" y="1645920"/>
            <a:ext cx="10698480" cy="822960"/>
          </a:xfrm>
          <a:prstGeom prst="roundRect">
            <a:avLst>
              <a:gd name="adj" fmla="val 5000"/>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37360"/>
            <a:ext cx="10058400" cy="640080"/>
          </a:xfrm>
          <a:prstGeom prst="rect">
            <a:avLst/>
          </a:prstGeom>
          <a:noFill/>
        </p:spPr>
        <p:txBody>
          <a:bodyPr wrap="square">
            <a:spAutoFit/>
          </a:bodyPr>
          <a:lstStyle/>
          <a:p>
            <a:pPr algn="l">
              <a:defRPr sz="2200" b="0">
                <a:solidFill>
                  <a:srgbClr val="00B294"/>
                </a:solidFill>
                <a:latin typeface="Cascadia Code"/>
              </a:defRPr>
            </a:pPr>
            <a:r>
              <a:t>Connect-MgGraph -Scopes "User.Read.All"</a:t>
            </a:r>
          </a:p>
        </p:txBody>
      </p:sp>
      <p:sp>
        <p:nvSpPr>
          <p:cNvPr id="7" name="Rounded Rectangle 6"/>
          <p:cNvSpPr/>
          <p:nvPr/>
        </p:nvSpPr>
        <p:spPr>
          <a:xfrm>
            <a:off x="731520" y="2743200"/>
            <a:ext cx="5303520" cy="12801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743200"/>
            <a:ext cx="73152" cy="1280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834640"/>
            <a:ext cx="2286000" cy="365760"/>
          </a:xfrm>
          <a:prstGeom prst="rect">
            <a:avLst/>
          </a:prstGeom>
          <a:noFill/>
        </p:spPr>
        <p:txBody>
          <a:bodyPr wrap="square">
            <a:spAutoFit/>
          </a:bodyPr>
          <a:lstStyle/>
          <a:p>
            <a:pPr algn="l">
              <a:defRPr sz="1600" b="1">
                <a:solidFill>
                  <a:srgbClr val="0078D4"/>
                </a:solidFill>
                <a:latin typeface="Cascadia Code"/>
              </a:defRPr>
            </a:pPr>
            <a:r>
              <a:t>User.Read.All</a:t>
            </a:r>
          </a:p>
        </p:txBody>
      </p:sp>
      <p:sp>
        <p:nvSpPr>
          <p:cNvPr id="10" name="TextBox 9"/>
          <p:cNvSpPr txBox="1"/>
          <p:nvPr/>
        </p:nvSpPr>
        <p:spPr>
          <a:xfrm>
            <a:off x="1005840" y="3246120"/>
            <a:ext cx="4754880" cy="640080"/>
          </a:xfrm>
          <a:prstGeom prst="rect">
            <a:avLst/>
          </a:prstGeom>
          <a:noFill/>
        </p:spPr>
        <p:txBody>
          <a:bodyPr wrap="square">
            <a:spAutoFit/>
          </a:bodyPr>
          <a:lstStyle/>
          <a:p>
            <a:pPr algn="l">
              <a:defRPr sz="1300" b="0">
                <a:solidFill>
                  <a:srgbClr val="242424"/>
                </a:solidFill>
                <a:latin typeface="Segoe UI"/>
              </a:defRPr>
            </a:pPr>
            <a:r>
              <a:t>Read all user profiles</a:t>
            </a:r>
            <a:br/>
            <a:r>
              <a:t>(delegated — requires admin consent)</a:t>
            </a:r>
          </a:p>
        </p:txBody>
      </p:sp>
      <p:sp>
        <p:nvSpPr>
          <p:cNvPr id="11" name="Rounded Rectangle 10"/>
          <p:cNvSpPr/>
          <p:nvPr/>
        </p:nvSpPr>
        <p:spPr>
          <a:xfrm>
            <a:off x="6400800" y="2743200"/>
            <a:ext cx="5303520" cy="12801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2743200"/>
            <a:ext cx="73152" cy="1280160"/>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2834640"/>
            <a:ext cx="2286000" cy="365760"/>
          </a:xfrm>
          <a:prstGeom prst="rect">
            <a:avLst/>
          </a:prstGeom>
          <a:noFill/>
        </p:spPr>
        <p:txBody>
          <a:bodyPr wrap="square">
            <a:spAutoFit/>
          </a:bodyPr>
          <a:lstStyle/>
          <a:p>
            <a:pPr algn="l">
              <a:defRPr sz="1600" b="1">
                <a:solidFill>
                  <a:srgbClr val="00B294"/>
                </a:solidFill>
                <a:latin typeface="Cascadia Code"/>
              </a:defRPr>
            </a:pPr>
            <a:r>
              <a:t>Group.Read.All</a:t>
            </a:r>
          </a:p>
        </p:txBody>
      </p:sp>
      <p:sp>
        <p:nvSpPr>
          <p:cNvPr id="14" name="TextBox 13"/>
          <p:cNvSpPr txBox="1"/>
          <p:nvPr/>
        </p:nvSpPr>
        <p:spPr>
          <a:xfrm>
            <a:off x="6675120" y="3246120"/>
            <a:ext cx="4754880" cy="640080"/>
          </a:xfrm>
          <a:prstGeom prst="rect">
            <a:avLst/>
          </a:prstGeom>
          <a:noFill/>
        </p:spPr>
        <p:txBody>
          <a:bodyPr wrap="square">
            <a:spAutoFit/>
          </a:bodyPr>
          <a:lstStyle/>
          <a:p>
            <a:pPr algn="l">
              <a:defRPr sz="1300" b="0">
                <a:solidFill>
                  <a:srgbClr val="242424"/>
                </a:solidFill>
                <a:latin typeface="Segoe UI"/>
              </a:defRPr>
            </a:pPr>
            <a:r>
              <a:t>Read all groups and</a:t>
            </a:r>
            <a:br/>
            <a:r>
              <a:t>membership information</a:t>
            </a:r>
          </a:p>
        </p:txBody>
      </p:sp>
      <p:sp>
        <p:nvSpPr>
          <p:cNvPr id="15" name="Rounded Rectangle 14"/>
          <p:cNvSpPr/>
          <p:nvPr/>
        </p:nvSpPr>
        <p:spPr>
          <a:xfrm>
            <a:off x="731520" y="4206240"/>
            <a:ext cx="5303520" cy="12801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4206240"/>
            <a:ext cx="73152" cy="1280160"/>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97680"/>
            <a:ext cx="2286000" cy="365760"/>
          </a:xfrm>
          <a:prstGeom prst="rect">
            <a:avLst/>
          </a:prstGeom>
          <a:noFill/>
        </p:spPr>
        <p:txBody>
          <a:bodyPr wrap="square">
            <a:spAutoFit/>
          </a:bodyPr>
          <a:lstStyle/>
          <a:p>
            <a:pPr algn="l">
              <a:defRPr sz="1600" b="1">
                <a:solidFill>
                  <a:srgbClr val="6B69D6"/>
                </a:solidFill>
                <a:latin typeface="Cascadia Code"/>
              </a:defRPr>
            </a:pPr>
            <a:r>
              <a:t>Sites.Read.All</a:t>
            </a:r>
          </a:p>
        </p:txBody>
      </p:sp>
      <p:sp>
        <p:nvSpPr>
          <p:cNvPr id="18" name="TextBox 17"/>
          <p:cNvSpPr txBox="1"/>
          <p:nvPr/>
        </p:nvSpPr>
        <p:spPr>
          <a:xfrm>
            <a:off x="1005840" y="4709160"/>
            <a:ext cx="4754880" cy="640080"/>
          </a:xfrm>
          <a:prstGeom prst="rect">
            <a:avLst/>
          </a:prstGeom>
          <a:noFill/>
        </p:spPr>
        <p:txBody>
          <a:bodyPr wrap="square">
            <a:spAutoFit/>
          </a:bodyPr>
          <a:lstStyle/>
          <a:p>
            <a:pPr algn="l">
              <a:defRPr sz="1300" b="0">
                <a:solidFill>
                  <a:srgbClr val="242424"/>
                </a:solidFill>
                <a:latin typeface="Segoe UI"/>
              </a:defRPr>
            </a:pPr>
            <a:r>
              <a:t>Read all SharePoint site</a:t>
            </a:r>
            <a:br/>
            <a:r>
              <a:t>properties via Graph API</a:t>
            </a:r>
          </a:p>
        </p:txBody>
      </p:sp>
      <p:sp>
        <p:nvSpPr>
          <p:cNvPr id="19" name="Rounded Rectangle 18"/>
          <p:cNvSpPr/>
          <p:nvPr/>
        </p:nvSpPr>
        <p:spPr>
          <a:xfrm>
            <a:off x="6400800" y="4206240"/>
            <a:ext cx="5303520" cy="12801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0" y="4206240"/>
            <a:ext cx="73152" cy="128016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0" y="4297680"/>
            <a:ext cx="2286000" cy="365760"/>
          </a:xfrm>
          <a:prstGeom prst="rect">
            <a:avLst/>
          </a:prstGeom>
          <a:noFill/>
        </p:spPr>
        <p:txBody>
          <a:bodyPr wrap="square">
            <a:spAutoFit/>
          </a:bodyPr>
          <a:lstStyle/>
          <a:p>
            <a:pPr algn="l">
              <a:defRPr sz="1600" b="1">
                <a:solidFill>
                  <a:srgbClr val="FF8C00"/>
                </a:solidFill>
                <a:latin typeface="Cascadia Code"/>
              </a:defRPr>
            </a:pPr>
            <a:r>
              <a:t>Directory.Read.All</a:t>
            </a:r>
          </a:p>
        </p:txBody>
      </p:sp>
      <p:sp>
        <p:nvSpPr>
          <p:cNvPr id="22" name="TextBox 21"/>
          <p:cNvSpPr txBox="1"/>
          <p:nvPr/>
        </p:nvSpPr>
        <p:spPr>
          <a:xfrm>
            <a:off x="6675120" y="4709160"/>
            <a:ext cx="4754880" cy="640080"/>
          </a:xfrm>
          <a:prstGeom prst="rect">
            <a:avLst/>
          </a:prstGeom>
          <a:noFill/>
        </p:spPr>
        <p:txBody>
          <a:bodyPr wrap="square">
            <a:spAutoFit/>
          </a:bodyPr>
          <a:lstStyle/>
          <a:p>
            <a:pPr algn="l">
              <a:defRPr sz="1300" b="0">
                <a:solidFill>
                  <a:srgbClr val="242424"/>
                </a:solidFill>
                <a:latin typeface="Segoe UI"/>
              </a:defRPr>
            </a:pPr>
            <a:r>
              <a:t>Read directory data</a:t>
            </a:r>
            <a:br/>
            <a:r>
              <a:t>(users, groups, roles, etc.)</a:t>
            </a:r>
          </a:p>
        </p:txBody>
      </p:sp>
      <p:sp>
        <p:nvSpPr>
          <p:cNvPr id="23" name="Rounded Rectangle 22"/>
          <p:cNvSpPr/>
          <p:nvPr/>
        </p:nvSpPr>
        <p:spPr>
          <a:xfrm>
            <a:off x="731520" y="5760720"/>
            <a:ext cx="10698480" cy="457200"/>
          </a:xfrm>
          <a:prstGeom prst="roundRect">
            <a:avLst>
              <a:gd name="adj" fmla="val 5000"/>
            </a:avLst>
          </a:prstGeom>
          <a:solidFill>
            <a:srgbClr val="FD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5806440"/>
            <a:ext cx="10149840" cy="365760"/>
          </a:xfrm>
          <a:prstGeom prst="rect">
            <a:avLst/>
          </a:prstGeom>
          <a:noFill/>
        </p:spPr>
        <p:txBody>
          <a:bodyPr wrap="square">
            <a:spAutoFit/>
          </a:bodyPr>
          <a:lstStyle/>
          <a:p>
            <a:pPr algn="l">
              <a:defRPr sz="1400" b="0">
                <a:solidFill>
                  <a:srgbClr val="D13438"/>
                </a:solidFill>
                <a:latin typeface="Segoe UI"/>
              </a:defRPr>
            </a:pPr>
            <a:r>
              <a:t>⚠️  Some scopes require admin consent. In training, treat Graph write operations as trainer-led.</a:t>
            </a:r>
          </a:p>
        </p:txBody>
      </p:sp>
      <p:sp>
        <p:nvSpPr>
          <p:cNvPr id="25" name="Rectangle 2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10  |  Administration and Automation with PowerShell</a:t>
            </a:r>
          </a:p>
        </p:txBody>
      </p:sp>
      <p:sp>
        <p:nvSpPr>
          <p:cNvPr id="27" name="TextBox 26"/>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SPO PowerShell vs Graph PowerShell</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Right tool for the right job — both are essential</a:t>
            </a:r>
          </a:p>
        </p:txBody>
      </p:sp>
      <p:sp>
        <p:nvSpPr>
          <p:cNvPr id="5" name="Rounded Rectangle 4"/>
          <p:cNvSpPr/>
          <p:nvPr/>
        </p:nvSpPr>
        <p:spPr>
          <a:xfrm>
            <a:off x="731520" y="1554480"/>
            <a:ext cx="5120640" cy="4114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554480"/>
            <a:ext cx="512064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4754880" cy="457200"/>
          </a:xfrm>
          <a:prstGeom prst="rect">
            <a:avLst/>
          </a:prstGeom>
          <a:noFill/>
        </p:spPr>
        <p:txBody>
          <a:bodyPr wrap="square">
            <a:spAutoFit/>
          </a:bodyPr>
          <a:lstStyle/>
          <a:p>
            <a:pPr algn="ctr">
              <a:defRPr sz="2000" b="1">
                <a:solidFill>
                  <a:srgbClr val="0078D4"/>
                </a:solidFill>
                <a:latin typeface="Segoe UI"/>
              </a:defRPr>
            </a:pPr>
            <a:r>
              <a:t>🔵  SharePoint Online PowerShell</a:t>
            </a:r>
          </a:p>
        </p:txBody>
      </p:sp>
      <p:sp>
        <p:nvSpPr>
          <p:cNvPr id="8" name="TextBox 7"/>
          <p:cNvSpPr txBox="1"/>
          <p:nvPr/>
        </p:nvSpPr>
        <p:spPr>
          <a:xfrm>
            <a:off x="1097280" y="2286000"/>
            <a:ext cx="4572000" cy="3200400"/>
          </a:xfrm>
          <a:prstGeom prst="rect">
            <a:avLst/>
          </a:prstGeom>
          <a:noFill/>
        </p:spPr>
        <p:txBody>
          <a:bodyPr wrap="square">
            <a:spAutoFit/>
          </a:bodyPr>
          <a:lstStyle/>
          <a:p>
            <a:pPr>
              <a:spcAft>
                <a:spcPts val="600"/>
              </a:spcAft>
              <a:defRPr sz="1500">
                <a:solidFill>
                  <a:srgbClr val="242424"/>
                </a:solidFill>
                <a:latin typeface="Segoe UI"/>
              </a:defRPr>
            </a:pPr>
            <a:r>
              <a:t>▸ SharePoint-specific cmdlets (Get-SPOSite, etc.)</a:t>
            </a:r>
          </a:p>
          <a:p>
            <a:pPr>
              <a:spcAft>
                <a:spcPts val="600"/>
              </a:spcAft>
              <a:defRPr sz="1500">
                <a:solidFill>
                  <a:srgbClr val="242424"/>
                </a:solidFill>
                <a:latin typeface="Segoe UI"/>
              </a:defRPr>
            </a:pPr>
            <a:r>
              <a:t>▸ Direct tenant admin operations</a:t>
            </a:r>
          </a:p>
          <a:p>
            <a:pPr>
              <a:spcAft>
                <a:spcPts val="600"/>
              </a:spcAft>
              <a:defRPr sz="1500">
                <a:solidFill>
                  <a:srgbClr val="242424"/>
                </a:solidFill>
                <a:latin typeface="Segoe UI"/>
              </a:defRPr>
            </a:pPr>
            <a:r>
              <a:t>▸ Site collection management</a:t>
            </a:r>
          </a:p>
          <a:p>
            <a:pPr>
              <a:spcAft>
                <a:spcPts val="600"/>
              </a:spcAft>
              <a:defRPr sz="1500">
                <a:solidFill>
                  <a:srgbClr val="242424"/>
                </a:solidFill>
                <a:latin typeface="Segoe UI"/>
              </a:defRPr>
            </a:pPr>
            <a:r>
              <a:t>▸ User and permission reports</a:t>
            </a:r>
          </a:p>
          <a:p>
            <a:pPr>
              <a:spcAft>
                <a:spcPts val="600"/>
              </a:spcAft>
              <a:defRPr sz="1500">
                <a:solidFill>
                  <a:srgbClr val="242424"/>
                </a:solidFill>
                <a:latin typeface="Segoe UI"/>
              </a:defRPr>
            </a:pPr>
            <a:r>
              <a:t>▸ Storage quota and sharing settings</a:t>
            </a:r>
          </a:p>
          <a:p>
            <a:pPr>
              <a:spcAft>
                <a:spcPts val="600"/>
              </a:spcAft>
              <a:defRPr sz="1500">
                <a:solidFill>
                  <a:srgbClr val="242424"/>
                </a:solidFill>
                <a:latin typeface="Segoe UI"/>
              </a:defRPr>
            </a:pPr>
            <a:r>
              <a:t>▸ Established, mature module</a:t>
            </a:r>
          </a:p>
        </p:txBody>
      </p:sp>
      <p:sp>
        <p:nvSpPr>
          <p:cNvPr id="9" name="Rounded Rectangle 8"/>
          <p:cNvSpPr/>
          <p:nvPr/>
        </p:nvSpPr>
        <p:spPr>
          <a:xfrm>
            <a:off x="6309360" y="1554480"/>
            <a:ext cx="5120640" cy="4114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57200"/>
          </a:xfrm>
          <a:prstGeom prst="rect">
            <a:avLst/>
          </a:prstGeom>
          <a:noFill/>
        </p:spPr>
        <p:txBody>
          <a:bodyPr wrap="square">
            <a:spAutoFit/>
          </a:bodyPr>
          <a:lstStyle/>
          <a:p>
            <a:pPr algn="ctr">
              <a:defRPr sz="2000" b="1">
                <a:solidFill>
                  <a:srgbClr val="00B294"/>
                </a:solidFill>
                <a:latin typeface="Segoe UI"/>
              </a:defRPr>
            </a:pPr>
            <a:r>
              <a:t>🟢  Microsoft Graph PowerShell</a:t>
            </a:r>
          </a:p>
        </p:txBody>
      </p:sp>
      <p:sp>
        <p:nvSpPr>
          <p:cNvPr id="12" name="TextBox 11"/>
          <p:cNvSpPr txBox="1"/>
          <p:nvPr/>
        </p:nvSpPr>
        <p:spPr>
          <a:xfrm>
            <a:off x="6675120" y="2286000"/>
            <a:ext cx="4572000" cy="3200400"/>
          </a:xfrm>
          <a:prstGeom prst="rect">
            <a:avLst/>
          </a:prstGeom>
          <a:noFill/>
        </p:spPr>
        <p:txBody>
          <a:bodyPr wrap="square">
            <a:spAutoFit/>
          </a:bodyPr>
          <a:lstStyle/>
          <a:p>
            <a:pPr>
              <a:spcAft>
                <a:spcPts val="600"/>
              </a:spcAft>
              <a:defRPr sz="1500">
                <a:solidFill>
                  <a:srgbClr val="242424"/>
                </a:solidFill>
                <a:latin typeface="Segoe UI"/>
              </a:defRPr>
            </a:pPr>
            <a:r>
              <a:t>▸ Unified API across Microsoft 365 services</a:t>
            </a:r>
          </a:p>
          <a:p>
            <a:pPr>
              <a:spcAft>
                <a:spcPts val="600"/>
              </a:spcAft>
              <a:defRPr sz="1500">
                <a:solidFill>
                  <a:srgbClr val="242424"/>
                </a:solidFill>
                <a:latin typeface="Segoe UI"/>
              </a:defRPr>
            </a:pPr>
            <a:r>
              <a:t>▸ User, group, and directory management</a:t>
            </a:r>
          </a:p>
          <a:p>
            <a:pPr>
              <a:spcAft>
                <a:spcPts val="600"/>
              </a:spcAft>
              <a:defRPr sz="1500">
                <a:solidFill>
                  <a:srgbClr val="242424"/>
                </a:solidFill>
                <a:latin typeface="Segoe UI"/>
              </a:defRPr>
            </a:pPr>
            <a:r>
              <a:t>▸ Cross-service scenarios (Teams + SPO + Exchange)</a:t>
            </a:r>
          </a:p>
          <a:p>
            <a:pPr>
              <a:spcAft>
                <a:spcPts val="600"/>
              </a:spcAft>
              <a:defRPr sz="1500">
                <a:solidFill>
                  <a:srgbClr val="242424"/>
                </a:solidFill>
                <a:latin typeface="Segoe UI"/>
              </a:defRPr>
            </a:pPr>
            <a:r>
              <a:t>▸ Modern auth with granular scopes</a:t>
            </a:r>
          </a:p>
          <a:p>
            <a:pPr>
              <a:spcAft>
                <a:spcPts val="600"/>
              </a:spcAft>
              <a:defRPr sz="1500">
                <a:solidFill>
                  <a:srgbClr val="242424"/>
                </a:solidFill>
                <a:latin typeface="Segoe UI"/>
              </a:defRPr>
            </a:pPr>
            <a:r>
              <a:t>▸ Actively developed, expanding coverage</a:t>
            </a:r>
          </a:p>
          <a:p>
            <a:pPr>
              <a:spcAft>
                <a:spcPts val="600"/>
              </a:spcAft>
              <a:defRPr sz="1500">
                <a:solidFill>
                  <a:srgbClr val="242424"/>
                </a:solidFill>
                <a:latin typeface="Segoe UI"/>
              </a:defRPr>
            </a:pPr>
            <a:r>
              <a:t>▸ App-only authentication for automation</a:t>
            </a:r>
          </a:p>
        </p:txBody>
      </p:sp>
      <p:sp>
        <p:nvSpPr>
          <p:cNvPr id="13" name="Rounded Rectangle 12"/>
          <p:cNvSpPr/>
          <p:nvPr/>
        </p:nvSpPr>
        <p:spPr>
          <a:xfrm>
            <a:off x="1371600" y="5943600"/>
            <a:ext cx="9418320" cy="45720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45920" y="5989320"/>
            <a:ext cx="8869680" cy="365760"/>
          </a:xfrm>
          <a:prstGeom prst="rect">
            <a:avLst/>
          </a:prstGeom>
          <a:noFill/>
        </p:spPr>
        <p:txBody>
          <a:bodyPr wrap="square">
            <a:spAutoFit/>
          </a:bodyPr>
          <a:lstStyle/>
          <a:p>
            <a:pPr algn="l">
              <a:defRPr sz="1400" b="0">
                <a:solidFill>
                  <a:srgbClr val="242424"/>
                </a:solidFill>
                <a:latin typeface="Segoe UI"/>
              </a:defRPr>
            </a:pPr>
            <a:r>
              <a:t>💡 Rule of thumb: SPO = SharePoint admin tasks.  Graph = cross-service or identity scenarios.</a:t>
            </a:r>
          </a:p>
        </p:txBody>
      </p:sp>
      <p:sp>
        <p:nvSpPr>
          <p:cNvPr id="15" name="Rectangle 1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10  |  Administration and Automation with PowerShell</a:t>
            </a:r>
          </a:p>
        </p:txBody>
      </p:sp>
      <p:sp>
        <p:nvSpPr>
          <p:cNvPr id="17" name="TextBox 16"/>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Shared-Tenant Safety</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Guard rails for PowerShell in a training environment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PowerShell Safety Rules (Shared Tenant)</a:t>
            </a:r>
          </a:p>
        </p:txBody>
      </p:sp>
      <p:sp>
        <p:nvSpPr>
          <p:cNvPr id="4" name="Rounded Rectangle 3"/>
          <p:cNvSpPr/>
          <p:nvPr/>
        </p:nvSpPr>
        <p:spPr>
          <a:xfrm>
            <a:off x="731520" y="1371600"/>
            <a:ext cx="53035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71600"/>
            <a:ext cx="73152" cy="201168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54480"/>
            <a:ext cx="45720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7" name="TextBox 6"/>
          <p:cNvSpPr txBox="1"/>
          <p:nvPr/>
        </p:nvSpPr>
        <p:spPr>
          <a:xfrm>
            <a:off x="1554480" y="1554480"/>
            <a:ext cx="4206240" cy="365760"/>
          </a:xfrm>
          <a:prstGeom prst="rect">
            <a:avLst/>
          </a:prstGeom>
          <a:noFill/>
        </p:spPr>
        <p:txBody>
          <a:bodyPr wrap="square">
            <a:spAutoFit/>
          </a:bodyPr>
          <a:lstStyle/>
          <a:p>
            <a:pPr algn="l">
              <a:defRPr sz="1800" b="1">
                <a:solidFill>
                  <a:srgbClr val="107C10"/>
                </a:solidFill>
                <a:latin typeface="Segoe UI"/>
              </a:defRPr>
            </a:pPr>
            <a:r>
              <a:t>Start Read-Only</a:t>
            </a:r>
          </a:p>
        </p:txBody>
      </p:sp>
      <p:sp>
        <p:nvSpPr>
          <p:cNvPr id="8" name="TextBox 7"/>
          <p:cNvSpPr txBox="1"/>
          <p:nvPr/>
        </p:nvSpPr>
        <p:spPr>
          <a:xfrm>
            <a:off x="1554480" y="2011680"/>
            <a:ext cx="4206240" cy="731520"/>
          </a:xfrm>
          <a:prstGeom prst="rect">
            <a:avLst/>
          </a:prstGeom>
          <a:noFill/>
        </p:spPr>
        <p:txBody>
          <a:bodyPr wrap="square">
            <a:spAutoFit/>
          </a:bodyPr>
          <a:lstStyle/>
          <a:p>
            <a:pPr algn="l">
              <a:defRPr sz="1400" b="0">
                <a:solidFill>
                  <a:srgbClr val="242424"/>
                </a:solidFill>
                <a:latin typeface="Segoe UI"/>
              </a:defRPr>
            </a:pPr>
            <a:r>
              <a:t>Always begin with Get- cmdlets.</a:t>
            </a:r>
            <a:br/>
            <a:r>
              <a:t>Confirm your filter returns the</a:t>
            </a:r>
            <a:br/>
            <a:r>
              <a:t>right scope before any changes.</a:t>
            </a:r>
          </a:p>
        </p:txBody>
      </p:sp>
      <p:sp>
        <p:nvSpPr>
          <p:cNvPr id="9" name="TextBox 8"/>
          <p:cNvSpPr txBox="1"/>
          <p:nvPr/>
        </p:nvSpPr>
        <p:spPr>
          <a:xfrm>
            <a:off x="1554480" y="2834640"/>
            <a:ext cx="4206240" cy="365760"/>
          </a:xfrm>
          <a:prstGeom prst="rect">
            <a:avLst/>
          </a:prstGeom>
          <a:noFill/>
        </p:spPr>
        <p:txBody>
          <a:bodyPr wrap="square">
            <a:spAutoFit/>
          </a:bodyPr>
          <a:lstStyle/>
          <a:p>
            <a:pPr algn="l">
              <a:defRPr sz="1200" b="0">
                <a:solidFill>
                  <a:srgbClr val="606060"/>
                </a:solidFill>
                <a:latin typeface="Segoe UI"/>
              </a:defRPr>
            </a:pPr>
            <a:r>
              <a:t>Run Get-SPOSite first, inspect output, THEN act</a:t>
            </a:r>
          </a:p>
        </p:txBody>
      </p:sp>
      <p:sp>
        <p:nvSpPr>
          <p:cNvPr id="10" name="Rounded Rectangle 9"/>
          <p:cNvSpPr/>
          <p:nvPr/>
        </p:nvSpPr>
        <p:spPr>
          <a:xfrm>
            <a:off x="6400800" y="1371600"/>
            <a:ext cx="53035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1371600"/>
            <a:ext cx="73152" cy="20116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554480"/>
            <a:ext cx="45720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13" name="TextBox 12"/>
          <p:cNvSpPr txBox="1"/>
          <p:nvPr/>
        </p:nvSpPr>
        <p:spPr>
          <a:xfrm>
            <a:off x="7223760" y="1554480"/>
            <a:ext cx="4206240" cy="365760"/>
          </a:xfrm>
          <a:prstGeom prst="rect">
            <a:avLst/>
          </a:prstGeom>
          <a:noFill/>
        </p:spPr>
        <p:txBody>
          <a:bodyPr wrap="square">
            <a:spAutoFit/>
          </a:bodyPr>
          <a:lstStyle/>
          <a:p>
            <a:pPr algn="l">
              <a:defRPr sz="1800" b="1">
                <a:solidFill>
                  <a:srgbClr val="0078D4"/>
                </a:solidFill>
                <a:latin typeface="Segoe UI"/>
              </a:defRPr>
            </a:pPr>
            <a:r>
              <a:t>Scope by Prefix</a:t>
            </a:r>
          </a:p>
        </p:txBody>
      </p:sp>
      <p:sp>
        <p:nvSpPr>
          <p:cNvPr id="14" name="TextBox 13"/>
          <p:cNvSpPr txBox="1"/>
          <p:nvPr/>
        </p:nvSpPr>
        <p:spPr>
          <a:xfrm>
            <a:off x="7223760" y="2011680"/>
            <a:ext cx="4206240" cy="731520"/>
          </a:xfrm>
          <a:prstGeom prst="rect">
            <a:avLst/>
          </a:prstGeom>
          <a:noFill/>
        </p:spPr>
        <p:txBody>
          <a:bodyPr wrap="square">
            <a:spAutoFit/>
          </a:bodyPr>
          <a:lstStyle/>
          <a:p>
            <a:pPr algn="l">
              <a:defRPr sz="1400" b="0">
                <a:solidFill>
                  <a:srgbClr val="242424"/>
                </a:solidFill>
                <a:latin typeface="Segoe UI"/>
              </a:defRPr>
            </a:pPr>
            <a:r>
              <a:t>Filter to NW-Pxx- URLs before</a:t>
            </a:r>
            <a:br/>
            <a:r>
              <a:t>exporting or making changes.</a:t>
            </a:r>
            <a:br/>
            <a:r>
              <a:t>Never operate on others' sites.</a:t>
            </a:r>
          </a:p>
        </p:txBody>
      </p:sp>
      <p:sp>
        <p:nvSpPr>
          <p:cNvPr id="15" name="TextBox 14"/>
          <p:cNvSpPr txBox="1"/>
          <p:nvPr/>
        </p:nvSpPr>
        <p:spPr>
          <a:xfrm>
            <a:off x="7223760" y="2834640"/>
            <a:ext cx="4206240" cy="365760"/>
          </a:xfrm>
          <a:prstGeom prst="rect">
            <a:avLst/>
          </a:prstGeom>
          <a:noFill/>
        </p:spPr>
        <p:txBody>
          <a:bodyPr wrap="square">
            <a:spAutoFit/>
          </a:bodyPr>
          <a:lstStyle/>
          <a:p>
            <a:pPr algn="l">
              <a:defRPr sz="1200" b="0">
                <a:solidFill>
                  <a:srgbClr val="606060"/>
                </a:solidFill>
                <a:latin typeface="Segoe UI"/>
              </a:defRPr>
            </a:pPr>
            <a:r>
              <a:t>Where-Object { $_.Url -match 'NW-Pxx' }</a:t>
            </a:r>
          </a:p>
        </p:txBody>
      </p:sp>
      <p:sp>
        <p:nvSpPr>
          <p:cNvPr id="16" name="Rounded Rectangle 15"/>
          <p:cNvSpPr/>
          <p:nvPr/>
        </p:nvSpPr>
        <p:spPr>
          <a:xfrm>
            <a:off x="731520" y="3749039"/>
            <a:ext cx="53035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749039"/>
            <a:ext cx="73152" cy="2011680"/>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931919"/>
            <a:ext cx="45720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19" name="TextBox 18"/>
          <p:cNvSpPr txBox="1"/>
          <p:nvPr/>
        </p:nvSpPr>
        <p:spPr>
          <a:xfrm>
            <a:off x="1554480" y="3931919"/>
            <a:ext cx="4206240" cy="365760"/>
          </a:xfrm>
          <a:prstGeom prst="rect">
            <a:avLst/>
          </a:prstGeom>
          <a:noFill/>
        </p:spPr>
        <p:txBody>
          <a:bodyPr wrap="square">
            <a:spAutoFit/>
          </a:bodyPr>
          <a:lstStyle/>
          <a:p>
            <a:pPr algn="l">
              <a:defRPr sz="1800" b="1">
                <a:solidFill>
                  <a:srgbClr val="00B294"/>
                </a:solidFill>
                <a:latin typeface="Segoe UI"/>
              </a:defRPr>
            </a:pPr>
            <a:r>
              <a:t>Export Baseline</a:t>
            </a:r>
          </a:p>
        </p:txBody>
      </p:sp>
      <p:sp>
        <p:nvSpPr>
          <p:cNvPr id="20" name="TextBox 19"/>
          <p:cNvSpPr txBox="1"/>
          <p:nvPr/>
        </p:nvSpPr>
        <p:spPr>
          <a:xfrm>
            <a:off x="1554480" y="4389119"/>
            <a:ext cx="4206240" cy="731520"/>
          </a:xfrm>
          <a:prstGeom prst="rect">
            <a:avLst/>
          </a:prstGeom>
          <a:noFill/>
        </p:spPr>
        <p:txBody>
          <a:bodyPr wrap="square">
            <a:spAutoFit/>
          </a:bodyPr>
          <a:lstStyle/>
          <a:p>
            <a:pPr algn="l">
              <a:defRPr sz="1400" b="0">
                <a:solidFill>
                  <a:srgbClr val="242424"/>
                </a:solidFill>
                <a:latin typeface="Segoe UI"/>
              </a:defRPr>
            </a:pPr>
            <a:r>
              <a:t>Before any Set- or Remove-</a:t>
            </a:r>
            <a:br/>
            <a:r>
              <a:t>cmdlet, export the current state</a:t>
            </a:r>
            <a:br/>
            <a:r>
              <a:t>to CSV as a rollback reference.</a:t>
            </a:r>
          </a:p>
        </p:txBody>
      </p:sp>
      <p:sp>
        <p:nvSpPr>
          <p:cNvPr id="21" name="TextBox 20"/>
          <p:cNvSpPr txBox="1"/>
          <p:nvPr/>
        </p:nvSpPr>
        <p:spPr>
          <a:xfrm>
            <a:off x="1554480" y="5212079"/>
            <a:ext cx="4206240" cy="365760"/>
          </a:xfrm>
          <a:prstGeom prst="rect">
            <a:avLst/>
          </a:prstGeom>
          <a:noFill/>
        </p:spPr>
        <p:txBody>
          <a:bodyPr wrap="square">
            <a:spAutoFit/>
          </a:bodyPr>
          <a:lstStyle/>
          <a:p>
            <a:pPr algn="l">
              <a:defRPr sz="1200" b="0">
                <a:solidFill>
                  <a:srgbClr val="606060"/>
                </a:solidFill>
                <a:latin typeface="Segoe UI"/>
              </a:defRPr>
            </a:pPr>
            <a:r>
              <a:t>This is your undo button — don't skip it</a:t>
            </a:r>
          </a:p>
        </p:txBody>
      </p:sp>
      <p:sp>
        <p:nvSpPr>
          <p:cNvPr id="22" name="Rounded Rectangle 21"/>
          <p:cNvSpPr/>
          <p:nvPr/>
        </p:nvSpPr>
        <p:spPr>
          <a:xfrm>
            <a:off x="6400800" y="3749039"/>
            <a:ext cx="53035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0" y="3749039"/>
            <a:ext cx="73152" cy="2011680"/>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0" y="3931919"/>
            <a:ext cx="45720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25" name="TextBox 24"/>
          <p:cNvSpPr txBox="1"/>
          <p:nvPr/>
        </p:nvSpPr>
        <p:spPr>
          <a:xfrm>
            <a:off x="7223760" y="3931919"/>
            <a:ext cx="4206240" cy="365760"/>
          </a:xfrm>
          <a:prstGeom prst="rect">
            <a:avLst/>
          </a:prstGeom>
          <a:noFill/>
        </p:spPr>
        <p:txBody>
          <a:bodyPr wrap="square">
            <a:spAutoFit/>
          </a:bodyPr>
          <a:lstStyle/>
          <a:p>
            <a:pPr algn="l">
              <a:defRPr sz="1800" b="1">
                <a:solidFill>
                  <a:srgbClr val="D13438"/>
                </a:solidFill>
                <a:latin typeface="Segoe UI"/>
              </a:defRPr>
            </a:pPr>
            <a:r>
              <a:t>Trainer-Only Changes</a:t>
            </a:r>
          </a:p>
        </p:txBody>
      </p:sp>
      <p:sp>
        <p:nvSpPr>
          <p:cNvPr id="26" name="TextBox 25"/>
          <p:cNvSpPr txBox="1"/>
          <p:nvPr/>
        </p:nvSpPr>
        <p:spPr>
          <a:xfrm>
            <a:off x="7223760" y="4389119"/>
            <a:ext cx="4206240" cy="731520"/>
          </a:xfrm>
          <a:prstGeom prst="rect">
            <a:avLst/>
          </a:prstGeom>
          <a:noFill/>
        </p:spPr>
        <p:txBody>
          <a:bodyPr wrap="square">
            <a:spAutoFit/>
          </a:bodyPr>
          <a:lstStyle/>
          <a:p>
            <a:pPr algn="l">
              <a:defRPr sz="1400" b="0">
                <a:solidFill>
                  <a:srgbClr val="242424"/>
                </a:solidFill>
                <a:latin typeface="Segoe UI"/>
              </a:defRPr>
            </a:pPr>
            <a:r>
              <a:t>Tenant-wide changes (Set-SPOTenant,</a:t>
            </a:r>
            <a:br/>
            <a:r>
              <a:t>Graph write scopes) are restricted</a:t>
            </a:r>
            <a:br/>
            <a:r>
              <a:t>to the trainer account only.</a:t>
            </a:r>
          </a:p>
        </p:txBody>
      </p:sp>
      <p:sp>
        <p:nvSpPr>
          <p:cNvPr id="27" name="TextBox 26"/>
          <p:cNvSpPr txBox="1"/>
          <p:nvPr/>
        </p:nvSpPr>
        <p:spPr>
          <a:xfrm>
            <a:off x="7223760" y="5212079"/>
            <a:ext cx="4206240" cy="365760"/>
          </a:xfrm>
          <a:prstGeom prst="rect">
            <a:avLst/>
          </a:prstGeom>
          <a:noFill/>
        </p:spPr>
        <p:txBody>
          <a:bodyPr wrap="square">
            <a:spAutoFit/>
          </a:bodyPr>
          <a:lstStyle/>
          <a:p>
            <a:pPr algn="l">
              <a:defRPr sz="1200" b="0">
                <a:solidFill>
                  <a:srgbClr val="606060"/>
                </a:solidFill>
                <a:latin typeface="Segoe UI"/>
              </a:defRPr>
            </a:pPr>
            <a:r>
              <a:t>Accidental tenant changes impact everyone</a:t>
            </a:r>
          </a:p>
        </p:txBody>
      </p:sp>
      <p:sp>
        <p:nvSpPr>
          <p:cNvPr id="28" name="Rectangle 27"/>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10  |  Administration and Automation with PowerShell</a:t>
            </a:r>
          </a:p>
        </p:txBody>
      </p:sp>
      <p:sp>
        <p:nvSpPr>
          <p:cNvPr id="30" name="TextBox 29"/>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Common Troubleshooting</a:t>
            </a:r>
          </a:p>
        </p:txBody>
      </p:sp>
      <p:sp>
        <p:nvSpPr>
          <p:cNvPr id="4" name="Rounded Rectangle 3"/>
          <p:cNvSpPr/>
          <p:nvPr/>
        </p:nvSpPr>
        <p:spPr>
          <a:xfrm>
            <a:off x="548640" y="1188720"/>
            <a:ext cx="110642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188720"/>
            <a:ext cx="73152" cy="914400"/>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234440"/>
            <a:ext cx="2743200" cy="365760"/>
          </a:xfrm>
          <a:prstGeom prst="rect">
            <a:avLst/>
          </a:prstGeom>
          <a:noFill/>
        </p:spPr>
        <p:txBody>
          <a:bodyPr wrap="square">
            <a:spAutoFit/>
          </a:bodyPr>
          <a:lstStyle/>
          <a:p>
            <a:pPr algn="l">
              <a:defRPr sz="1400" b="1">
                <a:solidFill>
                  <a:srgbClr val="D13438"/>
                </a:solidFill>
                <a:latin typeface="Segoe UI"/>
              </a:defRPr>
            </a:pPr>
            <a:r>
              <a:t>Connection fails</a:t>
            </a:r>
          </a:p>
        </p:txBody>
      </p:sp>
      <p:sp>
        <p:nvSpPr>
          <p:cNvPr id="7" name="TextBox 6"/>
          <p:cNvSpPr txBox="1"/>
          <p:nvPr/>
        </p:nvSpPr>
        <p:spPr>
          <a:xfrm>
            <a:off x="3657600" y="1234440"/>
            <a:ext cx="4572000" cy="822960"/>
          </a:xfrm>
          <a:prstGeom prst="rect">
            <a:avLst/>
          </a:prstGeom>
          <a:noFill/>
        </p:spPr>
        <p:txBody>
          <a:bodyPr wrap="square">
            <a:spAutoFit/>
          </a:bodyPr>
          <a:lstStyle/>
          <a:p>
            <a:pPr algn="l">
              <a:defRPr sz="1200" b="0">
                <a:solidFill>
                  <a:srgbClr val="242424"/>
                </a:solidFill>
                <a:latin typeface="Segoe UI"/>
              </a:defRPr>
            </a:pPr>
            <a:r>
              <a:t>Confirm: correct admin URL (-admin.sharepoint.com), TLS 1.2 enabled, up-to-date module version.</a:t>
            </a:r>
          </a:p>
        </p:txBody>
      </p:sp>
      <p:sp>
        <p:nvSpPr>
          <p:cNvPr id="8" name="TextBox 7"/>
          <p:cNvSpPr txBox="1"/>
          <p:nvPr/>
        </p:nvSpPr>
        <p:spPr>
          <a:xfrm>
            <a:off x="8412480" y="1234440"/>
            <a:ext cx="3017520" cy="822960"/>
          </a:xfrm>
          <a:prstGeom prst="rect">
            <a:avLst/>
          </a:prstGeom>
          <a:noFill/>
        </p:spPr>
        <p:txBody>
          <a:bodyPr wrap="square">
            <a:spAutoFit/>
          </a:bodyPr>
          <a:lstStyle/>
          <a:p>
            <a:pPr algn="l">
              <a:defRPr sz="1100" b="0">
                <a:solidFill>
                  <a:srgbClr val="606060"/>
                </a:solidFill>
                <a:latin typeface="Segoe UI"/>
              </a:defRPr>
            </a:pPr>
            <a:r>
              <a:t>Try: [Net.ServicePointManager]::SecurityProtocol = 'Tls12'</a:t>
            </a:r>
          </a:p>
        </p:txBody>
      </p:sp>
      <p:sp>
        <p:nvSpPr>
          <p:cNvPr id="9" name="Rounded Rectangle 8"/>
          <p:cNvSpPr/>
          <p:nvPr/>
        </p:nvSpPr>
        <p:spPr>
          <a:xfrm>
            <a:off x="548640" y="2240280"/>
            <a:ext cx="110642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240280"/>
            <a:ext cx="73152" cy="9144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286000"/>
            <a:ext cx="2743200" cy="365760"/>
          </a:xfrm>
          <a:prstGeom prst="rect">
            <a:avLst/>
          </a:prstGeom>
          <a:noFill/>
        </p:spPr>
        <p:txBody>
          <a:bodyPr wrap="square">
            <a:spAutoFit/>
          </a:bodyPr>
          <a:lstStyle/>
          <a:p>
            <a:pPr algn="l">
              <a:defRPr sz="1400" b="1">
                <a:solidFill>
                  <a:srgbClr val="FF8C00"/>
                </a:solidFill>
                <a:latin typeface="Segoe UI"/>
              </a:defRPr>
            </a:pPr>
            <a:r>
              <a:t>Module not found</a:t>
            </a:r>
          </a:p>
        </p:txBody>
      </p:sp>
      <p:sp>
        <p:nvSpPr>
          <p:cNvPr id="12" name="TextBox 11"/>
          <p:cNvSpPr txBox="1"/>
          <p:nvPr/>
        </p:nvSpPr>
        <p:spPr>
          <a:xfrm>
            <a:off x="3657600" y="2286000"/>
            <a:ext cx="4572000" cy="822960"/>
          </a:xfrm>
          <a:prstGeom prst="rect">
            <a:avLst/>
          </a:prstGeom>
          <a:noFill/>
        </p:spPr>
        <p:txBody>
          <a:bodyPr wrap="square">
            <a:spAutoFit/>
          </a:bodyPr>
          <a:lstStyle/>
          <a:p>
            <a:pPr algn="l">
              <a:defRPr sz="1200" b="0">
                <a:solidFill>
                  <a:srgbClr val="242424"/>
                </a:solidFill>
                <a:latin typeface="Segoe UI"/>
              </a:defRPr>
            </a:pPr>
            <a:r>
              <a:t>Install the SPO Management Shell MSI or run Install-Module for Graph. Restart PowerShell after install.</a:t>
            </a:r>
          </a:p>
        </p:txBody>
      </p:sp>
      <p:sp>
        <p:nvSpPr>
          <p:cNvPr id="13" name="TextBox 12"/>
          <p:cNvSpPr txBox="1"/>
          <p:nvPr/>
        </p:nvSpPr>
        <p:spPr>
          <a:xfrm>
            <a:off x="8412480" y="2286000"/>
            <a:ext cx="3017520" cy="822960"/>
          </a:xfrm>
          <a:prstGeom prst="rect">
            <a:avLst/>
          </a:prstGeom>
          <a:noFill/>
        </p:spPr>
        <p:txBody>
          <a:bodyPr wrap="square">
            <a:spAutoFit/>
          </a:bodyPr>
          <a:lstStyle/>
          <a:p>
            <a:pPr algn="l">
              <a:defRPr sz="1100" b="0">
                <a:solidFill>
                  <a:srgbClr val="606060"/>
                </a:solidFill>
                <a:latin typeface="Segoe UI"/>
              </a:defRPr>
            </a:pPr>
            <a:r>
              <a:t>Validate: Get-Command Connect-SPOService</a:t>
            </a:r>
          </a:p>
        </p:txBody>
      </p:sp>
      <p:sp>
        <p:nvSpPr>
          <p:cNvPr id="14" name="Rounded Rectangle 13"/>
          <p:cNvSpPr/>
          <p:nvPr/>
        </p:nvSpPr>
        <p:spPr>
          <a:xfrm>
            <a:off x="548640" y="3291839"/>
            <a:ext cx="110642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291839"/>
            <a:ext cx="73152"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337559"/>
            <a:ext cx="2743200" cy="365760"/>
          </a:xfrm>
          <a:prstGeom prst="rect">
            <a:avLst/>
          </a:prstGeom>
          <a:noFill/>
        </p:spPr>
        <p:txBody>
          <a:bodyPr wrap="square">
            <a:spAutoFit/>
          </a:bodyPr>
          <a:lstStyle/>
          <a:p>
            <a:pPr algn="l">
              <a:defRPr sz="1400" b="1">
                <a:solidFill>
                  <a:srgbClr val="0078D4"/>
                </a:solidFill>
                <a:latin typeface="Segoe UI"/>
              </a:defRPr>
            </a:pPr>
            <a:r>
              <a:t>Access denied on Get-SPOSite</a:t>
            </a:r>
          </a:p>
        </p:txBody>
      </p:sp>
      <p:sp>
        <p:nvSpPr>
          <p:cNvPr id="17" name="TextBox 16"/>
          <p:cNvSpPr txBox="1"/>
          <p:nvPr/>
        </p:nvSpPr>
        <p:spPr>
          <a:xfrm>
            <a:off x="3657600" y="3337559"/>
            <a:ext cx="4572000" cy="822960"/>
          </a:xfrm>
          <a:prstGeom prst="rect">
            <a:avLst/>
          </a:prstGeom>
          <a:noFill/>
        </p:spPr>
        <p:txBody>
          <a:bodyPr wrap="square">
            <a:spAutoFit/>
          </a:bodyPr>
          <a:lstStyle/>
          <a:p>
            <a:pPr algn="l">
              <a:defRPr sz="1200" b="0">
                <a:solidFill>
                  <a:srgbClr val="242424"/>
                </a:solidFill>
                <a:latin typeface="Segoe UI"/>
              </a:defRPr>
            </a:pPr>
            <a:r>
              <a:t>You need at least SharePoint Admin role for tenant-wide queries. For site-scoped queries, Site Admin/Owner is sufficient.</a:t>
            </a:r>
          </a:p>
        </p:txBody>
      </p:sp>
      <p:sp>
        <p:nvSpPr>
          <p:cNvPr id="18" name="TextBox 17"/>
          <p:cNvSpPr txBox="1"/>
          <p:nvPr/>
        </p:nvSpPr>
        <p:spPr>
          <a:xfrm>
            <a:off x="8412480" y="3337559"/>
            <a:ext cx="3017520" cy="822960"/>
          </a:xfrm>
          <a:prstGeom prst="rect">
            <a:avLst/>
          </a:prstGeom>
          <a:noFill/>
        </p:spPr>
        <p:txBody>
          <a:bodyPr wrap="square">
            <a:spAutoFit/>
          </a:bodyPr>
          <a:lstStyle/>
          <a:p>
            <a:pPr algn="l">
              <a:defRPr sz="1100" b="0">
                <a:solidFill>
                  <a:srgbClr val="606060"/>
                </a:solidFill>
                <a:latin typeface="Segoe UI"/>
              </a:defRPr>
            </a:pPr>
            <a:r>
              <a:t>Workaround: use Get-SPOUser -Site &lt;url&gt; for your own site only</a:t>
            </a:r>
          </a:p>
        </p:txBody>
      </p:sp>
      <p:sp>
        <p:nvSpPr>
          <p:cNvPr id="19" name="Rounded Rectangle 18"/>
          <p:cNvSpPr/>
          <p:nvPr/>
        </p:nvSpPr>
        <p:spPr>
          <a:xfrm>
            <a:off x="548640" y="4343400"/>
            <a:ext cx="110642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4343400"/>
            <a:ext cx="73152" cy="914400"/>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389120"/>
            <a:ext cx="2743200" cy="365760"/>
          </a:xfrm>
          <a:prstGeom prst="rect">
            <a:avLst/>
          </a:prstGeom>
          <a:noFill/>
        </p:spPr>
        <p:txBody>
          <a:bodyPr wrap="square">
            <a:spAutoFit/>
          </a:bodyPr>
          <a:lstStyle/>
          <a:p>
            <a:pPr algn="l">
              <a:defRPr sz="1400" b="1">
                <a:solidFill>
                  <a:srgbClr val="00B294"/>
                </a:solidFill>
                <a:latin typeface="Segoe UI"/>
              </a:defRPr>
            </a:pPr>
            <a:r>
              <a:t>Export-Csv has type header</a:t>
            </a:r>
          </a:p>
        </p:txBody>
      </p:sp>
      <p:sp>
        <p:nvSpPr>
          <p:cNvPr id="22" name="TextBox 21"/>
          <p:cNvSpPr txBox="1"/>
          <p:nvPr/>
        </p:nvSpPr>
        <p:spPr>
          <a:xfrm>
            <a:off x="3657600" y="4389120"/>
            <a:ext cx="4572000" cy="822960"/>
          </a:xfrm>
          <a:prstGeom prst="rect">
            <a:avLst/>
          </a:prstGeom>
          <a:noFill/>
        </p:spPr>
        <p:txBody>
          <a:bodyPr wrap="square">
            <a:spAutoFit/>
          </a:bodyPr>
          <a:lstStyle/>
          <a:p>
            <a:pPr algn="l">
              <a:defRPr sz="1200" b="0">
                <a:solidFill>
                  <a:srgbClr val="242424"/>
                </a:solidFill>
                <a:latin typeface="Segoe UI"/>
              </a:defRPr>
            </a:pPr>
            <a:r>
              <a:t>Add the -NoTypeInformation switch to suppress the #TYPE line at the top of the CSV file.</a:t>
            </a:r>
          </a:p>
        </p:txBody>
      </p:sp>
      <p:sp>
        <p:nvSpPr>
          <p:cNvPr id="23" name="TextBox 22"/>
          <p:cNvSpPr txBox="1"/>
          <p:nvPr/>
        </p:nvSpPr>
        <p:spPr>
          <a:xfrm>
            <a:off x="8412480" y="4389120"/>
            <a:ext cx="3017520" cy="822960"/>
          </a:xfrm>
          <a:prstGeom prst="rect">
            <a:avLst/>
          </a:prstGeom>
          <a:noFill/>
        </p:spPr>
        <p:txBody>
          <a:bodyPr wrap="square">
            <a:spAutoFit/>
          </a:bodyPr>
          <a:lstStyle/>
          <a:p>
            <a:pPr algn="l">
              <a:defRPr sz="1100" b="0">
                <a:solidFill>
                  <a:srgbClr val="606060"/>
                </a:solidFill>
                <a:latin typeface="Segoe UI"/>
              </a:defRPr>
            </a:pPr>
            <a:r>
              <a:t>Export-Csv .\Report.csv -NoTypeInformation</a:t>
            </a:r>
          </a:p>
        </p:txBody>
      </p:sp>
      <p:sp>
        <p:nvSpPr>
          <p:cNvPr id="24" name="Rounded Rectangle 23"/>
          <p:cNvSpPr/>
          <p:nvPr/>
        </p:nvSpPr>
        <p:spPr>
          <a:xfrm>
            <a:off x="548640" y="5394959"/>
            <a:ext cx="110642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5394959"/>
            <a:ext cx="73152" cy="914400"/>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440679"/>
            <a:ext cx="2743200" cy="365760"/>
          </a:xfrm>
          <a:prstGeom prst="rect">
            <a:avLst/>
          </a:prstGeom>
          <a:noFill/>
        </p:spPr>
        <p:txBody>
          <a:bodyPr wrap="square">
            <a:spAutoFit/>
          </a:bodyPr>
          <a:lstStyle/>
          <a:p>
            <a:pPr algn="l">
              <a:defRPr sz="1400" b="1">
                <a:solidFill>
                  <a:srgbClr val="6B69D6"/>
                </a:solidFill>
                <a:latin typeface="Segoe UI"/>
              </a:defRPr>
            </a:pPr>
            <a:r>
              <a:t>Graph consent prompt</a:t>
            </a:r>
          </a:p>
        </p:txBody>
      </p:sp>
      <p:sp>
        <p:nvSpPr>
          <p:cNvPr id="27" name="TextBox 26"/>
          <p:cNvSpPr txBox="1"/>
          <p:nvPr/>
        </p:nvSpPr>
        <p:spPr>
          <a:xfrm>
            <a:off x="3657600" y="5440679"/>
            <a:ext cx="4572000" cy="822960"/>
          </a:xfrm>
          <a:prstGeom prst="rect">
            <a:avLst/>
          </a:prstGeom>
          <a:noFill/>
        </p:spPr>
        <p:txBody>
          <a:bodyPr wrap="square">
            <a:spAutoFit/>
          </a:bodyPr>
          <a:lstStyle/>
          <a:p>
            <a:pPr algn="l">
              <a:defRPr sz="1200" b="0">
                <a:solidFill>
                  <a:srgbClr val="242424"/>
                </a:solidFill>
                <a:latin typeface="Segoe UI"/>
              </a:defRPr>
            </a:pPr>
            <a:r>
              <a:t>Some scopes need admin consent. The trainer can pre-approve, or use scopes that don't require admin consent (User.Read).</a:t>
            </a:r>
          </a:p>
        </p:txBody>
      </p:sp>
      <p:sp>
        <p:nvSpPr>
          <p:cNvPr id="28" name="TextBox 27"/>
          <p:cNvSpPr txBox="1"/>
          <p:nvPr/>
        </p:nvSpPr>
        <p:spPr>
          <a:xfrm>
            <a:off x="8412480" y="5440679"/>
            <a:ext cx="3017520" cy="822960"/>
          </a:xfrm>
          <a:prstGeom prst="rect">
            <a:avLst/>
          </a:prstGeom>
          <a:noFill/>
        </p:spPr>
        <p:txBody>
          <a:bodyPr wrap="square">
            <a:spAutoFit/>
          </a:bodyPr>
          <a:lstStyle/>
          <a:p>
            <a:pPr algn="l">
              <a:defRPr sz="1100" b="0">
                <a:solidFill>
                  <a:srgbClr val="606060"/>
                </a:solidFill>
                <a:latin typeface="Segoe UI"/>
              </a:defRPr>
            </a:pPr>
            <a:r>
              <a:t>In training, use minimal read scopes only</a:t>
            </a:r>
          </a:p>
        </p:txBody>
      </p:sp>
      <p:sp>
        <p:nvSpPr>
          <p:cNvPr id="29" name="Rectangle 28"/>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10  |  Administration and Automation with PowerShell</a:t>
            </a:r>
          </a:p>
        </p:txBody>
      </p:sp>
      <p:sp>
        <p:nvSpPr>
          <p:cNvPr id="31" name="TextBox 30"/>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Lab &amp; Validation</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Hands-on practice — connect, report, and automate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Lab 10 Preview</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Hands-on: Connect, report, bulk operate, and explore Graph  (75–105 min)</a:t>
            </a:r>
          </a:p>
        </p:txBody>
      </p:sp>
      <p:sp>
        <p:nvSpPr>
          <p:cNvPr id="5" name="Rounded Rectangle 4"/>
          <p:cNvSpPr/>
          <p:nvPr/>
        </p:nvSpPr>
        <p:spPr>
          <a:xfrm>
            <a:off x="548640"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26517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08760" y="1828800"/>
            <a:ext cx="640080" cy="64008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1</a:t>
            </a:r>
          </a:p>
        </p:txBody>
      </p:sp>
      <p:sp>
        <p:nvSpPr>
          <p:cNvPr id="8" name="TextBox 7"/>
          <p:cNvSpPr txBox="1"/>
          <p:nvPr/>
        </p:nvSpPr>
        <p:spPr>
          <a:xfrm>
            <a:off x="731520" y="2651760"/>
            <a:ext cx="2286000" cy="457200"/>
          </a:xfrm>
          <a:prstGeom prst="rect">
            <a:avLst/>
          </a:prstGeom>
          <a:noFill/>
        </p:spPr>
        <p:txBody>
          <a:bodyPr wrap="square">
            <a:spAutoFit/>
          </a:bodyPr>
          <a:lstStyle/>
          <a:p>
            <a:pPr algn="ctr">
              <a:defRPr sz="1800" b="1">
                <a:solidFill>
                  <a:srgbClr val="0078D4"/>
                </a:solidFill>
                <a:latin typeface="Segoe UI"/>
              </a:defRPr>
            </a:pPr>
            <a:r>
              <a:t>Connect</a:t>
            </a:r>
          </a:p>
        </p:txBody>
      </p:sp>
      <p:sp>
        <p:nvSpPr>
          <p:cNvPr id="9" name="TextBox 8"/>
          <p:cNvSpPr txBox="1"/>
          <p:nvPr/>
        </p:nvSpPr>
        <p:spPr>
          <a:xfrm>
            <a:off x="731520" y="3200400"/>
            <a:ext cx="2286000" cy="1097280"/>
          </a:xfrm>
          <a:prstGeom prst="rect">
            <a:avLst/>
          </a:prstGeom>
          <a:noFill/>
        </p:spPr>
        <p:txBody>
          <a:bodyPr wrap="square">
            <a:spAutoFit/>
          </a:bodyPr>
          <a:lstStyle/>
          <a:p>
            <a:pPr algn="ctr">
              <a:defRPr sz="1400" b="0">
                <a:solidFill>
                  <a:srgbClr val="242424"/>
                </a:solidFill>
                <a:latin typeface="Segoe UI"/>
              </a:defRPr>
            </a:pPr>
            <a:r>
              <a:t>Run Connect-SPOService</a:t>
            </a:r>
            <a:br/>
            <a:r>
              <a:t>to your tenant admin</a:t>
            </a:r>
            <a:br/>
            <a:r>
              <a:t>endpoint</a:t>
            </a:r>
          </a:p>
        </p:txBody>
      </p:sp>
      <p:sp>
        <p:nvSpPr>
          <p:cNvPr id="10" name="Rounded Rectangle 9"/>
          <p:cNvSpPr/>
          <p:nvPr/>
        </p:nvSpPr>
        <p:spPr>
          <a:xfrm>
            <a:off x="3429000"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29000" y="1645920"/>
            <a:ext cx="265176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9120" y="1828800"/>
            <a:ext cx="640080" cy="640080"/>
          </a:xfrm>
          <a:prstGeom prst="roundRect">
            <a:avLst>
              <a:gd name="adj" fmla="val 5000"/>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2</a:t>
            </a:r>
          </a:p>
        </p:txBody>
      </p:sp>
      <p:sp>
        <p:nvSpPr>
          <p:cNvPr id="13" name="TextBox 12"/>
          <p:cNvSpPr txBox="1"/>
          <p:nvPr/>
        </p:nvSpPr>
        <p:spPr>
          <a:xfrm>
            <a:off x="3611880" y="2651760"/>
            <a:ext cx="2286000" cy="457200"/>
          </a:xfrm>
          <a:prstGeom prst="rect">
            <a:avLst/>
          </a:prstGeom>
          <a:noFill/>
        </p:spPr>
        <p:txBody>
          <a:bodyPr wrap="square">
            <a:spAutoFit/>
          </a:bodyPr>
          <a:lstStyle/>
          <a:p>
            <a:pPr algn="ctr">
              <a:defRPr sz="1800" b="1">
                <a:solidFill>
                  <a:srgbClr val="00B294"/>
                </a:solidFill>
                <a:latin typeface="Segoe UI"/>
              </a:defRPr>
            </a:pPr>
            <a:r>
              <a:t>Site Report</a:t>
            </a:r>
          </a:p>
        </p:txBody>
      </p:sp>
      <p:sp>
        <p:nvSpPr>
          <p:cNvPr id="14" name="TextBox 13"/>
          <p:cNvSpPr txBox="1"/>
          <p:nvPr/>
        </p:nvSpPr>
        <p:spPr>
          <a:xfrm>
            <a:off x="3611880" y="3200400"/>
            <a:ext cx="2286000" cy="1097280"/>
          </a:xfrm>
          <a:prstGeom prst="rect">
            <a:avLst/>
          </a:prstGeom>
          <a:noFill/>
        </p:spPr>
        <p:txBody>
          <a:bodyPr wrap="square">
            <a:spAutoFit/>
          </a:bodyPr>
          <a:lstStyle/>
          <a:p>
            <a:pPr algn="ctr">
              <a:defRPr sz="1400" b="0">
                <a:solidFill>
                  <a:srgbClr val="242424"/>
                </a:solidFill>
                <a:latin typeface="Segoe UI"/>
              </a:defRPr>
            </a:pPr>
            <a:r>
              <a:t>Export NW-Pxx sites to CSV</a:t>
            </a:r>
            <a:br/>
            <a:r>
              <a:t>using Get-SPOSite with</a:t>
            </a:r>
            <a:br/>
            <a:r>
              <a:t>filter and Select-Object</a:t>
            </a:r>
          </a:p>
        </p:txBody>
      </p:sp>
      <p:sp>
        <p:nvSpPr>
          <p:cNvPr id="15" name="Rounded Rectangle 14"/>
          <p:cNvSpPr/>
          <p:nvPr/>
        </p:nvSpPr>
        <p:spPr>
          <a:xfrm>
            <a:off x="6309359"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09359" y="1645920"/>
            <a:ext cx="265176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269479" y="1828800"/>
            <a:ext cx="640080" cy="64008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3</a:t>
            </a:r>
          </a:p>
        </p:txBody>
      </p:sp>
      <p:sp>
        <p:nvSpPr>
          <p:cNvPr id="18" name="TextBox 17"/>
          <p:cNvSpPr txBox="1"/>
          <p:nvPr/>
        </p:nvSpPr>
        <p:spPr>
          <a:xfrm>
            <a:off x="6492239" y="2651760"/>
            <a:ext cx="2286000" cy="457200"/>
          </a:xfrm>
          <a:prstGeom prst="rect">
            <a:avLst/>
          </a:prstGeom>
          <a:noFill/>
        </p:spPr>
        <p:txBody>
          <a:bodyPr wrap="square">
            <a:spAutoFit/>
          </a:bodyPr>
          <a:lstStyle/>
          <a:p>
            <a:pPr algn="ctr">
              <a:defRPr sz="1800" b="1">
                <a:solidFill>
                  <a:srgbClr val="6B69D6"/>
                </a:solidFill>
                <a:latin typeface="Segoe UI"/>
              </a:defRPr>
            </a:pPr>
            <a:r>
              <a:t>User Report</a:t>
            </a:r>
          </a:p>
        </p:txBody>
      </p:sp>
      <p:sp>
        <p:nvSpPr>
          <p:cNvPr id="19" name="TextBox 18"/>
          <p:cNvSpPr txBox="1"/>
          <p:nvPr/>
        </p:nvSpPr>
        <p:spPr>
          <a:xfrm>
            <a:off x="6492239" y="3200400"/>
            <a:ext cx="2286000" cy="1097280"/>
          </a:xfrm>
          <a:prstGeom prst="rect">
            <a:avLst/>
          </a:prstGeom>
          <a:noFill/>
        </p:spPr>
        <p:txBody>
          <a:bodyPr wrap="square">
            <a:spAutoFit/>
          </a:bodyPr>
          <a:lstStyle/>
          <a:p>
            <a:pPr algn="ctr">
              <a:defRPr sz="1400" b="0">
                <a:solidFill>
                  <a:srgbClr val="242424"/>
                </a:solidFill>
                <a:latin typeface="Segoe UI"/>
              </a:defRPr>
            </a:pPr>
            <a:r>
              <a:t>Export user membership</a:t>
            </a:r>
            <a:br/>
            <a:r>
              <a:t>from your site using</a:t>
            </a:r>
            <a:br/>
            <a:r>
              <a:t>Get-SPOUser</a:t>
            </a:r>
          </a:p>
        </p:txBody>
      </p:sp>
      <p:sp>
        <p:nvSpPr>
          <p:cNvPr id="20" name="Rounded Rectangle 19"/>
          <p:cNvSpPr/>
          <p:nvPr/>
        </p:nvSpPr>
        <p:spPr>
          <a:xfrm>
            <a:off x="9189719"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89719" y="1645920"/>
            <a:ext cx="265176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49839" y="1828800"/>
            <a:ext cx="640080" cy="640080"/>
          </a:xfrm>
          <a:prstGeom prst="roundRect">
            <a:avLst>
              <a:gd name="adj" fmla="val 5000"/>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4</a:t>
            </a:r>
          </a:p>
        </p:txBody>
      </p:sp>
      <p:sp>
        <p:nvSpPr>
          <p:cNvPr id="23" name="TextBox 22"/>
          <p:cNvSpPr txBox="1"/>
          <p:nvPr/>
        </p:nvSpPr>
        <p:spPr>
          <a:xfrm>
            <a:off x="9372599" y="2651760"/>
            <a:ext cx="2286000" cy="457200"/>
          </a:xfrm>
          <a:prstGeom prst="rect">
            <a:avLst/>
          </a:prstGeom>
          <a:noFill/>
        </p:spPr>
        <p:txBody>
          <a:bodyPr wrap="square">
            <a:spAutoFit/>
          </a:bodyPr>
          <a:lstStyle/>
          <a:p>
            <a:pPr algn="ctr">
              <a:defRPr sz="1800" b="1">
                <a:solidFill>
                  <a:srgbClr val="FF8C00"/>
                </a:solidFill>
                <a:latin typeface="Segoe UI"/>
              </a:defRPr>
            </a:pPr>
            <a:r>
              <a:t>CSV Bulk Loop</a:t>
            </a:r>
          </a:p>
        </p:txBody>
      </p:sp>
      <p:sp>
        <p:nvSpPr>
          <p:cNvPr id="24" name="TextBox 23"/>
          <p:cNvSpPr txBox="1"/>
          <p:nvPr/>
        </p:nvSpPr>
        <p:spPr>
          <a:xfrm>
            <a:off x="9372599" y="3200400"/>
            <a:ext cx="2286000" cy="1097280"/>
          </a:xfrm>
          <a:prstGeom prst="rect">
            <a:avLst/>
          </a:prstGeom>
          <a:noFill/>
        </p:spPr>
        <p:txBody>
          <a:bodyPr wrap="square">
            <a:spAutoFit/>
          </a:bodyPr>
          <a:lstStyle/>
          <a:p>
            <a:pPr algn="ctr">
              <a:defRPr sz="1400" b="0">
                <a:solidFill>
                  <a:srgbClr val="242424"/>
                </a:solidFill>
                <a:latin typeface="Segoe UI"/>
              </a:defRPr>
            </a:pPr>
            <a:r>
              <a:t>Create Targets.csv and</a:t>
            </a:r>
            <a:br/>
            <a:r>
              <a:t>run Import-Csv + ForEach</a:t>
            </a:r>
            <a:br/>
            <a:r>
              <a:t>to collect reports</a:t>
            </a:r>
          </a:p>
        </p:txBody>
      </p:sp>
      <p:sp>
        <p:nvSpPr>
          <p:cNvPr id="25" name="Rounded Rectangle 24"/>
          <p:cNvSpPr/>
          <p:nvPr/>
        </p:nvSpPr>
        <p:spPr>
          <a:xfrm>
            <a:off x="1371600" y="4937760"/>
            <a:ext cx="9418320" cy="73152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45920" y="4983480"/>
            <a:ext cx="8869680" cy="640080"/>
          </a:xfrm>
          <a:prstGeom prst="rect">
            <a:avLst/>
          </a:prstGeom>
          <a:noFill/>
        </p:spPr>
        <p:txBody>
          <a:bodyPr wrap="square">
            <a:spAutoFit/>
          </a:bodyPr>
          <a:lstStyle/>
          <a:p>
            <a:pPr algn="l">
              <a:defRPr sz="1300" b="0">
                <a:solidFill>
                  <a:srgbClr val="242424"/>
                </a:solidFill>
                <a:latin typeface="Segoe UI"/>
              </a:defRPr>
            </a:pPr>
            <a:r>
              <a:t>📝  Optional Exercise 5:  Connect to Microsoft Graph PowerShell with -Scopes "User.Read.All". Validate identity data. Only if Graph module is available and trainer approves.</a:t>
            </a:r>
          </a:p>
        </p:txBody>
      </p:sp>
      <p:sp>
        <p:nvSpPr>
          <p:cNvPr id="27" name="Rectangle 26"/>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10  |  Administration and Automation with PowerShell</a:t>
            </a:r>
          </a:p>
        </p:txBody>
      </p:sp>
      <p:sp>
        <p:nvSpPr>
          <p:cNvPr id="29" name="TextBox 28"/>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Lab Deliverables</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Four CSV files that prove you can connect, report, and automate</a:t>
            </a:r>
          </a:p>
        </p:txBody>
      </p:sp>
      <p:sp>
        <p:nvSpPr>
          <p:cNvPr id="5" name="Rounded Rectangle 4"/>
          <p:cNvSpPr/>
          <p:nvPr/>
        </p:nvSpPr>
        <p:spPr>
          <a:xfrm>
            <a:off x="731520" y="1554480"/>
            <a:ext cx="53035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554480"/>
            <a:ext cx="73152" cy="1828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91640"/>
            <a:ext cx="457200" cy="365760"/>
          </a:xfrm>
          <a:prstGeom prst="rect">
            <a:avLst/>
          </a:prstGeom>
          <a:noFill/>
        </p:spPr>
        <p:txBody>
          <a:bodyPr wrap="square">
            <a:spAutoFit/>
          </a:bodyPr>
          <a:lstStyle/>
          <a:p>
            <a:pPr algn="ctr">
              <a:defRPr sz="2400" b="0">
                <a:solidFill>
                  <a:srgbClr val="242424"/>
                </a:solidFill>
                <a:latin typeface="Segoe UI"/>
              </a:defRPr>
            </a:pPr>
            <a:r>
              <a:t>📄</a:t>
            </a:r>
          </a:p>
        </p:txBody>
      </p:sp>
      <p:sp>
        <p:nvSpPr>
          <p:cNvPr id="8" name="TextBox 7"/>
          <p:cNvSpPr txBox="1"/>
          <p:nvPr/>
        </p:nvSpPr>
        <p:spPr>
          <a:xfrm>
            <a:off x="1554480" y="1691640"/>
            <a:ext cx="4206240" cy="365760"/>
          </a:xfrm>
          <a:prstGeom prst="rect">
            <a:avLst/>
          </a:prstGeom>
          <a:noFill/>
        </p:spPr>
        <p:txBody>
          <a:bodyPr wrap="square">
            <a:spAutoFit/>
          </a:bodyPr>
          <a:lstStyle/>
          <a:p>
            <a:pPr algn="l">
              <a:defRPr sz="1800" b="1">
                <a:solidFill>
                  <a:srgbClr val="0078D4"/>
                </a:solidFill>
                <a:latin typeface="Cascadia Code"/>
              </a:defRPr>
            </a:pPr>
            <a:r>
              <a:t>NW-Pxx-Sites.csv</a:t>
            </a:r>
          </a:p>
        </p:txBody>
      </p:sp>
      <p:sp>
        <p:nvSpPr>
          <p:cNvPr id="9" name="TextBox 8"/>
          <p:cNvSpPr txBox="1"/>
          <p:nvPr/>
        </p:nvSpPr>
        <p:spPr>
          <a:xfrm>
            <a:off x="1554480" y="2103120"/>
            <a:ext cx="4206240" cy="640080"/>
          </a:xfrm>
          <a:prstGeom prst="rect">
            <a:avLst/>
          </a:prstGeom>
          <a:noFill/>
        </p:spPr>
        <p:txBody>
          <a:bodyPr wrap="square">
            <a:spAutoFit/>
          </a:bodyPr>
          <a:lstStyle/>
          <a:p>
            <a:pPr algn="l">
              <a:defRPr sz="1400" b="0">
                <a:solidFill>
                  <a:srgbClr val="242424"/>
                </a:solidFill>
                <a:latin typeface="Segoe UI"/>
              </a:defRPr>
            </a:pPr>
            <a:r>
              <a:t>Filtered site inventory report</a:t>
            </a:r>
            <a:br/>
            <a:r>
              <a:t>for your NW-Pxx sites only</a:t>
            </a:r>
          </a:p>
        </p:txBody>
      </p:sp>
      <p:sp>
        <p:nvSpPr>
          <p:cNvPr id="10" name="TextBox 9"/>
          <p:cNvSpPr txBox="1"/>
          <p:nvPr/>
        </p:nvSpPr>
        <p:spPr>
          <a:xfrm>
            <a:off x="1554480" y="2834640"/>
            <a:ext cx="4206240" cy="365760"/>
          </a:xfrm>
          <a:prstGeom prst="rect">
            <a:avLst/>
          </a:prstGeom>
          <a:noFill/>
        </p:spPr>
        <p:txBody>
          <a:bodyPr wrap="square">
            <a:spAutoFit/>
          </a:bodyPr>
          <a:lstStyle/>
          <a:p>
            <a:pPr algn="l">
              <a:defRPr sz="1200" b="0">
                <a:solidFill>
                  <a:srgbClr val="606060"/>
                </a:solidFill>
                <a:latin typeface="Segoe UI"/>
              </a:defRPr>
            </a:pPr>
            <a:r>
              <a:t>Exercise 2: Get-SPOSite → Filter → Export</a:t>
            </a:r>
          </a:p>
        </p:txBody>
      </p:sp>
      <p:sp>
        <p:nvSpPr>
          <p:cNvPr id="11" name="Rounded Rectangle 10"/>
          <p:cNvSpPr/>
          <p:nvPr/>
        </p:nvSpPr>
        <p:spPr>
          <a:xfrm>
            <a:off x="6400800" y="1554480"/>
            <a:ext cx="53035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1554480"/>
            <a:ext cx="73152" cy="1828800"/>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1691640"/>
            <a:ext cx="457200" cy="365760"/>
          </a:xfrm>
          <a:prstGeom prst="rect">
            <a:avLst/>
          </a:prstGeom>
          <a:noFill/>
        </p:spPr>
        <p:txBody>
          <a:bodyPr wrap="square">
            <a:spAutoFit/>
          </a:bodyPr>
          <a:lstStyle/>
          <a:p>
            <a:pPr algn="ctr">
              <a:defRPr sz="2400" b="0">
                <a:solidFill>
                  <a:srgbClr val="242424"/>
                </a:solidFill>
                <a:latin typeface="Segoe UI"/>
              </a:defRPr>
            </a:pPr>
            <a:r>
              <a:t>📄</a:t>
            </a:r>
          </a:p>
        </p:txBody>
      </p:sp>
      <p:sp>
        <p:nvSpPr>
          <p:cNvPr id="14" name="TextBox 13"/>
          <p:cNvSpPr txBox="1"/>
          <p:nvPr/>
        </p:nvSpPr>
        <p:spPr>
          <a:xfrm>
            <a:off x="7223760" y="1691640"/>
            <a:ext cx="4206240" cy="365760"/>
          </a:xfrm>
          <a:prstGeom prst="rect">
            <a:avLst/>
          </a:prstGeom>
          <a:noFill/>
        </p:spPr>
        <p:txBody>
          <a:bodyPr wrap="square">
            <a:spAutoFit/>
          </a:bodyPr>
          <a:lstStyle/>
          <a:p>
            <a:pPr algn="l">
              <a:defRPr sz="1800" b="1">
                <a:solidFill>
                  <a:srgbClr val="00B294"/>
                </a:solidFill>
                <a:latin typeface="Cascadia Code"/>
              </a:defRPr>
            </a:pPr>
            <a:r>
              <a:t>NW-Pxx-Users.csv</a:t>
            </a:r>
          </a:p>
        </p:txBody>
      </p:sp>
      <p:sp>
        <p:nvSpPr>
          <p:cNvPr id="15" name="TextBox 14"/>
          <p:cNvSpPr txBox="1"/>
          <p:nvPr/>
        </p:nvSpPr>
        <p:spPr>
          <a:xfrm>
            <a:off x="7223760" y="2103120"/>
            <a:ext cx="4206240" cy="640080"/>
          </a:xfrm>
          <a:prstGeom prst="rect">
            <a:avLst/>
          </a:prstGeom>
          <a:noFill/>
        </p:spPr>
        <p:txBody>
          <a:bodyPr wrap="square">
            <a:spAutoFit/>
          </a:bodyPr>
          <a:lstStyle/>
          <a:p>
            <a:pPr algn="l">
              <a:defRPr sz="1400" b="0">
                <a:solidFill>
                  <a:srgbClr val="242424"/>
                </a:solidFill>
                <a:latin typeface="Segoe UI"/>
              </a:defRPr>
            </a:pPr>
            <a:r>
              <a:t>User membership report for</a:t>
            </a:r>
            <a:br/>
            <a:r>
              <a:t>your primary NW-Pxx site</a:t>
            </a:r>
          </a:p>
        </p:txBody>
      </p:sp>
      <p:sp>
        <p:nvSpPr>
          <p:cNvPr id="16" name="TextBox 15"/>
          <p:cNvSpPr txBox="1"/>
          <p:nvPr/>
        </p:nvSpPr>
        <p:spPr>
          <a:xfrm>
            <a:off x="7223760" y="2834640"/>
            <a:ext cx="4206240" cy="365760"/>
          </a:xfrm>
          <a:prstGeom prst="rect">
            <a:avLst/>
          </a:prstGeom>
          <a:noFill/>
        </p:spPr>
        <p:txBody>
          <a:bodyPr wrap="square">
            <a:spAutoFit/>
          </a:bodyPr>
          <a:lstStyle/>
          <a:p>
            <a:pPr algn="l">
              <a:defRPr sz="1200" b="0">
                <a:solidFill>
                  <a:srgbClr val="606060"/>
                </a:solidFill>
                <a:latin typeface="Segoe UI"/>
              </a:defRPr>
            </a:pPr>
            <a:r>
              <a:t>Exercise 3: Get-SPOUser → Select → Export</a:t>
            </a:r>
          </a:p>
        </p:txBody>
      </p:sp>
      <p:sp>
        <p:nvSpPr>
          <p:cNvPr id="17" name="Rounded Rectangle 16"/>
          <p:cNvSpPr/>
          <p:nvPr/>
        </p:nvSpPr>
        <p:spPr>
          <a:xfrm>
            <a:off x="731520" y="3749039"/>
            <a:ext cx="53035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749039"/>
            <a:ext cx="73152" cy="1828800"/>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886199"/>
            <a:ext cx="457200" cy="365760"/>
          </a:xfrm>
          <a:prstGeom prst="rect">
            <a:avLst/>
          </a:prstGeom>
          <a:noFill/>
        </p:spPr>
        <p:txBody>
          <a:bodyPr wrap="square">
            <a:spAutoFit/>
          </a:bodyPr>
          <a:lstStyle/>
          <a:p>
            <a:pPr algn="ctr">
              <a:defRPr sz="2400" b="0">
                <a:solidFill>
                  <a:srgbClr val="242424"/>
                </a:solidFill>
                <a:latin typeface="Segoe UI"/>
              </a:defRPr>
            </a:pPr>
            <a:r>
              <a:t>📄</a:t>
            </a:r>
          </a:p>
        </p:txBody>
      </p:sp>
      <p:sp>
        <p:nvSpPr>
          <p:cNvPr id="20" name="TextBox 19"/>
          <p:cNvSpPr txBox="1"/>
          <p:nvPr/>
        </p:nvSpPr>
        <p:spPr>
          <a:xfrm>
            <a:off x="1554480" y="3886199"/>
            <a:ext cx="4206240" cy="365760"/>
          </a:xfrm>
          <a:prstGeom prst="rect">
            <a:avLst/>
          </a:prstGeom>
          <a:noFill/>
        </p:spPr>
        <p:txBody>
          <a:bodyPr wrap="square">
            <a:spAutoFit/>
          </a:bodyPr>
          <a:lstStyle/>
          <a:p>
            <a:pPr algn="l">
              <a:defRPr sz="1800" b="1">
                <a:solidFill>
                  <a:srgbClr val="6B69D6"/>
                </a:solidFill>
                <a:latin typeface="Cascadia Code"/>
              </a:defRPr>
            </a:pPr>
            <a:r>
              <a:t>Targets.csv</a:t>
            </a:r>
          </a:p>
        </p:txBody>
      </p:sp>
      <p:sp>
        <p:nvSpPr>
          <p:cNvPr id="21" name="TextBox 20"/>
          <p:cNvSpPr txBox="1"/>
          <p:nvPr/>
        </p:nvSpPr>
        <p:spPr>
          <a:xfrm>
            <a:off x="1554480" y="4297679"/>
            <a:ext cx="4206240" cy="640080"/>
          </a:xfrm>
          <a:prstGeom prst="rect">
            <a:avLst/>
          </a:prstGeom>
          <a:noFill/>
        </p:spPr>
        <p:txBody>
          <a:bodyPr wrap="square">
            <a:spAutoFit/>
          </a:bodyPr>
          <a:lstStyle/>
          <a:p>
            <a:pPr algn="l">
              <a:defRPr sz="1400" b="0">
                <a:solidFill>
                  <a:srgbClr val="242424"/>
                </a:solidFill>
                <a:latin typeface="Segoe UI"/>
              </a:defRPr>
            </a:pPr>
            <a:r>
              <a:t>Input CSV with your target</a:t>
            </a:r>
            <a:br/>
            <a:r>
              <a:t>site URLs for bulk operations</a:t>
            </a:r>
          </a:p>
        </p:txBody>
      </p:sp>
      <p:sp>
        <p:nvSpPr>
          <p:cNvPr id="22" name="TextBox 21"/>
          <p:cNvSpPr txBox="1"/>
          <p:nvPr/>
        </p:nvSpPr>
        <p:spPr>
          <a:xfrm>
            <a:off x="1554480" y="5029199"/>
            <a:ext cx="4206240" cy="365760"/>
          </a:xfrm>
          <a:prstGeom prst="rect">
            <a:avLst/>
          </a:prstGeom>
          <a:noFill/>
        </p:spPr>
        <p:txBody>
          <a:bodyPr wrap="square">
            <a:spAutoFit/>
          </a:bodyPr>
          <a:lstStyle/>
          <a:p>
            <a:pPr algn="l">
              <a:defRPr sz="1200" b="0">
                <a:solidFill>
                  <a:srgbClr val="606060"/>
                </a:solidFill>
                <a:latin typeface="Segoe UI"/>
              </a:defRPr>
            </a:pPr>
            <a:r>
              <a:t>Exercise 4: manually created with SiteUrl column</a:t>
            </a:r>
          </a:p>
        </p:txBody>
      </p:sp>
      <p:sp>
        <p:nvSpPr>
          <p:cNvPr id="23" name="Rounded Rectangle 22"/>
          <p:cNvSpPr/>
          <p:nvPr/>
        </p:nvSpPr>
        <p:spPr>
          <a:xfrm>
            <a:off x="6400800" y="3749039"/>
            <a:ext cx="53035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3749039"/>
            <a:ext cx="73152" cy="18288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3886199"/>
            <a:ext cx="457200" cy="365760"/>
          </a:xfrm>
          <a:prstGeom prst="rect">
            <a:avLst/>
          </a:prstGeom>
          <a:noFill/>
        </p:spPr>
        <p:txBody>
          <a:bodyPr wrap="square">
            <a:spAutoFit/>
          </a:bodyPr>
          <a:lstStyle/>
          <a:p>
            <a:pPr algn="ctr">
              <a:defRPr sz="2400" b="0">
                <a:solidFill>
                  <a:srgbClr val="242424"/>
                </a:solidFill>
                <a:latin typeface="Segoe UI"/>
              </a:defRPr>
            </a:pPr>
            <a:r>
              <a:t>📄</a:t>
            </a:r>
          </a:p>
        </p:txBody>
      </p:sp>
      <p:sp>
        <p:nvSpPr>
          <p:cNvPr id="26" name="TextBox 25"/>
          <p:cNvSpPr txBox="1"/>
          <p:nvPr/>
        </p:nvSpPr>
        <p:spPr>
          <a:xfrm>
            <a:off x="7223760" y="3886199"/>
            <a:ext cx="4206240" cy="365760"/>
          </a:xfrm>
          <a:prstGeom prst="rect">
            <a:avLst/>
          </a:prstGeom>
          <a:noFill/>
        </p:spPr>
        <p:txBody>
          <a:bodyPr wrap="square">
            <a:spAutoFit/>
          </a:bodyPr>
          <a:lstStyle/>
          <a:p>
            <a:pPr algn="l">
              <a:defRPr sz="1800" b="1">
                <a:solidFill>
                  <a:srgbClr val="FF8C00"/>
                </a:solidFill>
                <a:latin typeface="Cascadia Code"/>
              </a:defRPr>
            </a:pPr>
            <a:r>
              <a:t>Targets-Users.csv</a:t>
            </a:r>
          </a:p>
        </p:txBody>
      </p:sp>
      <p:sp>
        <p:nvSpPr>
          <p:cNvPr id="27" name="TextBox 26"/>
          <p:cNvSpPr txBox="1"/>
          <p:nvPr/>
        </p:nvSpPr>
        <p:spPr>
          <a:xfrm>
            <a:off x="7223760" y="4297679"/>
            <a:ext cx="4206240" cy="640080"/>
          </a:xfrm>
          <a:prstGeom prst="rect">
            <a:avLst/>
          </a:prstGeom>
          <a:noFill/>
        </p:spPr>
        <p:txBody>
          <a:bodyPr wrap="square">
            <a:spAutoFit/>
          </a:bodyPr>
          <a:lstStyle/>
          <a:p>
            <a:pPr algn="l">
              <a:defRPr sz="1400" b="0">
                <a:solidFill>
                  <a:srgbClr val="242424"/>
                </a:solidFill>
                <a:latin typeface="Segoe UI"/>
              </a:defRPr>
            </a:pPr>
            <a:r>
              <a:t>Bulk output: user report</a:t>
            </a:r>
            <a:br/>
            <a:r>
              <a:t>across all targets in your CSV</a:t>
            </a:r>
          </a:p>
        </p:txBody>
      </p:sp>
      <p:sp>
        <p:nvSpPr>
          <p:cNvPr id="28" name="TextBox 27"/>
          <p:cNvSpPr txBox="1"/>
          <p:nvPr/>
        </p:nvSpPr>
        <p:spPr>
          <a:xfrm>
            <a:off x="7223760" y="5029199"/>
            <a:ext cx="4206240" cy="365760"/>
          </a:xfrm>
          <a:prstGeom prst="rect">
            <a:avLst/>
          </a:prstGeom>
          <a:noFill/>
        </p:spPr>
        <p:txBody>
          <a:bodyPr wrap="square">
            <a:spAutoFit/>
          </a:bodyPr>
          <a:lstStyle/>
          <a:p>
            <a:pPr algn="l">
              <a:defRPr sz="1200" b="0">
                <a:solidFill>
                  <a:srgbClr val="606060"/>
                </a:solidFill>
                <a:latin typeface="Segoe UI"/>
              </a:defRPr>
            </a:pPr>
            <a:r>
              <a:t>Exercise 4: Import-Csv → ForEach → Export</a:t>
            </a:r>
          </a:p>
        </p:txBody>
      </p:sp>
      <p:sp>
        <p:nvSpPr>
          <p:cNvPr id="29" name="Rectangle 28"/>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10  |  Administration and Automation with PowerShell</a:t>
            </a:r>
          </a:p>
        </p:txBody>
      </p:sp>
      <p:sp>
        <p:nvSpPr>
          <p:cNvPr id="31" name="TextBox 30"/>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Knowledge Check</a:t>
            </a:r>
          </a:p>
        </p:txBody>
      </p:sp>
      <p:sp>
        <p:nvSpPr>
          <p:cNvPr id="4" name="Rounded Rectangle 3"/>
          <p:cNvSpPr/>
          <p:nvPr/>
        </p:nvSpPr>
        <p:spPr>
          <a:xfrm>
            <a:off x="548640" y="1280160"/>
            <a:ext cx="11064240" cy="822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1</a:t>
            </a:r>
          </a:p>
        </p:txBody>
      </p:sp>
      <p:sp>
        <p:nvSpPr>
          <p:cNvPr id="6" name="TextBox 5"/>
          <p:cNvSpPr txBox="1"/>
          <p:nvPr/>
        </p:nvSpPr>
        <p:spPr>
          <a:xfrm>
            <a:off x="1463040" y="1417320"/>
            <a:ext cx="9875520" cy="548640"/>
          </a:xfrm>
          <a:prstGeom prst="rect">
            <a:avLst/>
          </a:prstGeom>
          <a:noFill/>
        </p:spPr>
        <p:txBody>
          <a:bodyPr wrap="square">
            <a:spAutoFit/>
          </a:bodyPr>
          <a:lstStyle/>
          <a:p>
            <a:pPr algn="l">
              <a:defRPr sz="1600" b="0">
                <a:solidFill>
                  <a:srgbClr val="242424"/>
                </a:solidFill>
                <a:latin typeface="Segoe UI"/>
              </a:defRPr>
            </a:pPr>
            <a:r>
              <a:t>What URL format does Connect-SPOService expect — the regular site URL or the admin URL?</a:t>
            </a:r>
          </a:p>
        </p:txBody>
      </p:sp>
      <p:sp>
        <p:nvSpPr>
          <p:cNvPr id="7" name="Rounded Rectangle 6"/>
          <p:cNvSpPr/>
          <p:nvPr/>
        </p:nvSpPr>
        <p:spPr>
          <a:xfrm>
            <a:off x="548640" y="2286000"/>
            <a:ext cx="11064240" cy="822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2423160"/>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2</a:t>
            </a:r>
          </a:p>
        </p:txBody>
      </p:sp>
      <p:sp>
        <p:nvSpPr>
          <p:cNvPr id="9" name="TextBox 8"/>
          <p:cNvSpPr txBox="1"/>
          <p:nvPr/>
        </p:nvSpPr>
        <p:spPr>
          <a:xfrm>
            <a:off x="1463040" y="2423160"/>
            <a:ext cx="9875520" cy="548640"/>
          </a:xfrm>
          <a:prstGeom prst="rect">
            <a:avLst/>
          </a:prstGeom>
          <a:noFill/>
        </p:spPr>
        <p:txBody>
          <a:bodyPr wrap="square">
            <a:spAutoFit/>
          </a:bodyPr>
          <a:lstStyle/>
          <a:p>
            <a:pPr algn="l">
              <a:defRPr sz="1600" b="0">
                <a:solidFill>
                  <a:srgbClr val="242424"/>
                </a:solidFill>
                <a:latin typeface="Segoe UI"/>
              </a:defRPr>
            </a:pPr>
            <a:r>
              <a:t>Name the four steps of the PowerShell pipeline pattern for reporting.</a:t>
            </a:r>
          </a:p>
        </p:txBody>
      </p:sp>
      <p:sp>
        <p:nvSpPr>
          <p:cNvPr id="10" name="Rounded Rectangle 9"/>
          <p:cNvSpPr/>
          <p:nvPr/>
        </p:nvSpPr>
        <p:spPr>
          <a:xfrm>
            <a:off x="548640" y="3291840"/>
            <a:ext cx="11064240" cy="822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3429000"/>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3</a:t>
            </a:r>
          </a:p>
        </p:txBody>
      </p:sp>
      <p:sp>
        <p:nvSpPr>
          <p:cNvPr id="12" name="TextBox 11"/>
          <p:cNvSpPr txBox="1"/>
          <p:nvPr/>
        </p:nvSpPr>
        <p:spPr>
          <a:xfrm>
            <a:off x="1463040" y="3429000"/>
            <a:ext cx="9875520" cy="548640"/>
          </a:xfrm>
          <a:prstGeom prst="rect">
            <a:avLst/>
          </a:prstGeom>
          <a:noFill/>
        </p:spPr>
        <p:txBody>
          <a:bodyPr wrap="square">
            <a:spAutoFit/>
          </a:bodyPr>
          <a:lstStyle/>
          <a:p>
            <a:pPr algn="l">
              <a:defRPr sz="1600" b="0">
                <a:solidFill>
                  <a:srgbClr val="242424"/>
                </a:solidFill>
                <a:latin typeface="Segoe UI"/>
              </a:defRPr>
            </a:pPr>
            <a:r>
              <a:t>Why should you export a baseline CSV before running any Set- or Remove- cmdlets?</a:t>
            </a:r>
          </a:p>
        </p:txBody>
      </p:sp>
      <p:sp>
        <p:nvSpPr>
          <p:cNvPr id="13" name="Rounded Rectangle 12"/>
          <p:cNvSpPr/>
          <p:nvPr/>
        </p:nvSpPr>
        <p:spPr>
          <a:xfrm>
            <a:off x="548640" y="4297680"/>
            <a:ext cx="11064240" cy="822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4434840"/>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4</a:t>
            </a:r>
          </a:p>
        </p:txBody>
      </p:sp>
      <p:sp>
        <p:nvSpPr>
          <p:cNvPr id="15" name="TextBox 14"/>
          <p:cNvSpPr txBox="1"/>
          <p:nvPr/>
        </p:nvSpPr>
        <p:spPr>
          <a:xfrm>
            <a:off x="1463040" y="4434840"/>
            <a:ext cx="9875520" cy="548640"/>
          </a:xfrm>
          <a:prstGeom prst="rect">
            <a:avLst/>
          </a:prstGeom>
          <a:noFill/>
        </p:spPr>
        <p:txBody>
          <a:bodyPr wrap="square">
            <a:spAutoFit/>
          </a:bodyPr>
          <a:lstStyle/>
          <a:p>
            <a:pPr algn="l">
              <a:defRPr sz="1600" b="0">
                <a:solidFill>
                  <a:srgbClr val="242424"/>
                </a:solidFill>
                <a:latin typeface="Segoe UI"/>
              </a:defRPr>
            </a:pPr>
            <a:r>
              <a:t>What is a 'scope' in Microsoft Graph PowerShell, and why does it matter?</a:t>
            </a:r>
          </a:p>
        </p:txBody>
      </p:sp>
      <p:sp>
        <p:nvSpPr>
          <p:cNvPr id="16" name="Rounded Rectangle 15"/>
          <p:cNvSpPr/>
          <p:nvPr/>
        </p:nvSpPr>
        <p:spPr>
          <a:xfrm>
            <a:off x="548640" y="5303520"/>
            <a:ext cx="11064240" cy="822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5440680"/>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5</a:t>
            </a:r>
          </a:p>
        </p:txBody>
      </p:sp>
      <p:sp>
        <p:nvSpPr>
          <p:cNvPr id="18" name="TextBox 17"/>
          <p:cNvSpPr txBox="1"/>
          <p:nvPr/>
        </p:nvSpPr>
        <p:spPr>
          <a:xfrm>
            <a:off x="1463040" y="5440680"/>
            <a:ext cx="9875520" cy="548640"/>
          </a:xfrm>
          <a:prstGeom prst="rect">
            <a:avLst/>
          </a:prstGeom>
          <a:noFill/>
        </p:spPr>
        <p:txBody>
          <a:bodyPr wrap="square">
            <a:spAutoFit/>
          </a:bodyPr>
          <a:lstStyle/>
          <a:p>
            <a:pPr algn="l">
              <a:defRPr sz="1600" b="0">
                <a:solidFill>
                  <a:srgbClr val="242424"/>
                </a:solidFill>
                <a:latin typeface="Segoe UI"/>
              </a:defRPr>
            </a:pPr>
            <a:r>
              <a:t>In a shared training tenant, what should you always filter by before making changes?</a:t>
            </a:r>
          </a:p>
        </p:txBody>
      </p:sp>
      <p:sp>
        <p:nvSpPr>
          <p:cNvPr id="19" name="Rectangle 18"/>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10  |  Administration and Automation with PowerShell</a:t>
            </a:r>
          </a:p>
        </p:txBody>
      </p:sp>
      <p:sp>
        <p:nvSpPr>
          <p:cNvPr id="21" name="TextBox 20"/>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12191695"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914400"/>
          </a:xfrm>
          <a:prstGeom prst="rect">
            <a:avLst/>
          </a:prstGeom>
          <a:noFill/>
        </p:spPr>
        <p:txBody>
          <a:bodyPr wrap="square">
            <a:spAutoFit/>
          </a:bodyPr>
          <a:lstStyle/>
          <a:p>
            <a:pPr algn="ctr">
              <a:defRPr sz="4400" b="1">
                <a:solidFill>
                  <a:srgbClr val="FFFFFF"/>
                </a:solidFill>
                <a:latin typeface="Segoe UI"/>
              </a:defRPr>
            </a:pPr>
            <a:r>
              <a:t>✅  Module 10 Complete!</a:t>
            </a:r>
          </a:p>
        </p:txBody>
      </p:sp>
      <p:sp>
        <p:nvSpPr>
          <p:cNvPr id="5" name="TextBox 4"/>
          <p:cNvSpPr txBox="1"/>
          <p:nvPr/>
        </p:nvSpPr>
        <p:spPr>
          <a:xfrm>
            <a:off x="914400" y="3017520"/>
            <a:ext cx="10058400" cy="731520"/>
          </a:xfrm>
          <a:prstGeom prst="rect">
            <a:avLst/>
          </a:prstGeom>
          <a:noFill/>
        </p:spPr>
        <p:txBody>
          <a:bodyPr wrap="square">
            <a:spAutoFit/>
          </a:bodyPr>
          <a:lstStyle/>
          <a:p>
            <a:pPr algn="ctr">
              <a:defRPr sz="2400" b="0">
                <a:solidFill>
                  <a:srgbClr val="00B294"/>
                </a:solidFill>
                <a:latin typeface="Segoe UI"/>
              </a:defRPr>
            </a:pPr>
            <a:r>
              <a:t>Administration and Automation with PowerShell</a:t>
            </a:r>
          </a:p>
        </p:txBody>
      </p:sp>
      <p:sp>
        <p:nvSpPr>
          <p:cNvPr id="6" name="Rectangle 5"/>
          <p:cNvSpPr/>
          <p:nvPr/>
        </p:nvSpPr>
        <p:spPr>
          <a:xfrm>
            <a:off x="5029200" y="4023360"/>
            <a:ext cx="2103120" cy="36576"/>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389120"/>
            <a:ext cx="10058400" cy="731520"/>
          </a:xfrm>
          <a:prstGeom prst="rect">
            <a:avLst/>
          </a:prstGeom>
          <a:noFill/>
        </p:spPr>
        <p:txBody>
          <a:bodyPr wrap="square">
            <a:spAutoFit/>
          </a:bodyPr>
          <a:lstStyle/>
          <a:p>
            <a:pPr algn="ctr">
              <a:defRPr sz="2000" b="0">
                <a:solidFill>
                  <a:srgbClr val="AAAAAA"/>
                </a:solidFill>
                <a:latin typeface="Segoe UI"/>
              </a:defRPr>
            </a:pPr>
            <a:r>
              <a:t>Up Next  →  Module 11: Operations at Scale</a:t>
            </a:r>
          </a:p>
        </p:txBody>
      </p:sp>
      <p:sp>
        <p:nvSpPr>
          <p:cNvPr id="8" name="TextBox 7"/>
          <p:cNvSpPr txBox="1"/>
          <p:nvPr/>
        </p:nvSpPr>
        <p:spPr>
          <a:xfrm>
            <a:off x="1828800" y="5303520"/>
            <a:ext cx="8229600" cy="548640"/>
          </a:xfrm>
          <a:prstGeom prst="rect">
            <a:avLst/>
          </a:prstGeom>
          <a:noFill/>
        </p:spPr>
        <p:txBody>
          <a:bodyPr wrap="square">
            <a:spAutoFit/>
          </a:bodyPr>
          <a:lstStyle/>
          <a:p>
            <a:pPr algn="ctr">
              <a:defRPr sz="1600" b="0">
                <a:solidFill>
                  <a:srgbClr val="888888"/>
                </a:solidFill>
                <a:latin typeface="Segoe UI"/>
              </a:defRPr>
            </a:pPr>
            <a:r>
              <a:t>📦 Take your scripts further — hub sites, multi-geo, and tenant-wide governance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