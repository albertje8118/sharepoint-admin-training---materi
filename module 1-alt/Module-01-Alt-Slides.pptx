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participants. Introduce yourself and set the stage for 3 days of hands-on SharePoint Online administration.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agenda so participants know what to expect from this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 learning objectives. These align with what participants will be assessed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 to the SharePoint Online overview section.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SharePoint Online is the content and collaboration backbone of Microsoft 365.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the key areas a SharePoint admin manages day-to-day.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 to the integration section.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insight: SharePoint is the content layer; Teams is the collaboration UX; OneDrive is personal storage.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new Team automatically provisions an M365 Group, SharePoint site, Exchange mailbox, OneNote, and Planner.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 to licensing section.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SharePoint, OneDrive, and Teams are in most M365/O365 plans. Storage = 1 TB base + 10 GB/license. Frontline plans have limited storage.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Standalone options for orgs that don't need full M365.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 to architecture overview.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Many 'SharePoint issues' are actually identity/policy issues. Teach admins to think across services.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Cross-service dependencies: think across services.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Service health first habit. Check service health before troubleshooting.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SharePoint admin center: sites, policies, storage. Teach finding categories, not memorizing clicks.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 to comparison section.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Conceptual comparison. Focus on operating model difference.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 to limits section.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Don't memorize numbers. Limits change. Always verify in official docs.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shared-tenant rules. Emphasize participant IDs and collision avoidance.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what learners should capture in validation checkpoints during the lab.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Discussion slide. Encourage short answers. Gauge baseline understanding.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E85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0"/>
            <a:ext cx="73152" cy="6858000"/>
          </a:xfrm>
          <a:prstGeom prst="rect">
            <a:avLst/>
          </a:prstGeom>
          <a:solidFill>
            <a:srgbClr val="E5A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534095" y="0"/>
            <a:ext cx="3657600" cy="109728"/>
          </a:xfrm>
          <a:prstGeom prst="rect">
            <a:avLst/>
          </a:prstGeom>
          <a:solidFill>
            <a:srgbClr val="009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0972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85D4A"/>
                </a:solidFill>
                <a:latin typeface="Calibri"/>
              </a:defRPr>
            </a:pPr>
            <a:r>
              <a:t>Modern SharePoint Online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737360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600" b="1">
                <a:solidFill>
                  <a:srgbClr val="FFFFFF"/>
                </a:solidFill>
                <a:latin typeface="Calibri Light"/>
              </a:defRPr>
            </a:pPr>
            <a:r>
              <a:t>for Administrators</a:t>
            </a:r>
          </a:p>
        </p:txBody>
      </p:sp>
      <p:sp>
        <p:nvSpPr>
          <p:cNvPr id="7" name="Rectangle 6"/>
          <p:cNvSpPr/>
          <p:nvPr/>
        </p:nvSpPr>
        <p:spPr>
          <a:xfrm>
            <a:off x="1188720" y="3291840"/>
            <a:ext cx="2286000" cy="36576"/>
          </a:xfrm>
          <a:prstGeom prst="rect">
            <a:avLst/>
          </a:prstGeom>
          <a:solidFill>
            <a:srgbClr val="E85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35661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  <a:latin typeface="Segoe UI Semilight"/>
              </a:defRPr>
            </a:pPr>
            <a:r>
              <a:t>3-Day Instructor-Led Training  ·  2026 Aligned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88720" y="4297680"/>
            <a:ext cx="2194560" cy="502920"/>
          </a:xfrm>
          <a:prstGeom prst="roundRect">
            <a:avLst>
              <a:gd name="adj" fmla="val 50000"/>
            </a:avLst>
          </a:prstGeom>
          <a:solidFill>
            <a:srgbClr val="E85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434340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MODULE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51206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Introduction to Microsoft 365 &amp; SharePoint Online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5852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77777"/>
                </a:solidFill>
                <a:latin typeface="Segoe UI Semilight"/>
              </a:defRPr>
            </a:pPr>
            <a:r>
              <a:t>Day 1  ·  Tenant Foundations &amp; Site Management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D31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316F"/>
                </a:solidFill>
                <a:latin typeface="Calibri"/>
              </a:defRPr>
            </a:pPr>
            <a:r>
              <a:t>Module 1 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645920" cy="36576"/>
          </a:xfrm>
          <a:prstGeom prst="rect">
            <a:avLst/>
          </a:prstGeom>
          <a:solidFill>
            <a:srgbClr val="E85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502920" cy="502920"/>
          </a:xfrm>
          <a:prstGeom prst="rect">
            <a:avLst/>
          </a:prstGeom>
          <a:solidFill>
            <a:srgbClr val="E85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32588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29844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A2A2A"/>
                </a:solidFill>
                <a:latin typeface="Calibri"/>
              </a:defRPr>
            </a:pPr>
            <a:r>
              <a:t>SharePoint Online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55448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6B6B"/>
                </a:solidFill>
                <a:latin typeface="Segoe UI Semilight"/>
              </a:defRPr>
            </a:pPr>
            <a:r>
              <a:t>What it is &amp; why it matters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892808"/>
            <a:ext cx="502920" cy="502920"/>
          </a:xfrm>
          <a:prstGeom prst="rect">
            <a:avLst/>
          </a:prstGeom>
          <a:solidFill>
            <a:srgbClr val="009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93852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191109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A2A2A"/>
                </a:solidFill>
                <a:latin typeface="Calibri"/>
              </a:defRPr>
            </a:pPr>
            <a:r>
              <a:t>SPO + OneDrive + Teams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16712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6B6B"/>
                </a:solidFill>
                <a:latin typeface="Segoe UI Semilight"/>
              </a:defRPr>
            </a:pPr>
            <a:r>
              <a:t>How they work together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505456"/>
            <a:ext cx="502920" cy="502920"/>
          </a:xfrm>
          <a:prstGeom prst="rect">
            <a:avLst/>
          </a:prstGeom>
          <a:solidFill>
            <a:srgbClr val="2D31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2551176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252374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A2A2A"/>
                </a:solidFill>
                <a:latin typeface="Calibri"/>
              </a:defRPr>
            </a:pPr>
            <a:r>
              <a:t>Microsoft 365 Licensing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2779776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6B6B"/>
                </a:solidFill>
                <a:latin typeface="Segoe UI Semilight"/>
              </a:defRPr>
            </a:pPr>
            <a:r>
              <a:t>Plans that include SharePoint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118104"/>
            <a:ext cx="502920" cy="502920"/>
          </a:xfrm>
          <a:prstGeom prst="rect">
            <a:avLst/>
          </a:prstGeom>
          <a:solidFill>
            <a:srgbClr val="E5A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3163824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313639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A2A2A"/>
                </a:solidFill>
                <a:latin typeface="Calibri"/>
              </a:defRPr>
            </a:pPr>
            <a:r>
              <a:t>Admin Mental Model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3392424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6B6B"/>
                </a:solidFill>
                <a:latin typeface="Segoe UI Semilight"/>
              </a:defRPr>
            </a:pPr>
            <a:r>
              <a:t>M365 architecture overview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3730752"/>
            <a:ext cx="502920" cy="502920"/>
          </a:xfrm>
          <a:prstGeom prst="rect">
            <a:avLst/>
          </a:prstGeom>
          <a:solidFill>
            <a:srgbClr val="7C6E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377647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37490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A2A2A"/>
                </a:solidFill>
                <a:latin typeface="Calibri"/>
              </a:defRPr>
            </a:pPr>
            <a:r>
              <a:t>Admin Centers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400507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6B6B"/>
                </a:solidFill>
                <a:latin typeface="Segoe UI Semilight"/>
              </a:defRPr>
            </a:pPr>
            <a:r>
              <a:t>M365 &amp; SharePoint portals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4343400"/>
            <a:ext cx="502920" cy="502920"/>
          </a:xfrm>
          <a:prstGeom prst="rect">
            <a:avLst/>
          </a:prstGeom>
          <a:solidFill>
            <a:srgbClr val="E85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438912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17320" y="436168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A2A2A"/>
                </a:solidFill>
                <a:latin typeface="Calibri"/>
              </a:defRPr>
            </a:pPr>
            <a:r>
              <a:t>SPO vs SP Server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17320" y="461772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6B6B"/>
                </a:solidFill>
                <a:latin typeface="Segoe UI Semilight"/>
              </a:defRPr>
            </a:pPr>
            <a:r>
              <a:t>Conceptual comparison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4956048"/>
            <a:ext cx="502920" cy="502920"/>
          </a:xfrm>
          <a:prstGeom prst="rect">
            <a:avLst/>
          </a:prstGeom>
          <a:solidFill>
            <a:srgbClr val="009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9808" y="500176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17320" y="497433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A2A2A"/>
                </a:solidFill>
                <a:latin typeface="Calibri"/>
              </a:defRPr>
            </a:pPr>
            <a:r>
              <a:t>Service Limits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17320" y="523036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6B6B"/>
                </a:solidFill>
                <a:latin typeface="Segoe UI Semilight"/>
              </a:defRPr>
            </a:pPr>
            <a:r>
              <a:t>How to approach them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" y="5568696"/>
            <a:ext cx="502920" cy="502920"/>
          </a:xfrm>
          <a:prstGeom prst="rect">
            <a:avLst/>
          </a:prstGeom>
          <a:solidFill>
            <a:srgbClr val="E5A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9808" y="5614416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08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17320" y="558698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A2A2A"/>
                </a:solidFill>
                <a:latin typeface="Calibri"/>
              </a:defRPr>
            </a:pPr>
            <a:r>
              <a:t>Lab 1 &amp; Knowledge Check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17320" y="5843016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6B6B"/>
                </a:solidFill>
                <a:latin typeface="Segoe UI Semilight"/>
              </a:defRPr>
            </a:pPr>
            <a:r>
              <a:t>Hands-on &amp; review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6400800"/>
            <a:ext cx="11871655" cy="9144"/>
          </a:xfrm>
          <a:prstGeom prst="rect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6455664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6B6B"/>
                </a:solidFill>
                <a:latin typeface="Segoe UI"/>
              </a:defRPr>
            </a:pPr>
            <a:r>
              <a:t>Module 1  ·  Introduction to Microsoft 365 &amp; SharePoint Online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45775" y="645566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6B6B"/>
                </a:solidFill>
                <a:latin typeface="Segoe UI"/>
              </a:defRPr>
            </a:pPr>
            <a:r>
              <a:t>2 of 24</a:t>
            </a:r>
          </a:p>
        </p:txBody>
      </p:sp>
      <p:sp>
        <p:nvSpPr>
          <p:cNvPr id="40" name="Oval 39"/>
          <p:cNvSpPr/>
          <p:nvPr/>
        </p:nvSpPr>
        <p:spPr>
          <a:xfrm>
            <a:off x="7315200" y="6510528"/>
            <a:ext cx="73152" cy="73152"/>
          </a:xfrm>
          <a:prstGeom prst="ellipse">
            <a:avLst/>
          </a:prstGeom>
          <a:solidFill>
            <a:srgbClr val="2D31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7479792" y="6510528"/>
            <a:ext cx="73152" cy="73152"/>
          </a:xfrm>
          <a:prstGeom prst="ellipse">
            <a:avLst/>
          </a:prstGeom>
          <a:solidFill>
            <a:srgbClr val="2D31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7644384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7808976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7973568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138159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8302752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8467344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8631936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8796528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8961119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9125712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9290304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9454896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9619488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9784079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9948672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0113264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0277856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0442448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10607039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10771632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0936224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1100815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9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316F"/>
                </a:solidFill>
                <a:latin typeface="Calibri"/>
              </a:defRPr>
            </a:pPr>
            <a:r>
              <a:t>Module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645920" cy="36576"/>
          </a:xfrm>
          <a:prstGeom prst="rect">
            <a:avLst/>
          </a:prstGeom>
          <a:solidFill>
            <a:srgbClr val="009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31520" y="1399032"/>
            <a:ext cx="320040" cy="320040"/>
          </a:xfrm>
          <a:prstGeom prst="ellipse">
            <a:avLst/>
          </a:prstGeom>
          <a:solidFill>
            <a:srgbClr val="009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1399032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3716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A2A2A"/>
                </a:solidFill>
                <a:latin typeface="Segoe UI Semilight"/>
              </a:defRPr>
            </a:pPr>
            <a:r>
              <a:t>Describe Microsoft 365 service architecture at a practical admin level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176272"/>
            <a:ext cx="320040" cy="320040"/>
          </a:xfrm>
          <a:prstGeom prst="ellipse">
            <a:avLst/>
          </a:prstGeom>
          <a:solidFill>
            <a:srgbClr val="009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2176272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1488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A2A2A"/>
                </a:solidFill>
                <a:latin typeface="Segoe UI Semilight"/>
              </a:defRPr>
            </a:pPr>
            <a:r>
              <a:t>Explain the role of SharePoint Online in Microsoft 365 collaboration and content services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2953512"/>
            <a:ext cx="320040" cy="320040"/>
          </a:xfrm>
          <a:prstGeom prst="ellipse">
            <a:avLst/>
          </a:prstGeom>
          <a:solidFill>
            <a:srgbClr val="009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" y="2953512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9260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A2A2A"/>
                </a:solidFill>
                <a:latin typeface="Segoe UI Semilight"/>
              </a:defRPr>
            </a:pPr>
            <a:r>
              <a:t>Compare SharePoint Online and SharePoint Server conceptually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3730752"/>
            <a:ext cx="320040" cy="320040"/>
          </a:xfrm>
          <a:prstGeom prst="ellipse">
            <a:avLst/>
          </a:prstGeom>
          <a:solidFill>
            <a:srgbClr val="009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" y="3730752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37033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A2A2A"/>
                </a:solidFill>
                <a:latin typeface="Segoe UI Semilight"/>
              </a:defRPr>
            </a:pPr>
            <a:r>
              <a:t>Navigate Microsoft 365 admin center and SharePoint admin center for baseline tenant checks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4507992"/>
            <a:ext cx="320040" cy="320040"/>
          </a:xfrm>
          <a:prstGeom prst="ellipse">
            <a:avLst/>
          </a:prstGeom>
          <a:solidFill>
            <a:srgbClr val="009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952" y="4507992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4805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A2A2A"/>
                </a:solidFill>
                <a:latin typeface="Segoe UI Semilight"/>
              </a:defRPr>
            </a:pPr>
            <a:r>
              <a:t>Locate and interpret service limits, quotas, and boundaries using official Microsoft documentation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6400800"/>
            <a:ext cx="11871655" cy="9144"/>
          </a:xfrm>
          <a:prstGeom prst="rect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6455664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6B6B"/>
                </a:solidFill>
                <a:latin typeface="Segoe UI"/>
              </a:defRPr>
            </a:pPr>
            <a:r>
              <a:t>Module 1  ·  Introduction to Microsoft 365 &amp; SharePoint Online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45775" y="645566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6B6B"/>
                </a:solidFill>
                <a:latin typeface="Segoe UI"/>
              </a:defRPr>
            </a:pPr>
            <a:r>
              <a:t>3 of 24</a:t>
            </a:r>
          </a:p>
        </p:txBody>
      </p:sp>
      <p:sp>
        <p:nvSpPr>
          <p:cNvPr id="23" name="Oval 22"/>
          <p:cNvSpPr/>
          <p:nvPr/>
        </p:nvSpPr>
        <p:spPr>
          <a:xfrm>
            <a:off x="7315200" y="6510528"/>
            <a:ext cx="73152" cy="73152"/>
          </a:xfrm>
          <a:prstGeom prst="ellipse">
            <a:avLst/>
          </a:prstGeom>
          <a:solidFill>
            <a:srgbClr val="009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479792" y="6510528"/>
            <a:ext cx="73152" cy="73152"/>
          </a:xfrm>
          <a:prstGeom prst="ellipse">
            <a:avLst/>
          </a:prstGeom>
          <a:solidFill>
            <a:srgbClr val="009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644384" y="6510528"/>
            <a:ext cx="73152" cy="73152"/>
          </a:xfrm>
          <a:prstGeom prst="ellipse">
            <a:avLst/>
          </a:prstGeom>
          <a:solidFill>
            <a:srgbClr val="009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808976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73568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138159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302752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467344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631936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796528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961119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125712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290304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454896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619488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784079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948672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113264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277856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442448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0607039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771632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936224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1100815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5D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3291840"/>
            <a:ext cx="274320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352044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SharePoint Online</a:t>
            </a:r>
            <a:br/>
            <a: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6634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0"/>
                </a:solidFill>
                <a:latin typeface="Segoe UI Semilight"/>
              </a:defRPr>
            </a:pPr>
            <a:r>
              <a:t>What it is, what it does, and why admins should care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05695" y="457200"/>
            <a:ext cx="1828800" cy="411480"/>
          </a:xfrm>
          <a:prstGeom prst="roundRect">
            <a:avLst>
              <a:gd name="adj" fmla="val 50000"/>
            </a:avLst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51415" y="484632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MODULE 1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6400800"/>
            <a:ext cx="11871655" cy="9144"/>
          </a:xfrm>
          <a:prstGeom prst="rect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55664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6B6B"/>
                </a:solidFill>
                <a:latin typeface="Segoe UI"/>
              </a:defRPr>
            </a:pPr>
            <a:r>
              <a:t>Module 1  ·  Introduction to Microsoft 365 &amp; SharePoint Online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45775" y="645566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6B6B"/>
                </a:solidFill>
                <a:latin typeface="Segoe UI"/>
              </a:defRPr>
            </a:pPr>
            <a:r>
              <a:t>4 of 24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0" y="6510528"/>
            <a:ext cx="73152" cy="73152"/>
          </a:xfrm>
          <a:prstGeom prst="ellipse">
            <a:avLst/>
          </a:prstGeom>
          <a:solidFill>
            <a:srgbClr val="E85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479792" y="6510528"/>
            <a:ext cx="73152" cy="73152"/>
          </a:xfrm>
          <a:prstGeom prst="ellipse">
            <a:avLst/>
          </a:prstGeom>
          <a:solidFill>
            <a:srgbClr val="E85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644384" y="6510528"/>
            <a:ext cx="73152" cy="73152"/>
          </a:xfrm>
          <a:prstGeom prst="ellipse">
            <a:avLst/>
          </a:prstGeom>
          <a:solidFill>
            <a:srgbClr val="E85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808976" y="6510528"/>
            <a:ext cx="73152" cy="73152"/>
          </a:xfrm>
          <a:prstGeom prst="ellipse">
            <a:avLst/>
          </a:prstGeom>
          <a:solidFill>
            <a:srgbClr val="E85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973568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138159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02752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467344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31936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796528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961119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125712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290304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54896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619488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784079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948672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113264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277856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442448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607039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771632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936224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1100815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85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316F"/>
                </a:solidFill>
                <a:latin typeface="Calibri"/>
              </a:defRPr>
            </a:pPr>
            <a:r>
              <a:t>What is SharePoint Online?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645920" cy="36576"/>
          </a:xfrm>
          <a:prstGeom prst="rect">
            <a:avLst/>
          </a:prstGeom>
          <a:solidFill>
            <a:srgbClr val="E85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6B6B"/>
                </a:solidFill>
                <a:latin typeface="Segoe UI Semilight"/>
              </a:defRPr>
            </a:pPr>
            <a:r>
              <a:t>The content &amp; collaboration platform in Microsoft 365 — for sharing, managing, and governing content at scale.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120640" cy="1645920"/>
          </a:xfrm>
          <a:prstGeom prst="roundRect">
            <a:avLst>
              <a:gd name="adj" fmla="val 4000"/>
            </a:avLst>
          </a:prstGeom>
          <a:solidFill>
            <a:srgbClr val="F0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011680"/>
            <a:ext cx="73152" cy="1645920"/>
          </a:xfrm>
          <a:prstGeom prst="rect">
            <a:avLst/>
          </a:prstGeom>
          <a:solidFill>
            <a:srgbClr val="E85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1488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5D4A"/>
                </a:solidFill>
                <a:latin typeface="Calibri"/>
              </a:defRPr>
            </a:pPr>
            <a:r>
              <a:t>Sites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514600"/>
            <a:ext cx="4572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A2A2A"/>
                </a:solidFill>
                <a:latin typeface="Segoe UI Semilight"/>
              </a:defRPr>
            </a:pPr>
            <a:r>
              <a:t>Team sites, Communication sites,</a:t>
            </a:r>
            <a:br/>
            <a:r>
              <a:t>Hub sites for collaboration</a:t>
            </a:r>
            <a:br/>
            <a:r>
              <a:t>and publishing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011680"/>
            <a:ext cx="5120640" cy="1645920"/>
          </a:xfrm>
          <a:prstGeom prst="roundRect">
            <a:avLst>
              <a:gd name="adj" fmla="val 4000"/>
            </a:avLst>
          </a:prstGeom>
          <a:solidFill>
            <a:srgbClr val="F0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2011680"/>
            <a:ext cx="73152" cy="1645920"/>
          </a:xfrm>
          <a:prstGeom prst="rect">
            <a:avLst/>
          </a:prstGeom>
          <a:solidFill>
            <a:srgbClr val="009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1488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B8D"/>
                </a:solidFill>
                <a:latin typeface="Calibri"/>
              </a:defRPr>
            </a:pPr>
            <a:r>
              <a:t>Document Libraries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514600"/>
            <a:ext cx="4572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A2A2A"/>
                </a:solidFill>
                <a:latin typeface="Segoe UI Semilight"/>
              </a:defRPr>
            </a:pPr>
            <a:r>
              <a:t>Controlled storage with versioning,</a:t>
            </a:r>
            <a:br/>
            <a:r>
              <a:t>metadata, co-authoring</a:t>
            </a:r>
            <a:br/>
            <a:r>
              <a:t>and sharing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023360"/>
            <a:ext cx="5120640" cy="1645920"/>
          </a:xfrm>
          <a:prstGeom prst="roundRect">
            <a:avLst>
              <a:gd name="adj" fmla="val 4000"/>
            </a:avLst>
          </a:prstGeom>
          <a:solidFill>
            <a:srgbClr val="F0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4023360"/>
            <a:ext cx="73152" cy="1645920"/>
          </a:xfrm>
          <a:prstGeom prst="rect">
            <a:avLst/>
          </a:prstGeom>
          <a:solidFill>
            <a:srgbClr val="2D31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160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316F"/>
                </a:solidFill>
                <a:latin typeface="Calibri"/>
              </a:defRPr>
            </a:pPr>
            <a:r>
              <a:t>Content Services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526280"/>
            <a:ext cx="4572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A2A2A"/>
                </a:solidFill>
                <a:latin typeface="Segoe UI Semilight"/>
              </a:defRPr>
            </a:pPr>
            <a:r>
              <a:t>Microsoft Search, content types,</a:t>
            </a:r>
            <a:br/>
            <a:r>
              <a:t>managed metadata, retention</a:t>
            </a:r>
            <a:br/>
            <a:r>
              <a:t>and compliance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4023360"/>
            <a:ext cx="5120640" cy="1645920"/>
          </a:xfrm>
          <a:prstGeom prst="roundRect">
            <a:avLst>
              <a:gd name="adj" fmla="val 4000"/>
            </a:avLst>
          </a:prstGeom>
          <a:solidFill>
            <a:srgbClr val="F0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4023360"/>
            <a:ext cx="73152" cy="1645920"/>
          </a:xfrm>
          <a:prstGeom prst="rect">
            <a:avLst/>
          </a:prstGeom>
          <a:solidFill>
            <a:srgbClr val="E5A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4160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5A100"/>
                </a:solidFill>
                <a:latin typeface="Calibri"/>
              </a:defRPr>
            </a:pPr>
            <a:r>
              <a:t>Integration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526280"/>
            <a:ext cx="4572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A2A2A"/>
                </a:solidFill>
                <a:latin typeface="Segoe UI Semilight"/>
              </a:defRPr>
            </a:pPr>
            <a:r>
              <a:t>Powers Teams files, OneDrive</a:t>
            </a:r>
            <a:br/>
            <a:r>
              <a:t>storage, Power Platform</a:t>
            </a:r>
            <a:br/>
            <a:r>
              <a:t>connectors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6400800"/>
            <a:ext cx="11871655" cy="9144"/>
          </a:xfrm>
          <a:prstGeom prst="rect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6455664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6B6B"/>
                </a:solidFill>
                <a:latin typeface="Segoe UI"/>
              </a:defRPr>
            </a:pPr>
            <a:r>
              <a:t>Module 1  ·  Introduction to Microsoft 365 &amp; SharePoint Online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45775" y="645566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6B6B"/>
                </a:solidFill>
                <a:latin typeface="Segoe UI"/>
              </a:defRPr>
            </a:pPr>
            <a:r>
              <a:t>5 of 24</a:t>
            </a:r>
          </a:p>
        </p:txBody>
      </p:sp>
      <p:sp>
        <p:nvSpPr>
          <p:cNvPr id="25" name="Oval 24"/>
          <p:cNvSpPr/>
          <p:nvPr/>
        </p:nvSpPr>
        <p:spPr>
          <a:xfrm>
            <a:off x="7315200" y="6510528"/>
            <a:ext cx="73152" cy="73152"/>
          </a:xfrm>
          <a:prstGeom prst="ellipse">
            <a:avLst/>
          </a:prstGeom>
          <a:solidFill>
            <a:srgbClr val="E85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479792" y="6510528"/>
            <a:ext cx="73152" cy="73152"/>
          </a:xfrm>
          <a:prstGeom prst="ellipse">
            <a:avLst/>
          </a:prstGeom>
          <a:solidFill>
            <a:srgbClr val="E85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644384" y="6510528"/>
            <a:ext cx="73152" cy="73152"/>
          </a:xfrm>
          <a:prstGeom prst="ellipse">
            <a:avLst/>
          </a:prstGeom>
          <a:solidFill>
            <a:srgbClr val="E85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808976" y="6510528"/>
            <a:ext cx="73152" cy="73152"/>
          </a:xfrm>
          <a:prstGeom prst="ellipse">
            <a:avLst/>
          </a:prstGeom>
          <a:solidFill>
            <a:srgbClr val="E85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973568" y="6510528"/>
            <a:ext cx="73152" cy="73152"/>
          </a:xfrm>
          <a:prstGeom prst="ellipse">
            <a:avLst/>
          </a:prstGeom>
          <a:solidFill>
            <a:srgbClr val="E85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138159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302752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467344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631936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796528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961119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125712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290304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454896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619488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9784079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9948672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113264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0277856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442448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607039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0771632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0936224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1100815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D31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D316F"/>
                </a:solidFill>
                <a:latin typeface="Calibri"/>
              </a:defRPr>
            </a:pPr>
            <a:r>
              <a:t>SharePoint Admin Responsibilities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645920" cy="36576"/>
          </a:xfrm>
          <a:prstGeom prst="rect">
            <a:avLst/>
          </a:prstGeom>
          <a:solidFill>
            <a:srgbClr val="2D31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698480" cy="777240"/>
          </a:xfrm>
          <a:prstGeom prst="roundRect">
            <a:avLst>
              <a:gd name="adj" fmla="val 3000"/>
            </a:avLst>
          </a:prstGeom>
          <a:solidFill>
            <a:srgbClr val="F0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280160"/>
            <a:ext cx="91440" cy="777240"/>
          </a:xfrm>
          <a:prstGeom prst="rect">
            <a:avLst/>
          </a:prstGeom>
          <a:solidFill>
            <a:srgbClr val="E85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35331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85D4A"/>
                </a:solidFill>
                <a:latin typeface="Calibri"/>
              </a:defRPr>
            </a:pPr>
            <a:r>
              <a:t>Tenant Policies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66420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6B6B"/>
                </a:solidFill>
                <a:latin typeface="Segoe UI Semilight"/>
              </a:defRPr>
            </a:pPr>
            <a:r>
              <a:t>Sharing, access control, external collaboration settings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148840"/>
            <a:ext cx="10698480" cy="777240"/>
          </a:xfrm>
          <a:prstGeom prst="roundRect">
            <a:avLst>
              <a:gd name="adj" fmla="val 3000"/>
            </a:avLst>
          </a:prstGeom>
          <a:solidFill>
            <a:srgbClr val="F0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148840"/>
            <a:ext cx="91440" cy="777240"/>
          </a:xfrm>
          <a:prstGeom prst="rect">
            <a:avLst/>
          </a:prstGeom>
          <a:solidFill>
            <a:srgbClr val="009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22199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9B8D"/>
                </a:solidFill>
                <a:latin typeface="Calibri"/>
              </a:defRPr>
            </a:pPr>
            <a:r>
              <a:t>Site Lifecycle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53288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6B6B"/>
                </a:solidFill>
                <a:latin typeface="Segoe UI Semilight"/>
              </a:defRPr>
            </a:pPr>
            <a:r>
              <a:t>Creation, ownership, storage quotas, deletion &amp; restore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017520"/>
            <a:ext cx="10698480" cy="777240"/>
          </a:xfrm>
          <a:prstGeom prst="roundRect">
            <a:avLst>
              <a:gd name="adj" fmla="val 3000"/>
            </a:avLst>
          </a:prstGeom>
          <a:solidFill>
            <a:srgbClr val="F0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017520"/>
            <a:ext cx="91440" cy="777240"/>
          </a:xfrm>
          <a:prstGeom prst="rect">
            <a:avLst/>
          </a:prstGeom>
          <a:solidFill>
            <a:srgbClr val="2D31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09067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D316F"/>
                </a:solidFill>
                <a:latin typeface="Calibri"/>
              </a:defRPr>
            </a:pPr>
            <a:r>
              <a:t>Information Architecture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4015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6B6B"/>
                </a:solidFill>
                <a:latin typeface="Segoe UI Semilight"/>
              </a:defRPr>
            </a:pPr>
            <a:r>
              <a:t>Metadata, term store, content types (Module 5)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886200"/>
            <a:ext cx="10698480" cy="777240"/>
          </a:xfrm>
          <a:prstGeom prst="roundRect">
            <a:avLst>
              <a:gd name="adj" fmla="val 3000"/>
            </a:avLst>
          </a:prstGeom>
          <a:solidFill>
            <a:srgbClr val="F0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3886200"/>
            <a:ext cx="91440" cy="777240"/>
          </a:xfrm>
          <a:prstGeom prst="rect">
            <a:avLst/>
          </a:prstGeom>
          <a:solidFill>
            <a:srgbClr val="E5A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39593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5A100"/>
                </a:solidFill>
                <a:latin typeface="Calibri"/>
              </a:defRPr>
            </a:pPr>
            <a:r>
              <a:t>Operational Health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27024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6B6B"/>
                </a:solidFill>
                <a:latin typeface="Segoe UI Semilight"/>
              </a:defRPr>
            </a:pPr>
            <a:r>
              <a:t>Service health dashboard, message center, notifications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754880"/>
            <a:ext cx="10698480" cy="777240"/>
          </a:xfrm>
          <a:prstGeom prst="roundRect">
            <a:avLst>
              <a:gd name="adj" fmla="val 3000"/>
            </a:avLst>
          </a:prstGeom>
          <a:solidFill>
            <a:srgbClr val="F0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4754880"/>
            <a:ext cx="91440" cy="777240"/>
          </a:xfrm>
          <a:prstGeom prst="rect">
            <a:avLst/>
          </a:prstGeom>
          <a:solidFill>
            <a:srgbClr val="7C6E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482803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7C6EB0"/>
                </a:solidFill>
                <a:latin typeface="Calibri"/>
              </a:defRPr>
            </a:pPr>
            <a:r>
              <a:t>Governance &amp; Compliance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51389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6B6B"/>
                </a:solidFill>
                <a:latin typeface="Segoe UI Semilight"/>
              </a:defRPr>
            </a:pPr>
            <a:r>
              <a:t>Purview policies, audit, retention alignment (Module 8)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6400800"/>
            <a:ext cx="11871655" cy="9144"/>
          </a:xfrm>
          <a:prstGeom prst="rect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6455664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6B6B"/>
                </a:solidFill>
                <a:latin typeface="Segoe UI"/>
              </a:defRPr>
            </a:pPr>
            <a:r>
              <a:t>Module 1  ·  Introduction to Microsoft 365 &amp; SharePoint Online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45775" y="645566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6B6B"/>
                </a:solidFill>
                <a:latin typeface="Segoe UI"/>
              </a:defRPr>
            </a:pPr>
            <a:r>
              <a:t>6 of 24</a:t>
            </a:r>
          </a:p>
        </p:txBody>
      </p:sp>
      <p:sp>
        <p:nvSpPr>
          <p:cNvPr id="28" name="Oval 27"/>
          <p:cNvSpPr/>
          <p:nvPr/>
        </p:nvSpPr>
        <p:spPr>
          <a:xfrm>
            <a:off x="7315200" y="6510528"/>
            <a:ext cx="73152" cy="73152"/>
          </a:xfrm>
          <a:prstGeom prst="ellipse">
            <a:avLst/>
          </a:prstGeom>
          <a:solidFill>
            <a:srgbClr val="2D31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479792" y="6510528"/>
            <a:ext cx="73152" cy="73152"/>
          </a:xfrm>
          <a:prstGeom prst="ellipse">
            <a:avLst/>
          </a:prstGeom>
          <a:solidFill>
            <a:srgbClr val="2D31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644384" y="6510528"/>
            <a:ext cx="73152" cy="73152"/>
          </a:xfrm>
          <a:prstGeom prst="ellipse">
            <a:avLst/>
          </a:prstGeom>
          <a:solidFill>
            <a:srgbClr val="2D31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808976" y="6510528"/>
            <a:ext cx="73152" cy="73152"/>
          </a:xfrm>
          <a:prstGeom prst="ellipse">
            <a:avLst/>
          </a:prstGeom>
          <a:solidFill>
            <a:srgbClr val="2D31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973568" y="6510528"/>
            <a:ext cx="73152" cy="73152"/>
          </a:xfrm>
          <a:prstGeom prst="ellipse">
            <a:avLst/>
          </a:prstGeom>
          <a:solidFill>
            <a:srgbClr val="2D31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138159" y="6510528"/>
            <a:ext cx="73152" cy="73152"/>
          </a:xfrm>
          <a:prstGeom prst="ellipse">
            <a:avLst/>
          </a:prstGeom>
          <a:solidFill>
            <a:srgbClr val="2D31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302752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467344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631936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796528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961119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125712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9290304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9454896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9619488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9784079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9948672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113264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0277856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0442448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0607039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0771632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936224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1100815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316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3291840"/>
            <a:ext cx="274320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352044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SharePoint + OneDrive</a:t>
            </a:r>
            <a:br/>
            <a:r>
              <a:t>+ Teams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6634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0"/>
                </a:solidFill>
                <a:latin typeface="Segoe UI Semilight"/>
              </a:defRPr>
            </a:pPr>
            <a:r>
              <a:t>Understanding the relationship between Microsoft 365's collaboration pillars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05695" y="457200"/>
            <a:ext cx="1828800" cy="411480"/>
          </a:xfrm>
          <a:prstGeom prst="roundRect">
            <a:avLst>
              <a:gd name="adj" fmla="val 50000"/>
            </a:avLst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51415" y="484632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MODULE 1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6400800"/>
            <a:ext cx="11871655" cy="9144"/>
          </a:xfrm>
          <a:prstGeom prst="rect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55664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6B6B"/>
                </a:solidFill>
                <a:latin typeface="Segoe UI"/>
              </a:defRPr>
            </a:pPr>
            <a:r>
              <a:t>Module 1  ·  Introduction to Microsoft 365 &amp; SharePoint Online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45775" y="645566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6B6B"/>
                </a:solidFill>
                <a:latin typeface="Segoe UI"/>
              </a:defRPr>
            </a:pPr>
            <a:r>
              <a:t>7 of 24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0" y="6510528"/>
            <a:ext cx="73152" cy="73152"/>
          </a:xfrm>
          <a:prstGeom prst="ellipse">
            <a:avLst/>
          </a:prstGeom>
          <a:solidFill>
            <a:srgbClr val="2D31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479792" y="6510528"/>
            <a:ext cx="73152" cy="73152"/>
          </a:xfrm>
          <a:prstGeom prst="ellipse">
            <a:avLst/>
          </a:prstGeom>
          <a:solidFill>
            <a:srgbClr val="2D31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644384" y="6510528"/>
            <a:ext cx="73152" cy="73152"/>
          </a:xfrm>
          <a:prstGeom prst="ellipse">
            <a:avLst/>
          </a:prstGeom>
          <a:solidFill>
            <a:srgbClr val="2D31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808976" y="6510528"/>
            <a:ext cx="73152" cy="73152"/>
          </a:xfrm>
          <a:prstGeom prst="ellipse">
            <a:avLst/>
          </a:prstGeom>
          <a:solidFill>
            <a:srgbClr val="2D31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973568" y="6510528"/>
            <a:ext cx="73152" cy="73152"/>
          </a:xfrm>
          <a:prstGeom prst="ellipse">
            <a:avLst/>
          </a:prstGeom>
          <a:solidFill>
            <a:srgbClr val="2D31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138159" y="6510528"/>
            <a:ext cx="73152" cy="73152"/>
          </a:xfrm>
          <a:prstGeom prst="ellipse">
            <a:avLst/>
          </a:prstGeom>
          <a:solidFill>
            <a:srgbClr val="2D31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02752" y="6510528"/>
            <a:ext cx="73152" cy="73152"/>
          </a:xfrm>
          <a:prstGeom prst="ellipse">
            <a:avLst/>
          </a:prstGeom>
          <a:solidFill>
            <a:srgbClr val="2D31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467344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31936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796528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961119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125712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290304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54896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619488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784079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948672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113264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277856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442448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607039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771632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936224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1100815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9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D316F"/>
                </a:solidFill>
                <a:latin typeface="Calibri"/>
              </a:defRPr>
            </a:pPr>
            <a:r>
              <a:t>The Microsoft 365 Collaboration Triangle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1645920" cy="36576"/>
          </a:xfrm>
          <a:prstGeom prst="rect">
            <a:avLst/>
          </a:prstGeom>
          <a:solidFill>
            <a:srgbClr val="009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3566160" cy="4389120"/>
          </a:xfrm>
          <a:prstGeom prst="roundRect">
            <a:avLst>
              <a:gd name="adj" fmla="val 3000"/>
            </a:avLst>
          </a:prstGeom>
          <a:solidFill>
            <a:srgbClr val="F0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188720"/>
            <a:ext cx="3566160" cy="73152"/>
          </a:xfrm>
          <a:prstGeom prst="rect">
            <a:avLst/>
          </a:prstGeom>
          <a:solidFill>
            <a:srgbClr val="E85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E85D4A"/>
                </a:solidFill>
                <a:latin typeface="Calibri"/>
              </a:defRPr>
            </a:pPr>
            <a:r>
              <a:t>SharePoint Online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1168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B6B"/>
                </a:solidFill>
                <a:latin typeface="Segoe UI Semilight"/>
              </a:defRPr>
            </a:pPr>
            <a:r>
              <a:t>Content platform</a:t>
            </a:r>
            <a:br/>
            <a:r>
              <a:t>&amp; intranet engine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606040"/>
            <a:ext cx="1371600" cy="18288"/>
          </a:xfrm>
          <a:prstGeom prst="rect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834640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A2A2A"/>
                </a:solidFill>
                <a:latin typeface="Segoe UI Semilight"/>
              </a:defRPr>
            </a:pPr>
            <a:r>
              <a:t>Shared document libraries</a:t>
            </a:r>
            <a:br/>
            <a:r>
              <a:t>Team &amp; communication sites</a:t>
            </a:r>
            <a:br/>
            <a:r>
              <a:t>Enterprise search</a:t>
            </a:r>
            <a:br/>
            <a:r>
              <a:t>Metadata &amp; governance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188720"/>
            <a:ext cx="3566160" cy="4389120"/>
          </a:xfrm>
          <a:prstGeom prst="roundRect">
            <a:avLst>
              <a:gd name="adj" fmla="val 3000"/>
            </a:avLst>
          </a:prstGeom>
          <a:solidFill>
            <a:srgbClr val="F0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188720"/>
            <a:ext cx="3566160" cy="73152"/>
          </a:xfrm>
          <a:prstGeom prst="rect">
            <a:avLst/>
          </a:prstGeom>
          <a:solidFill>
            <a:srgbClr val="2D31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4630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2D316F"/>
                </a:solidFill>
                <a:latin typeface="Calibri"/>
              </a:defRPr>
            </a:pPr>
            <a:r>
              <a:t>Microsoft Teams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01168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B6B"/>
                </a:solidFill>
                <a:latin typeface="Segoe UI Semilight"/>
              </a:defRPr>
            </a:pPr>
            <a:r>
              <a:t>Collaboration hub</a:t>
            </a:r>
            <a:br/>
            <a:r>
              <a:t>&amp; user experience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0" y="2606040"/>
            <a:ext cx="1371600" cy="18288"/>
          </a:xfrm>
          <a:prstGeom prst="rect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2834640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A2A2A"/>
                </a:solidFill>
                <a:latin typeface="Segoe UI Semilight"/>
              </a:defRPr>
            </a:pPr>
            <a:r>
              <a:t>Chat &amp; channels</a:t>
            </a:r>
            <a:br/>
            <a:r>
              <a:t>Meetings &amp; calls</a:t>
            </a:r>
            <a:br/>
            <a:r>
              <a:t>Tabs &amp; apps</a:t>
            </a:r>
            <a:br/>
            <a:r>
              <a:t>Files tab → SharePoint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1188720"/>
            <a:ext cx="3566160" cy="4389120"/>
          </a:xfrm>
          <a:prstGeom prst="roundRect">
            <a:avLst>
              <a:gd name="adj" fmla="val 3000"/>
            </a:avLst>
          </a:prstGeom>
          <a:solidFill>
            <a:srgbClr val="F0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8160" y="1188720"/>
            <a:ext cx="3566160" cy="73152"/>
          </a:xfrm>
          <a:prstGeom prst="rect">
            <a:avLst/>
          </a:prstGeom>
          <a:solidFill>
            <a:srgbClr val="009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14630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009B8D"/>
                </a:solidFill>
                <a:latin typeface="Calibri"/>
              </a:defRPr>
            </a:pPr>
            <a:r>
              <a:t>OneDrive for Business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201168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B6B"/>
                </a:solidFill>
                <a:latin typeface="Segoe UI Semilight"/>
              </a:defRPr>
            </a:pPr>
            <a:r>
              <a:t>Personal cloud storage</a:t>
            </a:r>
            <a:br/>
            <a:r>
              <a:t>powered by SharePoint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66760" y="2606040"/>
            <a:ext cx="1371600" cy="18288"/>
          </a:xfrm>
          <a:prstGeom prst="rect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66760" y="2834640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A2A2A"/>
                </a:solidFill>
                <a:latin typeface="Segoe UI Semilight"/>
              </a:defRPr>
            </a:pPr>
            <a:r>
              <a:t>Individual file storage</a:t>
            </a:r>
            <a:br/>
            <a:r>
              <a:t>Sync to desktop</a:t>
            </a:r>
            <a:br/>
            <a:r>
              <a:t>Easy sharing via links</a:t>
            </a:r>
            <a:br/>
            <a:r>
              <a:t>Private chat files land here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760720"/>
            <a:ext cx="11064240" cy="502920"/>
          </a:xfrm>
          <a:prstGeom prst="roundRect">
            <a:avLst>
              <a:gd name="adj" fmla="val 3000"/>
            </a:avLst>
          </a:prstGeom>
          <a:solidFill>
            <a:srgbClr val="F0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5760720"/>
            <a:ext cx="73152" cy="502920"/>
          </a:xfrm>
          <a:prstGeom prst="rect">
            <a:avLst/>
          </a:prstGeom>
          <a:solidFill>
            <a:srgbClr val="E85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580644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5D4A"/>
                </a:solidFill>
                <a:latin typeface="Segoe UI"/>
              </a:defRPr>
            </a:pPr>
            <a:r>
              <a:t>Key:  Files in Teams channels → SharePoint.   Files in private chats → sender's OneDrive.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6400800"/>
            <a:ext cx="11871655" cy="9144"/>
          </a:xfrm>
          <a:prstGeom prst="rect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6455664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6B6B"/>
                </a:solidFill>
                <a:latin typeface="Segoe UI"/>
              </a:defRPr>
            </a:pPr>
            <a:r>
              <a:t>Module 1  ·  Introduction to Microsoft 365 &amp; SharePoint Online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45775" y="645566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6B6B"/>
                </a:solidFill>
                <a:latin typeface="Segoe UI"/>
              </a:defRPr>
            </a:pPr>
            <a:r>
              <a:t>8 of 24</a:t>
            </a:r>
          </a:p>
        </p:txBody>
      </p:sp>
      <p:sp>
        <p:nvSpPr>
          <p:cNvPr id="29" name="Oval 28"/>
          <p:cNvSpPr/>
          <p:nvPr/>
        </p:nvSpPr>
        <p:spPr>
          <a:xfrm>
            <a:off x="7315200" y="6510528"/>
            <a:ext cx="73152" cy="73152"/>
          </a:xfrm>
          <a:prstGeom prst="ellipse">
            <a:avLst/>
          </a:prstGeom>
          <a:solidFill>
            <a:srgbClr val="009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479792" y="6510528"/>
            <a:ext cx="73152" cy="73152"/>
          </a:xfrm>
          <a:prstGeom prst="ellipse">
            <a:avLst/>
          </a:prstGeom>
          <a:solidFill>
            <a:srgbClr val="009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644384" y="6510528"/>
            <a:ext cx="73152" cy="73152"/>
          </a:xfrm>
          <a:prstGeom prst="ellipse">
            <a:avLst/>
          </a:prstGeom>
          <a:solidFill>
            <a:srgbClr val="009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808976" y="6510528"/>
            <a:ext cx="73152" cy="73152"/>
          </a:xfrm>
          <a:prstGeom prst="ellipse">
            <a:avLst/>
          </a:prstGeom>
          <a:solidFill>
            <a:srgbClr val="009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973568" y="6510528"/>
            <a:ext cx="73152" cy="73152"/>
          </a:xfrm>
          <a:prstGeom prst="ellipse">
            <a:avLst/>
          </a:prstGeom>
          <a:solidFill>
            <a:srgbClr val="009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138159" y="6510528"/>
            <a:ext cx="73152" cy="73152"/>
          </a:xfrm>
          <a:prstGeom prst="ellipse">
            <a:avLst/>
          </a:prstGeom>
          <a:solidFill>
            <a:srgbClr val="009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302752" y="6510528"/>
            <a:ext cx="73152" cy="73152"/>
          </a:xfrm>
          <a:prstGeom prst="ellipse">
            <a:avLst/>
          </a:prstGeom>
          <a:solidFill>
            <a:srgbClr val="009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467344" y="6510528"/>
            <a:ext cx="73152" cy="73152"/>
          </a:xfrm>
          <a:prstGeom prst="ellipse">
            <a:avLst/>
          </a:prstGeom>
          <a:solidFill>
            <a:srgbClr val="009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631936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796528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961119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9125712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9290304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9454896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9619488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9784079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9948672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0113264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0277856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0442448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0607039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771632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0936224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1100815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D31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D316F"/>
                </a:solidFill>
                <a:latin typeface="Calibri"/>
              </a:defRPr>
            </a:pPr>
            <a:r>
              <a:t>What Happens When You Create a Team?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645920" cy="36576"/>
          </a:xfrm>
          <a:prstGeom prst="rect">
            <a:avLst/>
          </a:prstGeom>
          <a:solidFill>
            <a:srgbClr val="E85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B6B6B"/>
                </a:solidFill>
                <a:latin typeface="Segoe UI Semilight"/>
              </a:defRPr>
            </a:pPr>
            <a:r>
              <a:t>Every new Microsoft Team automatically provisions these resources: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2103120" cy="2377440"/>
          </a:xfrm>
          <a:prstGeom prst="roundRect">
            <a:avLst>
              <a:gd name="adj" fmla="val 4000"/>
            </a:avLst>
          </a:prstGeom>
          <a:solidFill>
            <a:srgbClr val="F0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2103120" cy="54864"/>
          </a:xfrm>
          <a:prstGeom prst="rect">
            <a:avLst/>
          </a:prstGeom>
          <a:solidFill>
            <a:srgbClr val="E85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10312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85D4A"/>
                </a:solidFill>
                <a:latin typeface="Calibri"/>
              </a:defRPr>
            </a:pPr>
            <a:r>
              <a:t>M365 Group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9260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6B6B"/>
                </a:solidFill>
                <a:latin typeface="Segoe UI Semilight"/>
              </a:defRPr>
            </a:pPr>
            <a:r>
              <a:t>Unified identity</a:t>
            </a:r>
            <a:br/>
            <a:r>
              <a:t>&amp; membership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1828800"/>
            <a:ext cx="2103120" cy="2377440"/>
          </a:xfrm>
          <a:prstGeom prst="roundRect">
            <a:avLst>
              <a:gd name="adj" fmla="val 4000"/>
            </a:avLst>
          </a:prstGeom>
          <a:solidFill>
            <a:srgbClr val="F0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0" y="1828800"/>
            <a:ext cx="2103120" cy="54864"/>
          </a:xfrm>
          <a:prstGeom prst="rect">
            <a:avLst/>
          </a:prstGeom>
          <a:solidFill>
            <a:srgbClr val="009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80360" y="210312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9B8D"/>
                </a:solidFill>
                <a:latin typeface="Calibri"/>
              </a:defRPr>
            </a:pPr>
            <a:r>
              <a:t>SharePoint</a:t>
            </a:r>
            <a:br/>
            <a:r>
              <a:t>Team Site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360" y="29260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6B6B"/>
                </a:solidFill>
                <a:latin typeface="Segoe UI Semilight"/>
              </a:defRPr>
            </a:pPr>
            <a:r>
              <a:t>Document library</a:t>
            </a:r>
            <a:br/>
            <a:r>
              <a:t>for channel files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1828800"/>
            <a:ext cx="2103120" cy="2377440"/>
          </a:xfrm>
          <a:prstGeom prst="roundRect">
            <a:avLst>
              <a:gd name="adj" fmla="val 4000"/>
            </a:avLst>
          </a:prstGeom>
          <a:solidFill>
            <a:srgbClr val="F0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0" y="1828800"/>
            <a:ext cx="2103120" cy="54864"/>
          </a:xfrm>
          <a:prstGeom prst="rect">
            <a:avLst/>
          </a:prstGeom>
          <a:solidFill>
            <a:srgbClr val="2D31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66360" y="210312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D316F"/>
                </a:solidFill>
                <a:latin typeface="Calibri"/>
              </a:defRPr>
            </a:pPr>
            <a:r>
              <a:t>Exchange</a:t>
            </a:r>
            <a:br/>
            <a:r>
              <a:t>Mailbox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66360" y="29260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6B6B"/>
                </a:solidFill>
                <a:latin typeface="Segoe UI Semilight"/>
              </a:defRPr>
            </a:pPr>
            <a:r>
              <a:t>Group conversations</a:t>
            </a:r>
            <a:br/>
            <a:r>
              <a:t>&amp; calendar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0" y="1828800"/>
            <a:ext cx="2103120" cy="2377440"/>
          </a:xfrm>
          <a:prstGeom prst="roundRect">
            <a:avLst>
              <a:gd name="adj" fmla="val 4000"/>
            </a:avLst>
          </a:prstGeom>
          <a:solidFill>
            <a:srgbClr val="F0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0" y="1828800"/>
            <a:ext cx="2103120" cy="54864"/>
          </a:xfrm>
          <a:prstGeom prst="rect">
            <a:avLst/>
          </a:prstGeom>
          <a:solidFill>
            <a:srgbClr val="E5A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52360" y="210312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5A100"/>
                </a:solidFill>
                <a:latin typeface="Calibri"/>
              </a:defRPr>
            </a:pPr>
            <a:r>
              <a:t>OneNote</a:t>
            </a:r>
            <a:br/>
            <a:r>
              <a:t>Notebook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52360" y="29260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6B6B"/>
                </a:solidFill>
                <a:latin typeface="Segoe UI Semilight"/>
              </a:defRPr>
            </a:pPr>
            <a:r>
              <a:t>Shared notebook</a:t>
            </a:r>
            <a:br/>
            <a:r>
              <a:t>for the team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01200" y="1828800"/>
            <a:ext cx="2103120" cy="2377440"/>
          </a:xfrm>
          <a:prstGeom prst="roundRect">
            <a:avLst>
              <a:gd name="adj" fmla="val 4000"/>
            </a:avLst>
          </a:prstGeom>
          <a:solidFill>
            <a:srgbClr val="F0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601200" y="1828800"/>
            <a:ext cx="2103120" cy="54864"/>
          </a:xfrm>
          <a:prstGeom prst="rect">
            <a:avLst/>
          </a:prstGeom>
          <a:solidFill>
            <a:srgbClr val="7C6E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38360" y="210312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7C6EB0"/>
                </a:solidFill>
                <a:latin typeface="Calibri"/>
              </a:defRPr>
            </a:pPr>
            <a:r>
              <a:t>Planner</a:t>
            </a:r>
            <a:br/>
            <a:r>
              <a:t>Board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38360" y="29260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6B6B"/>
                </a:solidFill>
                <a:latin typeface="Segoe UI Semilight"/>
              </a:defRPr>
            </a:pPr>
            <a:r>
              <a:t>Task management</a:t>
            </a:r>
            <a:br/>
            <a:r>
              <a:t>for the group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663440"/>
            <a:ext cx="11064240" cy="548640"/>
          </a:xfrm>
          <a:prstGeom prst="roundRect">
            <a:avLst>
              <a:gd name="adj" fmla="val 3000"/>
            </a:avLst>
          </a:prstGeom>
          <a:solidFill>
            <a:srgbClr val="F0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4663440"/>
            <a:ext cx="73152" cy="548640"/>
          </a:xfrm>
          <a:prstGeom prst="rect">
            <a:avLst/>
          </a:prstGeom>
          <a:solidFill>
            <a:srgbClr val="E5A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4709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5A100"/>
                </a:solidFill>
                <a:latin typeface="Segoe UI"/>
              </a:defRPr>
            </a:pPr>
            <a:r>
              <a:t>Admin Insight: Many sites in your SharePoint admin center are Teams-connected. Deleting a site can impact Teams!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6400800"/>
            <a:ext cx="11871655" cy="9144"/>
          </a:xfrm>
          <a:prstGeom prst="rect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6455664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6B6B"/>
                </a:solidFill>
                <a:latin typeface="Segoe UI"/>
              </a:defRPr>
            </a:pPr>
            <a:r>
              <a:t>Module 1  ·  Introduction to Microsoft 365 &amp; SharePoint Online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45775" y="645566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6B6B"/>
                </a:solidFill>
                <a:latin typeface="Segoe UI"/>
              </a:defRPr>
            </a:pPr>
            <a:r>
              <a:t>9 of 24</a:t>
            </a:r>
          </a:p>
        </p:txBody>
      </p:sp>
      <p:sp>
        <p:nvSpPr>
          <p:cNvPr id="32" name="Oval 31"/>
          <p:cNvSpPr/>
          <p:nvPr/>
        </p:nvSpPr>
        <p:spPr>
          <a:xfrm>
            <a:off x="7315200" y="6510528"/>
            <a:ext cx="73152" cy="73152"/>
          </a:xfrm>
          <a:prstGeom prst="ellipse">
            <a:avLst/>
          </a:prstGeom>
          <a:solidFill>
            <a:srgbClr val="2D31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479792" y="6510528"/>
            <a:ext cx="73152" cy="73152"/>
          </a:xfrm>
          <a:prstGeom prst="ellipse">
            <a:avLst/>
          </a:prstGeom>
          <a:solidFill>
            <a:srgbClr val="2D31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644384" y="6510528"/>
            <a:ext cx="73152" cy="73152"/>
          </a:xfrm>
          <a:prstGeom prst="ellipse">
            <a:avLst/>
          </a:prstGeom>
          <a:solidFill>
            <a:srgbClr val="2D31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808976" y="6510528"/>
            <a:ext cx="73152" cy="73152"/>
          </a:xfrm>
          <a:prstGeom prst="ellipse">
            <a:avLst/>
          </a:prstGeom>
          <a:solidFill>
            <a:srgbClr val="2D31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973568" y="6510528"/>
            <a:ext cx="73152" cy="73152"/>
          </a:xfrm>
          <a:prstGeom prst="ellipse">
            <a:avLst/>
          </a:prstGeom>
          <a:solidFill>
            <a:srgbClr val="2D31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138159" y="6510528"/>
            <a:ext cx="73152" cy="73152"/>
          </a:xfrm>
          <a:prstGeom prst="ellipse">
            <a:avLst/>
          </a:prstGeom>
          <a:solidFill>
            <a:srgbClr val="2D31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302752" y="6510528"/>
            <a:ext cx="73152" cy="73152"/>
          </a:xfrm>
          <a:prstGeom prst="ellipse">
            <a:avLst/>
          </a:prstGeom>
          <a:solidFill>
            <a:srgbClr val="2D31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467344" y="6510528"/>
            <a:ext cx="73152" cy="73152"/>
          </a:xfrm>
          <a:prstGeom prst="ellipse">
            <a:avLst/>
          </a:prstGeom>
          <a:solidFill>
            <a:srgbClr val="2D31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631936" y="6510528"/>
            <a:ext cx="73152" cy="73152"/>
          </a:xfrm>
          <a:prstGeom prst="ellipse">
            <a:avLst/>
          </a:prstGeom>
          <a:solidFill>
            <a:srgbClr val="2D31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8796528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961119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9125712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9290304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9454896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9619488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9784079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948672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0113264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277856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0442448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0607039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0771632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0936224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1100815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9B8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3291840"/>
            <a:ext cx="274320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352044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Microsoft 365 Licensing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6634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0"/>
                </a:solidFill>
                <a:latin typeface="Segoe UI Semilight"/>
              </a:defRPr>
            </a:pPr>
            <a:r>
              <a:t>Which plans include SharePoint Online, OneDrive, and Teams?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05695" y="457200"/>
            <a:ext cx="1828800" cy="411480"/>
          </a:xfrm>
          <a:prstGeom prst="roundRect">
            <a:avLst>
              <a:gd name="adj" fmla="val 50000"/>
            </a:avLst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51415" y="484632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MODULE 1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6400800"/>
            <a:ext cx="11871655" cy="9144"/>
          </a:xfrm>
          <a:prstGeom prst="rect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55664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6B6B"/>
                </a:solidFill>
                <a:latin typeface="Segoe UI"/>
              </a:defRPr>
            </a:pPr>
            <a:r>
              <a:t>Module 1  ·  Introduction to Microsoft 365 &amp; SharePoint Online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45775" y="645566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6B6B"/>
                </a:solidFill>
                <a:latin typeface="Segoe UI"/>
              </a:defRPr>
            </a:pPr>
            <a:r>
              <a:t>10 of 24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0" y="6510528"/>
            <a:ext cx="73152" cy="73152"/>
          </a:xfrm>
          <a:prstGeom prst="ellipse">
            <a:avLst/>
          </a:prstGeom>
          <a:solidFill>
            <a:srgbClr val="009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479792" y="6510528"/>
            <a:ext cx="73152" cy="73152"/>
          </a:xfrm>
          <a:prstGeom prst="ellipse">
            <a:avLst/>
          </a:prstGeom>
          <a:solidFill>
            <a:srgbClr val="009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644384" y="6510528"/>
            <a:ext cx="73152" cy="73152"/>
          </a:xfrm>
          <a:prstGeom prst="ellipse">
            <a:avLst/>
          </a:prstGeom>
          <a:solidFill>
            <a:srgbClr val="009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808976" y="6510528"/>
            <a:ext cx="73152" cy="73152"/>
          </a:xfrm>
          <a:prstGeom prst="ellipse">
            <a:avLst/>
          </a:prstGeom>
          <a:solidFill>
            <a:srgbClr val="009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973568" y="6510528"/>
            <a:ext cx="73152" cy="73152"/>
          </a:xfrm>
          <a:prstGeom prst="ellipse">
            <a:avLst/>
          </a:prstGeom>
          <a:solidFill>
            <a:srgbClr val="009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138159" y="6510528"/>
            <a:ext cx="73152" cy="73152"/>
          </a:xfrm>
          <a:prstGeom prst="ellipse">
            <a:avLst/>
          </a:prstGeom>
          <a:solidFill>
            <a:srgbClr val="009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02752" y="6510528"/>
            <a:ext cx="73152" cy="73152"/>
          </a:xfrm>
          <a:prstGeom prst="ellipse">
            <a:avLst/>
          </a:prstGeom>
          <a:solidFill>
            <a:srgbClr val="009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467344" y="6510528"/>
            <a:ext cx="73152" cy="73152"/>
          </a:xfrm>
          <a:prstGeom prst="ellipse">
            <a:avLst/>
          </a:prstGeom>
          <a:solidFill>
            <a:srgbClr val="009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31936" y="6510528"/>
            <a:ext cx="73152" cy="73152"/>
          </a:xfrm>
          <a:prstGeom prst="ellipse">
            <a:avLst/>
          </a:prstGeom>
          <a:solidFill>
            <a:srgbClr val="009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796528" y="6510528"/>
            <a:ext cx="73152" cy="73152"/>
          </a:xfrm>
          <a:prstGeom prst="ellipse">
            <a:avLst/>
          </a:prstGeom>
          <a:solidFill>
            <a:srgbClr val="009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961119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125712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290304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54896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619488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784079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948672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113264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277856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442448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607039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771632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936224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1100815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9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D316F"/>
                </a:solidFill>
                <a:latin typeface="Calibri"/>
              </a:defRPr>
            </a:pPr>
            <a:r>
              <a:t>Microsoft 365 Plans — SharePoint Inclusion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1645920" cy="36576"/>
          </a:xfrm>
          <a:prstGeom prst="rect">
            <a:avLst/>
          </a:prstGeom>
          <a:solidFill>
            <a:srgbClr val="009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188720"/>
          <a:ext cx="109728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Plan Family</a:t>
                      </a:r>
                    </a:p>
                  </a:txBody>
                  <a:tcPr>
                    <a:solidFill>
                      <a:srgbClr val="2D316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SharePoint</a:t>
                      </a:r>
                    </a:p>
                  </a:txBody>
                  <a:tcPr>
                    <a:solidFill>
                      <a:srgbClr val="2D316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OneDrive</a:t>
                      </a:r>
                    </a:p>
                  </a:txBody>
                  <a:tcPr>
                    <a:solidFill>
                      <a:srgbClr val="2D316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Teams</a:t>
                      </a:r>
                    </a:p>
                  </a:txBody>
                  <a:tcPr>
                    <a:solidFill>
                      <a:srgbClr val="2D316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Desktop Apps</a:t>
                      </a:r>
                    </a:p>
                  </a:txBody>
                  <a:tcPr>
                    <a:solidFill>
                      <a:srgbClr val="2D316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A2A2A"/>
                          </a:solidFill>
                          <a:latin typeface="Segoe UI Semilight"/>
                        </a:defRPr>
                      </a:pPr>
                      <a:r>
                        <a:t>Business Basic</a:t>
                      </a:r>
                    </a:p>
                  </a:txBody>
                  <a:tcPr>
                    <a:solidFill>
                      <a:srgbClr val="F0ED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A2A2A"/>
                          </a:solidFill>
                          <a:latin typeface="Segoe UI Semilight"/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0ED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A2A2A"/>
                          </a:solidFill>
                          <a:latin typeface="Segoe UI Semilight"/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0ED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A2A2A"/>
                          </a:solidFill>
                          <a:latin typeface="Segoe UI Semilight"/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0ED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A2A2A"/>
                          </a:solidFill>
                          <a:latin typeface="Segoe UI Semilight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0EDE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A2A2A"/>
                          </a:solidFill>
                          <a:latin typeface="Segoe UI Semilight"/>
                        </a:defRPr>
                      </a:pPr>
                      <a:r>
                        <a:t>Business Standard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A2A2A"/>
                          </a:solidFill>
                          <a:latin typeface="Segoe UI Semilight"/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A2A2A"/>
                          </a:solidFill>
                          <a:latin typeface="Segoe UI Semilight"/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A2A2A"/>
                          </a:solidFill>
                          <a:latin typeface="Segoe UI Semilight"/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A2A2A"/>
                          </a:solidFill>
                          <a:latin typeface="Segoe UI Semilight"/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A2A2A"/>
                          </a:solidFill>
                          <a:latin typeface="Segoe UI Semilight"/>
                        </a:defRPr>
                      </a:pPr>
                      <a:r>
                        <a:t>Business Premium</a:t>
                      </a:r>
                    </a:p>
                  </a:txBody>
                  <a:tcPr>
                    <a:solidFill>
                      <a:srgbClr val="F0ED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A2A2A"/>
                          </a:solidFill>
                          <a:latin typeface="Segoe UI Semilight"/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0ED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A2A2A"/>
                          </a:solidFill>
                          <a:latin typeface="Segoe UI Semilight"/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0ED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A2A2A"/>
                          </a:solidFill>
                          <a:latin typeface="Segoe UI Semilight"/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0ED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A2A2A"/>
                          </a:solidFill>
                          <a:latin typeface="Segoe UI Semilight"/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0EDE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A2A2A"/>
                          </a:solidFill>
                          <a:latin typeface="Segoe UI Semilight"/>
                        </a:defRPr>
                      </a:pPr>
                      <a:r>
                        <a:t>Enterprise E3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A2A2A"/>
                          </a:solidFill>
                          <a:latin typeface="Segoe UI Semilight"/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A2A2A"/>
                          </a:solidFill>
                          <a:latin typeface="Segoe UI Semilight"/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A2A2A"/>
                          </a:solidFill>
                          <a:latin typeface="Segoe UI Semilight"/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A2A2A"/>
                          </a:solidFill>
                          <a:latin typeface="Segoe UI Semilight"/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A2A2A"/>
                          </a:solidFill>
                          <a:latin typeface="Segoe UI Semilight"/>
                        </a:defRPr>
                      </a:pPr>
                      <a:r>
                        <a:t>Enterprise E5</a:t>
                      </a:r>
                    </a:p>
                  </a:txBody>
                  <a:tcPr>
                    <a:solidFill>
                      <a:srgbClr val="F0ED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A2A2A"/>
                          </a:solidFill>
                          <a:latin typeface="Segoe UI Semilight"/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0ED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A2A2A"/>
                          </a:solidFill>
                          <a:latin typeface="Segoe UI Semilight"/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0ED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A2A2A"/>
                          </a:solidFill>
                          <a:latin typeface="Segoe UI Semilight"/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0ED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A2A2A"/>
                          </a:solidFill>
                          <a:latin typeface="Segoe UI Semilight"/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0EDE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A2A2A"/>
                          </a:solidFill>
                          <a:latin typeface="Segoe UI Semilight"/>
                        </a:defRPr>
                      </a:pPr>
                      <a:r>
                        <a:t>Frontline F1/F3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A2A2A"/>
                          </a:solidFill>
                          <a:latin typeface="Segoe UI Semilight"/>
                        </a:defRPr>
                      </a:pPr>
                      <a:r>
                        <a:t>✅ (limited)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A2A2A"/>
                          </a:solidFill>
                          <a:latin typeface="Segoe UI Semilight"/>
                        </a:defRPr>
                      </a:pPr>
                      <a:r>
                        <a:t>✅ (2 GB)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A2A2A"/>
                          </a:solidFill>
                          <a:latin typeface="Segoe UI Semilight"/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A2A2A"/>
                          </a:solidFill>
                          <a:latin typeface="Segoe UI Semilight"/>
                        </a:defRPr>
                      </a:pPr>
                      <a:r>
                        <a:t>— / ✅*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5303520"/>
            <a:ext cx="10972800" cy="502920"/>
          </a:xfrm>
          <a:prstGeom prst="roundRect">
            <a:avLst>
              <a:gd name="adj" fmla="val 3000"/>
            </a:avLst>
          </a:prstGeom>
          <a:solidFill>
            <a:srgbClr val="F0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5303520"/>
            <a:ext cx="73152" cy="502920"/>
          </a:xfrm>
          <a:prstGeom prst="rect">
            <a:avLst/>
          </a:prstGeom>
          <a:solidFill>
            <a:srgbClr val="009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534924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B8D"/>
                </a:solidFill>
                <a:latin typeface="Segoe UI"/>
              </a:defRPr>
            </a:pPr>
            <a:r>
              <a:t>Tenant Storage:  1 TB base + 10 GB per license   |   Max per site: 25 TB   |   Up to 2 million sites per org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6400800"/>
            <a:ext cx="11871655" cy="9144"/>
          </a:xfrm>
          <a:prstGeom prst="rect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455664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6B6B"/>
                </a:solidFill>
                <a:latin typeface="Segoe UI"/>
              </a:defRPr>
            </a:pPr>
            <a:r>
              <a:t>Module 1  ·  Introduction to Microsoft 365 &amp; SharePoint Online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45775" y="645566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6B6B"/>
                </a:solidFill>
                <a:latin typeface="Segoe UI"/>
              </a:defRPr>
            </a:pPr>
            <a:r>
              <a:t>11 of 24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0" y="6510528"/>
            <a:ext cx="73152" cy="73152"/>
          </a:xfrm>
          <a:prstGeom prst="ellipse">
            <a:avLst/>
          </a:prstGeom>
          <a:solidFill>
            <a:srgbClr val="009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479792" y="6510528"/>
            <a:ext cx="73152" cy="73152"/>
          </a:xfrm>
          <a:prstGeom prst="ellipse">
            <a:avLst/>
          </a:prstGeom>
          <a:solidFill>
            <a:srgbClr val="009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644384" y="6510528"/>
            <a:ext cx="73152" cy="73152"/>
          </a:xfrm>
          <a:prstGeom prst="ellipse">
            <a:avLst/>
          </a:prstGeom>
          <a:solidFill>
            <a:srgbClr val="009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808976" y="6510528"/>
            <a:ext cx="73152" cy="73152"/>
          </a:xfrm>
          <a:prstGeom prst="ellipse">
            <a:avLst/>
          </a:prstGeom>
          <a:solidFill>
            <a:srgbClr val="009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973568" y="6510528"/>
            <a:ext cx="73152" cy="73152"/>
          </a:xfrm>
          <a:prstGeom prst="ellipse">
            <a:avLst/>
          </a:prstGeom>
          <a:solidFill>
            <a:srgbClr val="009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138159" y="6510528"/>
            <a:ext cx="73152" cy="73152"/>
          </a:xfrm>
          <a:prstGeom prst="ellipse">
            <a:avLst/>
          </a:prstGeom>
          <a:solidFill>
            <a:srgbClr val="009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302752" y="6510528"/>
            <a:ext cx="73152" cy="73152"/>
          </a:xfrm>
          <a:prstGeom prst="ellipse">
            <a:avLst/>
          </a:prstGeom>
          <a:solidFill>
            <a:srgbClr val="009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67344" y="6510528"/>
            <a:ext cx="73152" cy="73152"/>
          </a:xfrm>
          <a:prstGeom prst="ellipse">
            <a:avLst/>
          </a:prstGeom>
          <a:solidFill>
            <a:srgbClr val="009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631936" y="6510528"/>
            <a:ext cx="73152" cy="73152"/>
          </a:xfrm>
          <a:prstGeom prst="ellipse">
            <a:avLst/>
          </a:prstGeom>
          <a:solidFill>
            <a:srgbClr val="009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796528" y="6510528"/>
            <a:ext cx="73152" cy="73152"/>
          </a:xfrm>
          <a:prstGeom prst="ellipse">
            <a:avLst/>
          </a:prstGeom>
          <a:solidFill>
            <a:srgbClr val="009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961119" y="6510528"/>
            <a:ext cx="73152" cy="73152"/>
          </a:xfrm>
          <a:prstGeom prst="ellipse">
            <a:avLst/>
          </a:prstGeom>
          <a:solidFill>
            <a:srgbClr val="009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25712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290304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454896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619488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784079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948672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13264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277856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442448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607039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771632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936224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1100815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5A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D316F"/>
                </a:solidFill>
                <a:latin typeface="Calibri"/>
              </a:defRPr>
            </a:pPr>
            <a:r>
              <a:t>Standalone Plans &amp; Key Add-ons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1645920" cy="36576"/>
          </a:xfrm>
          <a:prstGeom prst="rect">
            <a:avLst/>
          </a:prstGeom>
          <a:solidFill>
            <a:srgbClr val="E5A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10698480" cy="658368"/>
          </a:xfrm>
          <a:prstGeom prst="roundRect">
            <a:avLst>
              <a:gd name="adj" fmla="val 3000"/>
            </a:avLst>
          </a:prstGeom>
          <a:solidFill>
            <a:srgbClr val="F0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188720"/>
            <a:ext cx="73152" cy="658368"/>
          </a:xfrm>
          <a:prstGeom prst="rect">
            <a:avLst/>
          </a:prstGeom>
          <a:solidFill>
            <a:srgbClr val="E5A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2527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A2A2A"/>
                </a:solidFill>
                <a:latin typeface="Calibri"/>
              </a:defRPr>
            </a:pPr>
            <a:r>
              <a:t>SharePoint Online Plan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527048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6B6B"/>
                </a:solidFill>
                <a:latin typeface="Segoe UI Semilight"/>
              </a:defRPr>
            </a:pPr>
            <a:r>
              <a:t>Basic sites, document libraries, external sharing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920240"/>
            <a:ext cx="10698480" cy="658368"/>
          </a:xfrm>
          <a:prstGeom prst="roundRect">
            <a:avLst>
              <a:gd name="adj" fmla="val 3000"/>
            </a:avLst>
          </a:prstGeom>
          <a:solidFill>
            <a:srgbClr val="F0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920240"/>
            <a:ext cx="73152" cy="658368"/>
          </a:xfrm>
          <a:prstGeom prst="rect">
            <a:avLst/>
          </a:prstGeom>
          <a:solidFill>
            <a:srgbClr val="E5A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198424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A2A2A"/>
                </a:solidFill>
                <a:latin typeface="Calibri"/>
              </a:defRPr>
            </a:pPr>
            <a:r>
              <a:t>SharePoint Online Plan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258568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6B6B"/>
                </a:solidFill>
                <a:latin typeface="Segoe UI Semilight"/>
              </a:defRPr>
            </a:pPr>
            <a:r>
              <a:t>Plan 1 + advanced search, enterprise features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651760"/>
            <a:ext cx="10698480" cy="658368"/>
          </a:xfrm>
          <a:prstGeom prst="roundRect">
            <a:avLst>
              <a:gd name="adj" fmla="val 3000"/>
            </a:avLst>
          </a:prstGeom>
          <a:solidFill>
            <a:srgbClr val="F0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2651760"/>
            <a:ext cx="73152" cy="658368"/>
          </a:xfrm>
          <a:prstGeom prst="rect">
            <a:avLst/>
          </a:prstGeom>
          <a:solidFill>
            <a:srgbClr val="E5A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271576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A2A2A"/>
                </a:solidFill>
                <a:latin typeface="Calibri"/>
              </a:defRPr>
            </a:pPr>
            <a:r>
              <a:t>OneDrive for Business Plan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2990088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6B6B"/>
                </a:solidFill>
                <a:latin typeface="Segoe UI Semilight"/>
              </a:defRPr>
            </a:pPr>
            <a:r>
              <a:t>Personal storage (1 TB per user)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383280"/>
            <a:ext cx="10698480" cy="658368"/>
          </a:xfrm>
          <a:prstGeom prst="roundRect">
            <a:avLst>
              <a:gd name="adj" fmla="val 3000"/>
            </a:avLst>
          </a:prstGeom>
          <a:solidFill>
            <a:srgbClr val="F0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3383280"/>
            <a:ext cx="73152" cy="658368"/>
          </a:xfrm>
          <a:prstGeom prst="rect">
            <a:avLst/>
          </a:prstGeom>
          <a:solidFill>
            <a:srgbClr val="E5A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344728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A2A2A"/>
                </a:solidFill>
                <a:latin typeface="Calibri"/>
              </a:defRPr>
            </a:pPr>
            <a:r>
              <a:t>OneDrive for Business Plan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3721608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6B6B"/>
                </a:solidFill>
                <a:latin typeface="Segoe UI Semilight"/>
              </a:defRPr>
            </a:pPr>
            <a:r>
              <a:t>Plan 1 + unlimited storage, advanced compliance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114800"/>
            <a:ext cx="10698480" cy="658368"/>
          </a:xfrm>
          <a:prstGeom prst="roundRect">
            <a:avLst>
              <a:gd name="adj" fmla="val 3000"/>
            </a:avLst>
          </a:prstGeom>
          <a:solidFill>
            <a:srgbClr val="F0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4114800"/>
            <a:ext cx="73152" cy="658368"/>
          </a:xfrm>
          <a:prstGeom prst="rect">
            <a:avLst/>
          </a:prstGeom>
          <a:solidFill>
            <a:srgbClr val="E5A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417880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A2A2A"/>
                </a:solidFill>
                <a:latin typeface="Calibri"/>
              </a:defRPr>
            </a:pPr>
            <a:r>
              <a:t>Microsoft Purview Add-ons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4453128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6B6B"/>
                </a:solidFill>
                <a:latin typeface="Segoe UI Semilight"/>
              </a:defRPr>
            </a:pPr>
            <a:r>
              <a:t>Retention, DLP, eDiscovery — if not in your base plan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846320"/>
            <a:ext cx="10698480" cy="658368"/>
          </a:xfrm>
          <a:prstGeom prst="roundRect">
            <a:avLst>
              <a:gd name="adj" fmla="val 3000"/>
            </a:avLst>
          </a:prstGeom>
          <a:solidFill>
            <a:srgbClr val="F0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1520" y="4846320"/>
            <a:ext cx="73152" cy="658368"/>
          </a:xfrm>
          <a:prstGeom prst="rect">
            <a:avLst/>
          </a:prstGeom>
          <a:solidFill>
            <a:srgbClr val="E5A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51560" y="49103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A2A2A"/>
                </a:solidFill>
                <a:latin typeface="Calibri"/>
              </a:defRPr>
            </a:pPr>
            <a:r>
              <a:t>Power Platform Add-ons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5184648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6B6B"/>
                </a:solidFill>
                <a:latin typeface="Segoe UI Semilight"/>
              </a:defRPr>
            </a:pPr>
            <a:r>
              <a:t>Additional AI Builder credits, premium connectors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5715000"/>
            <a:ext cx="10698480" cy="502920"/>
          </a:xfrm>
          <a:prstGeom prst="roundRect">
            <a:avLst>
              <a:gd name="adj" fmla="val 3000"/>
            </a:avLst>
          </a:prstGeom>
          <a:solidFill>
            <a:srgbClr val="F0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1520" y="5715000"/>
            <a:ext cx="73152" cy="502920"/>
          </a:xfrm>
          <a:prstGeom prst="rect">
            <a:avLst/>
          </a:prstGeom>
          <a:solidFill>
            <a:srgbClr val="009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51560" y="576072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9B8D"/>
                </a:solidFill>
                <a:latin typeface="Segoe UI"/>
              </a:defRPr>
            </a:pPr>
            <a:r>
              <a:t>Tip:  You can combine Enterprise, Business, and standalone plans within a single tenant.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6400800"/>
            <a:ext cx="11871655" cy="9144"/>
          </a:xfrm>
          <a:prstGeom prst="rect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6455664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6B6B"/>
                </a:solidFill>
                <a:latin typeface="Segoe UI"/>
              </a:defRPr>
            </a:pPr>
            <a:r>
              <a:t>Module 1  ·  Introduction to Microsoft 365 &amp; SharePoint Online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45775" y="645566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6B6B"/>
                </a:solidFill>
                <a:latin typeface="Segoe UI"/>
              </a:defRPr>
            </a:pPr>
            <a:r>
              <a:t>12 of 24</a:t>
            </a:r>
          </a:p>
        </p:txBody>
      </p:sp>
      <p:sp>
        <p:nvSpPr>
          <p:cNvPr id="35" name="Oval 34"/>
          <p:cNvSpPr/>
          <p:nvPr/>
        </p:nvSpPr>
        <p:spPr>
          <a:xfrm>
            <a:off x="7315200" y="6510528"/>
            <a:ext cx="73152" cy="73152"/>
          </a:xfrm>
          <a:prstGeom prst="ellipse">
            <a:avLst/>
          </a:prstGeom>
          <a:solidFill>
            <a:srgbClr val="E5A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479792" y="6510528"/>
            <a:ext cx="73152" cy="73152"/>
          </a:xfrm>
          <a:prstGeom prst="ellipse">
            <a:avLst/>
          </a:prstGeom>
          <a:solidFill>
            <a:srgbClr val="E5A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644384" y="6510528"/>
            <a:ext cx="73152" cy="73152"/>
          </a:xfrm>
          <a:prstGeom prst="ellipse">
            <a:avLst/>
          </a:prstGeom>
          <a:solidFill>
            <a:srgbClr val="E5A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7808976" y="6510528"/>
            <a:ext cx="73152" cy="73152"/>
          </a:xfrm>
          <a:prstGeom prst="ellipse">
            <a:avLst/>
          </a:prstGeom>
          <a:solidFill>
            <a:srgbClr val="E5A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7973568" y="6510528"/>
            <a:ext cx="73152" cy="73152"/>
          </a:xfrm>
          <a:prstGeom prst="ellipse">
            <a:avLst/>
          </a:prstGeom>
          <a:solidFill>
            <a:srgbClr val="E5A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138159" y="6510528"/>
            <a:ext cx="73152" cy="73152"/>
          </a:xfrm>
          <a:prstGeom prst="ellipse">
            <a:avLst/>
          </a:prstGeom>
          <a:solidFill>
            <a:srgbClr val="E5A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8302752" y="6510528"/>
            <a:ext cx="73152" cy="73152"/>
          </a:xfrm>
          <a:prstGeom prst="ellipse">
            <a:avLst/>
          </a:prstGeom>
          <a:solidFill>
            <a:srgbClr val="E5A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467344" y="6510528"/>
            <a:ext cx="73152" cy="73152"/>
          </a:xfrm>
          <a:prstGeom prst="ellipse">
            <a:avLst/>
          </a:prstGeom>
          <a:solidFill>
            <a:srgbClr val="E5A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631936" y="6510528"/>
            <a:ext cx="73152" cy="73152"/>
          </a:xfrm>
          <a:prstGeom prst="ellipse">
            <a:avLst/>
          </a:prstGeom>
          <a:solidFill>
            <a:srgbClr val="E5A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796528" y="6510528"/>
            <a:ext cx="73152" cy="73152"/>
          </a:xfrm>
          <a:prstGeom prst="ellipse">
            <a:avLst/>
          </a:prstGeom>
          <a:solidFill>
            <a:srgbClr val="E5A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961119" y="6510528"/>
            <a:ext cx="73152" cy="73152"/>
          </a:xfrm>
          <a:prstGeom prst="ellipse">
            <a:avLst/>
          </a:prstGeom>
          <a:solidFill>
            <a:srgbClr val="E5A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9125712" y="6510528"/>
            <a:ext cx="73152" cy="73152"/>
          </a:xfrm>
          <a:prstGeom prst="ellipse">
            <a:avLst/>
          </a:prstGeom>
          <a:solidFill>
            <a:srgbClr val="E5A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9290304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454896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619488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9784079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9948672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0113264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0277856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0442448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0607039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0771632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0936224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1100815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5A1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3291840"/>
            <a:ext cx="274320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352044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Microsoft 365</a:t>
            </a:r>
            <a:br/>
            <a: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6634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0"/>
                </a:solidFill>
                <a:latin typeface="Segoe UI Semilight"/>
              </a:defRPr>
            </a:pPr>
            <a:r>
              <a:t>The admin mental model for SharePoint professionals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05695" y="457200"/>
            <a:ext cx="1828800" cy="411480"/>
          </a:xfrm>
          <a:prstGeom prst="roundRect">
            <a:avLst>
              <a:gd name="adj" fmla="val 50000"/>
            </a:avLst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51415" y="484632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MODULE 1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6400800"/>
            <a:ext cx="11871655" cy="9144"/>
          </a:xfrm>
          <a:prstGeom prst="rect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55664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6B6B"/>
                </a:solidFill>
                <a:latin typeface="Segoe UI"/>
              </a:defRPr>
            </a:pPr>
            <a:r>
              <a:t>Module 1  ·  Introduction to Microsoft 365 &amp; SharePoint Online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45775" y="645566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6B6B"/>
                </a:solidFill>
                <a:latin typeface="Segoe UI"/>
              </a:defRPr>
            </a:pPr>
            <a:r>
              <a:t>13 of 24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0" y="6510528"/>
            <a:ext cx="73152" cy="73152"/>
          </a:xfrm>
          <a:prstGeom prst="ellipse">
            <a:avLst/>
          </a:prstGeom>
          <a:solidFill>
            <a:srgbClr val="E5A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479792" y="6510528"/>
            <a:ext cx="73152" cy="73152"/>
          </a:xfrm>
          <a:prstGeom prst="ellipse">
            <a:avLst/>
          </a:prstGeom>
          <a:solidFill>
            <a:srgbClr val="E5A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644384" y="6510528"/>
            <a:ext cx="73152" cy="73152"/>
          </a:xfrm>
          <a:prstGeom prst="ellipse">
            <a:avLst/>
          </a:prstGeom>
          <a:solidFill>
            <a:srgbClr val="E5A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808976" y="6510528"/>
            <a:ext cx="73152" cy="73152"/>
          </a:xfrm>
          <a:prstGeom prst="ellipse">
            <a:avLst/>
          </a:prstGeom>
          <a:solidFill>
            <a:srgbClr val="E5A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973568" y="6510528"/>
            <a:ext cx="73152" cy="73152"/>
          </a:xfrm>
          <a:prstGeom prst="ellipse">
            <a:avLst/>
          </a:prstGeom>
          <a:solidFill>
            <a:srgbClr val="E5A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138159" y="6510528"/>
            <a:ext cx="73152" cy="73152"/>
          </a:xfrm>
          <a:prstGeom prst="ellipse">
            <a:avLst/>
          </a:prstGeom>
          <a:solidFill>
            <a:srgbClr val="E5A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02752" y="6510528"/>
            <a:ext cx="73152" cy="73152"/>
          </a:xfrm>
          <a:prstGeom prst="ellipse">
            <a:avLst/>
          </a:prstGeom>
          <a:solidFill>
            <a:srgbClr val="E5A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467344" y="6510528"/>
            <a:ext cx="73152" cy="73152"/>
          </a:xfrm>
          <a:prstGeom prst="ellipse">
            <a:avLst/>
          </a:prstGeom>
          <a:solidFill>
            <a:srgbClr val="E5A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31936" y="6510528"/>
            <a:ext cx="73152" cy="73152"/>
          </a:xfrm>
          <a:prstGeom prst="ellipse">
            <a:avLst/>
          </a:prstGeom>
          <a:solidFill>
            <a:srgbClr val="E5A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796528" y="6510528"/>
            <a:ext cx="73152" cy="73152"/>
          </a:xfrm>
          <a:prstGeom prst="ellipse">
            <a:avLst/>
          </a:prstGeom>
          <a:solidFill>
            <a:srgbClr val="E5A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961119" y="6510528"/>
            <a:ext cx="73152" cy="73152"/>
          </a:xfrm>
          <a:prstGeom prst="ellipse">
            <a:avLst/>
          </a:prstGeom>
          <a:solidFill>
            <a:srgbClr val="E5A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125712" y="6510528"/>
            <a:ext cx="73152" cy="73152"/>
          </a:xfrm>
          <a:prstGeom prst="ellipse">
            <a:avLst/>
          </a:prstGeom>
          <a:solidFill>
            <a:srgbClr val="E5A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290304" y="6510528"/>
            <a:ext cx="73152" cy="73152"/>
          </a:xfrm>
          <a:prstGeom prst="ellipse">
            <a:avLst/>
          </a:prstGeom>
          <a:solidFill>
            <a:srgbClr val="E5A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54896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619488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784079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948672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113264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277856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442448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607039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771632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936224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1100815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5A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D316F"/>
                </a:solidFill>
                <a:latin typeface="Calibri"/>
              </a:defRPr>
            </a:pPr>
            <a:r>
              <a:t>Microsoft 365: The Admin Mental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1645920" cy="36576"/>
          </a:xfrm>
          <a:prstGeom prst="rect">
            <a:avLst/>
          </a:prstGeom>
          <a:solidFill>
            <a:srgbClr val="E5A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11064240" cy="1005840"/>
          </a:xfrm>
          <a:prstGeom prst="roundRect">
            <a:avLst>
              <a:gd name="adj" fmla="val 3000"/>
            </a:avLst>
          </a:prstGeom>
          <a:solidFill>
            <a:srgbClr val="F0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188720"/>
            <a:ext cx="137160" cy="1005840"/>
          </a:xfrm>
          <a:prstGeom prst="rect">
            <a:avLst/>
          </a:prstGeom>
          <a:solidFill>
            <a:srgbClr val="E85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26187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5D4A"/>
                </a:solidFill>
                <a:latin typeface="Calibri"/>
              </a:defRPr>
            </a:pPr>
            <a:r>
              <a:t>Identity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53619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A2A2A"/>
                </a:solidFill>
                <a:latin typeface="Segoe UI"/>
              </a:defRPr>
            </a:pPr>
            <a:r>
              <a:t>Microsoft Entra 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32588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6B6B"/>
                </a:solidFill>
                <a:latin typeface="Segoe UI Semilight"/>
              </a:defRPr>
            </a:pPr>
            <a:r>
              <a:t>Authentication, authorization, Conditional Access, device policies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331720"/>
            <a:ext cx="11064240" cy="1005840"/>
          </a:xfrm>
          <a:prstGeom prst="roundRect">
            <a:avLst>
              <a:gd name="adj" fmla="val 3000"/>
            </a:avLst>
          </a:prstGeom>
          <a:solidFill>
            <a:srgbClr val="F0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331720"/>
            <a:ext cx="137160" cy="1005840"/>
          </a:xfrm>
          <a:prstGeom prst="rect">
            <a:avLst/>
          </a:prstGeom>
          <a:solidFill>
            <a:srgbClr val="009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40487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B8D"/>
                </a:solidFill>
                <a:latin typeface="Calibri"/>
              </a:defRPr>
            </a:pPr>
            <a:r>
              <a:t>Workloads Layer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67919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A2A2A"/>
                </a:solidFill>
                <a:latin typeface="Segoe UI"/>
              </a:defRPr>
            </a:pPr>
            <a:r>
              <a:t>SharePoint · OneDrive · Teams · Exchange · Purview · Search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246888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6B6B"/>
                </a:solidFill>
                <a:latin typeface="Segoe UI Semilight"/>
              </a:defRPr>
            </a:pPr>
            <a:r>
              <a:t>The services your users interact with — each has its own admin surface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474720"/>
            <a:ext cx="11064240" cy="1005840"/>
          </a:xfrm>
          <a:prstGeom prst="roundRect">
            <a:avLst>
              <a:gd name="adj" fmla="val 3000"/>
            </a:avLst>
          </a:prstGeom>
          <a:solidFill>
            <a:srgbClr val="F0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474720"/>
            <a:ext cx="137160" cy="1005840"/>
          </a:xfrm>
          <a:prstGeom prst="rect">
            <a:avLst/>
          </a:prstGeom>
          <a:solidFill>
            <a:srgbClr val="2D31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54787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316F"/>
                </a:solidFill>
                <a:latin typeface="Calibri"/>
              </a:defRPr>
            </a:pPr>
            <a:r>
              <a:t>Admin Surfaces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82219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A2A2A"/>
                </a:solidFill>
                <a:latin typeface="Segoe UI"/>
              </a:defRPr>
            </a:pPr>
            <a:r>
              <a:t>M365 Admin Center + Workload Admin Centers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361188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6B6B"/>
                </a:solidFill>
                <a:latin typeface="Segoe UI Semilight"/>
              </a:defRPr>
            </a:pPr>
            <a:r>
              <a:t>Central portal for tenant-wide config; workload portals for service-specific settings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617720"/>
            <a:ext cx="11064240" cy="1005840"/>
          </a:xfrm>
          <a:prstGeom prst="roundRect">
            <a:avLst>
              <a:gd name="adj" fmla="val 3000"/>
            </a:avLst>
          </a:prstGeom>
          <a:solidFill>
            <a:srgbClr val="F0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4617720"/>
            <a:ext cx="137160" cy="1005840"/>
          </a:xfrm>
          <a:prstGeom prst="rect">
            <a:avLst/>
          </a:prstGeom>
          <a:solidFill>
            <a:srgbClr val="E5A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69087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5A100"/>
                </a:solidFill>
                <a:latin typeface="Calibri"/>
              </a:defRPr>
            </a:pPr>
            <a:r>
              <a:t>Automation Layer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96519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A2A2A"/>
                </a:solidFill>
                <a:latin typeface="Segoe UI"/>
              </a:defRPr>
            </a:pPr>
            <a:r>
              <a:t>Microsoft Graph API + PowerShell Modules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475488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6B6B"/>
                </a:solidFill>
                <a:latin typeface="Segoe UI Semilight"/>
              </a:defRPr>
            </a:pPr>
            <a:r>
              <a:t>Programmatic access for reporting, bulk operations, and integration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6400800"/>
            <a:ext cx="11871655" cy="9144"/>
          </a:xfrm>
          <a:prstGeom prst="rect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6455664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6B6B"/>
                </a:solidFill>
                <a:latin typeface="Segoe UI"/>
              </a:defRPr>
            </a:pPr>
            <a:r>
              <a:t>Module 1  ·  Introduction to Microsoft 365 &amp; SharePoint Online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45775" y="645566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6B6B"/>
                </a:solidFill>
                <a:latin typeface="Segoe UI"/>
              </a:defRPr>
            </a:pPr>
            <a:r>
              <a:t>14 of 24</a:t>
            </a:r>
          </a:p>
        </p:txBody>
      </p:sp>
      <p:sp>
        <p:nvSpPr>
          <p:cNvPr id="28" name="Oval 27"/>
          <p:cNvSpPr/>
          <p:nvPr/>
        </p:nvSpPr>
        <p:spPr>
          <a:xfrm>
            <a:off x="7315200" y="6510528"/>
            <a:ext cx="73152" cy="73152"/>
          </a:xfrm>
          <a:prstGeom prst="ellipse">
            <a:avLst/>
          </a:prstGeom>
          <a:solidFill>
            <a:srgbClr val="E5A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479792" y="6510528"/>
            <a:ext cx="73152" cy="73152"/>
          </a:xfrm>
          <a:prstGeom prst="ellipse">
            <a:avLst/>
          </a:prstGeom>
          <a:solidFill>
            <a:srgbClr val="E5A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644384" y="6510528"/>
            <a:ext cx="73152" cy="73152"/>
          </a:xfrm>
          <a:prstGeom prst="ellipse">
            <a:avLst/>
          </a:prstGeom>
          <a:solidFill>
            <a:srgbClr val="E5A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808976" y="6510528"/>
            <a:ext cx="73152" cy="73152"/>
          </a:xfrm>
          <a:prstGeom prst="ellipse">
            <a:avLst/>
          </a:prstGeom>
          <a:solidFill>
            <a:srgbClr val="E5A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973568" y="6510528"/>
            <a:ext cx="73152" cy="73152"/>
          </a:xfrm>
          <a:prstGeom prst="ellipse">
            <a:avLst/>
          </a:prstGeom>
          <a:solidFill>
            <a:srgbClr val="E5A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138159" y="6510528"/>
            <a:ext cx="73152" cy="73152"/>
          </a:xfrm>
          <a:prstGeom prst="ellipse">
            <a:avLst/>
          </a:prstGeom>
          <a:solidFill>
            <a:srgbClr val="E5A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302752" y="6510528"/>
            <a:ext cx="73152" cy="73152"/>
          </a:xfrm>
          <a:prstGeom prst="ellipse">
            <a:avLst/>
          </a:prstGeom>
          <a:solidFill>
            <a:srgbClr val="E5A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467344" y="6510528"/>
            <a:ext cx="73152" cy="73152"/>
          </a:xfrm>
          <a:prstGeom prst="ellipse">
            <a:avLst/>
          </a:prstGeom>
          <a:solidFill>
            <a:srgbClr val="E5A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631936" y="6510528"/>
            <a:ext cx="73152" cy="73152"/>
          </a:xfrm>
          <a:prstGeom prst="ellipse">
            <a:avLst/>
          </a:prstGeom>
          <a:solidFill>
            <a:srgbClr val="E5A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796528" y="6510528"/>
            <a:ext cx="73152" cy="73152"/>
          </a:xfrm>
          <a:prstGeom prst="ellipse">
            <a:avLst/>
          </a:prstGeom>
          <a:solidFill>
            <a:srgbClr val="E5A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961119" y="6510528"/>
            <a:ext cx="73152" cy="73152"/>
          </a:xfrm>
          <a:prstGeom prst="ellipse">
            <a:avLst/>
          </a:prstGeom>
          <a:solidFill>
            <a:srgbClr val="E5A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125712" y="6510528"/>
            <a:ext cx="73152" cy="73152"/>
          </a:xfrm>
          <a:prstGeom prst="ellipse">
            <a:avLst/>
          </a:prstGeom>
          <a:solidFill>
            <a:srgbClr val="E5A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9290304" y="6510528"/>
            <a:ext cx="73152" cy="73152"/>
          </a:xfrm>
          <a:prstGeom prst="ellipse">
            <a:avLst/>
          </a:prstGeom>
          <a:solidFill>
            <a:srgbClr val="E5A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9454896" y="6510528"/>
            <a:ext cx="73152" cy="73152"/>
          </a:xfrm>
          <a:prstGeom prst="ellipse">
            <a:avLst/>
          </a:prstGeom>
          <a:solidFill>
            <a:srgbClr val="E5A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9619488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9784079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9948672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113264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0277856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0442448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0607039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0771632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936224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1100815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85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D316F"/>
                </a:solidFill>
                <a:latin typeface="Calibri"/>
              </a:defRPr>
            </a:pPr>
            <a:r>
              <a:t>Why This Matters to SharePoint Admins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1645920" cy="36576"/>
          </a:xfrm>
          <a:prstGeom prst="rect">
            <a:avLst/>
          </a:prstGeom>
          <a:solidFill>
            <a:srgbClr val="E85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274320" cy="274320"/>
          </a:xfrm>
          <a:prstGeom prst="rect">
            <a:avLst/>
          </a:prstGeom>
          <a:solidFill>
            <a:srgbClr val="E85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28016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A2A2A"/>
                </a:solidFill>
                <a:latin typeface="Segoe UI Semilight"/>
              </a:defRPr>
            </a:pPr>
            <a:r>
              <a:t>Identity &amp; access policies (Entra ID, Conditional Access) control who can reach SharePoint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920240"/>
            <a:ext cx="274320" cy="274320"/>
          </a:xfrm>
          <a:prstGeom prst="rect">
            <a:avLst/>
          </a:prstGeom>
          <a:solidFill>
            <a:srgbClr val="E85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92024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828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A2A2A"/>
                </a:solidFill>
                <a:latin typeface="Segoe UI Semilight"/>
              </a:defRPr>
            </a:pPr>
            <a:r>
              <a:t>Compliance controls (Microsoft Purview) govern retention, DLP, and sensitivity labels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560320"/>
            <a:ext cx="274320" cy="274320"/>
          </a:xfrm>
          <a:prstGeom prst="rect">
            <a:avLst/>
          </a:prstGeom>
          <a:solidFill>
            <a:srgbClr val="E85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56032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468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A2A2A"/>
                </a:solidFill>
                <a:latin typeface="Segoe UI Semilight"/>
              </a:defRPr>
            </a:pPr>
            <a:r>
              <a:t>Search &amp; content experiences are integrated across all Microsoft 365 workloads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200400"/>
            <a:ext cx="274320" cy="274320"/>
          </a:xfrm>
          <a:prstGeom prst="rect">
            <a:avLst/>
          </a:prstGeom>
          <a:solidFill>
            <a:srgbClr val="E85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20040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!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108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A2A2A"/>
                </a:solidFill>
                <a:latin typeface="Segoe UI Semilight"/>
              </a:defRPr>
            </a:pPr>
            <a:r>
              <a:t>Teams file storage IS SharePoint — admin changes affect both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840480"/>
            <a:ext cx="274320" cy="274320"/>
          </a:xfrm>
          <a:prstGeom prst="rect">
            <a:avLst/>
          </a:prstGeom>
          <a:solidFill>
            <a:srgbClr val="E85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84048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!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3749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A2A2A"/>
                </a:solidFill>
                <a:latin typeface="Segoe UI Semilight"/>
              </a:defRPr>
            </a:pPr>
            <a:r>
              <a:t>OneDrive inherits SharePoint sharing policies (OneDrive ≤ SharePoint)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4480560"/>
            <a:ext cx="274320" cy="274320"/>
          </a:xfrm>
          <a:prstGeom prst="rect">
            <a:avLst/>
          </a:prstGeom>
          <a:solidFill>
            <a:srgbClr val="E85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48056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4389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A2A2A"/>
                </a:solidFill>
                <a:latin typeface="Segoe UI Semilight"/>
              </a:defRPr>
            </a:pPr>
            <a:r>
              <a:t>Power Platform connectors rely on SharePoint for content sources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120640"/>
            <a:ext cx="11064240" cy="548640"/>
          </a:xfrm>
          <a:prstGeom prst="roundRect">
            <a:avLst>
              <a:gd name="adj" fmla="val 3000"/>
            </a:avLst>
          </a:prstGeom>
          <a:solidFill>
            <a:srgbClr val="FD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5120640"/>
            <a:ext cx="73152" cy="548640"/>
          </a:xfrm>
          <a:prstGeom prst="rect">
            <a:avLst/>
          </a:prstGeom>
          <a:solidFill>
            <a:srgbClr val="E85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51663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5D4A"/>
                </a:solidFill>
                <a:latin typeface="Segoe UI"/>
              </a:defRPr>
            </a:pPr>
            <a:r>
              <a:t>Many 'SharePoint issues' are actually identity or policy issues originating outside SharePoint.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6400800"/>
            <a:ext cx="11871655" cy="9144"/>
          </a:xfrm>
          <a:prstGeom prst="rect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6455664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6B6B"/>
                </a:solidFill>
                <a:latin typeface="Segoe UI"/>
              </a:defRPr>
            </a:pPr>
            <a:r>
              <a:t>Module 1  ·  Introduction to Microsoft 365 &amp; SharePoint Online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45775" y="645566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6B6B"/>
                </a:solidFill>
                <a:latin typeface="Segoe UI"/>
              </a:defRPr>
            </a:pPr>
            <a:r>
              <a:t>15 of 24</a:t>
            </a:r>
          </a:p>
        </p:txBody>
      </p:sp>
      <p:sp>
        <p:nvSpPr>
          <p:cNvPr id="29" name="Oval 28"/>
          <p:cNvSpPr/>
          <p:nvPr/>
        </p:nvSpPr>
        <p:spPr>
          <a:xfrm>
            <a:off x="7315200" y="6510528"/>
            <a:ext cx="73152" cy="73152"/>
          </a:xfrm>
          <a:prstGeom prst="ellipse">
            <a:avLst/>
          </a:prstGeom>
          <a:solidFill>
            <a:srgbClr val="E85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479792" y="6510528"/>
            <a:ext cx="73152" cy="73152"/>
          </a:xfrm>
          <a:prstGeom prst="ellipse">
            <a:avLst/>
          </a:prstGeom>
          <a:solidFill>
            <a:srgbClr val="E85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644384" y="6510528"/>
            <a:ext cx="73152" cy="73152"/>
          </a:xfrm>
          <a:prstGeom prst="ellipse">
            <a:avLst/>
          </a:prstGeom>
          <a:solidFill>
            <a:srgbClr val="E85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808976" y="6510528"/>
            <a:ext cx="73152" cy="73152"/>
          </a:xfrm>
          <a:prstGeom prst="ellipse">
            <a:avLst/>
          </a:prstGeom>
          <a:solidFill>
            <a:srgbClr val="E85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973568" y="6510528"/>
            <a:ext cx="73152" cy="73152"/>
          </a:xfrm>
          <a:prstGeom prst="ellipse">
            <a:avLst/>
          </a:prstGeom>
          <a:solidFill>
            <a:srgbClr val="E85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138159" y="6510528"/>
            <a:ext cx="73152" cy="73152"/>
          </a:xfrm>
          <a:prstGeom prst="ellipse">
            <a:avLst/>
          </a:prstGeom>
          <a:solidFill>
            <a:srgbClr val="E85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302752" y="6510528"/>
            <a:ext cx="73152" cy="73152"/>
          </a:xfrm>
          <a:prstGeom prst="ellipse">
            <a:avLst/>
          </a:prstGeom>
          <a:solidFill>
            <a:srgbClr val="E85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467344" y="6510528"/>
            <a:ext cx="73152" cy="73152"/>
          </a:xfrm>
          <a:prstGeom prst="ellipse">
            <a:avLst/>
          </a:prstGeom>
          <a:solidFill>
            <a:srgbClr val="E85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631936" y="6510528"/>
            <a:ext cx="73152" cy="73152"/>
          </a:xfrm>
          <a:prstGeom prst="ellipse">
            <a:avLst/>
          </a:prstGeom>
          <a:solidFill>
            <a:srgbClr val="E85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796528" y="6510528"/>
            <a:ext cx="73152" cy="73152"/>
          </a:xfrm>
          <a:prstGeom prst="ellipse">
            <a:avLst/>
          </a:prstGeom>
          <a:solidFill>
            <a:srgbClr val="E85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961119" y="6510528"/>
            <a:ext cx="73152" cy="73152"/>
          </a:xfrm>
          <a:prstGeom prst="ellipse">
            <a:avLst/>
          </a:prstGeom>
          <a:solidFill>
            <a:srgbClr val="E85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9125712" y="6510528"/>
            <a:ext cx="73152" cy="73152"/>
          </a:xfrm>
          <a:prstGeom prst="ellipse">
            <a:avLst/>
          </a:prstGeom>
          <a:solidFill>
            <a:srgbClr val="E85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9290304" y="6510528"/>
            <a:ext cx="73152" cy="73152"/>
          </a:xfrm>
          <a:prstGeom prst="ellipse">
            <a:avLst/>
          </a:prstGeom>
          <a:solidFill>
            <a:srgbClr val="E85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9454896" y="6510528"/>
            <a:ext cx="73152" cy="73152"/>
          </a:xfrm>
          <a:prstGeom prst="ellipse">
            <a:avLst/>
          </a:prstGeom>
          <a:solidFill>
            <a:srgbClr val="E85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9619488" y="6510528"/>
            <a:ext cx="73152" cy="73152"/>
          </a:xfrm>
          <a:prstGeom prst="ellipse">
            <a:avLst/>
          </a:prstGeom>
          <a:solidFill>
            <a:srgbClr val="E85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9784079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9948672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0113264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0277856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0442448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0607039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771632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0936224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1100815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D31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D316F"/>
                </a:solidFill>
                <a:latin typeface="Calibri"/>
              </a:defRPr>
            </a:pPr>
            <a:r>
              <a:t>M365 Admin Center — For SPO Admins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1645920" cy="36576"/>
          </a:xfrm>
          <a:prstGeom prst="rect">
            <a:avLst/>
          </a:prstGeom>
          <a:solidFill>
            <a:srgbClr val="2D31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10698480" cy="822960"/>
          </a:xfrm>
          <a:prstGeom prst="roundRect">
            <a:avLst>
              <a:gd name="adj" fmla="val 3000"/>
            </a:avLst>
          </a:prstGeom>
          <a:solidFill>
            <a:srgbClr val="F0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188720"/>
            <a:ext cx="91440" cy="822960"/>
          </a:xfrm>
          <a:prstGeom prst="rect">
            <a:avLst/>
          </a:prstGeom>
          <a:solidFill>
            <a:srgbClr val="E85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2801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85D4A"/>
                </a:solidFill>
                <a:latin typeface="Calibri"/>
              </a:defRPr>
            </a:pPr>
            <a:r>
              <a:t>Service Health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62763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6B6B"/>
                </a:solidFill>
                <a:latin typeface="Segoe UI Semilight"/>
              </a:defRPr>
            </a:pPr>
            <a:r>
              <a:t>Is it you or the service? Check here FIRST.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148840"/>
            <a:ext cx="10698480" cy="822960"/>
          </a:xfrm>
          <a:prstGeom prst="roundRect">
            <a:avLst>
              <a:gd name="adj" fmla="val 3000"/>
            </a:avLst>
          </a:prstGeom>
          <a:solidFill>
            <a:srgbClr val="F0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148840"/>
            <a:ext cx="91440" cy="822960"/>
          </a:xfrm>
          <a:prstGeom prst="rect">
            <a:avLst/>
          </a:prstGeom>
          <a:solidFill>
            <a:srgbClr val="009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2402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9B8D"/>
                </a:solidFill>
                <a:latin typeface="Calibri"/>
              </a:defRPr>
            </a:pPr>
            <a:r>
              <a:t>Message Center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58775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6B6B"/>
                </a:solidFill>
                <a:latin typeface="Segoe UI Semilight"/>
              </a:defRPr>
            </a:pPr>
            <a:r>
              <a:t>Upcoming changes that may impact SharePoint governance.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108960"/>
            <a:ext cx="10698480" cy="822960"/>
          </a:xfrm>
          <a:prstGeom prst="roundRect">
            <a:avLst>
              <a:gd name="adj" fmla="val 3000"/>
            </a:avLst>
          </a:prstGeom>
          <a:solidFill>
            <a:srgbClr val="F0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108960"/>
            <a:ext cx="91440" cy="822960"/>
          </a:xfrm>
          <a:prstGeom prst="rect">
            <a:avLst/>
          </a:prstGeom>
          <a:solidFill>
            <a:srgbClr val="2D31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2004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D316F"/>
                </a:solidFill>
                <a:latin typeface="Calibri"/>
              </a:defRPr>
            </a:pPr>
            <a:r>
              <a:t>Roles &amp; Licenses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54787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6B6B"/>
                </a:solidFill>
                <a:latin typeface="Segoe UI Semilight"/>
              </a:defRPr>
            </a:pPr>
            <a:r>
              <a:t>Confirm admin roles and user licensing assignments.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069080"/>
            <a:ext cx="10698480" cy="822960"/>
          </a:xfrm>
          <a:prstGeom prst="roundRect">
            <a:avLst>
              <a:gd name="adj" fmla="val 3000"/>
            </a:avLst>
          </a:prstGeom>
          <a:solidFill>
            <a:srgbClr val="F0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4069080"/>
            <a:ext cx="91440" cy="822960"/>
          </a:xfrm>
          <a:prstGeom prst="rect">
            <a:avLst/>
          </a:prstGeom>
          <a:solidFill>
            <a:srgbClr val="E5A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4160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5A100"/>
                </a:solidFill>
                <a:latin typeface="Calibri"/>
              </a:defRPr>
            </a:pPr>
            <a:r>
              <a:t>Tenant Context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5079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6B6B"/>
                </a:solidFill>
                <a:latin typeface="Segoe UI Semilight"/>
              </a:defRPr>
            </a:pPr>
            <a:r>
              <a:t>Verify tenant name, domains, and subscription info.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029200"/>
            <a:ext cx="10698480" cy="777240"/>
          </a:xfrm>
          <a:prstGeom prst="roundRect">
            <a:avLst>
              <a:gd name="adj" fmla="val 3000"/>
            </a:avLst>
          </a:prstGeom>
          <a:solidFill>
            <a:srgbClr val="F0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5029200"/>
            <a:ext cx="91440" cy="777240"/>
          </a:xfrm>
          <a:prstGeom prst="rect">
            <a:avLst/>
          </a:prstGeom>
          <a:solidFill>
            <a:srgbClr val="009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50749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B8D"/>
                </a:solidFill>
                <a:latin typeface="Calibri"/>
              </a:defRPr>
            </a:pPr>
            <a:r>
              <a:t>Good Practice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537667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A2A2A"/>
                </a:solidFill>
                <a:latin typeface="Segoe UI Semilight"/>
              </a:defRPr>
            </a:pPr>
            <a:r>
              <a:t>1) Service health first  →  2) Message center next  →  3) Then investigate your config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6400800"/>
            <a:ext cx="11871655" cy="9144"/>
          </a:xfrm>
          <a:prstGeom prst="rect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6455664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6B6B"/>
                </a:solidFill>
                <a:latin typeface="Segoe UI"/>
              </a:defRPr>
            </a:pPr>
            <a:r>
              <a:t>Module 1  ·  Introduction to Microsoft 365 &amp; SharePoint Online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45775" y="645566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6B6B"/>
                </a:solidFill>
                <a:latin typeface="Segoe UI"/>
              </a:defRPr>
            </a:pPr>
            <a:r>
              <a:t>16 of 24</a:t>
            </a:r>
          </a:p>
        </p:txBody>
      </p:sp>
      <p:sp>
        <p:nvSpPr>
          <p:cNvPr id="28" name="Oval 27"/>
          <p:cNvSpPr/>
          <p:nvPr/>
        </p:nvSpPr>
        <p:spPr>
          <a:xfrm>
            <a:off x="7315200" y="6510528"/>
            <a:ext cx="73152" cy="73152"/>
          </a:xfrm>
          <a:prstGeom prst="ellipse">
            <a:avLst/>
          </a:prstGeom>
          <a:solidFill>
            <a:srgbClr val="2D31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479792" y="6510528"/>
            <a:ext cx="73152" cy="73152"/>
          </a:xfrm>
          <a:prstGeom prst="ellipse">
            <a:avLst/>
          </a:prstGeom>
          <a:solidFill>
            <a:srgbClr val="2D31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644384" y="6510528"/>
            <a:ext cx="73152" cy="73152"/>
          </a:xfrm>
          <a:prstGeom prst="ellipse">
            <a:avLst/>
          </a:prstGeom>
          <a:solidFill>
            <a:srgbClr val="2D31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808976" y="6510528"/>
            <a:ext cx="73152" cy="73152"/>
          </a:xfrm>
          <a:prstGeom prst="ellipse">
            <a:avLst/>
          </a:prstGeom>
          <a:solidFill>
            <a:srgbClr val="2D31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973568" y="6510528"/>
            <a:ext cx="73152" cy="73152"/>
          </a:xfrm>
          <a:prstGeom prst="ellipse">
            <a:avLst/>
          </a:prstGeom>
          <a:solidFill>
            <a:srgbClr val="2D31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138159" y="6510528"/>
            <a:ext cx="73152" cy="73152"/>
          </a:xfrm>
          <a:prstGeom prst="ellipse">
            <a:avLst/>
          </a:prstGeom>
          <a:solidFill>
            <a:srgbClr val="2D31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302752" y="6510528"/>
            <a:ext cx="73152" cy="73152"/>
          </a:xfrm>
          <a:prstGeom prst="ellipse">
            <a:avLst/>
          </a:prstGeom>
          <a:solidFill>
            <a:srgbClr val="2D31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467344" y="6510528"/>
            <a:ext cx="73152" cy="73152"/>
          </a:xfrm>
          <a:prstGeom prst="ellipse">
            <a:avLst/>
          </a:prstGeom>
          <a:solidFill>
            <a:srgbClr val="2D31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631936" y="6510528"/>
            <a:ext cx="73152" cy="73152"/>
          </a:xfrm>
          <a:prstGeom prst="ellipse">
            <a:avLst/>
          </a:prstGeom>
          <a:solidFill>
            <a:srgbClr val="2D31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796528" y="6510528"/>
            <a:ext cx="73152" cy="73152"/>
          </a:xfrm>
          <a:prstGeom prst="ellipse">
            <a:avLst/>
          </a:prstGeom>
          <a:solidFill>
            <a:srgbClr val="2D31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961119" y="6510528"/>
            <a:ext cx="73152" cy="73152"/>
          </a:xfrm>
          <a:prstGeom prst="ellipse">
            <a:avLst/>
          </a:prstGeom>
          <a:solidFill>
            <a:srgbClr val="2D31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125712" y="6510528"/>
            <a:ext cx="73152" cy="73152"/>
          </a:xfrm>
          <a:prstGeom prst="ellipse">
            <a:avLst/>
          </a:prstGeom>
          <a:solidFill>
            <a:srgbClr val="2D31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9290304" y="6510528"/>
            <a:ext cx="73152" cy="73152"/>
          </a:xfrm>
          <a:prstGeom prst="ellipse">
            <a:avLst/>
          </a:prstGeom>
          <a:solidFill>
            <a:srgbClr val="2D31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9454896" y="6510528"/>
            <a:ext cx="73152" cy="73152"/>
          </a:xfrm>
          <a:prstGeom prst="ellipse">
            <a:avLst/>
          </a:prstGeom>
          <a:solidFill>
            <a:srgbClr val="2D31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9619488" y="6510528"/>
            <a:ext cx="73152" cy="73152"/>
          </a:xfrm>
          <a:prstGeom prst="ellipse">
            <a:avLst/>
          </a:prstGeom>
          <a:solidFill>
            <a:srgbClr val="2D31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9784079" y="6510528"/>
            <a:ext cx="73152" cy="73152"/>
          </a:xfrm>
          <a:prstGeom prst="ellipse">
            <a:avLst/>
          </a:prstGeom>
          <a:solidFill>
            <a:srgbClr val="2D31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9948672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113264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0277856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0442448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0607039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0771632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936224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1100815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9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D316F"/>
                </a:solidFill>
                <a:latin typeface="Calibri"/>
              </a:defRPr>
            </a:pPr>
            <a:r>
              <a:t>SharePoint Admin Center (Modern)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1645920" cy="36576"/>
          </a:xfrm>
          <a:prstGeom prst="rect">
            <a:avLst/>
          </a:prstGeom>
          <a:solidFill>
            <a:srgbClr val="009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E85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26187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1887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A2A2A"/>
                </a:solidFill>
                <a:latin typeface="Calibri"/>
              </a:defRPr>
            </a:pPr>
            <a:r>
              <a:t>Sites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630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6B6B"/>
                </a:solidFill>
                <a:latin typeface="Segoe UI Semilight"/>
              </a:defRPr>
            </a:pPr>
            <a:r>
              <a:t>Create, view, manage all site collections at scale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920240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009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94767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874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A2A2A"/>
                </a:solidFill>
                <a:latin typeface="Calibri"/>
              </a:defRPr>
            </a:pPr>
            <a:r>
              <a:t>Sharing &amp; Access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1488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6B6B"/>
                </a:solidFill>
                <a:latin typeface="Segoe UI Semilight"/>
              </a:defRPr>
            </a:pPr>
            <a:r>
              <a:t>Tenant-wide sharing defaults, guest access, link types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606040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2D31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263347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560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A2A2A"/>
                </a:solidFill>
                <a:latin typeface="Calibri"/>
              </a:defRPr>
            </a:pPr>
            <a:r>
              <a:t>Storage &amp; Usage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28346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6B6B"/>
                </a:solidFill>
                <a:latin typeface="Segoe UI Semilight"/>
              </a:defRPr>
            </a:pPr>
            <a:r>
              <a:t>Monitor storage consumption, set quotas, view usage reports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291840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E5A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331927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2461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A2A2A"/>
                </a:solidFill>
                <a:latin typeface="Calibri"/>
              </a:defRPr>
            </a:pPr>
            <a:r>
              <a:t>Settings &amp; Config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5204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6B6B"/>
                </a:solidFill>
                <a:latin typeface="Segoe UI Semilight"/>
              </a:defRPr>
            </a:pPr>
            <a:r>
              <a:t>Default site creation, notifications, API access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977640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7C6E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400507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39319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A2A2A"/>
                </a:solidFill>
                <a:latin typeface="Calibri"/>
              </a:defRPr>
            </a:pPr>
            <a:r>
              <a:t>Content Services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206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6B6B"/>
                </a:solidFill>
                <a:latin typeface="Segoe UI Semilight"/>
              </a:defRPr>
            </a:pPr>
            <a:r>
              <a:t>Term store, content type hub, search schema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892040"/>
            <a:ext cx="11064240" cy="640080"/>
          </a:xfrm>
          <a:prstGeom prst="roundRect">
            <a:avLst>
              <a:gd name="adj" fmla="val 3000"/>
            </a:avLst>
          </a:prstGeom>
          <a:solidFill>
            <a:srgbClr val="F0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4892040"/>
            <a:ext cx="73152" cy="640080"/>
          </a:xfrm>
          <a:prstGeom prst="rect">
            <a:avLst/>
          </a:prstGeom>
          <a:solidFill>
            <a:srgbClr val="009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937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9B8D"/>
                </a:solidFill>
                <a:latin typeface="Segoe UI"/>
              </a:defRPr>
            </a:pPr>
            <a:r>
              <a:t>Navigation principle: Understand which settings are tenant-wide vs site-specific, and which are 'policy' vs 'operational configuration'.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6400800"/>
            <a:ext cx="11871655" cy="9144"/>
          </a:xfrm>
          <a:prstGeom prst="rect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6455664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6B6B"/>
                </a:solidFill>
                <a:latin typeface="Segoe UI"/>
              </a:defRPr>
            </a:pPr>
            <a:r>
              <a:t>Module 1  ·  Introduction to Microsoft 365 &amp; SharePoint Online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45775" y="645566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6B6B"/>
                </a:solidFill>
                <a:latin typeface="Segoe UI"/>
              </a:defRPr>
            </a:pPr>
            <a:r>
              <a:t>17 of 24</a:t>
            </a:r>
          </a:p>
        </p:txBody>
      </p:sp>
      <p:sp>
        <p:nvSpPr>
          <p:cNvPr id="31" name="Oval 30"/>
          <p:cNvSpPr/>
          <p:nvPr/>
        </p:nvSpPr>
        <p:spPr>
          <a:xfrm>
            <a:off x="7315200" y="6510528"/>
            <a:ext cx="73152" cy="73152"/>
          </a:xfrm>
          <a:prstGeom prst="ellipse">
            <a:avLst/>
          </a:prstGeom>
          <a:solidFill>
            <a:srgbClr val="009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479792" y="6510528"/>
            <a:ext cx="73152" cy="73152"/>
          </a:xfrm>
          <a:prstGeom prst="ellipse">
            <a:avLst/>
          </a:prstGeom>
          <a:solidFill>
            <a:srgbClr val="009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644384" y="6510528"/>
            <a:ext cx="73152" cy="73152"/>
          </a:xfrm>
          <a:prstGeom prst="ellipse">
            <a:avLst/>
          </a:prstGeom>
          <a:solidFill>
            <a:srgbClr val="009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808976" y="6510528"/>
            <a:ext cx="73152" cy="73152"/>
          </a:xfrm>
          <a:prstGeom prst="ellipse">
            <a:avLst/>
          </a:prstGeom>
          <a:solidFill>
            <a:srgbClr val="009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973568" y="6510528"/>
            <a:ext cx="73152" cy="73152"/>
          </a:xfrm>
          <a:prstGeom prst="ellipse">
            <a:avLst/>
          </a:prstGeom>
          <a:solidFill>
            <a:srgbClr val="009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138159" y="6510528"/>
            <a:ext cx="73152" cy="73152"/>
          </a:xfrm>
          <a:prstGeom prst="ellipse">
            <a:avLst/>
          </a:prstGeom>
          <a:solidFill>
            <a:srgbClr val="009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302752" y="6510528"/>
            <a:ext cx="73152" cy="73152"/>
          </a:xfrm>
          <a:prstGeom prst="ellipse">
            <a:avLst/>
          </a:prstGeom>
          <a:solidFill>
            <a:srgbClr val="009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467344" y="6510528"/>
            <a:ext cx="73152" cy="73152"/>
          </a:xfrm>
          <a:prstGeom prst="ellipse">
            <a:avLst/>
          </a:prstGeom>
          <a:solidFill>
            <a:srgbClr val="009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631936" y="6510528"/>
            <a:ext cx="73152" cy="73152"/>
          </a:xfrm>
          <a:prstGeom prst="ellipse">
            <a:avLst/>
          </a:prstGeom>
          <a:solidFill>
            <a:srgbClr val="009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796528" y="6510528"/>
            <a:ext cx="73152" cy="73152"/>
          </a:xfrm>
          <a:prstGeom prst="ellipse">
            <a:avLst/>
          </a:prstGeom>
          <a:solidFill>
            <a:srgbClr val="009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8961119" y="6510528"/>
            <a:ext cx="73152" cy="73152"/>
          </a:xfrm>
          <a:prstGeom prst="ellipse">
            <a:avLst/>
          </a:prstGeom>
          <a:solidFill>
            <a:srgbClr val="009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9125712" y="6510528"/>
            <a:ext cx="73152" cy="73152"/>
          </a:xfrm>
          <a:prstGeom prst="ellipse">
            <a:avLst/>
          </a:prstGeom>
          <a:solidFill>
            <a:srgbClr val="009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9290304" y="6510528"/>
            <a:ext cx="73152" cy="73152"/>
          </a:xfrm>
          <a:prstGeom prst="ellipse">
            <a:avLst/>
          </a:prstGeom>
          <a:solidFill>
            <a:srgbClr val="009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9454896" y="6510528"/>
            <a:ext cx="73152" cy="73152"/>
          </a:xfrm>
          <a:prstGeom prst="ellipse">
            <a:avLst/>
          </a:prstGeom>
          <a:solidFill>
            <a:srgbClr val="009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9619488" y="6510528"/>
            <a:ext cx="73152" cy="73152"/>
          </a:xfrm>
          <a:prstGeom prst="ellipse">
            <a:avLst/>
          </a:prstGeom>
          <a:solidFill>
            <a:srgbClr val="009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9784079" y="6510528"/>
            <a:ext cx="73152" cy="73152"/>
          </a:xfrm>
          <a:prstGeom prst="ellipse">
            <a:avLst/>
          </a:prstGeom>
          <a:solidFill>
            <a:srgbClr val="009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9948672" y="6510528"/>
            <a:ext cx="73152" cy="73152"/>
          </a:xfrm>
          <a:prstGeom prst="ellipse">
            <a:avLst/>
          </a:prstGeom>
          <a:solidFill>
            <a:srgbClr val="009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0113264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0277856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442448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0607039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0771632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0936224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1100815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C6EB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3291840"/>
            <a:ext cx="274320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352044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SPO vs SharePoint</a:t>
            </a:r>
            <a:br/>
            <a:r>
              <a:t>Server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6634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0"/>
                </a:solidFill>
                <a:latin typeface="Segoe UI Semilight"/>
              </a:defRPr>
            </a:pPr>
            <a:r>
              <a:t>A conceptual comparison for modern admins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05695" y="457200"/>
            <a:ext cx="1828800" cy="411480"/>
          </a:xfrm>
          <a:prstGeom prst="roundRect">
            <a:avLst>
              <a:gd name="adj" fmla="val 50000"/>
            </a:avLst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51415" y="484632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MODULE 1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6400800"/>
            <a:ext cx="11871655" cy="9144"/>
          </a:xfrm>
          <a:prstGeom prst="rect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55664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6B6B"/>
                </a:solidFill>
                <a:latin typeface="Segoe UI"/>
              </a:defRPr>
            </a:pPr>
            <a:r>
              <a:t>Module 1  ·  Introduction to Microsoft 365 &amp; SharePoint Online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45775" y="645566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6B6B"/>
                </a:solidFill>
                <a:latin typeface="Segoe UI"/>
              </a:defRPr>
            </a:pPr>
            <a:r>
              <a:t>18 of 24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0" y="6510528"/>
            <a:ext cx="73152" cy="73152"/>
          </a:xfrm>
          <a:prstGeom prst="ellipse">
            <a:avLst/>
          </a:prstGeom>
          <a:solidFill>
            <a:srgbClr val="7C6E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479792" y="6510528"/>
            <a:ext cx="73152" cy="73152"/>
          </a:xfrm>
          <a:prstGeom prst="ellipse">
            <a:avLst/>
          </a:prstGeom>
          <a:solidFill>
            <a:srgbClr val="7C6E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644384" y="6510528"/>
            <a:ext cx="73152" cy="73152"/>
          </a:xfrm>
          <a:prstGeom prst="ellipse">
            <a:avLst/>
          </a:prstGeom>
          <a:solidFill>
            <a:srgbClr val="7C6E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808976" y="6510528"/>
            <a:ext cx="73152" cy="73152"/>
          </a:xfrm>
          <a:prstGeom prst="ellipse">
            <a:avLst/>
          </a:prstGeom>
          <a:solidFill>
            <a:srgbClr val="7C6E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973568" y="6510528"/>
            <a:ext cx="73152" cy="73152"/>
          </a:xfrm>
          <a:prstGeom prst="ellipse">
            <a:avLst/>
          </a:prstGeom>
          <a:solidFill>
            <a:srgbClr val="7C6E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138159" y="6510528"/>
            <a:ext cx="73152" cy="73152"/>
          </a:xfrm>
          <a:prstGeom prst="ellipse">
            <a:avLst/>
          </a:prstGeom>
          <a:solidFill>
            <a:srgbClr val="7C6E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02752" y="6510528"/>
            <a:ext cx="73152" cy="73152"/>
          </a:xfrm>
          <a:prstGeom prst="ellipse">
            <a:avLst/>
          </a:prstGeom>
          <a:solidFill>
            <a:srgbClr val="7C6E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467344" y="6510528"/>
            <a:ext cx="73152" cy="73152"/>
          </a:xfrm>
          <a:prstGeom prst="ellipse">
            <a:avLst/>
          </a:prstGeom>
          <a:solidFill>
            <a:srgbClr val="7C6E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31936" y="6510528"/>
            <a:ext cx="73152" cy="73152"/>
          </a:xfrm>
          <a:prstGeom prst="ellipse">
            <a:avLst/>
          </a:prstGeom>
          <a:solidFill>
            <a:srgbClr val="7C6E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796528" y="6510528"/>
            <a:ext cx="73152" cy="73152"/>
          </a:xfrm>
          <a:prstGeom prst="ellipse">
            <a:avLst/>
          </a:prstGeom>
          <a:solidFill>
            <a:srgbClr val="7C6E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961119" y="6510528"/>
            <a:ext cx="73152" cy="73152"/>
          </a:xfrm>
          <a:prstGeom prst="ellipse">
            <a:avLst/>
          </a:prstGeom>
          <a:solidFill>
            <a:srgbClr val="7C6E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125712" y="6510528"/>
            <a:ext cx="73152" cy="73152"/>
          </a:xfrm>
          <a:prstGeom prst="ellipse">
            <a:avLst/>
          </a:prstGeom>
          <a:solidFill>
            <a:srgbClr val="7C6E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290304" y="6510528"/>
            <a:ext cx="73152" cy="73152"/>
          </a:xfrm>
          <a:prstGeom prst="ellipse">
            <a:avLst/>
          </a:prstGeom>
          <a:solidFill>
            <a:srgbClr val="7C6E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54896" y="6510528"/>
            <a:ext cx="73152" cy="73152"/>
          </a:xfrm>
          <a:prstGeom prst="ellipse">
            <a:avLst/>
          </a:prstGeom>
          <a:solidFill>
            <a:srgbClr val="7C6E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619488" y="6510528"/>
            <a:ext cx="73152" cy="73152"/>
          </a:xfrm>
          <a:prstGeom prst="ellipse">
            <a:avLst/>
          </a:prstGeom>
          <a:solidFill>
            <a:srgbClr val="7C6E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784079" y="6510528"/>
            <a:ext cx="73152" cy="73152"/>
          </a:xfrm>
          <a:prstGeom prst="ellipse">
            <a:avLst/>
          </a:prstGeom>
          <a:solidFill>
            <a:srgbClr val="7C6E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948672" y="6510528"/>
            <a:ext cx="73152" cy="73152"/>
          </a:xfrm>
          <a:prstGeom prst="ellipse">
            <a:avLst/>
          </a:prstGeom>
          <a:solidFill>
            <a:srgbClr val="7C6E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113264" y="6510528"/>
            <a:ext cx="73152" cy="73152"/>
          </a:xfrm>
          <a:prstGeom prst="ellipse">
            <a:avLst/>
          </a:prstGeom>
          <a:solidFill>
            <a:srgbClr val="7C6E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277856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442448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607039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771632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936224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1100815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7C6E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D316F"/>
                </a:solidFill>
                <a:latin typeface="Calibri"/>
              </a:defRPr>
            </a:pPr>
            <a:r>
              <a:t>SharePoint Online vs SharePoint Server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1645920" cy="36576"/>
          </a:xfrm>
          <a:prstGeom prst="rect">
            <a:avLst/>
          </a:prstGeom>
          <a:solidFill>
            <a:srgbClr val="7C6E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188720"/>
          <a:ext cx="109728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4206240"/>
                <a:gridCol w="4206240"/>
              </a:tblGrid>
              <a:tr h="694944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Dimension</a:t>
                      </a:r>
                    </a:p>
                  </a:txBody>
                  <a:tcPr>
                    <a:solidFill>
                      <a:srgbClr val="7C6E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SharePoint Online</a:t>
                      </a:r>
                    </a:p>
                  </a:txBody>
                  <a:tcPr>
                    <a:solidFill>
                      <a:srgbClr val="7C6E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SharePoint Server</a:t>
                      </a:r>
                    </a:p>
                  </a:txBody>
                  <a:tcPr>
                    <a:solidFill>
                      <a:srgbClr val="7C6EB0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A2A2A"/>
                          </a:solidFill>
                          <a:latin typeface="Segoe UI Semilight"/>
                        </a:defRPr>
                      </a:pPr>
                      <a:r>
                        <a:t>Deployment</a:t>
                      </a:r>
                    </a:p>
                  </a:txBody>
                  <a:tcPr>
                    <a:solidFill>
                      <a:srgbClr val="F0ED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A2A2A"/>
                          </a:solidFill>
                          <a:latin typeface="Segoe UI Semilight"/>
                        </a:defRPr>
                      </a:pPr>
                      <a:r>
                        <a:t>Microsoft operates the service;</a:t>
                      </a:r>
                    </a:p>
                    <a:p>
                      <a:pPr>
                        <a:defRPr sz="1200">
                          <a:solidFill>
                            <a:srgbClr val="2A2A2A"/>
                          </a:solidFill>
                          <a:latin typeface="Segoe UI Semilight"/>
                        </a:defRPr>
                      </a:pPr>
                      <a:r>
                        <a:t>you control config &amp; governance</a:t>
                      </a:r>
                    </a:p>
                  </a:txBody>
                  <a:tcPr>
                    <a:solidFill>
                      <a:srgbClr val="F0ED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A2A2A"/>
                          </a:solidFill>
                          <a:latin typeface="Segoe UI Semilight"/>
                        </a:defRPr>
                      </a:pPr>
                      <a:r>
                        <a:t>Your infrastructure, patching,</a:t>
                      </a:r>
                    </a:p>
                    <a:p>
                      <a:pPr>
                        <a:defRPr sz="1200">
                          <a:solidFill>
                            <a:srgbClr val="2A2A2A"/>
                          </a:solidFill>
                          <a:latin typeface="Segoe UI Semilight"/>
                        </a:defRPr>
                      </a:pPr>
                      <a:r>
                        <a:t>upgrades, capacity planning</a:t>
                      </a:r>
                    </a:p>
                  </a:txBody>
                  <a:tcPr>
                    <a:solidFill>
                      <a:srgbClr val="F0EDE8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A2A2A"/>
                          </a:solidFill>
                          <a:latin typeface="Segoe UI Semilight"/>
                        </a:defRPr>
                      </a:pPr>
                      <a:r>
                        <a:t>Change Cadence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A2A2A"/>
                          </a:solidFill>
                          <a:latin typeface="Segoe UI Semilight"/>
                        </a:defRPr>
                      </a:pPr>
                      <a:r>
                        <a:t>Continuous service updates;</a:t>
                      </a:r>
                    </a:p>
                    <a:p>
                      <a:pPr>
                        <a:defRPr sz="1200">
                          <a:solidFill>
                            <a:srgbClr val="2A2A2A"/>
                          </a:solidFill>
                          <a:latin typeface="Segoe UI Semilight"/>
                        </a:defRPr>
                      </a:pPr>
                      <a:r>
                        <a:t>focus on governance &amp; adoption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A2A2A"/>
                          </a:solidFill>
                          <a:latin typeface="Segoe UI Semilight"/>
                        </a:defRPr>
                      </a:pPr>
                      <a:r>
                        <a:t>Changes follow your maintenance</a:t>
                      </a:r>
                    </a:p>
                    <a:p>
                      <a:pPr>
                        <a:defRPr sz="1200">
                          <a:solidFill>
                            <a:srgbClr val="2A2A2A"/>
                          </a:solidFill>
                          <a:latin typeface="Segoe UI Semilight"/>
                        </a:defRPr>
                      </a:pPr>
                      <a:r>
                        <a:t>and upgrade schedule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A2A2A"/>
                          </a:solidFill>
                          <a:latin typeface="Segoe UI Semilight"/>
                        </a:defRPr>
                      </a:pPr>
                      <a:r>
                        <a:t>Integration</a:t>
                      </a:r>
                    </a:p>
                  </a:txBody>
                  <a:tcPr>
                    <a:solidFill>
                      <a:srgbClr val="F0ED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A2A2A"/>
                          </a:solidFill>
                          <a:latin typeface="Segoe UI Semilight"/>
                        </a:defRPr>
                      </a:pPr>
                      <a:r>
                        <a:t>Designed for M365 integration</a:t>
                      </a:r>
                    </a:p>
                    <a:p>
                      <a:pPr>
                        <a:defRPr sz="1200">
                          <a:solidFill>
                            <a:srgbClr val="2A2A2A"/>
                          </a:solidFill>
                          <a:latin typeface="Segoe UI Semilight"/>
                        </a:defRPr>
                      </a:pPr>
                      <a:r>
                        <a:t>(Entra ID, Purview, Teams, Graph)</a:t>
                      </a:r>
                    </a:p>
                  </a:txBody>
                  <a:tcPr>
                    <a:solidFill>
                      <a:srgbClr val="F0ED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A2A2A"/>
                          </a:solidFill>
                          <a:latin typeface="Segoe UI Semilight"/>
                        </a:defRPr>
                      </a:pPr>
                      <a:r>
                        <a:t>Often requires custom design</a:t>
                      </a:r>
                    </a:p>
                    <a:p>
                      <a:pPr>
                        <a:defRPr sz="1200">
                          <a:solidFill>
                            <a:srgbClr val="2A2A2A"/>
                          </a:solidFill>
                          <a:latin typeface="Segoe UI Semilight"/>
                        </a:defRPr>
                      </a:pPr>
                      <a:r>
                        <a:t>and on-prem dependencies</a:t>
                      </a:r>
                    </a:p>
                  </a:txBody>
                  <a:tcPr>
                    <a:solidFill>
                      <a:srgbClr val="F0EDE8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A2A2A"/>
                          </a:solidFill>
                          <a:latin typeface="Segoe UI Semilight"/>
                        </a:defRPr>
                      </a:pPr>
                      <a:r>
                        <a:t>Customization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A2A2A"/>
                          </a:solidFill>
                          <a:latin typeface="Segoe UI Semilight"/>
                        </a:defRPr>
                      </a:pPr>
                      <a:r>
                        <a:t>Client-side solutions, SPFx,</a:t>
                      </a:r>
                    </a:p>
                    <a:p>
                      <a:pPr>
                        <a:defRPr sz="1200">
                          <a:solidFill>
                            <a:srgbClr val="2A2A2A"/>
                          </a:solidFill>
                          <a:latin typeface="Segoe UI Semilight"/>
                        </a:defRPr>
                      </a:pPr>
                      <a:r>
                        <a:t>API-based (Graph/REST)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A2A2A"/>
                          </a:solidFill>
                          <a:latin typeface="Segoe UI Semilight"/>
                        </a:defRPr>
                      </a:pPr>
                      <a:r>
                        <a:t>Farm solutions, server-side</a:t>
                      </a:r>
                    </a:p>
                    <a:p>
                      <a:pPr>
                        <a:defRPr sz="1200">
                          <a:solidFill>
                            <a:srgbClr val="2A2A2A"/>
                          </a:solidFill>
                          <a:latin typeface="Segoe UI Semilight"/>
                        </a:defRPr>
                      </a:pPr>
                      <a:r>
                        <a:t>customization patterns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5029200"/>
            <a:ext cx="11064240" cy="502920"/>
          </a:xfrm>
          <a:prstGeom prst="roundRect">
            <a:avLst>
              <a:gd name="adj" fmla="val 3000"/>
            </a:avLst>
          </a:prstGeom>
          <a:solidFill>
            <a:srgbClr val="F0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5029200"/>
            <a:ext cx="73152" cy="502920"/>
          </a:xfrm>
          <a:prstGeom prst="rect">
            <a:avLst/>
          </a:prstGeom>
          <a:solidFill>
            <a:srgbClr val="7C6E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507492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C6EB0"/>
                </a:solidFill>
                <a:latin typeface="Segoe UI"/>
              </a:defRPr>
            </a:pPr>
            <a:r>
              <a:t>Admin Takeaway:  SPO administration = policy + governance + lifecycle + integration (not server ops)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6400800"/>
            <a:ext cx="11871655" cy="9144"/>
          </a:xfrm>
          <a:prstGeom prst="rect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455664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6B6B"/>
                </a:solidFill>
                <a:latin typeface="Segoe UI"/>
              </a:defRPr>
            </a:pPr>
            <a:r>
              <a:t>Module 1  ·  Introduction to Microsoft 365 &amp; SharePoint Online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45775" y="645566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6B6B"/>
                </a:solidFill>
                <a:latin typeface="Segoe UI"/>
              </a:defRPr>
            </a:pPr>
            <a:r>
              <a:t>19 of 24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0" y="6510528"/>
            <a:ext cx="73152" cy="73152"/>
          </a:xfrm>
          <a:prstGeom prst="ellipse">
            <a:avLst/>
          </a:prstGeom>
          <a:solidFill>
            <a:srgbClr val="7C6E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479792" y="6510528"/>
            <a:ext cx="73152" cy="73152"/>
          </a:xfrm>
          <a:prstGeom prst="ellipse">
            <a:avLst/>
          </a:prstGeom>
          <a:solidFill>
            <a:srgbClr val="7C6E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644384" y="6510528"/>
            <a:ext cx="73152" cy="73152"/>
          </a:xfrm>
          <a:prstGeom prst="ellipse">
            <a:avLst/>
          </a:prstGeom>
          <a:solidFill>
            <a:srgbClr val="7C6E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808976" y="6510528"/>
            <a:ext cx="73152" cy="73152"/>
          </a:xfrm>
          <a:prstGeom prst="ellipse">
            <a:avLst/>
          </a:prstGeom>
          <a:solidFill>
            <a:srgbClr val="7C6E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973568" y="6510528"/>
            <a:ext cx="73152" cy="73152"/>
          </a:xfrm>
          <a:prstGeom prst="ellipse">
            <a:avLst/>
          </a:prstGeom>
          <a:solidFill>
            <a:srgbClr val="7C6E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138159" y="6510528"/>
            <a:ext cx="73152" cy="73152"/>
          </a:xfrm>
          <a:prstGeom prst="ellipse">
            <a:avLst/>
          </a:prstGeom>
          <a:solidFill>
            <a:srgbClr val="7C6E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302752" y="6510528"/>
            <a:ext cx="73152" cy="73152"/>
          </a:xfrm>
          <a:prstGeom prst="ellipse">
            <a:avLst/>
          </a:prstGeom>
          <a:solidFill>
            <a:srgbClr val="7C6E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67344" y="6510528"/>
            <a:ext cx="73152" cy="73152"/>
          </a:xfrm>
          <a:prstGeom prst="ellipse">
            <a:avLst/>
          </a:prstGeom>
          <a:solidFill>
            <a:srgbClr val="7C6E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631936" y="6510528"/>
            <a:ext cx="73152" cy="73152"/>
          </a:xfrm>
          <a:prstGeom prst="ellipse">
            <a:avLst/>
          </a:prstGeom>
          <a:solidFill>
            <a:srgbClr val="7C6E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796528" y="6510528"/>
            <a:ext cx="73152" cy="73152"/>
          </a:xfrm>
          <a:prstGeom prst="ellipse">
            <a:avLst/>
          </a:prstGeom>
          <a:solidFill>
            <a:srgbClr val="7C6E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961119" y="6510528"/>
            <a:ext cx="73152" cy="73152"/>
          </a:xfrm>
          <a:prstGeom prst="ellipse">
            <a:avLst/>
          </a:prstGeom>
          <a:solidFill>
            <a:srgbClr val="7C6E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25712" y="6510528"/>
            <a:ext cx="73152" cy="73152"/>
          </a:xfrm>
          <a:prstGeom prst="ellipse">
            <a:avLst/>
          </a:prstGeom>
          <a:solidFill>
            <a:srgbClr val="7C6E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290304" y="6510528"/>
            <a:ext cx="73152" cy="73152"/>
          </a:xfrm>
          <a:prstGeom prst="ellipse">
            <a:avLst/>
          </a:prstGeom>
          <a:solidFill>
            <a:srgbClr val="7C6E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454896" y="6510528"/>
            <a:ext cx="73152" cy="73152"/>
          </a:xfrm>
          <a:prstGeom prst="ellipse">
            <a:avLst/>
          </a:prstGeom>
          <a:solidFill>
            <a:srgbClr val="7C6E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619488" y="6510528"/>
            <a:ext cx="73152" cy="73152"/>
          </a:xfrm>
          <a:prstGeom prst="ellipse">
            <a:avLst/>
          </a:prstGeom>
          <a:solidFill>
            <a:srgbClr val="7C6E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784079" y="6510528"/>
            <a:ext cx="73152" cy="73152"/>
          </a:xfrm>
          <a:prstGeom prst="ellipse">
            <a:avLst/>
          </a:prstGeom>
          <a:solidFill>
            <a:srgbClr val="7C6E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948672" y="6510528"/>
            <a:ext cx="73152" cy="73152"/>
          </a:xfrm>
          <a:prstGeom prst="ellipse">
            <a:avLst/>
          </a:prstGeom>
          <a:solidFill>
            <a:srgbClr val="7C6E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13264" y="6510528"/>
            <a:ext cx="73152" cy="73152"/>
          </a:xfrm>
          <a:prstGeom prst="ellipse">
            <a:avLst/>
          </a:prstGeom>
          <a:solidFill>
            <a:srgbClr val="7C6E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277856" y="6510528"/>
            <a:ext cx="73152" cy="73152"/>
          </a:xfrm>
          <a:prstGeom prst="ellipse">
            <a:avLst/>
          </a:prstGeom>
          <a:solidFill>
            <a:srgbClr val="7C6E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442448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607039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771632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936224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1100815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316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3291840"/>
            <a:ext cx="274320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352044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Service Limits</a:t>
            </a:r>
            <a:br/>
            <a:r>
              <a:t>&amp; Boundaries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6634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0"/>
                </a:solidFill>
                <a:latin typeface="Segoe UI Semilight"/>
              </a:defRPr>
            </a:pPr>
            <a:r>
              <a:t>How to approach platform constraints safely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05695" y="457200"/>
            <a:ext cx="1828800" cy="411480"/>
          </a:xfrm>
          <a:prstGeom prst="roundRect">
            <a:avLst>
              <a:gd name="adj" fmla="val 50000"/>
            </a:avLst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51415" y="484632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MODULE 1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6400800"/>
            <a:ext cx="11871655" cy="9144"/>
          </a:xfrm>
          <a:prstGeom prst="rect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55664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6B6B"/>
                </a:solidFill>
                <a:latin typeface="Segoe UI"/>
              </a:defRPr>
            </a:pPr>
            <a:r>
              <a:t>Module 1  ·  Introduction to Microsoft 365 &amp; SharePoint Online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45775" y="645566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6B6B"/>
                </a:solidFill>
                <a:latin typeface="Segoe UI"/>
              </a:defRPr>
            </a:pPr>
            <a:r>
              <a:t>20 of 24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0" y="6510528"/>
            <a:ext cx="73152" cy="73152"/>
          </a:xfrm>
          <a:prstGeom prst="ellipse">
            <a:avLst/>
          </a:prstGeom>
          <a:solidFill>
            <a:srgbClr val="2D31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479792" y="6510528"/>
            <a:ext cx="73152" cy="73152"/>
          </a:xfrm>
          <a:prstGeom prst="ellipse">
            <a:avLst/>
          </a:prstGeom>
          <a:solidFill>
            <a:srgbClr val="2D31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644384" y="6510528"/>
            <a:ext cx="73152" cy="73152"/>
          </a:xfrm>
          <a:prstGeom prst="ellipse">
            <a:avLst/>
          </a:prstGeom>
          <a:solidFill>
            <a:srgbClr val="2D31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808976" y="6510528"/>
            <a:ext cx="73152" cy="73152"/>
          </a:xfrm>
          <a:prstGeom prst="ellipse">
            <a:avLst/>
          </a:prstGeom>
          <a:solidFill>
            <a:srgbClr val="2D31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973568" y="6510528"/>
            <a:ext cx="73152" cy="73152"/>
          </a:xfrm>
          <a:prstGeom prst="ellipse">
            <a:avLst/>
          </a:prstGeom>
          <a:solidFill>
            <a:srgbClr val="2D31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138159" y="6510528"/>
            <a:ext cx="73152" cy="73152"/>
          </a:xfrm>
          <a:prstGeom prst="ellipse">
            <a:avLst/>
          </a:prstGeom>
          <a:solidFill>
            <a:srgbClr val="2D31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02752" y="6510528"/>
            <a:ext cx="73152" cy="73152"/>
          </a:xfrm>
          <a:prstGeom prst="ellipse">
            <a:avLst/>
          </a:prstGeom>
          <a:solidFill>
            <a:srgbClr val="2D31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467344" y="6510528"/>
            <a:ext cx="73152" cy="73152"/>
          </a:xfrm>
          <a:prstGeom prst="ellipse">
            <a:avLst/>
          </a:prstGeom>
          <a:solidFill>
            <a:srgbClr val="2D31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31936" y="6510528"/>
            <a:ext cx="73152" cy="73152"/>
          </a:xfrm>
          <a:prstGeom prst="ellipse">
            <a:avLst/>
          </a:prstGeom>
          <a:solidFill>
            <a:srgbClr val="2D31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796528" y="6510528"/>
            <a:ext cx="73152" cy="73152"/>
          </a:xfrm>
          <a:prstGeom prst="ellipse">
            <a:avLst/>
          </a:prstGeom>
          <a:solidFill>
            <a:srgbClr val="2D31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961119" y="6510528"/>
            <a:ext cx="73152" cy="73152"/>
          </a:xfrm>
          <a:prstGeom prst="ellipse">
            <a:avLst/>
          </a:prstGeom>
          <a:solidFill>
            <a:srgbClr val="2D31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125712" y="6510528"/>
            <a:ext cx="73152" cy="73152"/>
          </a:xfrm>
          <a:prstGeom prst="ellipse">
            <a:avLst/>
          </a:prstGeom>
          <a:solidFill>
            <a:srgbClr val="2D31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290304" y="6510528"/>
            <a:ext cx="73152" cy="73152"/>
          </a:xfrm>
          <a:prstGeom prst="ellipse">
            <a:avLst/>
          </a:prstGeom>
          <a:solidFill>
            <a:srgbClr val="2D31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54896" y="6510528"/>
            <a:ext cx="73152" cy="73152"/>
          </a:xfrm>
          <a:prstGeom prst="ellipse">
            <a:avLst/>
          </a:prstGeom>
          <a:solidFill>
            <a:srgbClr val="2D31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619488" y="6510528"/>
            <a:ext cx="73152" cy="73152"/>
          </a:xfrm>
          <a:prstGeom prst="ellipse">
            <a:avLst/>
          </a:prstGeom>
          <a:solidFill>
            <a:srgbClr val="2D31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784079" y="6510528"/>
            <a:ext cx="73152" cy="73152"/>
          </a:xfrm>
          <a:prstGeom prst="ellipse">
            <a:avLst/>
          </a:prstGeom>
          <a:solidFill>
            <a:srgbClr val="2D31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948672" y="6510528"/>
            <a:ext cx="73152" cy="73152"/>
          </a:xfrm>
          <a:prstGeom prst="ellipse">
            <a:avLst/>
          </a:prstGeom>
          <a:solidFill>
            <a:srgbClr val="2D31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113264" y="6510528"/>
            <a:ext cx="73152" cy="73152"/>
          </a:xfrm>
          <a:prstGeom prst="ellipse">
            <a:avLst/>
          </a:prstGeom>
          <a:solidFill>
            <a:srgbClr val="2D31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277856" y="6510528"/>
            <a:ext cx="73152" cy="73152"/>
          </a:xfrm>
          <a:prstGeom prst="ellipse">
            <a:avLst/>
          </a:prstGeom>
          <a:solidFill>
            <a:srgbClr val="2D31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442448" y="6510528"/>
            <a:ext cx="73152" cy="73152"/>
          </a:xfrm>
          <a:prstGeom prst="ellipse">
            <a:avLst/>
          </a:prstGeom>
          <a:solidFill>
            <a:srgbClr val="2D31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607039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771632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936224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1100815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D31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D316F"/>
                </a:solidFill>
                <a:latin typeface="Calibri"/>
              </a:defRPr>
            </a:pPr>
            <a:r>
              <a:t>Service Limits, Quotas &amp; Boundaries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1645920" cy="36576"/>
          </a:xfrm>
          <a:prstGeom prst="rect">
            <a:avLst/>
          </a:prstGeom>
          <a:solidFill>
            <a:srgbClr val="E85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3566160" cy="1097280"/>
          </a:xfrm>
          <a:prstGeom prst="roundRect">
            <a:avLst>
              <a:gd name="adj" fmla="val 3000"/>
            </a:avLst>
          </a:prstGeom>
          <a:solidFill>
            <a:srgbClr val="F0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188720"/>
            <a:ext cx="3566160" cy="54864"/>
          </a:xfrm>
          <a:prstGeom prst="rect">
            <a:avLst/>
          </a:prstGeom>
          <a:solidFill>
            <a:srgbClr val="E85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85D4A"/>
                </a:solidFill>
                <a:latin typeface="Calibri"/>
              </a:defRPr>
            </a:pPr>
            <a:r>
              <a:t>Limits / Boundaries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737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B6B"/>
                </a:solidFill>
                <a:latin typeface="Segoe UI Semilight"/>
              </a:defRPr>
            </a:pPr>
            <a:r>
              <a:t>Hard platform constraints — what the service CAN support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188720"/>
            <a:ext cx="3566160" cy="1097280"/>
          </a:xfrm>
          <a:prstGeom prst="roundRect">
            <a:avLst>
              <a:gd name="adj" fmla="val 3000"/>
            </a:avLst>
          </a:prstGeom>
          <a:solidFill>
            <a:srgbClr val="F0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188720"/>
            <a:ext cx="3566160" cy="54864"/>
          </a:xfrm>
          <a:prstGeom prst="rect">
            <a:avLst/>
          </a:prstGeom>
          <a:solidFill>
            <a:srgbClr val="009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4173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B8D"/>
                </a:solidFill>
                <a:latin typeface="Calibri"/>
              </a:defRPr>
            </a:pPr>
            <a:r>
              <a:t>Quotas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1737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B6B"/>
                </a:solidFill>
                <a:latin typeface="Segoe UI Semilight"/>
              </a:defRPr>
            </a:pPr>
            <a:r>
              <a:t>Configurable allocations (e.g., storage per site)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188720"/>
            <a:ext cx="3566160" cy="1097280"/>
          </a:xfrm>
          <a:prstGeom prst="roundRect">
            <a:avLst>
              <a:gd name="adj" fmla="val 3000"/>
            </a:avLst>
          </a:prstGeom>
          <a:solidFill>
            <a:srgbClr val="F0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188720"/>
            <a:ext cx="3566160" cy="54864"/>
          </a:xfrm>
          <a:prstGeom prst="rect">
            <a:avLst/>
          </a:prstGeom>
          <a:solidFill>
            <a:srgbClr val="E5A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4173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5A100"/>
                </a:solidFill>
                <a:latin typeface="Calibri"/>
              </a:defRPr>
            </a:pPr>
            <a:r>
              <a:t>Recommendations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1737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B6B"/>
                </a:solidFill>
                <a:latin typeface="Segoe UI Semilight"/>
              </a:defRPr>
            </a:pPr>
            <a:r>
              <a:t>Guidance for performance and manageability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25603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A2A2A"/>
                </a:solidFill>
                <a:latin typeface="Calibri"/>
              </a:defRPr>
            </a:pPr>
            <a:r>
              <a:t>Key Numbers (verify in docs — these change):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081528"/>
            <a:ext cx="182880" cy="182880"/>
          </a:xfrm>
          <a:prstGeom prst="rect">
            <a:avLst/>
          </a:prstGeom>
          <a:solidFill>
            <a:srgbClr val="2D31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3017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A2A2A"/>
                </a:solidFill>
                <a:latin typeface="Segoe UI Semilight"/>
              </a:defRPr>
            </a:pPr>
            <a:r>
              <a:t>Max 25 TB per site collection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3584448"/>
            <a:ext cx="182880" cy="182880"/>
          </a:xfrm>
          <a:prstGeom prst="rect">
            <a:avLst/>
          </a:prstGeom>
          <a:solidFill>
            <a:srgbClr val="2D31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35204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A2A2A"/>
                </a:solidFill>
                <a:latin typeface="Segoe UI Semilight"/>
              </a:defRPr>
            </a:pPr>
            <a:r>
              <a:t>Up to 2 million sites per organization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4087368"/>
            <a:ext cx="182880" cy="182880"/>
          </a:xfrm>
          <a:prstGeom prst="rect">
            <a:avLst/>
          </a:prstGeom>
          <a:solidFill>
            <a:srgbClr val="2D31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4023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A2A2A"/>
                </a:solidFill>
                <a:latin typeface="Segoe UI Semilight"/>
              </a:defRPr>
            </a:pPr>
            <a:r>
              <a:t>30 million items per list/library (but 5,000 list view threshold)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4590288"/>
            <a:ext cx="182880" cy="182880"/>
          </a:xfrm>
          <a:prstGeom prst="rect">
            <a:avLst/>
          </a:prstGeom>
          <a:solidFill>
            <a:srgbClr val="2D31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4526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A2A2A"/>
                </a:solidFill>
                <a:latin typeface="Segoe UI Semilight"/>
              </a:defRPr>
            </a:pPr>
            <a:r>
              <a:t>Tenant storage = 1 TB + 10 GB per licensed user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212080"/>
            <a:ext cx="11064240" cy="502920"/>
          </a:xfrm>
          <a:prstGeom prst="roundRect">
            <a:avLst>
              <a:gd name="adj" fmla="val 3000"/>
            </a:avLst>
          </a:prstGeom>
          <a:solidFill>
            <a:srgbClr val="F0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5212080"/>
            <a:ext cx="73152" cy="502920"/>
          </a:xfrm>
          <a:prstGeom prst="rect">
            <a:avLst/>
          </a:prstGeom>
          <a:solidFill>
            <a:srgbClr val="009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52578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B8D"/>
                </a:solidFill>
                <a:latin typeface="Segoe UI"/>
              </a:defRPr>
            </a:pPr>
            <a:r>
              <a:t>Safe approach:  Don't memorize  →  Verify in Microsoft Learn  →  Document scenario-specific limits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6400800"/>
            <a:ext cx="11871655" cy="9144"/>
          </a:xfrm>
          <a:prstGeom prst="rect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6455664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6B6B"/>
                </a:solidFill>
                <a:latin typeface="Segoe UI"/>
              </a:defRPr>
            </a:pPr>
            <a:r>
              <a:t>Module 1  ·  Introduction to Microsoft 365 &amp; SharePoint Online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45775" y="645566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6B6B"/>
                </a:solidFill>
                <a:latin typeface="Segoe UI"/>
              </a:defRPr>
            </a:pPr>
            <a:r>
              <a:t>21 of 24</a:t>
            </a:r>
          </a:p>
        </p:txBody>
      </p:sp>
      <p:sp>
        <p:nvSpPr>
          <p:cNvPr id="32" name="Oval 31"/>
          <p:cNvSpPr/>
          <p:nvPr/>
        </p:nvSpPr>
        <p:spPr>
          <a:xfrm>
            <a:off x="7315200" y="6510528"/>
            <a:ext cx="73152" cy="73152"/>
          </a:xfrm>
          <a:prstGeom prst="ellipse">
            <a:avLst/>
          </a:prstGeom>
          <a:solidFill>
            <a:srgbClr val="2D31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479792" y="6510528"/>
            <a:ext cx="73152" cy="73152"/>
          </a:xfrm>
          <a:prstGeom prst="ellipse">
            <a:avLst/>
          </a:prstGeom>
          <a:solidFill>
            <a:srgbClr val="2D31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644384" y="6510528"/>
            <a:ext cx="73152" cy="73152"/>
          </a:xfrm>
          <a:prstGeom prst="ellipse">
            <a:avLst/>
          </a:prstGeom>
          <a:solidFill>
            <a:srgbClr val="2D31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808976" y="6510528"/>
            <a:ext cx="73152" cy="73152"/>
          </a:xfrm>
          <a:prstGeom prst="ellipse">
            <a:avLst/>
          </a:prstGeom>
          <a:solidFill>
            <a:srgbClr val="2D31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973568" y="6510528"/>
            <a:ext cx="73152" cy="73152"/>
          </a:xfrm>
          <a:prstGeom prst="ellipse">
            <a:avLst/>
          </a:prstGeom>
          <a:solidFill>
            <a:srgbClr val="2D31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138159" y="6510528"/>
            <a:ext cx="73152" cy="73152"/>
          </a:xfrm>
          <a:prstGeom prst="ellipse">
            <a:avLst/>
          </a:prstGeom>
          <a:solidFill>
            <a:srgbClr val="2D31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302752" y="6510528"/>
            <a:ext cx="73152" cy="73152"/>
          </a:xfrm>
          <a:prstGeom prst="ellipse">
            <a:avLst/>
          </a:prstGeom>
          <a:solidFill>
            <a:srgbClr val="2D31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467344" y="6510528"/>
            <a:ext cx="73152" cy="73152"/>
          </a:xfrm>
          <a:prstGeom prst="ellipse">
            <a:avLst/>
          </a:prstGeom>
          <a:solidFill>
            <a:srgbClr val="2D31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631936" y="6510528"/>
            <a:ext cx="73152" cy="73152"/>
          </a:xfrm>
          <a:prstGeom prst="ellipse">
            <a:avLst/>
          </a:prstGeom>
          <a:solidFill>
            <a:srgbClr val="2D31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8796528" y="6510528"/>
            <a:ext cx="73152" cy="73152"/>
          </a:xfrm>
          <a:prstGeom prst="ellipse">
            <a:avLst/>
          </a:prstGeom>
          <a:solidFill>
            <a:srgbClr val="2D31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961119" y="6510528"/>
            <a:ext cx="73152" cy="73152"/>
          </a:xfrm>
          <a:prstGeom prst="ellipse">
            <a:avLst/>
          </a:prstGeom>
          <a:solidFill>
            <a:srgbClr val="2D31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9125712" y="6510528"/>
            <a:ext cx="73152" cy="73152"/>
          </a:xfrm>
          <a:prstGeom prst="ellipse">
            <a:avLst/>
          </a:prstGeom>
          <a:solidFill>
            <a:srgbClr val="2D31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9290304" y="6510528"/>
            <a:ext cx="73152" cy="73152"/>
          </a:xfrm>
          <a:prstGeom prst="ellipse">
            <a:avLst/>
          </a:prstGeom>
          <a:solidFill>
            <a:srgbClr val="2D31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9454896" y="6510528"/>
            <a:ext cx="73152" cy="73152"/>
          </a:xfrm>
          <a:prstGeom prst="ellipse">
            <a:avLst/>
          </a:prstGeom>
          <a:solidFill>
            <a:srgbClr val="2D31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9619488" y="6510528"/>
            <a:ext cx="73152" cy="73152"/>
          </a:xfrm>
          <a:prstGeom prst="ellipse">
            <a:avLst/>
          </a:prstGeom>
          <a:solidFill>
            <a:srgbClr val="2D31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9784079" y="6510528"/>
            <a:ext cx="73152" cy="73152"/>
          </a:xfrm>
          <a:prstGeom prst="ellipse">
            <a:avLst/>
          </a:prstGeom>
          <a:solidFill>
            <a:srgbClr val="2D31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948672" y="6510528"/>
            <a:ext cx="73152" cy="73152"/>
          </a:xfrm>
          <a:prstGeom prst="ellipse">
            <a:avLst/>
          </a:prstGeom>
          <a:solidFill>
            <a:srgbClr val="2D31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0113264" y="6510528"/>
            <a:ext cx="73152" cy="73152"/>
          </a:xfrm>
          <a:prstGeom prst="ellipse">
            <a:avLst/>
          </a:prstGeom>
          <a:solidFill>
            <a:srgbClr val="2D31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277856" y="6510528"/>
            <a:ext cx="73152" cy="73152"/>
          </a:xfrm>
          <a:prstGeom prst="ellipse">
            <a:avLst/>
          </a:prstGeom>
          <a:solidFill>
            <a:srgbClr val="2D31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0442448" y="6510528"/>
            <a:ext cx="73152" cy="73152"/>
          </a:xfrm>
          <a:prstGeom prst="ellipse">
            <a:avLst/>
          </a:prstGeom>
          <a:solidFill>
            <a:srgbClr val="2D31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0607039" y="6510528"/>
            <a:ext cx="73152" cy="73152"/>
          </a:xfrm>
          <a:prstGeom prst="ellipse">
            <a:avLst/>
          </a:prstGeom>
          <a:solidFill>
            <a:srgbClr val="2D31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0771632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0936224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1100815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5A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D316F"/>
                </a:solidFill>
                <a:latin typeface="Calibri"/>
              </a:defRPr>
            </a:pPr>
            <a:r>
              <a:t>Lab Scenario &amp; Shared Tenant Rules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1645920" cy="36576"/>
          </a:xfrm>
          <a:prstGeom prst="rect">
            <a:avLst/>
          </a:prstGeom>
          <a:solidFill>
            <a:srgbClr val="E5A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iamond 4"/>
          <p:cNvSpPr/>
          <p:nvPr/>
        </p:nvSpPr>
        <p:spPr>
          <a:xfrm>
            <a:off x="777240" y="1261872"/>
            <a:ext cx="201168" cy="201168"/>
          </a:xfrm>
          <a:prstGeom prst="diamond">
            <a:avLst/>
          </a:prstGeom>
          <a:solidFill>
            <a:srgbClr val="E5A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A2A2A"/>
                </a:solidFill>
                <a:latin typeface="Segoe UI Semilight"/>
              </a:defRPr>
            </a:pPr>
            <a:r>
              <a:t>Scenario: Project Northwind Intranet Modernization</a:t>
            </a:r>
          </a:p>
        </p:txBody>
      </p:sp>
      <p:sp>
        <p:nvSpPr>
          <p:cNvPr id="7" name="Diamond 6"/>
          <p:cNvSpPr/>
          <p:nvPr/>
        </p:nvSpPr>
        <p:spPr>
          <a:xfrm>
            <a:off x="777240" y="1947672"/>
            <a:ext cx="201168" cy="201168"/>
          </a:xfrm>
          <a:prstGeom prst="diamond">
            <a:avLst/>
          </a:prstGeom>
          <a:solidFill>
            <a:srgbClr val="E5A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874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A2A2A"/>
                </a:solidFill>
                <a:latin typeface="Segoe UI Semilight"/>
              </a:defRPr>
            </a:pPr>
            <a:r>
              <a:t>One tenant shared by: Trainer + 10 Admin Participants (P01–P10)</a:t>
            </a:r>
          </a:p>
        </p:txBody>
      </p:sp>
      <p:sp>
        <p:nvSpPr>
          <p:cNvPr id="9" name="Diamond 8"/>
          <p:cNvSpPr/>
          <p:nvPr/>
        </p:nvSpPr>
        <p:spPr>
          <a:xfrm>
            <a:off x="777240" y="2633472"/>
            <a:ext cx="201168" cy="201168"/>
          </a:xfrm>
          <a:prstGeom prst="diamond">
            <a:avLst/>
          </a:prstGeom>
          <a:solidFill>
            <a:srgbClr val="E5A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2560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A2A2A"/>
                </a:solidFill>
                <a:latin typeface="Segoe UI Semilight"/>
              </a:defRPr>
            </a:pPr>
            <a:r>
              <a:t>Use your Participant ID for all site/group/resource naming</a:t>
            </a:r>
          </a:p>
        </p:txBody>
      </p:sp>
      <p:sp>
        <p:nvSpPr>
          <p:cNvPr id="11" name="Diamond 10"/>
          <p:cNvSpPr/>
          <p:nvPr/>
        </p:nvSpPr>
        <p:spPr>
          <a:xfrm>
            <a:off x="777240" y="3319272"/>
            <a:ext cx="201168" cy="201168"/>
          </a:xfrm>
          <a:prstGeom prst="diamond">
            <a:avLst/>
          </a:prstGeom>
          <a:solidFill>
            <a:srgbClr val="E5A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3246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A2A2A"/>
                </a:solidFill>
                <a:latin typeface="Segoe UI Semilight"/>
              </a:defRPr>
            </a:pPr>
            <a:r>
              <a:t>Avoid tenant-wide changes unless marked as Trainer-only</a:t>
            </a:r>
          </a:p>
        </p:txBody>
      </p:sp>
      <p:sp>
        <p:nvSpPr>
          <p:cNvPr id="13" name="Diamond 12"/>
          <p:cNvSpPr/>
          <p:nvPr/>
        </p:nvSpPr>
        <p:spPr>
          <a:xfrm>
            <a:off x="777240" y="4005072"/>
            <a:ext cx="201168" cy="201168"/>
          </a:xfrm>
          <a:prstGeom prst="diamond">
            <a:avLst/>
          </a:prstGeom>
          <a:solidFill>
            <a:srgbClr val="E5A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3931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A2A2A"/>
                </a:solidFill>
                <a:latin typeface="Segoe UI Semilight"/>
              </a:defRPr>
            </a:pPr>
            <a:r>
              <a:t>Module 1 labs focus on orientation and verification — no destructive changes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754880"/>
            <a:ext cx="11064240" cy="548640"/>
          </a:xfrm>
          <a:prstGeom prst="roundRect">
            <a:avLst>
              <a:gd name="adj" fmla="val 3000"/>
            </a:avLst>
          </a:prstGeom>
          <a:solidFill>
            <a:srgbClr val="FD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4754880"/>
            <a:ext cx="73152" cy="548640"/>
          </a:xfrm>
          <a:prstGeom prst="rect">
            <a:avLst/>
          </a:prstGeom>
          <a:solidFill>
            <a:srgbClr val="E85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800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85D4A"/>
                </a:solidFill>
                <a:latin typeface="Segoe UI"/>
              </a:defRPr>
            </a:pPr>
            <a:r>
              <a:t>Shared tenant = prevent collisions. Most hands-on changes happen in participant-isolated practice sites (later modules).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6400800"/>
            <a:ext cx="11871655" cy="9144"/>
          </a:xfrm>
          <a:prstGeom prst="rect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6455664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6B6B"/>
                </a:solidFill>
                <a:latin typeface="Segoe UI"/>
              </a:defRPr>
            </a:pPr>
            <a:r>
              <a:t>Module 1  ·  Introduction to Microsoft 365 &amp; SharePoint Online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45775" y="645566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6B6B"/>
                </a:solidFill>
                <a:latin typeface="Segoe UI"/>
              </a:defRPr>
            </a:pPr>
            <a:r>
              <a:t>22 of 24</a:t>
            </a:r>
          </a:p>
        </p:txBody>
      </p:sp>
      <p:sp>
        <p:nvSpPr>
          <p:cNvPr id="21" name="Oval 20"/>
          <p:cNvSpPr/>
          <p:nvPr/>
        </p:nvSpPr>
        <p:spPr>
          <a:xfrm>
            <a:off x="7315200" y="6510528"/>
            <a:ext cx="73152" cy="73152"/>
          </a:xfrm>
          <a:prstGeom prst="ellipse">
            <a:avLst/>
          </a:prstGeom>
          <a:solidFill>
            <a:srgbClr val="E5A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479792" y="6510528"/>
            <a:ext cx="73152" cy="73152"/>
          </a:xfrm>
          <a:prstGeom prst="ellipse">
            <a:avLst/>
          </a:prstGeom>
          <a:solidFill>
            <a:srgbClr val="E5A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644384" y="6510528"/>
            <a:ext cx="73152" cy="73152"/>
          </a:xfrm>
          <a:prstGeom prst="ellipse">
            <a:avLst/>
          </a:prstGeom>
          <a:solidFill>
            <a:srgbClr val="E5A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808976" y="6510528"/>
            <a:ext cx="73152" cy="73152"/>
          </a:xfrm>
          <a:prstGeom prst="ellipse">
            <a:avLst/>
          </a:prstGeom>
          <a:solidFill>
            <a:srgbClr val="E5A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973568" y="6510528"/>
            <a:ext cx="73152" cy="73152"/>
          </a:xfrm>
          <a:prstGeom prst="ellipse">
            <a:avLst/>
          </a:prstGeom>
          <a:solidFill>
            <a:srgbClr val="E5A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138159" y="6510528"/>
            <a:ext cx="73152" cy="73152"/>
          </a:xfrm>
          <a:prstGeom prst="ellipse">
            <a:avLst/>
          </a:prstGeom>
          <a:solidFill>
            <a:srgbClr val="E5A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302752" y="6510528"/>
            <a:ext cx="73152" cy="73152"/>
          </a:xfrm>
          <a:prstGeom prst="ellipse">
            <a:avLst/>
          </a:prstGeom>
          <a:solidFill>
            <a:srgbClr val="E5A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467344" y="6510528"/>
            <a:ext cx="73152" cy="73152"/>
          </a:xfrm>
          <a:prstGeom prst="ellipse">
            <a:avLst/>
          </a:prstGeom>
          <a:solidFill>
            <a:srgbClr val="E5A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631936" y="6510528"/>
            <a:ext cx="73152" cy="73152"/>
          </a:xfrm>
          <a:prstGeom prst="ellipse">
            <a:avLst/>
          </a:prstGeom>
          <a:solidFill>
            <a:srgbClr val="E5A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796528" y="6510528"/>
            <a:ext cx="73152" cy="73152"/>
          </a:xfrm>
          <a:prstGeom prst="ellipse">
            <a:avLst/>
          </a:prstGeom>
          <a:solidFill>
            <a:srgbClr val="E5A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961119" y="6510528"/>
            <a:ext cx="73152" cy="73152"/>
          </a:xfrm>
          <a:prstGeom prst="ellipse">
            <a:avLst/>
          </a:prstGeom>
          <a:solidFill>
            <a:srgbClr val="E5A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125712" y="6510528"/>
            <a:ext cx="73152" cy="73152"/>
          </a:xfrm>
          <a:prstGeom prst="ellipse">
            <a:avLst/>
          </a:prstGeom>
          <a:solidFill>
            <a:srgbClr val="E5A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290304" y="6510528"/>
            <a:ext cx="73152" cy="73152"/>
          </a:xfrm>
          <a:prstGeom prst="ellipse">
            <a:avLst/>
          </a:prstGeom>
          <a:solidFill>
            <a:srgbClr val="E5A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454896" y="6510528"/>
            <a:ext cx="73152" cy="73152"/>
          </a:xfrm>
          <a:prstGeom prst="ellipse">
            <a:avLst/>
          </a:prstGeom>
          <a:solidFill>
            <a:srgbClr val="E5A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619488" y="6510528"/>
            <a:ext cx="73152" cy="73152"/>
          </a:xfrm>
          <a:prstGeom prst="ellipse">
            <a:avLst/>
          </a:prstGeom>
          <a:solidFill>
            <a:srgbClr val="E5A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784079" y="6510528"/>
            <a:ext cx="73152" cy="73152"/>
          </a:xfrm>
          <a:prstGeom prst="ellipse">
            <a:avLst/>
          </a:prstGeom>
          <a:solidFill>
            <a:srgbClr val="E5A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948672" y="6510528"/>
            <a:ext cx="73152" cy="73152"/>
          </a:xfrm>
          <a:prstGeom prst="ellipse">
            <a:avLst/>
          </a:prstGeom>
          <a:solidFill>
            <a:srgbClr val="E5A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113264" y="6510528"/>
            <a:ext cx="73152" cy="73152"/>
          </a:xfrm>
          <a:prstGeom prst="ellipse">
            <a:avLst/>
          </a:prstGeom>
          <a:solidFill>
            <a:srgbClr val="E5A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277856" y="6510528"/>
            <a:ext cx="73152" cy="73152"/>
          </a:xfrm>
          <a:prstGeom prst="ellipse">
            <a:avLst/>
          </a:prstGeom>
          <a:solidFill>
            <a:srgbClr val="E5A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442448" y="6510528"/>
            <a:ext cx="73152" cy="73152"/>
          </a:xfrm>
          <a:prstGeom prst="ellipse">
            <a:avLst/>
          </a:prstGeom>
          <a:solidFill>
            <a:srgbClr val="E5A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607039" y="6510528"/>
            <a:ext cx="73152" cy="73152"/>
          </a:xfrm>
          <a:prstGeom prst="ellipse">
            <a:avLst/>
          </a:prstGeom>
          <a:solidFill>
            <a:srgbClr val="E5A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771632" y="6510528"/>
            <a:ext cx="73152" cy="73152"/>
          </a:xfrm>
          <a:prstGeom prst="ellipse">
            <a:avLst/>
          </a:prstGeom>
          <a:solidFill>
            <a:srgbClr val="E5A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0936224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1100815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85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D316F"/>
                </a:solidFill>
                <a:latin typeface="Calibri"/>
              </a:defRPr>
            </a:pPr>
            <a:r>
              <a:t>Lab 1 Preview — Exploring Microsoft 365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1645920" cy="36576"/>
          </a:xfrm>
          <a:prstGeom prst="rect">
            <a:avLst/>
          </a:prstGeom>
          <a:solidFill>
            <a:srgbClr val="E85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097280"/>
            <a:ext cx="11064240" cy="822960"/>
          </a:xfrm>
          <a:prstGeom prst="roundRect">
            <a:avLst>
              <a:gd name="adj" fmla="val 3000"/>
            </a:avLst>
          </a:prstGeom>
          <a:solidFill>
            <a:srgbClr val="F0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280160"/>
            <a:ext cx="1005840" cy="365760"/>
          </a:xfrm>
          <a:prstGeom prst="roundRect">
            <a:avLst>
              <a:gd name="adj" fmla="val 50000"/>
            </a:avLst>
          </a:prstGeom>
          <a:solidFill>
            <a:srgbClr val="E85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29844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Task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11887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A2A2A"/>
                </a:solidFill>
                <a:latin typeface="Calibri"/>
              </a:defRPr>
            </a:pPr>
            <a:r>
              <a:t>Access Microsoft 365 Admin Center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15087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6B6B"/>
                </a:solidFill>
                <a:latin typeface="Segoe UI Semilight"/>
              </a:defRPr>
            </a:pPr>
            <a:r>
              <a:t>Sign in, confirm your role and tenant context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57400"/>
            <a:ext cx="11064240" cy="822960"/>
          </a:xfrm>
          <a:prstGeom prst="roundRect">
            <a:avLst>
              <a:gd name="adj" fmla="val 3000"/>
            </a:avLst>
          </a:prstGeom>
          <a:solidFill>
            <a:srgbClr val="F0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77240" y="2240280"/>
            <a:ext cx="1005840" cy="365760"/>
          </a:xfrm>
          <a:prstGeom prst="roundRect">
            <a:avLst>
              <a:gd name="adj" fmla="val 50000"/>
            </a:avLst>
          </a:prstGeom>
          <a:solidFill>
            <a:srgbClr val="E85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25856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Task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21488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A2A2A"/>
                </a:solidFill>
                <a:latin typeface="Calibri"/>
              </a:defRPr>
            </a:pPr>
            <a:r>
              <a:t>Review SharePoint Online settings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24688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6B6B"/>
                </a:solidFill>
                <a:latin typeface="Segoe UI Semilight"/>
              </a:defRPr>
            </a:pPr>
            <a:r>
              <a:t>Navigate SharePoint admin center, explore settings areas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017520"/>
            <a:ext cx="11064240" cy="822960"/>
          </a:xfrm>
          <a:prstGeom prst="roundRect">
            <a:avLst>
              <a:gd name="adj" fmla="val 3000"/>
            </a:avLst>
          </a:prstGeom>
          <a:solidFill>
            <a:srgbClr val="F0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77240" y="3200400"/>
            <a:ext cx="1005840" cy="365760"/>
          </a:xfrm>
          <a:prstGeom prst="roundRect">
            <a:avLst>
              <a:gd name="adj" fmla="val 50000"/>
            </a:avLst>
          </a:prstGeom>
          <a:solidFill>
            <a:srgbClr val="E85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21868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Task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3108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A2A2A"/>
                </a:solidFill>
                <a:latin typeface="Calibri"/>
              </a:defRPr>
            </a:pPr>
            <a:r>
              <a:t>Check Service Health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3429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6B6B"/>
                </a:solidFill>
                <a:latin typeface="Segoe UI Semilight"/>
              </a:defRPr>
            </a:pPr>
            <a:r>
              <a:t>Find current service status for SharePoint &amp; OneDrive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977640"/>
            <a:ext cx="11064240" cy="822960"/>
          </a:xfrm>
          <a:prstGeom prst="roundRect">
            <a:avLst>
              <a:gd name="adj" fmla="val 3000"/>
            </a:avLst>
          </a:prstGeom>
          <a:solidFill>
            <a:srgbClr val="F0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77240" y="4160520"/>
            <a:ext cx="1005840" cy="365760"/>
          </a:xfrm>
          <a:prstGeom prst="roundRect">
            <a:avLst>
              <a:gd name="adj" fmla="val 50000"/>
            </a:avLst>
          </a:prstGeom>
          <a:solidFill>
            <a:srgbClr val="E85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17880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Task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0" y="4069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A2A2A"/>
                </a:solidFill>
                <a:latin typeface="Calibri"/>
              </a:defRPr>
            </a:pPr>
            <a:r>
              <a:t>Review Message Center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0" y="43891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6B6B"/>
                </a:solidFill>
                <a:latin typeface="Segoe UI Semilight"/>
              </a:defRPr>
            </a:pPr>
            <a:r>
              <a:t>Identify recent announcements affecting SharePoint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120640"/>
            <a:ext cx="11064240" cy="548640"/>
          </a:xfrm>
          <a:prstGeom prst="roundRect">
            <a:avLst>
              <a:gd name="adj" fmla="val 3000"/>
            </a:avLst>
          </a:prstGeom>
          <a:solidFill>
            <a:srgbClr val="F0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5120640"/>
            <a:ext cx="73152" cy="548640"/>
          </a:xfrm>
          <a:prstGeom prst="rect">
            <a:avLst/>
          </a:prstGeom>
          <a:solidFill>
            <a:srgbClr val="009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51663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9B8D"/>
                </a:solidFill>
                <a:latin typeface="Segoe UI"/>
              </a:defRPr>
            </a:pPr>
            <a:r>
              <a:t>Capture screenshots of: your admin role, service health status, and at least one Message Center post.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6400800"/>
            <a:ext cx="11871655" cy="9144"/>
          </a:xfrm>
          <a:prstGeom prst="rect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6455664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6B6B"/>
                </a:solidFill>
                <a:latin typeface="Segoe UI"/>
              </a:defRPr>
            </a:pPr>
            <a:r>
              <a:t>Module 1  ·  Introduction to Microsoft 365 &amp; SharePoint Online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45775" y="645566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6B6B"/>
                </a:solidFill>
                <a:latin typeface="Segoe UI"/>
              </a:defRPr>
            </a:pPr>
            <a:r>
              <a:t>23 of 24</a:t>
            </a:r>
          </a:p>
        </p:txBody>
      </p:sp>
      <p:sp>
        <p:nvSpPr>
          <p:cNvPr id="31" name="Oval 30"/>
          <p:cNvSpPr/>
          <p:nvPr/>
        </p:nvSpPr>
        <p:spPr>
          <a:xfrm>
            <a:off x="7315200" y="6510528"/>
            <a:ext cx="73152" cy="73152"/>
          </a:xfrm>
          <a:prstGeom prst="ellipse">
            <a:avLst/>
          </a:prstGeom>
          <a:solidFill>
            <a:srgbClr val="E85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479792" y="6510528"/>
            <a:ext cx="73152" cy="73152"/>
          </a:xfrm>
          <a:prstGeom prst="ellipse">
            <a:avLst/>
          </a:prstGeom>
          <a:solidFill>
            <a:srgbClr val="E85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644384" y="6510528"/>
            <a:ext cx="73152" cy="73152"/>
          </a:xfrm>
          <a:prstGeom prst="ellipse">
            <a:avLst/>
          </a:prstGeom>
          <a:solidFill>
            <a:srgbClr val="E85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808976" y="6510528"/>
            <a:ext cx="73152" cy="73152"/>
          </a:xfrm>
          <a:prstGeom prst="ellipse">
            <a:avLst/>
          </a:prstGeom>
          <a:solidFill>
            <a:srgbClr val="E85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973568" y="6510528"/>
            <a:ext cx="73152" cy="73152"/>
          </a:xfrm>
          <a:prstGeom prst="ellipse">
            <a:avLst/>
          </a:prstGeom>
          <a:solidFill>
            <a:srgbClr val="E85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138159" y="6510528"/>
            <a:ext cx="73152" cy="73152"/>
          </a:xfrm>
          <a:prstGeom prst="ellipse">
            <a:avLst/>
          </a:prstGeom>
          <a:solidFill>
            <a:srgbClr val="E85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302752" y="6510528"/>
            <a:ext cx="73152" cy="73152"/>
          </a:xfrm>
          <a:prstGeom prst="ellipse">
            <a:avLst/>
          </a:prstGeom>
          <a:solidFill>
            <a:srgbClr val="E85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467344" y="6510528"/>
            <a:ext cx="73152" cy="73152"/>
          </a:xfrm>
          <a:prstGeom prst="ellipse">
            <a:avLst/>
          </a:prstGeom>
          <a:solidFill>
            <a:srgbClr val="E85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631936" y="6510528"/>
            <a:ext cx="73152" cy="73152"/>
          </a:xfrm>
          <a:prstGeom prst="ellipse">
            <a:avLst/>
          </a:prstGeom>
          <a:solidFill>
            <a:srgbClr val="E85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796528" y="6510528"/>
            <a:ext cx="73152" cy="73152"/>
          </a:xfrm>
          <a:prstGeom prst="ellipse">
            <a:avLst/>
          </a:prstGeom>
          <a:solidFill>
            <a:srgbClr val="E85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8961119" y="6510528"/>
            <a:ext cx="73152" cy="73152"/>
          </a:xfrm>
          <a:prstGeom prst="ellipse">
            <a:avLst/>
          </a:prstGeom>
          <a:solidFill>
            <a:srgbClr val="E85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9125712" y="6510528"/>
            <a:ext cx="73152" cy="73152"/>
          </a:xfrm>
          <a:prstGeom prst="ellipse">
            <a:avLst/>
          </a:prstGeom>
          <a:solidFill>
            <a:srgbClr val="E85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9290304" y="6510528"/>
            <a:ext cx="73152" cy="73152"/>
          </a:xfrm>
          <a:prstGeom prst="ellipse">
            <a:avLst/>
          </a:prstGeom>
          <a:solidFill>
            <a:srgbClr val="E85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9454896" y="6510528"/>
            <a:ext cx="73152" cy="73152"/>
          </a:xfrm>
          <a:prstGeom prst="ellipse">
            <a:avLst/>
          </a:prstGeom>
          <a:solidFill>
            <a:srgbClr val="E85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9619488" y="6510528"/>
            <a:ext cx="73152" cy="73152"/>
          </a:xfrm>
          <a:prstGeom prst="ellipse">
            <a:avLst/>
          </a:prstGeom>
          <a:solidFill>
            <a:srgbClr val="E85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9784079" y="6510528"/>
            <a:ext cx="73152" cy="73152"/>
          </a:xfrm>
          <a:prstGeom prst="ellipse">
            <a:avLst/>
          </a:prstGeom>
          <a:solidFill>
            <a:srgbClr val="E85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9948672" y="6510528"/>
            <a:ext cx="73152" cy="73152"/>
          </a:xfrm>
          <a:prstGeom prst="ellipse">
            <a:avLst/>
          </a:prstGeom>
          <a:solidFill>
            <a:srgbClr val="E85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0113264" y="6510528"/>
            <a:ext cx="73152" cy="73152"/>
          </a:xfrm>
          <a:prstGeom prst="ellipse">
            <a:avLst/>
          </a:prstGeom>
          <a:solidFill>
            <a:srgbClr val="E85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0277856" y="6510528"/>
            <a:ext cx="73152" cy="73152"/>
          </a:xfrm>
          <a:prstGeom prst="ellipse">
            <a:avLst/>
          </a:prstGeom>
          <a:solidFill>
            <a:srgbClr val="E85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442448" y="6510528"/>
            <a:ext cx="73152" cy="73152"/>
          </a:xfrm>
          <a:prstGeom prst="ellipse">
            <a:avLst/>
          </a:prstGeom>
          <a:solidFill>
            <a:srgbClr val="E85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0607039" y="6510528"/>
            <a:ext cx="73152" cy="73152"/>
          </a:xfrm>
          <a:prstGeom prst="ellipse">
            <a:avLst/>
          </a:prstGeom>
          <a:solidFill>
            <a:srgbClr val="E85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0771632" y="6510528"/>
            <a:ext cx="73152" cy="73152"/>
          </a:xfrm>
          <a:prstGeom prst="ellipse">
            <a:avLst/>
          </a:prstGeom>
          <a:solidFill>
            <a:srgbClr val="E85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0936224" y="6510528"/>
            <a:ext cx="73152" cy="73152"/>
          </a:xfrm>
          <a:prstGeom prst="ellipse">
            <a:avLst/>
          </a:prstGeom>
          <a:solidFill>
            <a:srgbClr val="E85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1100815" y="6510528"/>
            <a:ext cx="73152" cy="73152"/>
          </a:xfrm>
          <a:prstGeom prst="ellipse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7C6E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D316F"/>
                </a:solidFill>
                <a:latin typeface="Calibri"/>
              </a:defRPr>
            </a:pPr>
            <a:r>
              <a:t>Knowledge Check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1645920" cy="36576"/>
          </a:xfrm>
          <a:prstGeom prst="rect">
            <a:avLst/>
          </a:prstGeom>
          <a:solidFill>
            <a:srgbClr val="7C6E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124712"/>
            <a:ext cx="548640" cy="365760"/>
          </a:xfrm>
          <a:prstGeom prst="roundRect">
            <a:avLst>
              <a:gd name="adj" fmla="val 50000"/>
            </a:avLst>
          </a:prstGeom>
          <a:solidFill>
            <a:srgbClr val="7C6E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14300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Q1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09728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A2A2A"/>
                </a:solidFill>
                <a:latin typeface="Segoe UI Semilight"/>
              </a:defRPr>
            </a:pPr>
            <a:r>
              <a:t>Which Microsoft 365 component is responsible for identity and access control?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5361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5D2CD"/>
                </a:solidFill>
                <a:latin typeface="Segoe UI Semilight"/>
              </a:defRPr>
            </a:pPr>
            <a:r>
              <a:t>→ Microsoft Entra ID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130552"/>
            <a:ext cx="548640" cy="365760"/>
          </a:xfrm>
          <a:prstGeom prst="roundRect">
            <a:avLst>
              <a:gd name="adj" fmla="val 50000"/>
            </a:avLst>
          </a:prstGeom>
          <a:solidFill>
            <a:srgbClr val="7C6E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14884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Q2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10312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A2A2A"/>
                </a:solidFill>
                <a:latin typeface="Segoe UI Semilight"/>
              </a:defRPr>
            </a:pPr>
            <a:r>
              <a:t>Why should a SharePoint admin care about Message Center?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54203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5D2CD"/>
                </a:solidFill>
                <a:latin typeface="Segoe UI Semilight"/>
              </a:defRPr>
            </a:pPr>
            <a:r>
              <a:t>→ It announces changes that can affect governance, features, and UX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136392"/>
            <a:ext cx="548640" cy="365760"/>
          </a:xfrm>
          <a:prstGeom prst="roundRect">
            <a:avLst>
              <a:gd name="adj" fmla="val 50000"/>
            </a:avLst>
          </a:prstGeom>
          <a:solidFill>
            <a:srgbClr val="7C6E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315468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Q3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10896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A2A2A"/>
                </a:solidFill>
                <a:latin typeface="Segoe UI Semilight"/>
              </a:defRPr>
            </a:pPr>
            <a:r>
              <a:t>Name two conceptual differences: SharePoint Online vs Server.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54787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5D2CD"/>
                </a:solidFill>
                <a:latin typeface="Segoe UI Semilight"/>
              </a:defRPr>
            </a:pPr>
            <a:r>
              <a:t>→ Cloud vs self-operated; continuous vs scheduled; integration model differs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142232"/>
            <a:ext cx="548640" cy="365760"/>
          </a:xfrm>
          <a:prstGeom prst="roundRect">
            <a:avLst>
              <a:gd name="adj" fmla="val 50000"/>
            </a:avLst>
          </a:prstGeom>
          <a:solidFill>
            <a:srgbClr val="7C6E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416052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Q4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11480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A2A2A"/>
                </a:solidFill>
                <a:latin typeface="Segoe UI Semilight"/>
              </a:defRPr>
            </a:pPr>
            <a:r>
              <a:t>What is the safe approach to service limits?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455371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5D2CD"/>
                </a:solidFill>
                <a:latin typeface="Segoe UI Semilight"/>
              </a:defRPr>
            </a:pPr>
            <a:r>
              <a:t>→ Verify current values in official docs; avoid memorized numbers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3035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7C6EB0"/>
                </a:solidFill>
                <a:latin typeface="Calibri"/>
              </a:defRPr>
            </a:pPr>
            <a:r>
              <a:t>Discuss with your neighbour — then we'll share answers.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6400800"/>
            <a:ext cx="11871655" cy="9144"/>
          </a:xfrm>
          <a:prstGeom prst="rect">
            <a:avLst/>
          </a:prstGeom>
          <a:solidFill>
            <a:srgbClr val="D5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6455664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6B6B"/>
                </a:solidFill>
                <a:latin typeface="Segoe UI"/>
              </a:defRPr>
            </a:pPr>
            <a:r>
              <a:t>Module 1  ·  Introduction to Microsoft 365 &amp; SharePoint Online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45775" y="645566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6B6B"/>
                </a:solidFill>
                <a:latin typeface="Segoe UI"/>
              </a:defRPr>
            </a:pPr>
            <a:r>
              <a:t>24 of 24</a:t>
            </a:r>
          </a:p>
        </p:txBody>
      </p:sp>
      <p:sp>
        <p:nvSpPr>
          <p:cNvPr id="25" name="Oval 24"/>
          <p:cNvSpPr/>
          <p:nvPr/>
        </p:nvSpPr>
        <p:spPr>
          <a:xfrm>
            <a:off x="7315200" y="6510528"/>
            <a:ext cx="73152" cy="73152"/>
          </a:xfrm>
          <a:prstGeom prst="ellipse">
            <a:avLst/>
          </a:prstGeom>
          <a:solidFill>
            <a:srgbClr val="7C6E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479792" y="6510528"/>
            <a:ext cx="73152" cy="73152"/>
          </a:xfrm>
          <a:prstGeom prst="ellipse">
            <a:avLst/>
          </a:prstGeom>
          <a:solidFill>
            <a:srgbClr val="7C6E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644384" y="6510528"/>
            <a:ext cx="73152" cy="73152"/>
          </a:xfrm>
          <a:prstGeom prst="ellipse">
            <a:avLst/>
          </a:prstGeom>
          <a:solidFill>
            <a:srgbClr val="7C6E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808976" y="6510528"/>
            <a:ext cx="73152" cy="73152"/>
          </a:xfrm>
          <a:prstGeom prst="ellipse">
            <a:avLst/>
          </a:prstGeom>
          <a:solidFill>
            <a:srgbClr val="7C6E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973568" y="6510528"/>
            <a:ext cx="73152" cy="73152"/>
          </a:xfrm>
          <a:prstGeom prst="ellipse">
            <a:avLst/>
          </a:prstGeom>
          <a:solidFill>
            <a:srgbClr val="7C6E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138159" y="6510528"/>
            <a:ext cx="73152" cy="73152"/>
          </a:xfrm>
          <a:prstGeom prst="ellipse">
            <a:avLst/>
          </a:prstGeom>
          <a:solidFill>
            <a:srgbClr val="7C6E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302752" y="6510528"/>
            <a:ext cx="73152" cy="73152"/>
          </a:xfrm>
          <a:prstGeom prst="ellipse">
            <a:avLst/>
          </a:prstGeom>
          <a:solidFill>
            <a:srgbClr val="7C6E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467344" y="6510528"/>
            <a:ext cx="73152" cy="73152"/>
          </a:xfrm>
          <a:prstGeom prst="ellipse">
            <a:avLst/>
          </a:prstGeom>
          <a:solidFill>
            <a:srgbClr val="7C6E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631936" y="6510528"/>
            <a:ext cx="73152" cy="73152"/>
          </a:xfrm>
          <a:prstGeom prst="ellipse">
            <a:avLst/>
          </a:prstGeom>
          <a:solidFill>
            <a:srgbClr val="7C6E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796528" y="6510528"/>
            <a:ext cx="73152" cy="73152"/>
          </a:xfrm>
          <a:prstGeom prst="ellipse">
            <a:avLst/>
          </a:prstGeom>
          <a:solidFill>
            <a:srgbClr val="7C6E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961119" y="6510528"/>
            <a:ext cx="73152" cy="73152"/>
          </a:xfrm>
          <a:prstGeom prst="ellipse">
            <a:avLst/>
          </a:prstGeom>
          <a:solidFill>
            <a:srgbClr val="7C6E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125712" y="6510528"/>
            <a:ext cx="73152" cy="73152"/>
          </a:xfrm>
          <a:prstGeom prst="ellipse">
            <a:avLst/>
          </a:prstGeom>
          <a:solidFill>
            <a:srgbClr val="7C6E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290304" y="6510528"/>
            <a:ext cx="73152" cy="73152"/>
          </a:xfrm>
          <a:prstGeom prst="ellipse">
            <a:avLst/>
          </a:prstGeom>
          <a:solidFill>
            <a:srgbClr val="7C6E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454896" y="6510528"/>
            <a:ext cx="73152" cy="73152"/>
          </a:xfrm>
          <a:prstGeom prst="ellipse">
            <a:avLst/>
          </a:prstGeom>
          <a:solidFill>
            <a:srgbClr val="7C6E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619488" y="6510528"/>
            <a:ext cx="73152" cy="73152"/>
          </a:xfrm>
          <a:prstGeom prst="ellipse">
            <a:avLst/>
          </a:prstGeom>
          <a:solidFill>
            <a:srgbClr val="7C6E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9784079" y="6510528"/>
            <a:ext cx="73152" cy="73152"/>
          </a:xfrm>
          <a:prstGeom prst="ellipse">
            <a:avLst/>
          </a:prstGeom>
          <a:solidFill>
            <a:srgbClr val="7C6E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9948672" y="6510528"/>
            <a:ext cx="73152" cy="73152"/>
          </a:xfrm>
          <a:prstGeom prst="ellipse">
            <a:avLst/>
          </a:prstGeom>
          <a:solidFill>
            <a:srgbClr val="7C6E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113264" y="6510528"/>
            <a:ext cx="73152" cy="73152"/>
          </a:xfrm>
          <a:prstGeom prst="ellipse">
            <a:avLst/>
          </a:prstGeom>
          <a:solidFill>
            <a:srgbClr val="7C6E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0277856" y="6510528"/>
            <a:ext cx="73152" cy="73152"/>
          </a:xfrm>
          <a:prstGeom prst="ellipse">
            <a:avLst/>
          </a:prstGeom>
          <a:solidFill>
            <a:srgbClr val="7C6E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442448" y="6510528"/>
            <a:ext cx="73152" cy="73152"/>
          </a:xfrm>
          <a:prstGeom prst="ellipse">
            <a:avLst/>
          </a:prstGeom>
          <a:solidFill>
            <a:srgbClr val="7C6E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607039" y="6510528"/>
            <a:ext cx="73152" cy="73152"/>
          </a:xfrm>
          <a:prstGeom prst="ellipse">
            <a:avLst/>
          </a:prstGeom>
          <a:solidFill>
            <a:srgbClr val="7C6E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0771632" y="6510528"/>
            <a:ext cx="73152" cy="73152"/>
          </a:xfrm>
          <a:prstGeom prst="ellipse">
            <a:avLst/>
          </a:prstGeom>
          <a:solidFill>
            <a:srgbClr val="7C6E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0936224" y="6510528"/>
            <a:ext cx="73152" cy="73152"/>
          </a:xfrm>
          <a:prstGeom prst="ellipse">
            <a:avLst/>
          </a:prstGeom>
          <a:solidFill>
            <a:srgbClr val="7C6E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1100815" y="6510528"/>
            <a:ext cx="73152" cy="73152"/>
          </a:xfrm>
          <a:prstGeom prst="ellipse">
            <a:avLst/>
          </a:prstGeom>
          <a:solidFill>
            <a:srgbClr val="7C6E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