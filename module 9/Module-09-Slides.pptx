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covers OneDrive for Business from a SharePoint admin perspective. OneDrive is built on SharePoint Online, so many controls live in the SharePoint admin center. We'll cover sharing, sync, storage, access control, and the deleted-user lifecycle.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 OneDrive for Business is a personal site collection hosted on SharePoint Online. Each user's OneDrive lives under {tenant}-my.sharepoint.com. SharePoint admins manage OneDrive policies via the same admin center used for all SPO settings.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learning outcomes — architecture relationship, where settings live, five policy areas, and the user lifecycle for departures.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OneDrive is a personal site collection under {tenant}-my.sharepoint.com. This means SharePoint permission model, retention, eDiscovery, sensitivity labels, and DLP all work on OneDrive content — it's the same platform.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key setting areas in the SharePoint admin center. From Microsoft docs: 'Many organizations use OneDrive without changing any of the options. To change these settings, use the SharePoint admin center.' Each setting area has a specific location in the admin center.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controls mirror what we covered in Module 2, but here we emphasize the OneDrive angle. Note: OneDrive sharing level can never be MORE permissive than the SharePoint organization level. For training, keep sharing internal-only unless the trainer authorizes external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Microsoft docs: 'It's recommended to use shortcuts instead of using the Sync button. Shortcuts are more performant because rather than syncing the entire library, only the specific folder is synced. Additionally, because shortcuts are added to a user's OneDrive rather than to the device, it's easier to access content across all devices.' Admin command: Set-SPOTenant -HideSyncButtonOnTeamSite $true to hide the Sync button.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Three-layer storage model. From Microsoft docs: if you reduce storage below current usage, the OneDrive may become read-only. Set default storage via SharePoint admin center → Settings → Storage limit. Per-user overrides are useful for executives or special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access tiers for unmanaged devices. From Microsoft docs: 'If you revert back to Allow Full Access, it could take up to 24 hours for the changes to take effect.' These controls use Microsoft Entra Conditional Access policies. Recommendation: also block apps that don't use modern authentication to prevent bypass.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PowerShell parameters for fine-tuning limited access. From Microsoft docs: '-LimitedAccessFileType WebPreviewableFiles (default) allows users to preview Office files. Warning: this option is known to cause problems with PDF and image file types.' OfficeOnlineFilesOnly is the most secure but may block legitimate file types.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Microsoft docs: 'The default retention period for OneDrive is 30 days, but you can change this in the SharePoint admin center (30 to 3650 days).' Manager gets automatic access by default. After the retention period, OneDrive remains in a deleted state for 93 days — only a SharePoint Administrator can restore it during that window.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Microsoft docs: 'By default, when a user is deleted, the user's manager is automatically given access to the user's OneDrive.' If no manager is set, the secondary owner configured in My Site Settings is used. If neither is configured, no one gets automatic access and the OneDrive will eventually be deleted without anyone being notified.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restore windows. During the retention period, it's easy — files are still accessible. After retention, SPO admin can restore within the 93-day deleted state. After that, it's gone — unless Purview retention policies or eDiscovery holds were in place. From Microsoft docs: 'The OneDrive remains in a deleted state for 93 days and can only be restored by a SharePoint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for compliance-focused organizations. Purview retention policies keep content beyond the OneDrive retention setting. eDiscovery holds are the strongest — they override everything. From Microsoft docs: 'All OneDrive accounts that don't have a valid OneDrive license are automatically archived on their 93rd unlicensed day. Retention settings, retention policies, eDiscovery, and all holds are still honored.'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common support scenarios that SharePoint admins encounter with OneDrive. Walk through each one and discuss how participants would investigate in a real environment. Sync issues are very common — point participants to the sync health reports.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is observation-heavy by design — OneDrive policies are tenant-wide and we don't want participants changing settings in a shared tenant. The sharing test (tasks 3-4) is safe because it only creates an internal share between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validation checkpoints. Tasks 1-2 are observation/documentation. Tasks 3-4 are hands-on sharing verification. Task 5 is worksheet completion. Checkpoint 6 is a knowledge check about the deleted-user lifecycle.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lab issues. The most frequent confusion is finding the right settings page — everything is in the SharePoint admin center, not a separate OneDrive admin portal. Sharing issues usually relate to link type vs sharing level mismatch.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key takeaways. Core message: OneDrive IS SharePoint — the admin surface is the same. The deleted-user lifecycle is a common exam/support topic. Shortcuts vs Sync is a practical recommendation admins should push to their org.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Q1 — SharePoint admin center (Sharing, Settings, Access control pages). Q2 — Shortcuts (Add shortcut to OneDrive) — more performant, follows the user across devices. Q3 — The user's OneDrive becomes read-only until they reduce usage or admin increases quota. Q4 — 30 days (configurable 30–3650). Q5 — 93 days — only a SharePoint Administrator can restore during this window.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PowerShell reference for common OneDrive admin tasks. All use Set-SPOTenant or Set-SPOSite from the SharePoint Online Management Shell. These are informational — participants should not run these in the shared training tenant.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complete. Next up: Module 10 dives into PowerShell and automation for SharePoint administration — connecting to SPO, scripting common tasks, and the admin toolkit.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377440"/>
            <a:ext cx="12191695" cy="237744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3246120"/>
            <a:ext cx="1371600" cy="6400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14600"/>
            <a:ext cx="10058400" cy="640080"/>
          </a:xfrm>
          <a:prstGeom prst="rect">
            <a:avLst/>
          </a:prstGeom>
          <a:noFill/>
        </p:spPr>
        <p:txBody>
          <a:bodyPr wrap="square">
            <a:spAutoFit/>
          </a:bodyPr>
          <a:lstStyle/>
          <a:p>
            <a:pPr algn="l">
              <a:defRPr sz="2200" b="1">
                <a:solidFill>
                  <a:srgbClr val="00B294"/>
                </a:solidFill>
                <a:latin typeface="Segoe UI"/>
              </a:defRPr>
            </a:pPr>
            <a:r>
              <a:t>Module 9</a:t>
            </a:r>
          </a:p>
        </p:txBody>
      </p:sp>
      <p:sp>
        <p:nvSpPr>
          <p:cNvPr id="5" name="TextBox 4"/>
          <p:cNvSpPr txBox="1"/>
          <p:nvPr/>
        </p:nvSpPr>
        <p:spPr>
          <a:xfrm>
            <a:off x="914400" y="3383280"/>
            <a:ext cx="10058400" cy="914400"/>
          </a:xfrm>
          <a:prstGeom prst="rect">
            <a:avLst/>
          </a:prstGeom>
          <a:noFill/>
        </p:spPr>
        <p:txBody>
          <a:bodyPr wrap="square">
            <a:spAutoFit/>
          </a:bodyPr>
          <a:lstStyle/>
          <a:p>
            <a:pPr algn="l">
              <a:defRPr sz="4000" b="1">
                <a:solidFill>
                  <a:srgbClr val="FFFFFF"/>
                </a:solidFill>
                <a:latin typeface="Segoe UI"/>
              </a:defRPr>
            </a:pPr>
            <a:r>
              <a:t>OneDrive for Business</a:t>
            </a:r>
            <a:br/>
            <a:r>
              <a:t>Administration</a:t>
            </a:r>
          </a:p>
        </p:txBody>
      </p:sp>
      <p:sp>
        <p:nvSpPr>
          <p:cNvPr id="6" name="TextBox 5"/>
          <p:cNvSpPr txBox="1"/>
          <p:nvPr/>
        </p:nvSpPr>
        <p:spPr>
          <a:xfrm>
            <a:off x="914400" y="4572000"/>
            <a:ext cx="9144000" cy="457200"/>
          </a:xfrm>
          <a:prstGeom prst="rect">
            <a:avLst/>
          </a:prstGeom>
          <a:noFill/>
        </p:spPr>
        <p:txBody>
          <a:bodyPr wrap="square">
            <a:spAutoFit/>
          </a:bodyPr>
          <a:lstStyle/>
          <a:p>
            <a:pPr algn="l">
              <a:defRPr sz="1600" b="0">
                <a:solidFill>
                  <a:srgbClr val="E0E0E0"/>
                </a:solidFill>
                <a:latin typeface="Segoe UI"/>
              </a:defRPr>
            </a:pPr>
            <a:r>
              <a:t>Scenario: Project Northwind Intranet Modernization  ·  Day 3 of 3</a:t>
            </a:r>
          </a:p>
        </p:txBody>
      </p:sp>
      <p:sp>
        <p:nvSpPr>
          <p:cNvPr id="7" name="Rectangle 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Why Is OneDrive "SharePoint Admin Work"?</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548640" y="1463040"/>
            <a:ext cx="2560320" cy="420624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45920"/>
            <a:ext cx="2011680" cy="640080"/>
          </a:xfrm>
          <a:prstGeom prst="rect">
            <a:avLst/>
          </a:prstGeom>
          <a:noFill/>
        </p:spPr>
        <p:txBody>
          <a:bodyPr wrap="square">
            <a:spAutoFit/>
          </a:bodyPr>
          <a:lstStyle/>
          <a:p>
            <a:pPr algn="ctr">
              <a:defRPr sz="3600" b="0">
                <a:solidFill>
                  <a:srgbClr val="333333"/>
                </a:solidFill>
                <a:latin typeface="Segoe UI"/>
              </a:defRPr>
            </a:pPr>
            <a:r>
              <a:t>🏗️</a:t>
            </a:r>
          </a:p>
        </p:txBody>
      </p:sp>
      <p:sp>
        <p:nvSpPr>
          <p:cNvPr id="9" name="TextBox 8"/>
          <p:cNvSpPr txBox="1"/>
          <p:nvPr/>
        </p:nvSpPr>
        <p:spPr>
          <a:xfrm>
            <a:off x="731520" y="2286000"/>
            <a:ext cx="2194560" cy="548640"/>
          </a:xfrm>
          <a:prstGeom prst="rect">
            <a:avLst/>
          </a:prstGeom>
          <a:noFill/>
        </p:spPr>
        <p:txBody>
          <a:bodyPr wrap="square">
            <a:spAutoFit/>
          </a:bodyPr>
          <a:lstStyle/>
          <a:p>
            <a:pPr algn="ctr">
              <a:defRPr sz="1800" b="1">
                <a:solidFill>
                  <a:srgbClr val="0078D4"/>
                </a:solidFill>
                <a:latin typeface="Segoe UI"/>
              </a:defRPr>
            </a:pPr>
            <a:r>
              <a:t>Same Platform</a:t>
            </a:r>
          </a:p>
        </p:txBody>
      </p:sp>
      <p:sp>
        <p:nvSpPr>
          <p:cNvPr id="10" name="TextBox 9"/>
          <p:cNvSpPr txBox="1"/>
          <p:nvPr/>
        </p:nvSpPr>
        <p:spPr>
          <a:xfrm>
            <a:off x="731520" y="3017520"/>
            <a:ext cx="2194560" cy="2286000"/>
          </a:xfrm>
          <a:prstGeom prst="rect">
            <a:avLst/>
          </a:prstGeom>
          <a:noFill/>
        </p:spPr>
        <p:txBody>
          <a:bodyPr wrap="square">
            <a:spAutoFit/>
          </a:bodyPr>
          <a:lstStyle/>
          <a:p>
            <a:pPr algn="ctr">
              <a:defRPr sz="1500" b="0">
                <a:solidFill>
                  <a:srgbClr val="333333"/>
                </a:solidFill>
                <a:latin typeface="Segoe UI"/>
              </a:defRPr>
            </a:pPr>
            <a:r>
              <a:t>OneDrive = personal site</a:t>
            </a:r>
            <a:br/>
            <a:r>
              <a:t>on SharePoint Online</a:t>
            </a:r>
            <a:br/>
            <a:r>
              <a:t>(-my.sharepoint.com)</a:t>
            </a:r>
          </a:p>
        </p:txBody>
      </p:sp>
      <p:sp>
        <p:nvSpPr>
          <p:cNvPr id="11" name="Rounded Rectangle 10"/>
          <p:cNvSpPr/>
          <p:nvPr/>
        </p:nvSpPr>
        <p:spPr>
          <a:xfrm>
            <a:off x="3383280" y="1463040"/>
            <a:ext cx="2560320" cy="420624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645920"/>
            <a:ext cx="2011680" cy="640080"/>
          </a:xfrm>
          <a:prstGeom prst="rect">
            <a:avLst/>
          </a:prstGeom>
          <a:noFill/>
        </p:spPr>
        <p:txBody>
          <a:bodyPr wrap="square">
            <a:spAutoFit/>
          </a:bodyPr>
          <a:lstStyle/>
          <a:p>
            <a:pPr algn="ctr">
              <a:defRPr sz="3600" b="0">
                <a:solidFill>
                  <a:srgbClr val="333333"/>
                </a:solidFill>
                <a:latin typeface="Segoe UI"/>
              </a:defRPr>
            </a:pPr>
            <a:r>
              <a:t>⚙️</a:t>
            </a:r>
          </a:p>
        </p:txBody>
      </p:sp>
      <p:sp>
        <p:nvSpPr>
          <p:cNvPr id="13" name="TextBox 12"/>
          <p:cNvSpPr txBox="1"/>
          <p:nvPr/>
        </p:nvSpPr>
        <p:spPr>
          <a:xfrm>
            <a:off x="3566160" y="2286000"/>
            <a:ext cx="2194560" cy="548640"/>
          </a:xfrm>
          <a:prstGeom prst="rect">
            <a:avLst/>
          </a:prstGeom>
          <a:noFill/>
        </p:spPr>
        <p:txBody>
          <a:bodyPr wrap="square">
            <a:spAutoFit/>
          </a:bodyPr>
          <a:lstStyle/>
          <a:p>
            <a:pPr algn="ctr">
              <a:defRPr sz="1800" b="1">
                <a:solidFill>
                  <a:srgbClr val="0078D4"/>
                </a:solidFill>
                <a:latin typeface="Segoe UI"/>
              </a:defRPr>
            </a:pPr>
            <a:r>
              <a:t>Same Admin Center</a:t>
            </a:r>
          </a:p>
        </p:txBody>
      </p:sp>
      <p:sp>
        <p:nvSpPr>
          <p:cNvPr id="14" name="TextBox 13"/>
          <p:cNvSpPr txBox="1"/>
          <p:nvPr/>
        </p:nvSpPr>
        <p:spPr>
          <a:xfrm>
            <a:off x="3566160" y="3017520"/>
            <a:ext cx="2194560" cy="2286000"/>
          </a:xfrm>
          <a:prstGeom prst="rect">
            <a:avLst/>
          </a:prstGeom>
          <a:noFill/>
        </p:spPr>
        <p:txBody>
          <a:bodyPr wrap="square">
            <a:spAutoFit/>
          </a:bodyPr>
          <a:lstStyle/>
          <a:p>
            <a:pPr algn="ctr">
              <a:defRPr sz="1500" b="0">
                <a:solidFill>
                  <a:srgbClr val="333333"/>
                </a:solidFill>
                <a:latin typeface="Segoe UI"/>
              </a:defRPr>
            </a:pPr>
            <a:r>
              <a:t>Sharing, sync, storage,</a:t>
            </a:r>
            <a:br/>
            <a:r>
              <a:t>access control — all</a:t>
            </a:r>
            <a:br/>
            <a:r>
              <a:t>in SharePoint admin center</a:t>
            </a:r>
          </a:p>
        </p:txBody>
      </p:sp>
      <p:sp>
        <p:nvSpPr>
          <p:cNvPr id="15" name="Rounded Rectangle 14"/>
          <p:cNvSpPr/>
          <p:nvPr/>
        </p:nvSpPr>
        <p:spPr>
          <a:xfrm>
            <a:off x="6217920" y="1463040"/>
            <a:ext cx="2560320" cy="420624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645920"/>
            <a:ext cx="2011680" cy="640080"/>
          </a:xfrm>
          <a:prstGeom prst="rect">
            <a:avLst/>
          </a:prstGeom>
          <a:noFill/>
        </p:spPr>
        <p:txBody>
          <a:bodyPr wrap="square">
            <a:spAutoFit/>
          </a:bodyPr>
          <a:lstStyle/>
          <a:p>
            <a:pPr algn="ctr">
              <a:defRPr sz="3600" b="0">
                <a:solidFill>
                  <a:srgbClr val="333333"/>
                </a:solidFill>
                <a:latin typeface="Segoe UI"/>
              </a:defRPr>
            </a:pPr>
            <a:r>
              <a:t>🌐</a:t>
            </a:r>
          </a:p>
        </p:txBody>
      </p:sp>
      <p:sp>
        <p:nvSpPr>
          <p:cNvPr id="17" name="TextBox 16"/>
          <p:cNvSpPr txBox="1"/>
          <p:nvPr/>
        </p:nvSpPr>
        <p:spPr>
          <a:xfrm>
            <a:off x="6400800" y="2286000"/>
            <a:ext cx="2194560" cy="548640"/>
          </a:xfrm>
          <a:prstGeom prst="rect">
            <a:avLst/>
          </a:prstGeom>
          <a:noFill/>
        </p:spPr>
        <p:txBody>
          <a:bodyPr wrap="square">
            <a:spAutoFit/>
          </a:bodyPr>
          <a:lstStyle/>
          <a:p>
            <a:pPr algn="ctr">
              <a:defRPr sz="1800" b="1">
                <a:solidFill>
                  <a:srgbClr val="0078D4"/>
                </a:solidFill>
                <a:latin typeface="Segoe UI"/>
              </a:defRPr>
            </a:pPr>
            <a:r>
              <a:t>Tenant-Wide</a:t>
            </a:r>
          </a:p>
        </p:txBody>
      </p:sp>
      <p:sp>
        <p:nvSpPr>
          <p:cNvPr id="18" name="TextBox 17"/>
          <p:cNvSpPr txBox="1"/>
          <p:nvPr/>
        </p:nvSpPr>
        <p:spPr>
          <a:xfrm>
            <a:off x="6400800" y="3017520"/>
            <a:ext cx="2194560" cy="2286000"/>
          </a:xfrm>
          <a:prstGeom prst="rect">
            <a:avLst/>
          </a:prstGeom>
          <a:noFill/>
        </p:spPr>
        <p:txBody>
          <a:bodyPr wrap="square">
            <a:spAutoFit/>
          </a:bodyPr>
          <a:lstStyle/>
          <a:p>
            <a:pPr algn="ctr">
              <a:defRPr sz="1500" b="0">
                <a:solidFill>
                  <a:srgbClr val="333333"/>
                </a:solidFill>
                <a:latin typeface="Segoe UI"/>
              </a:defRPr>
            </a:pPr>
            <a:r>
              <a:t>Policy changes affect</a:t>
            </a:r>
            <a:br/>
            <a:r>
              <a:t>every user's OneDrive</a:t>
            </a:r>
            <a:br/>
            <a:r>
              <a:t>immediately or within hours</a:t>
            </a:r>
          </a:p>
        </p:txBody>
      </p:sp>
      <p:sp>
        <p:nvSpPr>
          <p:cNvPr id="19" name="Rounded Rectangle 18"/>
          <p:cNvSpPr/>
          <p:nvPr/>
        </p:nvSpPr>
        <p:spPr>
          <a:xfrm>
            <a:off x="9052560" y="1463040"/>
            <a:ext cx="2560320" cy="420624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645920"/>
            <a:ext cx="2011680" cy="640080"/>
          </a:xfrm>
          <a:prstGeom prst="rect">
            <a:avLst/>
          </a:prstGeom>
          <a:noFill/>
        </p:spPr>
        <p:txBody>
          <a:bodyPr wrap="square">
            <a:spAutoFit/>
          </a:bodyPr>
          <a:lstStyle/>
          <a:p>
            <a:pPr algn="ctr">
              <a:defRPr sz="3600" b="0">
                <a:solidFill>
                  <a:srgbClr val="333333"/>
                </a:solidFill>
                <a:latin typeface="Segoe UI"/>
              </a:defRPr>
            </a:pPr>
            <a:r>
              <a:t>⚠️</a:t>
            </a:r>
          </a:p>
        </p:txBody>
      </p:sp>
      <p:sp>
        <p:nvSpPr>
          <p:cNvPr id="21" name="TextBox 20"/>
          <p:cNvSpPr txBox="1"/>
          <p:nvPr/>
        </p:nvSpPr>
        <p:spPr>
          <a:xfrm>
            <a:off x="9235440" y="2286000"/>
            <a:ext cx="2194560" cy="548640"/>
          </a:xfrm>
          <a:prstGeom prst="rect">
            <a:avLst/>
          </a:prstGeom>
          <a:noFill/>
        </p:spPr>
        <p:txBody>
          <a:bodyPr wrap="square">
            <a:spAutoFit/>
          </a:bodyPr>
          <a:lstStyle/>
          <a:p>
            <a:pPr algn="ctr">
              <a:defRPr sz="1800" b="1">
                <a:solidFill>
                  <a:srgbClr val="0078D4"/>
                </a:solidFill>
                <a:latin typeface="Segoe UI"/>
              </a:defRPr>
            </a:pPr>
            <a:r>
              <a:t>Shared Tenant</a:t>
            </a:r>
          </a:p>
        </p:txBody>
      </p:sp>
      <p:sp>
        <p:nvSpPr>
          <p:cNvPr id="22" name="TextBox 21"/>
          <p:cNvSpPr txBox="1"/>
          <p:nvPr/>
        </p:nvSpPr>
        <p:spPr>
          <a:xfrm>
            <a:off x="9235440" y="3017520"/>
            <a:ext cx="2194560" cy="2286000"/>
          </a:xfrm>
          <a:prstGeom prst="rect">
            <a:avLst/>
          </a:prstGeom>
          <a:noFill/>
        </p:spPr>
        <p:txBody>
          <a:bodyPr wrap="square">
            <a:spAutoFit/>
          </a:bodyPr>
          <a:lstStyle/>
          <a:p>
            <a:pPr algn="ctr">
              <a:defRPr sz="1500" b="0">
                <a:solidFill>
                  <a:srgbClr val="333333"/>
                </a:solidFill>
                <a:latin typeface="Segoe UI"/>
              </a:defRPr>
            </a:pPr>
            <a:r>
              <a:t>In training: observe</a:t>
            </a:r>
            <a:br/>
            <a:r>
              <a:t>first, trainer changes</a:t>
            </a:r>
            <a:br/>
            <a:r>
              <a:t>policies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Learning Outcomes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731520" y="1463040"/>
            <a:ext cx="5029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defRPr>
            </a:pPr>
            <a:r>
              <a:t>1</a:t>
            </a:r>
          </a:p>
        </p:txBody>
      </p:sp>
      <p:sp>
        <p:nvSpPr>
          <p:cNvPr id="8" name="TextBox 7"/>
          <p:cNvSpPr txBox="1"/>
          <p:nvPr/>
        </p:nvSpPr>
        <p:spPr>
          <a:xfrm>
            <a:off x="1463040" y="1508760"/>
            <a:ext cx="9601200" cy="502920"/>
          </a:xfrm>
          <a:prstGeom prst="rect">
            <a:avLst/>
          </a:prstGeom>
          <a:noFill/>
        </p:spPr>
        <p:txBody>
          <a:bodyPr wrap="square">
            <a:spAutoFit/>
          </a:bodyPr>
          <a:lstStyle/>
          <a:p>
            <a:pPr algn="l">
              <a:defRPr sz="2000" b="0">
                <a:solidFill>
                  <a:srgbClr val="333333"/>
                </a:solidFill>
                <a:latin typeface="Segoe UI"/>
              </a:defRPr>
            </a:pPr>
            <a:r>
              <a:t>Explain how OneDrive for Business relates to SharePoint Online</a:t>
            </a:r>
          </a:p>
        </p:txBody>
      </p:sp>
      <p:sp>
        <p:nvSpPr>
          <p:cNvPr id="9" name="Rounded Rectangle 8"/>
          <p:cNvSpPr/>
          <p:nvPr/>
        </p:nvSpPr>
        <p:spPr>
          <a:xfrm>
            <a:off x="731520" y="2651760"/>
            <a:ext cx="5029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defRPr>
            </a:pPr>
            <a:r>
              <a:t>2</a:t>
            </a:r>
          </a:p>
        </p:txBody>
      </p:sp>
      <p:sp>
        <p:nvSpPr>
          <p:cNvPr id="10" name="TextBox 9"/>
          <p:cNvSpPr txBox="1"/>
          <p:nvPr/>
        </p:nvSpPr>
        <p:spPr>
          <a:xfrm>
            <a:off x="1463040" y="2697480"/>
            <a:ext cx="9601200" cy="502920"/>
          </a:xfrm>
          <a:prstGeom prst="rect">
            <a:avLst/>
          </a:prstGeom>
          <a:noFill/>
        </p:spPr>
        <p:txBody>
          <a:bodyPr wrap="square">
            <a:spAutoFit/>
          </a:bodyPr>
          <a:lstStyle/>
          <a:p>
            <a:pPr algn="l">
              <a:defRPr sz="2000" b="0">
                <a:solidFill>
                  <a:srgbClr val="333333"/>
                </a:solidFill>
                <a:latin typeface="Segoe UI"/>
              </a:defRPr>
            </a:pPr>
            <a:r>
              <a:t>Locate OneDrive admin settings in the SharePoint admin center</a:t>
            </a:r>
          </a:p>
        </p:txBody>
      </p:sp>
      <p:sp>
        <p:nvSpPr>
          <p:cNvPr id="11" name="Rounded Rectangle 10"/>
          <p:cNvSpPr/>
          <p:nvPr/>
        </p:nvSpPr>
        <p:spPr>
          <a:xfrm>
            <a:off x="731520" y="3840480"/>
            <a:ext cx="5029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defRPr>
            </a:pPr>
            <a:r>
              <a:t>3</a:t>
            </a:r>
          </a:p>
        </p:txBody>
      </p:sp>
      <p:sp>
        <p:nvSpPr>
          <p:cNvPr id="12" name="TextBox 11"/>
          <p:cNvSpPr txBox="1"/>
          <p:nvPr/>
        </p:nvSpPr>
        <p:spPr>
          <a:xfrm>
            <a:off x="1463040" y="3886200"/>
            <a:ext cx="9601200" cy="502920"/>
          </a:xfrm>
          <a:prstGeom prst="rect">
            <a:avLst/>
          </a:prstGeom>
          <a:noFill/>
        </p:spPr>
        <p:txBody>
          <a:bodyPr wrap="square">
            <a:spAutoFit/>
          </a:bodyPr>
          <a:lstStyle/>
          <a:p>
            <a:pPr algn="l">
              <a:defRPr sz="2000" b="0">
                <a:solidFill>
                  <a:srgbClr val="333333"/>
                </a:solidFill>
                <a:latin typeface="Segoe UI"/>
              </a:defRPr>
            </a:pPr>
            <a:r>
              <a:t>Describe key policy areas: sharing, sync, storage, retention, access control</a:t>
            </a:r>
          </a:p>
        </p:txBody>
      </p:sp>
      <p:sp>
        <p:nvSpPr>
          <p:cNvPr id="13" name="Rounded Rectangle 12"/>
          <p:cNvSpPr/>
          <p:nvPr/>
        </p:nvSpPr>
        <p:spPr>
          <a:xfrm>
            <a:off x="731520" y="5029200"/>
            <a:ext cx="5029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200" b="1">
                <a:solidFill>
                  <a:srgbClr val="FFFFFF"/>
                </a:solidFill>
              </a:defRPr>
            </a:pPr>
            <a:r>
              <a:t>4</a:t>
            </a:r>
          </a:p>
        </p:txBody>
      </p:sp>
      <p:sp>
        <p:nvSpPr>
          <p:cNvPr id="14" name="TextBox 13"/>
          <p:cNvSpPr txBox="1"/>
          <p:nvPr/>
        </p:nvSpPr>
        <p:spPr>
          <a:xfrm>
            <a:off x="1463040" y="5074920"/>
            <a:ext cx="9601200" cy="502920"/>
          </a:xfrm>
          <a:prstGeom prst="rect">
            <a:avLst/>
          </a:prstGeom>
          <a:noFill/>
        </p:spPr>
        <p:txBody>
          <a:bodyPr wrap="square">
            <a:spAutoFit/>
          </a:bodyPr>
          <a:lstStyle/>
          <a:p>
            <a:pPr algn="l">
              <a:defRPr sz="2000" b="0">
                <a:solidFill>
                  <a:srgbClr val="333333"/>
                </a:solidFill>
                <a:latin typeface="Segoe UI"/>
              </a:defRPr>
            </a:pPr>
            <a:r>
              <a:t>Explain the deleted-user OneDrive lifecycle and restore options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OneDrive Architecture: Admin Mental Model</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548640" y="2286000"/>
            <a:ext cx="2103120" cy="109728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Microsoft 365</a:t>
            </a:r>
            <a:br/>
            <a:r>
              <a:t>Tenant</a:t>
            </a:r>
          </a:p>
        </p:txBody>
      </p:sp>
      <p:sp>
        <p:nvSpPr>
          <p:cNvPr id="8" name="Rounded Rectangle 7"/>
          <p:cNvSpPr/>
          <p:nvPr/>
        </p:nvSpPr>
        <p:spPr>
          <a:xfrm>
            <a:off x="3200400" y="2286000"/>
            <a:ext cx="2103120" cy="1097280"/>
          </a:xfrm>
          <a:prstGeom prst="round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SharePoint</a:t>
            </a:r>
            <a:br/>
            <a:r>
              <a:t>Online</a:t>
            </a:r>
          </a:p>
        </p:txBody>
      </p:sp>
      <p:sp>
        <p:nvSpPr>
          <p:cNvPr id="9" name="Rounded Rectangle 8"/>
          <p:cNvSpPr/>
          <p:nvPr/>
        </p:nvSpPr>
        <p:spPr>
          <a:xfrm>
            <a:off x="5852160" y="1828800"/>
            <a:ext cx="2103120" cy="109728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{tenant}-my</a:t>
            </a:r>
            <a:br/>
            <a:r>
              <a:t>.sharepoint.com</a:t>
            </a:r>
          </a:p>
        </p:txBody>
      </p:sp>
      <p:sp>
        <p:nvSpPr>
          <p:cNvPr id="10" name="Rounded Rectangle 9"/>
          <p:cNvSpPr/>
          <p:nvPr/>
        </p:nvSpPr>
        <p:spPr>
          <a:xfrm>
            <a:off x="8961120" y="1463040"/>
            <a:ext cx="228600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User A</a:t>
            </a:r>
            <a:br/>
            <a:r>
              <a:t>OneDrive</a:t>
            </a:r>
          </a:p>
        </p:txBody>
      </p:sp>
      <p:sp>
        <p:nvSpPr>
          <p:cNvPr id="11" name="Rounded Rectangle 10"/>
          <p:cNvSpPr/>
          <p:nvPr/>
        </p:nvSpPr>
        <p:spPr>
          <a:xfrm>
            <a:off x="8961120" y="2926080"/>
            <a:ext cx="228600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User B</a:t>
            </a:r>
            <a:br/>
            <a:r>
              <a:t>OneDrive</a:t>
            </a:r>
          </a:p>
        </p:txBody>
      </p:sp>
      <p:sp>
        <p:nvSpPr>
          <p:cNvPr id="12" name="Rounded Rectangle 11"/>
          <p:cNvSpPr/>
          <p:nvPr/>
        </p:nvSpPr>
        <p:spPr>
          <a:xfrm>
            <a:off x="8961120" y="4389120"/>
            <a:ext cx="2286000" cy="10972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User C</a:t>
            </a:r>
            <a:br/>
            <a:r>
              <a:t>OneDrive</a:t>
            </a:r>
          </a:p>
        </p:txBody>
      </p:sp>
      <p:sp>
        <p:nvSpPr>
          <p:cNvPr id="13" name="TextBox 12"/>
          <p:cNvSpPr txBox="1"/>
          <p:nvPr/>
        </p:nvSpPr>
        <p:spPr>
          <a:xfrm>
            <a:off x="2651760" y="2651760"/>
            <a:ext cx="731520" cy="457200"/>
          </a:xfrm>
          <a:prstGeom prst="rect">
            <a:avLst/>
          </a:prstGeom>
          <a:noFill/>
        </p:spPr>
        <p:txBody>
          <a:bodyPr wrap="square">
            <a:spAutoFit/>
          </a:bodyPr>
          <a:lstStyle/>
          <a:p>
            <a:pPr algn="ctr">
              <a:defRPr sz="1800" b="1">
                <a:solidFill>
                  <a:srgbClr val="333333"/>
                </a:solidFill>
                <a:latin typeface="Segoe UI"/>
              </a:defRPr>
            </a:pPr>
            <a:r>
              <a:t>→</a:t>
            </a:r>
          </a:p>
        </p:txBody>
      </p:sp>
      <p:sp>
        <p:nvSpPr>
          <p:cNvPr id="14" name="TextBox 13"/>
          <p:cNvSpPr txBox="1"/>
          <p:nvPr/>
        </p:nvSpPr>
        <p:spPr>
          <a:xfrm>
            <a:off x="5303520" y="2651760"/>
            <a:ext cx="731520" cy="457200"/>
          </a:xfrm>
          <a:prstGeom prst="rect">
            <a:avLst/>
          </a:prstGeom>
          <a:noFill/>
        </p:spPr>
        <p:txBody>
          <a:bodyPr wrap="square">
            <a:spAutoFit/>
          </a:bodyPr>
          <a:lstStyle/>
          <a:p>
            <a:pPr algn="ctr">
              <a:defRPr sz="1800" b="1">
                <a:solidFill>
                  <a:srgbClr val="333333"/>
                </a:solidFill>
                <a:latin typeface="Segoe UI"/>
              </a:defRPr>
            </a:pPr>
            <a:r>
              <a:t>→</a:t>
            </a:r>
          </a:p>
        </p:txBody>
      </p:sp>
      <p:sp>
        <p:nvSpPr>
          <p:cNvPr id="15" name="TextBox 14"/>
          <p:cNvSpPr txBox="1"/>
          <p:nvPr/>
        </p:nvSpPr>
        <p:spPr>
          <a:xfrm>
            <a:off x="7955279" y="1828800"/>
            <a:ext cx="731520" cy="457200"/>
          </a:xfrm>
          <a:prstGeom prst="rect">
            <a:avLst/>
          </a:prstGeom>
          <a:noFill/>
        </p:spPr>
        <p:txBody>
          <a:bodyPr wrap="square">
            <a:spAutoFit/>
          </a:bodyPr>
          <a:lstStyle/>
          <a:p>
            <a:pPr algn="ctr">
              <a:defRPr sz="1800" b="1">
                <a:solidFill>
                  <a:srgbClr val="333333"/>
                </a:solidFill>
                <a:latin typeface="Segoe UI"/>
              </a:defRPr>
            </a:pPr>
            <a:r>
              <a:t>→</a:t>
            </a:r>
          </a:p>
        </p:txBody>
      </p:sp>
      <p:sp>
        <p:nvSpPr>
          <p:cNvPr id="16" name="TextBox 15"/>
          <p:cNvSpPr txBox="1"/>
          <p:nvPr/>
        </p:nvSpPr>
        <p:spPr>
          <a:xfrm>
            <a:off x="7955279" y="3200400"/>
            <a:ext cx="731520" cy="457200"/>
          </a:xfrm>
          <a:prstGeom prst="rect">
            <a:avLst/>
          </a:prstGeom>
          <a:noFill/>
        </p:spPr>
        <p:txBody>
          <a:bodyPr wrap="square">
            <a:spAutoFit/>
          </a:bodyPr>
          <a:lstStyle/>
          <a:p>
            <a:pPr algn="ctr">
              <a:defRPr sz="1800" b="1">
                <a:solidFill>
                  <a:srgbClr val="333333"/>
                </a:solidFill>
                <a:latin typeface="Segoe UI"/>
              </a:defRPr>
            </a:pPr>
            <a:r>
              <a:t>→</a:t>
            </a:r>
          </a:p>
        </p:txBody>
      </p:sp>
      <p:sp>
        <p:nvSpPr>
          <p:cNvPr id="17" name="TextBox 16"/>
          <p:cNvSpPr txBox="1"/>
          <p:nvPr/>
        </p:nvSpPr>
        <p:spPr>
          <a:xfrm>
            <a:off x="7955279" y="4663440"/>
            <a:ext cx="731520" cy="457200"/>
          </a:xfrm>
          <a:prstGeom prst="rect">
            <a:avLst/>
          </a:prstGeom>
          <a:noFill/>
        </p:spPr>
        <p:txBody>
          <a:bodyPr wrap="square">
            <a:spAutoFit/>
          </a:bodyPr>
          <a:lstStyle/>
          <a:p>
            <a:pPr algn="ctr">
              <a:defRPr sz="1800" b="1">
                <a:solidFill>
                  <a:srgbClr val="333333"/>
                </a:solidFill>
                <a:latin typeface="Segoe UI"/>
              </a:defRPr>
            </a:pPr>
            <a:r>
              <a:t>→</a:t>
            </a:r>
          </a:p>
        </p:txBody>
      </p:sp>
      <p:sp>
        <p:nvSpPr>
          <p:cNvPr id="18" name="Rounded Rectangle 17"/>
          <p:cNvSpPr/>
          <p:nvPr/>
        </p:nvSpPr>
        <p:spPr>
          <a:xfrm>
            <a:off x="548640" y="5029200"/>
            <a:ext cx="7315200" cy="914400"/>
          </a:xfrm>
          <a:prstGeom prst="roundRect">
            <a:avLst/>
          </a:prstGeom>
          <a:solidFill>
            <a:srgbClr val="E3F2FD"/>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20640"/>
            <a:ext cx="6766560" cy="731520"/>
          </a:xfrm>
          <a:prstGeom prst="rect">
            <a:avLst/>
          </a:prstGeom>
          <a:noFill/>
        </p:spPr>
        <p:txBody>
          <a:bodyPr wrap="square">
            <a:spAutoFit/>
          </a:bodyPr>
          <a:lstStyle/>
          <a:p>
            <a:pPr algn="l">
              <a:defRPr sz="1400" b="0">
                <a:solidFill>
                  <a:srgbClr val="333333"/>
                </a:solidFill>
                <a:latin typeface="Segoe UI"/>
              </a:defRPr>
            </a:pPr>
            <a:r>
              <a:t>💡 Each user's OneDrive is a SharePoint site collection.</a:t>
            </a:r>
            <a:br/>
            <a:r>
              <a:t>SharePoint policies, retention, and eDiscovery all apply.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1</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Where OneDrive Settings Live</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OneDrive Settings in the SharePoint Admin Center</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457200" y="137160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9" name="TextBox 8"/>
          <p:cNvSpPr txBox="1"/>
          <p:nvPr/>
        </p:nvSpPr>
        <p:spPr>
          <a:xfrm>
            <a:off x="1280160" y="1508760"/>
            <a:ext cx="2468880" cy="457200"/>
          </a:xfrm>
          <a:prstGeom prst="rect">
            <a:avLst/>
          </a:prstGeom>
          <a:noFill/>
        </p:spPr>
        <p:txBody>
          <a:bodyPr wrap="square">
            <a:spAutoFit/>
          </a:bodyPr>
          <a:lstStyle/>
          <a:p>
            <a:pPr algn="l">
              <a:defRPr sz="1700" b="1">
                <a:solidFill>
                  <a:srgbClr val="0078D4"/>
                </a:solidFill>
                <a:latin typeface="Segoe UI"/>
              </a:defRPr>
            </a:pPr>
            <a:r>
              <a:t>Sharing</a:t>
            </a:r>
          </a:p>
        </p:txBody>
      </p:sp>
      <p:sp>
        <p:nvSpPr>
          <p:cNvPr id="10" name="TextBox 9"/>
          <p:cNvSpPr txBox="1"/>
          <p:nvPr/>
        </p:nvSpPr>
        <p:spPr>
          <a:xfrm>
            <a:off x="640080" y="2103120"/>
            <a:ext cx="3200400" cy="914400"/>
          </a:xfrm>
          <a:prstGeom prst="rect">
            <a:avLst/>
          </a:prstGeom>
          <a:noFill/>
        </p:spPr>
        <p:txBody>
          <a:bodyPr wrap="square">
            <a:spAutoFit/>
          </a:bodyPr>
          <a:lstStyle/>
          <a:p>
            <a:pPr algn="l">
              <a:defRPr sz="1300" b="0">
                <a:solidFill>
                  <a:srgbClr val="333333"/>
                </a:solidFill>
                <a:latin typeface="Segoe UI"/>
              </a:defRPr>
            </a:pPr>
            <a:r>
              <a:t>Organization-wide sharing</a:t>
            </a:r>
            <a:br/>
            <a:r>
              <a:t>level and default link type</a:t>
            </a:r>
          </a:p>
        </p:txBody>
      </p:sp>
      <p:sp>
        <p:nvSpPr>
          <p:cNvPr id="11" name="TextBox 10"/>
          <p:cNvSpPr txBox="1"/>
          <p:nvPr/>
        </p:nvSpPr>
        <p:spPr>
          <a:xfrm>
            <a:off x="640080" y="3108960"/>
            <a:ext cx="3200400" cy="365760"/>
          </a:xfrm>
          <a:prstGeom prst="rect">
            <a:avLst/>
          </a:prstGeom>
          <a:noFill/>
        </p:spPr>
        <p:txBody>
          <a:bodyPr wrap="square">
            <a:spAutoFit/>
          </a:bodyPr>
          <a:lstStyle/>
          <a:p>
            <a:pPr algn="l">
              <a:defRPr sz="1100" b="0">
                <a:solidFill>
                  <a:srgbClr val="6B69D6"/>
                </a:solidFill>
                <a:latin typeface="Segoe UI"/>
              </a:defRPr>
            </a:pPr>
            <a:r>
              <a:t>📍 Sharing page</a:t>
            </a:r>
          </a:p>
        </p:txBody>
      </p:sp>
      <p:sp>
        <p:nvSpPr>
          <p:cNvPr id="12" name="Rounded Rectangle 11"/>
          <p:cNvSpPr/>
          <p:nvPr/>
        </p:nvSpPr>
        <p:spPr>
          <a:xfrm>
            <a:off x="4251960" y="137160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50876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14" name="TextBox 13"/>
          <p:cNvSpPr txBox="1"/>
          <p:nvPr/>
        </p:nvSpPr>
        <p:spPr>
          <a:xfrm>
            <a:off x="5074920" y="1508760"/>
            <a:ext cx="2468880" cy="457200"/>
          </a:xfrm>
          <a:prstGeom prst="rect">
            <a:avLst/>
          </a:prstGeom>
          <a:noFill/>
        </p:spPr>
        <p:txBody>
          <a:bodyPr wrap="square">
            <a:spAutoFit/>
          </a:bodyPr>
          <a:lstStyle/>
          <a:p>
            <a:pPr algn="l">
              <a:defRPr sz="1700" b="1">
                <a:solidFill>
                  <a:srgbClr val="0078D4"/>
                </a:solidFill>
                <a:latin typeface="Segoe UI"/>
              </a:defRPr>
            </a:pPr>
            <a:r>
              <a:t>Sync</a:t>
            </a:r>
          </a:p>
        </p:txBody>
      </p:sp>
      <p:sp>
        <p:nvSpPr>
          <p:cNvPr id="15" name="TextBox 14"/>
          <p:cNvSpPr txBox="1"/>
          <p:nvPr/>
        </p:nvSpPr>
        <p:spPr>
          <a:xfrm>
            <a:off x="4434840" y="2103120"/>
            <a:ext cx="3200400" cy="914400"/>
          </a:xfrm>
          <a:prstGeom prst="rect">
            <a:avLst/>
          </a:prstGeom>
          <a:noFill/>
        </p:spPr>
        <p:txBody>
          <a:bodyPr wrap="square">
            <a:spAutoFit/>
          </a:bodyPr>
          <a:lstStyle/>
          <a:p>
            <a:pPr algn="l">
              <a:defRPr sz="1300" b="0">
                <a:solidFill>
                  <a:srgbClr val="333333"/>
                </a:solidFill>
                <a:latin typeface="Segoe UI"/>
              </a:defRPr>
            </a:pPr>
            <a:r>
              <a:t>Tenant sync controls,</a:t>
            </a:r>
            <a:br/>
            <a:r>
              <a:t>hide Sync button option</a:t>
            </a:r>
          </a:p>
        </p:txBody>
      </p:sp>
      <p:sp>
        <p:nvSpPr>
          <p:cNvPr id="16" name="TextBox 15"/>
          <p:cNvSpPr txBox="1"/>
          <p:nvPr/>
        </p:nvSpPr>
        <p:spPr>
          <a:xfrm>
            <a:off x="4434840" y="3108960"/>
            <a:ext cx="3200400" cy="365760"/>
          </a:xfrm>
          <a:prstGeom prst="rect">
            <a:avLst/>
          </a:prstGeom>
          <a:noFill/>
        </p:spPr>
        <p:txBody>
          <a:bodyPr wrap="square">
            <a:spAutoFit/>
          </a:bodyPr>
          <a:lstStyle/>
          <a:p>
            <a:pPr algn="l">
              <a:defRPr sz="1100" b="0">
                <a:solidFill>
                  <a:srgbClr val="6B69D6"/>
                </a:solidFill>
                <a:latin typeface="Segoe UI"/>
              </a:defRPr>
            </a:pPr>
            <a:r>
              <a:t>📍 Settings → Sync</a:t>
            </a:r>
          </a:p>
        </p:txBody>
      </p:sp>
      <p:sp>
        <p:nvSpPr>
          <p:cNvPr id="17" name="Rounded Rectangle 16"/>
          <p:cNvSpPr/>
          <p:nvPr/>
        </p:nvSpPr>
        <p:spPr>
          <a:xfrm>
            <a:off x="8046720" y="137160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50876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19" name="TextBox 18"/>
          <p:cNvSpPr txBox="1"/>
          <p:nvPr/>
        </p:nvSpPr>
        <p:spPr>
          <a:xfrm>
            <a:off x="8869680" y="1508760"/>
            <a:ext cx="2468880" cy="457200"/>
          </a:xfrm>
          <a:prstGeom prst="rect">
            <a:avLst/>
          </a:prstGeom>
          <a:noFill/>
        </p:spPr>
        <p:txBody>
          <a:bodyPr wrap="square">
            <a:spAutoFit/>
          </a:bodyPr>
          <a:lstStyle/>
          <a:p>
            <a:pPr algn="l">
              <a:defRPr sz="1700" b="1">
                <a:solidFill>
                  <a:srgbClr val="0078D4"/>
                </a:solidFill>
                <a:latin typeface="Segoe UI"/>
              </a:defRPr>
            </a:pPr>
            <a:r>
              <a:t>Storage Limit</a:t>
            </a:r>
          </a:p>
        </p:txBody>
      </p:sp>
      <p:sp>
        <p:nvSpPr>
          <p:cNvPr id="20" name="TextBox 19"/>
          <p:cNvSpPr txBox="1"/>
          <p:nvPr/>
        </p:nvSpPr>
        <p:spPr>
          <a:xfrm>
            <a:off x="8229600" y="2103120"/>
            <a:ext cx="3200400" cy="914400"/>
          </a:xfrm>
          <a:prstGeom prst="rect">
            <a:avLst/>
          </a:prstGeom>
          <a:noFill/>
        </p:spPr>
        <p:txBody>
          <a:bodyPr wrap="square">
            <a:spAutoFit/>
          </a:bodyPr>
          <a:lstStyle/>
          <a:p>
            <a:pPr algn="l">
              <a:defRPr sz="1300" b="0">
                <a:solidFill>
                  <a:srgbClr val="333333"/>
                </a:solidFill>
                <a:latin typeface="Segoe UI"/>
              </a:defRPr>
            </a:pPr>
            <a:r>
              <a:t>Default quota for all</a:t>
            </a:r>
            <a:br/>
            <a:r>
              <a:t>new and existing users</a:t>
            </a:r>
          </a:p>
        </p:txBody>
      </p:sp>
      <p:sp>
        <p:nvSpPr>
          <p:cNvPr id="21" name="TextBox 20"/>
          <p:cNvSpPr txBox="1"/>
          <p:nvPr/>
        </p:nvSpPr>
        <p:spPr>
          <a:xfrm>
            <a:off x="8229600" y="3108960"/>
            <a:ext cx="3200400" cy="365760"/>
          </a:xfrm>
          <a:prstGeom prst="rect">
            <a:avLst/>
          </a:prstGeom>
          <a:noFill/>
        </p:spPr>
        <p:txBody>
          <a:bodyPr wrap="square">
            <a:spAutoFit/>
          </a:bodyPr>
          <a:lstStyle/>
          <a:p>
            <a:pPr algn="l">
              <a:defRPr sz="1100" b="0">
                <a:solidFill>
                  <a:srgbClr val="6B69D6"/>
                </a:solidFill>
                <a:latin typeface="Segoe UI"/>
              </a:defRPr>
            </a:pPr>
            <a:r>
              <a:t>📍 Settings → Storage limit</a:t>
            </a:r>
          </a:p>
        </p:txBody>
      </p:sp>
      <p:sp>
        <p:nvSpPr>
          <p:cNvPr id="22" name="Rounded Rectangle 21"/>
          <p:cNvSpPr/>
          <p:nvPr/>
        </p:nvSpPr>
        <p:spPr>
          <a:xfrm>
            <a:off x="457200" y="393192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6908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24" name="TextBox 23"/>
          <p:cNvSpPr txBox="1"/>
          <p:nvPr/>
        </p:nvSpPr>
        <p:spPr>
          <a:xfrm>
            <a:off x="1280160" y="4069080"/>
            <a:ext cx="2468880" cy="457200"/>
          </a:xfrm>
          <a:prstGeom prst="rect">
            <a:avLst/>
          </a:prstGeom>
          <a:noFill/>
        </p:spPr>
        <p:txBody>
          <a:bodyPr wrap="square">
            <a:spAutoFit/>
          </a:bodyPr>
          <a:lstStyle/>
          <a:p>
            <a:pPr algn="l">
              <a:defRPr sz="1700" b="1">
                <a:solidFill>
                  <a:srgbClr val="0078D4"/>
                </a:solidFill>
                <a:latin typeface="Segoe UI"/>
              </a:defRPr>
            </a:pPr>
            <a:r>
              <a:t>Retention</a:t>
            </a:r>
          </a:p>
        </p:txBody>
      </p:sp>
      <p:sp>
        <p:nvSpPr>
          <p:cNvPr id="25" name="TextBox 24"/>
          <p:cNvSpPr txBox="1"/>
          <p:nvPr/>
        </p:nvSpPr>
        <p:spPr>
          <a:xfrm>
            <a:off x="640080" y="4663440"/>
            <a:ext cx="3200400" cy="914400"/>
          </a:xfrm>
          <a:prstGeom prst="rect">
            <a:avLst/>
          </a:prstGeom>
          <a:noFill/>
        </p:spPr>
        <p:txBody>
          <a:bodyPr wrap="square">
            <a:spAutoFit/>
          </a:bodyPr>
          <a:lstStyle/>
          <a:p>
            <a:pPr algn="l">
              <a:defRPr sz="1300" b="0">
                <a:solidFill>
                  <a:srgbClr val="333333"/>
                </a:solidFill>
                <a:latin typeface="Segoe UI"/>
              </a:defRPr>
            </a:pPr>
            <a:r>
              <a:t>Days to keep deleted</a:t>
            </a:r>
            <a:br/>
            <a:r>
              <a:t>user's OneDrive (30–3650)</a:t>
            </a:r>
          </a:p>
        </p:txBody>
      </p:sp>
      <p:sp>
        <p:nvSpPr>
          <p:cNvPr id="26" name="TextBox 25"/>
          <p:cNvSpPr txBox="1"/>
          <p:nvPr/>
        </p:nvSpPr>
        <p:spPr>
          <a:xfrm>
            <a:off x="640080" y="5669280"/>
            <a:ext cx="3200400" cy="365760"/>
          </a:xfrm>
          <a:prstGeom prst="rect">
            <a:avLst/>
          </a:prstGeom>
          <a:noFill/>
        </p:spPr>
        <p:txBody>
          <a:bodyPr wrap="square">
            <a:spAutoFit/>
          </a:bodyPr>
          <a:lstStyle/>
          <a:p>
            <a:pPr algn="l">
              <a:defRPr sz="1100" b="0">
                <a:solidFill>
                  <a:srgbClr val="6B69D6"/>
                </a:solidFill>
                <a:latin typeface="Segoe UI"/>
              </a:defRPr>
            </a:pPr>
            <a:r>
              <a:t>📍 Settings → Retention</a:t>
            </a:r>
          </a:p>
        </p:txBody>
      </p:sp>
      <p:sp>
        <p:nvSpPr>
          <p:cNvPr id="27" name="Rounded Rectangle 26"/>
          <p:cNvSpPr/>
          <p:nvPr/>
        </p:nvSpPr>
        <p:spPr>
          <a:xfrm>
            <a:off x="4251960" y="393192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406908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29" name="TextBox 28"/>
          <p:cNvSpPr txBox="1"/>
          <p:nvPr/>
        </p:nvSpPr>
        <p:spPr>
          <a:xfrm>
            <a:off x="5074920" y="4069080"/>
            <a:ext cx="2468880" cy="457200"/>
          </a:xfrm>
          <a:prstGeom prst="rect">
            <a:avLst/>
          </a:prstGeom>
          <a:noFill/>
        </p:spPr>
        <p:txBody>
          <a:bodyPr wrap="square">
            <a:spAutoFit/>
          </a:bodyPr>
          <a:lstStyle/>
          <a:p>
            <a:pPr algn="l">
              <a:defRPr sz="1700" b="1">
                <a:solidFill>
                  <a:srgbClr val="0078D4"/>
                </a:solidFill>
                <a:latin typeface="Segoe UI"/>
              </a:defRPr>
            </a:pPr>
            <a:r>
              <a:t>Access Control</a:t>
            </a:r>
          </a:p>
        </p:txBody>
      </p:sp>
      <p:sp>
        <p:nvSpPr>
          <p:cNvPr id="30" name="TextBox 29"/>
          <p:cNvSpPr txBox="1"/>
          <p:nvPr/>
        </p:nvSpPr>
        <p:spPr>
          <a:xfrm>
            <a:off x="4434840" y="4663440"/>
            <a:ext cx="3200400" cy="914400"/>
          </a:xfrm>
          <a:prstGeom prst="rect">
            <a:avLst/>
          </a:prstGeom>
          <a:noFill/>
        </p:spPr>
        <p:txBody>
          <a:bodyPr wrap="square">
            <a:spAutoFit/>
          </a:bodyPr>
          <a:lstStyle/>
          <a:p>
            <a:pPr algn="l">
              <a:defRPr sz="1300" b="0">
                <a:solidFill>
                  <a:srgbClr val="333333"/>
                </a:solidFill>
                <a:latin typeface="Segoe UI"/>
              </a:defRPr>
            </a:pPr>
            <a:r>
              <a:t>Unmanaged devices,</a:t>
            </a:r>
            <a:br/>
            <a:r>
              <a:t>network location policy</a:t>
            </a:r>
          </a:p>
        </p:txBody>
      </p:sp>
      <p:sp>
        <p:nvSpPr>
          <p:cNvPr id="31" name="TextBox 30"/>
          <p:cNvSpPr txBox="1"/>
          <p:nvPr/>
        </p:nvSpPr>
        <p:spPr>
          <a:xfrm>
            <a:off x="4434840" y="5669280"/>
            <a:ext cx="3200400" cy="365760"/>
          </a:xfrm>
          <a:prstGeom prst="rect">
            <a:avLst/>
          </a:prstGeom>
          <a:noFill/>
        </p:spPr>
        <p:txBody>
          <a:bodyPr wrap="square">
            <a:spAutoFit/>
          </a:bodyPr>
          <a:lstStyle/>
          <a:p>
            <a:pPr algn="l">
              <a:defRPr sz="1100" b="0">
                <a:solidFill>
                  <a:srgbClr val="6B69D6"/>
                </a:solidFill>
                <a:latin typeface="Segoe UI"/>
              </a:defRPr>
            </a:pPr>
            <a:r>
              <a:t>📍 Access control page</a:t>
            </a:r>
          </a:p>
        </p:txBody>
      </p:sp>
      <p:sp>
        <p:nvSpPr>
          <p:cNvPr id="32" name="Rounded Rectangle 31"/>
          <p:cNvSpPr/>
          <p:nvPr/>
        </p:nvSpPr>
        <p:spPr>
          <a:xfrm>
            <a:off x="8046720" y="3931920"/>
            <a:ext cx="3566160" cy="22860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4069080"/>
            <a:ext cx="640080" cy="548640"/>
          </a:xfrm>
          <a:prstGeom prst="rect">
            <a:avLst/>
          </a:prstGeom>
          <a:noFill/>
        </p:spPr>
        <p:txBody>
          <a:bodyPr wrap="square">
            <a:spAutoFit/>
          </a:bodyPr>
          <a:lstStyle/>
          <a:p>
            <a:pPr algn="ctr">
              <a:defRPr sz="2800" b="0">
                <a:solidFill>
                  <a:srgbClr val="333333"/>
                </a:solidFill>
                <a:latin typeface="Segoe UI"/>
              </a:defRPr>
            </a:pPr>
            <a:r>
              <a:t>🔔</a:t>
            </a:r>
          </a:p>
        </p:txBody>
      </p:sp>
      <p:sp>
        <p:nvSpPr>
          <p:cNvPr id="34" name="TextBox 33"/>
          <p:cNvSpPr txBox="1"/>
          <p:nvPr/>
        </p:nvSpPr>
        <p:spPr>
          <a:xfrm>
            <a:off x="8869680" y="4069080"/>
            <a:ext cx="2468880" cy="457200"/>
          </a:xfrm>
          <a:prstGeom prst="rect">
            <a:avLst/>
          </a:prstGeom>
          <a:noFill/>
        </p:spPr>
        <p:txBody>
          <a:bodyPr wrap="square">
            <a:spAutoFit/>
          </a:bodyPr>
          <a:lstStyle/>
          <a:p>
            <a:pPr algn="l">
              <a:defRPr sz="1700" b="1">
                <a:solidFill>
                  <a:srgbClr val="0078D4"/>
                </a:solidFill>
                <a:latin typeface="Segoe UI"/>
              </a:defRPr>
            </a:pPr>
            <a:r>
              <a:t>Notifications</a:t>
            </a:r>
          </a:p>
        </p:txBody>
      </p:sp>
      <p:sp>
        <p:nvSpPr>
          <p:cNvPr id="35" name="TextBox 34"/>
          <p:cNvSpPr txBox="1"/>
          <p:nvPr/>
        </p:nvSpPr>
        <p:spPr>
          <a:xfrm>
            <a:off x="8229600" y="4663440"/>
            <a:ext cx="3200400" cy="914400"/>
          </a:xfrm>
          <a:prstGeom prst="rect">
            <a:avLst/>
          </a:prstGeom>
          <a:noFill/>
        </p:spPr>
        <p:txBody>
          <a:bodyPr wrap="square">
            <a:spAutoFit/>
          </a:bodyPr>
          <a:lstStyle/>
          <a:p>
            <a:pPr algn="l">
              <a:defRPr sz="1300" b="0">
                <a:solidFill>
                  <a:srgbClr val="333333"/>
                </a:solidFill>
                <a:latin typeface="Segoe UI"/>
              </a:defRPr>
            </a:pPr>
            <a:r>
              <a:t>External sharing</a:t>
            </a:r>
            <a:br/>
            <a:r>
              <a:t>notification settings</a:t>
            </a:r>
          </a:p>
        </p:txBody>
      </p:sp>
      <p:sp>
        <p:nvSpPr>
          <p:cNvPr id="36" name="TextBox 35"/>
          <p:cNvSpPr txBox="1"/>
          <p:nvPr/>
        </p:nvSpPr>
        <p:spPr>
          <a:xfrm>
            <a:off x="8229600" y="5669280"/>
            <a:ext cx="3200400" cy="365760"/>
          </a:xfrm>
          <a:prstGeom prst="rect">
            <a:avLst/>
          </a:prstGeom>
          <a:noFill/>
        </p:spPr>
        <p:txBody>
          <a:bodyPr wrap="square">
            <a:spAutoFit/>
          </a:bodyPr>
          <a:lstStyle/>
          <a:p>
            <a:pPr algn="l">
              <a:defRPr sz="1100" b="0">
                <a:solidFill>
                  <a:srgbClr val="6B69D6"/>
                </a:solidFill>
                <a:latin typeface="Segoe UI"/>
              </a:defRPr>
            </a:pPr>
            <a:r>
              <a:t>📍 Settings → Notifications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2</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Sharing &amp; Sync Controls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Sharing Controls: Policy vs User Action</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457200"/>
          </a:xfrm>
          <a:prstGeom prst="rect">
            <a:avLst/>
          </a:prstGeom>
          <a:noFill/>
        </p:spPr>
        <p:txBody>
          <a:bodyPr wrap="square">
            <a:spAutoFit/>
          </a:bodyPr>
          <a:lstStyle/>
          <a:p>
            <a:pPr algn="l">
              <a:defRPr sz="1800" b="1">
                <a:solidFill>
                  <a:srgbClr val="333333"/>
                </a:solidFill>
                <a:latin typeface="Segoe UI"/>
              </a:defRPr>
            </a:pPr>
            <a:r>
              <a:t>Tenant policy sets the boundaries → Users share within those boundaries</a:t>
            </a:r>
          </a:p>
        </p:txBody>
      </p:sp>
      <p:sp>
        <p:nvSpPr>
          <p:cNvPr id="8" name="Rounded Rectangle 7"/>
          <p:cNvSpPr/>
          <p:nvPr/>
        </p:nvSpPr>
        <p:spPr>
          <a:xfrm>
            <a:off x="548640" y="2103120"/>
            <a:ext cx="5303520" cy="3657600"/>
          </a:xfrm>
          <a:prstGeom prst="roundRect">
            <a:avLst/>
          </a:prstGeom>
          <a:solidFill>
            <a:srgbClr val="F5F5F5"/>
          </a:solidFill>
          <a:ln w="12700">
            <a:solidFill>
              <a:srgbClr val="00B2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103120"/>
            <a:ext cx="53035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86000"/>
            <a:ext cx="4754880" cy="457200"/>
          </a:xfrm>
          <a:prstGeom prst="rect">
            <a:avLst/>
          </a:prstGeom>
          <a:noFill/>
        </p:spPr>
        <p:txBody>
          <a:bodyPr wrap="square">
            <a:spAutoFit/>
          </a:bodyPr>
          <a:lstStyle/>
          <a:p>
            <a:pPr algn="l">
              <a:defRPr sz="1700" b="1">
                <a:solidFill>
                  <a:srgbClr val="00B294"/>
                </a:solidFill>
                <a:latin typeface="Segoe UI"/>
              </a:defRPr>
            </a:pPr>
            <a:r>
              <a:t>Admin Policy (Boundary)</a:t>
            </a:r>
          </a:p>
        </p:txBody>
      </p:sp>
      <p:sp>
        <p:nvSpPr>
          <p:cNvPr id="11" name="TextBox 10"/>
          <p:cNvSpPr txBox="1"/>
          <p:nvPr/>
        </p:nvSpPr>
        <p:spPr>
          <a:xfrm>
            <a:off x="822960" y="2926080"/>
            <a:ext cx="4754880" cy="2560320"/>
          </a:xfrm>
          <a:prstGeom prst="rect">
            <a:avLst/>
          </a:prstGeom>
          <a:noFill/>
        </p:spPr>
        <p:txBody>
          <a:bodyPr wrap="square">
            <a:spAutoFit/>
          </a:bodyPr>
          <a:lstStyle/>
          <a:p>
            <a:pPr>
              <a:spcAft>
                <a:spcPts val="1000"/>
              </a:spcAft>
              <a:defRPr sz="1500">
                <a:solidFill>
                  <a:srgbClr val="333333"/>
                </a:solidFill>
                <a:latin typeface="Segoe UI"/>
              </a:defRPr>
            </a:pPr>
            <a:r>
              <a:t>• Set organization-wide sharing level</a:t>
            </a:r>
          </a:p>
          <a:p>
            <a:pPr>
              <a:spcAft>
                <a:spcPts val="1000"/>
              </a:spcAft>
              <a:defRPr sz="1500">
                <a:solidFill>
                  <a:srgbClr val="333333"/>
                </a:solidFill>
                <a:latin typeface="Segoe UI"/>
              </a:defRPr>
            </a:pPr>
            <a:r>
              <a:t>• Configure default sharing link type</a:t>
            </a:r>
          </a:p>
          <a:p>
            <a:pPr>
              <a:spcAft>
                <a:spcPts val="1000"/>
              </a:spcAft>
              <a:defRPr sz="1500">
                <a:solidFill>
                  <a:srgbClr val="333333"/>
                </a:solidFill>
                <a:latin typeface="Segoe UI"/>
              </a:defRPr>
            </a:pPr>
            <a:r>
              <a:t>• Control 'Anyone' link expiration</a:t>
            </a:r>
          </a:p>
          <a:p>
            <a:pPr>
              <a:spcAft>
                <a:spcPts val="1000"/>
              </a:spcAft>
              <a:defRPr sz="1500">
                <a:solidFill>
                  <a:srgbClr val="333333"/>
                </a:solidFill>
                <a:latin typeface="Segoe UI"/>
              </a:defRPr>
            </a:pPr>
            <a:r>
              <a:t>• Restrict external sharing by domain</a:t>
            </a:r>
          </a:p>
          <a:p>
            <a:pPr>
              <a:spcAft>
                <a:spcPts val="1000"/>
              </a:spcAft>
              <a:defRPr sz="1500">
                <a:solidFill>
                  <a:srgbClr val="333333"/>
                </a:solidFill>
                <a:latin typeface="Segoe UI"/>
              </a:defRPr>
            </a:pPr>
            <a:r>
              <a:t>• OneDrive sharing ≤ SharePoint level</a:t>
            </a:r>
          </a:p>
        </p:txBody>
      </p:sp>
      <p:sp>
        <p:nvSpPr>
          <p:cNvPr id="12" name="Rounded Rectangle 11"/>
          <p:cNvSpPr/>
          <p:nvPr/>
        </p:nvSpPr>
        <p:spPr>
          <a:xfrm>
            <a:off x="6309359" y="2103120"/>
            <a:ext cx="5303520" cy="3657600"/>
          </a:xfrm>
          <a:prstGeom prst="roundRect">
            <a:avLst/>
          </a:prstGeom>
          <a:solidFill>
            <a:srgbClr val="F5F5F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59" y="2103120"/>
            <a:ext cx="53035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79" y="2286000"/>
            <a:ext cx="4754880" cy="457200"/>
          </a:xfrm>
          <a:prstGeom prst="rect">
            <a:avLst/>
          </a:prstGeom>
          <a:noFill/>
        </p:spPr>
        <p:txBody>
          <a:bodyPr wrap="square">
            <a:spAutoFit/>
          </a:bodyPr>
          <a:lstStyle/>
          <a:p>
            <a:pPr algn="l">
              <a:defRPr sz="1700" b="1">
                <a:solidFill>
                  <a:srgbClr val="0078D4"/>
                </a:solidFill>
                <a:latin typeface="Segoe UI"/>
              </a:defRPr>
            </a:pPr>
            <a:r>
              <a:t>User Action (Within Boundary)</a:t>
            </a:r>
          </a:p>
        </p:txBody>
      </p:sp>
      <p:sp>
        <p:nvSpPr>
          <p:cNvPr id="15" name="TextBox 14"/>
          <p:cNvSpPr txBox="1"/>
          <p:nvPr/>
        </p:nvSpPr>
        <p:spPr>
          <a:xfrm>
            <a:off x="6583679" y="2926080"/>
            <a:ext cx="4754880" cy="2560320"/>
          </a:xfrm>
          <a:prstGeom prst="rect">
            <a:avLst/>
          </a:prstGeom>
          <a:noFill/>
        </p:spPr>
        <p:txBody>
          <a:bodyPr wrap="square">
            <a:spAutoFit/>
          </a:bodyPr>
          <a:lstStyle/>
          <a:p>
            <a:pPr>
              <a:spcAft>
                <a:spcPts val="1000"/>
              </a:spcAft>
              <a:defRPr sz="1500">
                <a:solidFill>
                  <a:srgbClr val="333333"/>
                </a:solidFill>
                <a:latin typeface="Segoe UI"/>
              </a:defRPr>
            </a:pPr>
            <a:r>
              <a:t>• Share files and folders with others</a:t>
            </a:r>
          </a:p>
          <a:p>
            <a:pPr>
              <a:spcAft>
                <a:spcPts val="1000"/>
              </a:spcAft>
              <a:defRPr sz="1500">
                <a:solidFill>
                  <a:srgbClr val="333333"/>
                </a:solidFill>
                <a:latin typeface="Segoe UI"/>
              </a:defRPr>
            </a:pPr>
            <a:r>
              <a:t>• Choose link type (within policy limits)</a:t>
            </a:r>
          </a:p>
          <a:p>
            <a:pPr>
              <a:spcAft>
                <a:spcPts val="1000"/>
              </a:spcAft>
              <a:defRPr sz="1500">
                <a:solidFill>
                  <a:srgbClr val="333333"/>
                </a:solidFill>
                <a:latin typeface="Segoe UI"/>
              </a:defRPr>
            </a:pPr>
            <a:r>
              <a:t>• Grant Edit or View permissions</a:t>
            </a:r>
          </a:p>
          <a:p>
            <a:pPr>
              <a:spcAft>
                <a:spcPts val="1000"/>
              </a:spcAft>
              <a:defRPr sz="1500">
                <a:solidFill>
                  <a:srgbClr val="333333"/>
                </a:solidFill>
                <a:latin typeface="Segoe UI"/>
              </a:defRPr>
            </a:pPr>
            <a:r>
              <a:t>• Share internally or externally (if allowed)</a:t>
            </a:r>
          </a:p>
          <a:p>
            <a:pPr>
              <a:spcAft>
                <a:spcPts val="1000"/>
              </a:spcAft>
              <a:defRPr sz="1500">
                <a:solidFill>
                  <a:srgbClr val="333333"/>
                </a:solidFill>
                <a:latin typeface="Segoe UI"/>
              </a:defRPr>
            </a:pPr>
            <a:r>
              <a:t>• Manage shared file access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Sync Controls: Shortcuts vs Sync Button</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ectangle 6"/>
          <p:cNvSpPr/>
          <p:nvPr/>
        </p:nvSpPr>
        <p:spPr>
          <a:xfrm>
            <a:off x="548640" y="1371600"/>
            <a:ext cx="5303520" cy="59436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17320"/>
            <a:ext cx="4937760" cy="502920"/>
          </a:xfrm>
          <a:prstGeom prst="rect">
            <a:avLst/>
          </a:prstGeom>
          <a:noFill/>
        </p:spPr>
        <p:txBody>
          <a:bodyPr wrap="square">
            <a:spAutoFit/>
          </a:bodyPr>
          <a:lstStyle/>
          <a:p>
            <a:pPr algn="ctr">
              <a:defRPr sz="1800" b="1">
                <a:solidFill>
                  <a:srgbClr val="FFFFFF"/>
                </a:solidFill>
                <a:latin typeface="Segoe UI"/>
              </a:defRPr>
            </a:pPr>
            <a:r>
              <a:t>✅  Shortcuts (Recommended)</a:t>
            </a:r>
          </a:p>
        </p:txBody>
      </p:sp>
      <p:sp>
        <p:nvSpPr>
          <p:cNvPr id="9" name="Rectangle 8"/>
          <p:cNvSpPr/>
          <p:nvPr/>
        </p:nvSpPr>
        <p:spPr>
          <a:xfrm>
            <a:off x="6217920" y="1371600"/>
            <a:ext cx="5394960" cy="59436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417320"/>
            <a:ext cx="5029200" cy="502920"/>
          </a:xfrm>
          <a:prstGeom prst="rect">
            <a:avLst/>
          </a:prstGeom>
          <a:noFill/>
        </p:spPr>
        <p:txBody>
          <a:bodyPr wrap="square">
            <a:spAutoFit/>
          </a:bodyPr>
          <a:lstStyle/>
          <a:p>
            <a:pPr algn="ctr">
              <a:defRPr sz="1800" b="1">
                <a:solidFill>
                  <a:srgbClr val="FFFFFF"/>
                </a:solidFill>
                <a:latin typeface="Segoe UI"/>
              </a:defRPr>
            </a:pPr>
            <a:r>
              <a:t>⚠️  Sync Button (Legacy Approach)</a:t>
            </a:r>
          </a:p>
        </p:txBody>
      </p:sp>
      <p:sp>
        <p:nvSpPr>
          <p:cNvPr id="11" name="TextBox 10"/>
          <p:cNvSpPr txBox="1"/>
          <p:nvPr/>
        </p:nvSpPr>
        <p:spPr>
          <a:xfrm>
            <a:off x="731520" y="2286000"/>
            <a:ext cx="4937760" cy="2743200"/>
          </a:xfrm>
          <a:prstGeom prst="rect">
            <a:avLst/>
          </a:prstGeom>
          <a:noFill/>
        </p:spPr>
        <p:txBody>
          <a:bodyPr wrap="square">
            <a:spAutoFit/>
          </a:bodyPr>
          <a:lstStyle/>
          <a:p>
            <a:pPr>
              <a:spcAft>
                <a:spcPts val="1000"/>
              </a:spcAft>
              <a:defRPr sz="1500">
                <a:solidFill>
                  <a:srgbClr val="333333"/>
                </a:solidFill>
                <a:latin typeface="Segoe UI"/>
              </a:defRPr>
            </a:pPr>
            <a:r>
              <a:t>→ Add shortcut to OneDrive</a:t>
            </a:r>
          </a:p>
          <a:p>
            <a:pPr>
              <a:spcAft>
                <a:spcPts val="1000"/>
              </a:spcAft>
              <a:defRPr sz="1500">
                <a:solidFill>
                  <a:srgbClr val="333333"/>
                </a:solidFill>
                <a:latin typeface="Segoe UI"/>
              </a:defRPr>
            </a:pPr>
            <a:r>
              <a:t>→ Linked to user account (follows across devices)</a:t>
            </a:r>
          </a:p>
          <a:p>
            <a:pPr>
              <a:spcAft>
                <a:spcPts val="1000"/>
              </a:spcAft>
              <a:defRPr sz="1500">
                <a:solidFill>
                  <a:srgbClr val="333333"/>
                </a:solidFill>
                <a:latin typeface="Segoe UI"/>
              </a:defRPr>
            </a:pPr>
            <a:r>
              <a:t>→ Only the specific folder is synced</a:t>
            </a:r>
          </a:p>
          <a:p>
            <a:pPr>
              <a:spcAft>
                <a:spcPts val="1000"/>
              </a:spcAft>
              <a:defRPr sz="1500">
                <a:solidFill>
                  <a:srgbClr val="333333"/>
                </a:solidFill>
                <a:latin typeface="Segoe UI"/>
              </a:defRPr>
            </a:pPr>
            <a:r>
              <a:t>→ More performant than full library sync</a:t>
            </a:r>
          </a:p>
          <a:p>
            <a:pPr>
              <a:spcAft>
                <a:spcPts val="1000"/>
              </a:spcAft>
              <a:defRPr sz="1500">
                <a:solidFill>
                  <a:srgbClr val="333333"/>
                </a:solidFill>
                <a:latin typeface="Segoe UI"/>
              </a:defRPr>
            </a:pPr>
            <a:r>
              <a:t>→ Microsoft-recommended approach</a:t>
            </a:r>
          </a:p>
        </p:txBody>
      </p:sp>
      <p:sp>
        <p:nvSpPr>
          <p:cNvPr id="12" name="TextBox 11"/>
          <p:cNvSpPr txBox="1"/>
          <p:nvPr/>
        </p:nvSpPr>
        <p:spPr>
          <a:xfrm>
            <a:off x="6400800" y="2286000"/>
            <a:ext cx="5029200" cy="2743200"/>
          </a:xfrm>
          <a:prstGeom prst="rect">
            <a:avLst/>
          </a:prstGeom>
          <a:noFill/>
        </p:spPr>
        <p:txBody>
          <a:bodyPr wrap="square">
            <a:spAutoFit/>
          </a:bodyPr>
          <a:lstStyle/>
          <a:p>
            <a:pPr>
              <a:spcAft>
                <a:spcPts val="1000"/>
              </a:spcAft>
              <a:defRPr sz="1500">
                <a:solidFill>
                  <a:srgbClr val="333333"/>
                </a:solidFill>
                <a:latin typeface="Segoe UI"/>
              </a:defRPr>
            </a:pPr>
            <a:r>
              <a:t>→ Syncs entire library to the device</a:t>
            </a:r>
          </a:p>
          <a:p>
            <a:pPr>
              <a:spcAft>
                <a:spcPts val="1000"/>
              </a:spcAft>
              <a:defRPr sz="1500">
                <a:solidFill>
                  <a:srgbClr val="333333"/>
                </a:solidFill>
                <a:latin typeface="Segoe UI"/>
              </a:defRPr>
            </a:pPr>
            <a:r>
              <a:t>→ Device-bound (doesn't follow the user)</a:t>
            </a:r>
          </a:p>
          <a:p>
            <a:pPr>
              <a:spcAft>
                <a:spcPts val="1000"/>
              </a:spcAft>
              <a:defRPr sz="1500">
                <a:solidFill>
                  <a:srgbClr val="333333"/>
                </a:solidFill>
                <a:latin typeface="Segoe UI"/>
              </a:defRPr>
            </a:pPr>
            <a:r>
              <a:t>→ Can cause large sync queues</a:t>
            </a:r>
          </a:p>
          <a:p>
            <a:pPr>
              <a:spcAft>
                <a:spcPts val="1000"/>
              </a:spcAft>
              <a:defRPr sz="1500">
                <a:solidFill>
                  <a:srgbClr val="333333"/>
                </a:solidFill>
                <a:latin typeface="Segoe UI"/>
              </a:defRPr>
            </a:pPr>
            <a:r>
              <a:t>→ Existing syncs not affected if hidden</a:t>
            </a:r>
          </a:p>
          <a:p>
            <a:pPr>
              <a:spcAft>
                <a:spcPts val="1000"/>
              </a:spcAft>
              <a:defRPr sz="1500">
                <a:solidFill>
                  <a:srgbClr val="333333"/>
                </a:solidFill>
                <a:latin typeface="Segoe UI"/>
              </a:defRPr>
            </a:pPr>
            <a:r>
              <a:t>→ Admin can hide via Set-SPOTenant</a:t>
            </a:r>
          </a:p>
        </p:txBody>
      </p:sp>
      <p:sp>
        <p:nvSpPr>
          <p:cNvPr id="13" name="Rounded Rectangle 12"/>
          <p:cNvSpPr/>
          <p:nvPr/>
        </p:nvSpPr>
        <p:spPr>
          <a:xfrm>
            <a:off x="548640" y="5303520"/>
            <a:ext cx="10972800" cy="9144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94960"/>
            <a:ext cx="10424160" cy="731520"/>
          </a:xfrm>
          <a:prstGeom prst="rect">
            <a:avLst/>
          </a:prstGeom>
          <a:noFill/>
        </p:spPr>
        <p:txBody>
          <a:bodyPr wrap="square">
            <a:spAutoFit/>
          </a:bodyPr>
          <a:lstStyle/>
          <a:p>
            <a:pPr algn="l">
              <a:defRPr sz="1500" b="0">
                <a:solidFill>
                  <a:srgbClr val="CED4DA"/>
                </a:solidFill>
                <a:latin typeface="Cascadia Code"/>
              </a:defRPr>
            </a:pPr>
            <a:r>
              <a:t>Set-SPOTenant -HideSyncButtonOnTeamSite $true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3</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Storage Policies &amp; Access Control</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Storage Policies: Quotas and Risks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457200"/>
          </a:xfrm>
          <a:prstGeom prst="rect">
            <a:avLst/>
          </a:prstGeom>
          <a:noFill/>
        </p:spPr>
        <p:txBody>
          <a:bodyPr wrap="square">
            <a:spAutoFit/>
          </a:bodyPr>
          <a:lstStyle/>
          <a:p>
            <a:pPr algn="l">
              <a:defRPr sz="1800" b="1">
                <a:solidFill>
                  <a:srgbClr val="333333"/>
                </a:solidFill>
                <a:latin typeface="Segoe UI"/>
              </a:defRPr>
            </a:pPr>
            <a:r>
              <a:t>Storage management has three layers:</a:t>
            </a:r>
          </a:p>
        </p:txBody>
      </p:sp>
      <p:sp>
        <p:nvSpPr>
          <p:cNvPr id="8" name="Rounded Rectangle 7"/>
          <p:cNvSpPr/>
          <p:nvPr/>
        </p:nvSpPr>
        <p:spPr>
          <a:xfrm>
            <a:off x="457200" y="2194560"/>
            <a:ext cx="3566160" cy="2286000"/>
          </a:xfrm>
          <a:prstGeom prst="roundRect">
            <a:avLst/>
          </a:prstGeom>
          <a:solidFill>
            <a:srgbClr val="F5F5F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377440"/>
            <a:ext cx="4572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10" name="TextBox 9"/>
          <p:cNvSpPr txBox="1"/>
          <p:nvPr/>
        </p:nvSpPr>
        <p:spPr>
          <a:xfrm>
            <a:off x="1371600" y="2423160"/>
            <a:ext cx="2377440" cy="365760"/>
          </a:xfrm>
          <a:prstGeom prst="rect">
            <a:avLst/>
          </a:prstGeom>
          <a:noFill/>
        </p:spPr>
        <p:txBody>
          <a:bodyPr wrap="square">
            <a:spAutoFit/>
          </a:bodyPr>
          <a:lstStyle/>
          <a:p>
            <a:pPr algn="l">
              <a:defRPr sz="1500" b="1">
                <a:solidFill>
                  <a:srgbClr val="0078D4"/>
                </a:solidFill>
                <a:latin typeface="Segoe UI"/>
              </a:defRPr>
            </a:pPr>
            <a:r>
              <a:t>License-Based Maximum</a:t>
            </a:r>
          </a:p>
        </p:txBody>
      </p:sp>
      <p:sp>
        <p:nvSpPr>
          <p:cNvPr id="11" name="TextBox 10"/>
          <p:cNvSpPr txBox="1"/>
          <p:nvPr/>
        </p:nvSpPr>
        <p:spPr>
          <a:xfrm>
            <a:off x="731520" y="3017520"/>
            <a:ext cx="3017520" cy="1097280"/>
          </a:xfrm>
          <a:prstGeom prst="rect">
            <a:avLst/>
          </a:prstGeom>
          <a:noFill/>
        </p:spPr>
        <p:txBody>
          <a:bodyPr wrap="square">
            <a:spAutoFit/>
          </a:bodyPr>
          <a:lstStyle/>
          <a:p>
            <a:pPr algn="ctr">
              <a:defRPr sz="1400" b="0">
                <a:solidFill>
                  <a:srgbClr val="333333"/>
                </a:solidFill>
                <a:latin typeface="Segoe UI"/>
              </a:defRPr>
            </a:pPr>
            <a:r>
              <a:t>Determined by the user's</a:t>
            </a:r>
            <a:br/>
            <a:r>
              <a:t>license plan (e.g., 1 TB or 5 TB)</a:t>
            </a:r>
          </a:p>
        </p:txBody>
      </p:sp>
      <p:sp>
        <p:nvSpPr>
          <p:cNvPr id="12" name="Rounded Rectangle 11"/>
          <p:cNvSpPr/>
          <p:nvPr/>
        </p:nvSpPr>
        <p:spPr>
          <a:xfrm>
            <a:off x="4251960" y="2194560"/>
            <a:ext cx="3566160" cy="2286000"/>
          </a:xfrm>
          <a:prstGeom prst="roundRect">
            <a:avLst/>
          </a:prstGeom>
          <a:solidFill>
            <a:srgbClr val="F5F5F5"/>
          </a:solidFill>
          <a:ln w="12700">
            <a:solidFill>
              <a:srgbClr val="6B69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26280" y="2377440"/>
            <a:ext cx="457200" cy="457200"/>
          </a:xfrm>
          <a:prstGeom prst="round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4" name="TextBox 13"/>
          <p:cNvSpPr txBox="1"/>
          <p:nvPr/>
        </p:nvSpPr>
        <p:spPr>
          <a:xfrm>
            <a:off x="5166360" y="2423160"/>
            <a:ext cx="2377440" cy="365760"/>
          </a:xfrm>
          <a:prstGeom prst="rect">
            <a:avLst/>
          </a:prstGeom>
          <a:noFill/>
        </p:spPr>
        <p:txBody>
          <a:bodyPr wrap="square">
            <a:spAutoFit/>
          </a:bodyPr>
          <a:lstStyle/>
          <a:p>
            <a:pPr algn="l">
              <a:defRPr sz="1500" b="1">
                <a:solidFill>
                  <a:srgbClr val="6B69D6"/>
                </a:solidFill>
                <a:latin typeface="Segoe UI"/>
              </a:defRPr>
            </a:pPr>
            <a:r>
              <a:t>Tenant Default</a:t>
            </a:r>
          </a:p>
        </p:txBody>
      </p:sp>
      <p:sp>
        <p:nvSpPr>
          <p:cNvPr id="15" name="TextBox 14"/>
          <p:cNvSpPr txBox="1"/>
          <p:nvPr/>
        </p:nvSpPr>
        <p:spPr>
          <a:xfrm>
            <a:off x="4526280" y="3017520"/>
            <a:ext cx="3017520" cy="1097280"/>
          </a:xfrm>
          <a:prstGeom prst="rect">
            <a:avLst/>
          </a:prstGeom>
          <a:noFill/>
        </p:spPr>
        <p:txBody>
          <a:bodyPr wrap="square">
            <a:spAutoFit/>
          </a:bodyPr>
          <a:lstStyle/>
          <a:p>
            <a:pPr algn="ctr">
              <a:defRPr sz="1400" b="0">
                <a:solidFill>
                  <a:srgbClr val="333333"/>
                </a:solidFill>
                <a:latin typeface="Segoe UI"/>
              </a:defRPr>
            </a:pPr>
            <a:r>
              <a:t>Admin sets a default storage</a:t>
            </a:r>
            <a:br/>
            <a:r>
              <a:t>limit for all new/existing users</a:t>
            </a:r>
          </a:p>
        </p:txBody>
      </p:sp>
      <p:sp>
        <p:nvSpPr>
          <p:cNvPr id="16" name="Rounded Rectangle 15"/>
          <p:cNvSpPr/>
          <p:nvPr/>
        </p:nvSpPr>
        <p:spPr>
          <a:xfrm>
            <a:off x="8046720" y="2194560"/>
            <a:ext cx="3566160" cy="2286000"/>
          </a:xfrm>
          <a:prstGeom prst="roundRect">
            <a:avLst/>
          </a:prstGeom>
          <a:solidFill>
            <a:srgbClr val="F5F5F5"/>
          </a:solidFill>
          <a:ln w="12700">
            <a:solidFill>
              <a:srgbClr val="00B2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21040" y="2377440"/>
            <a:ext cx="457200" cy="45720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8" name="TextBox 17"/>
          <p:cNvSpPr txBox="1"/>
          <p:nvPr/>
        </p:nvSpPr>
        <p:spPr>
          <a:xfrm>
            <a:off x="8961120" y="2423160"/>
            <a:ext cx="2377440" cy="365760"/>
          </a:xfrm>
          <a:prstGeom prst="rect">
            <a:avLst/>
          </a:prstGeom>
          <a:noFill/>
        </p:spPr>
        <p:txBody>
          <a:bodyPr wrap="square">
            <a:spAutoFit/>
          </a:bodyPr>
          <a:lstStyle/>
          <a:p>
            <a:pPr algn="l">
              <a:defRPr sz="1500" b="1">
                <a:solidFill>
                  <a:srgbClr val="00B294"/>
                </a:solidFill>
                <a:latin typeface="Segoe UI"/>
              </a:defRPr>
            </a:pPr>
            <a:r>
              <a:t>Per-User Override</a:t>
            </a:r>
          </a:p>
        </p:txBody>
      </p:sp>
      <p:sp>
        <p:nvSpPr>
          <p:cNvPr id="19" name="TextBox 18"/>
          <p:cNvSpPr txBox="1"/>
          <p:nvPr/>
        </p:nvSpPr>
        <p:spPr>
          <a:xfrm>
            <a:off x="8321040" y="3017520"/>
            <a:ext cx="3017520" cy="1097280"/>
          </a:xfrm>
          <a:prstGeom prst="rect">
            <a:avLst/>
          </a:prstGeom>
          <a:noFill/>
        </p:spPr>
        <p:txBody>
          <a:bodyPr wrap="square">
            <a:spAutoFit/>
          </a:bodyPr>
          <a:lstStyle/>
          <a:p>
            <a:pPr algn="ctr">
              <a:defRPr sz="1400" b="0">
                <a:solidFill>
                  <a:srgbClr val="333333"/>
                </a:solidFill>
                <a:latin typeface="Segoe UI"/>
              </a:defRPr>
            </a:pPr>
            <a:r>
              <a:t>Admin can set a custom quota</a:t>
            </a:r>
            <a:br/>
            <a:r>
              <a:t>for specific individual users</a:t>
            </a:r>
          </a:p>
        </p:txBody>
      </p:sp>
      <p:sp>
        <p:nvSpPr>
          <p:cNvPr id="20" name="Rounded Rectangle 19"/>
          <p:cNvSpPr/>
          <p:nvPr/>
        </p:nvSpPr>
        <p:spPr>
          <a:xfrm>
            <a:off x="548640" y="4937760"/>
            <a:ext cx="10972800" cy="1097280"/>
          </a:xfrm>
          <a:prstGeom prst="roundRect">
            <a:avLst/>
          </a:prstGeom>
          <a:solidFill>
            <a:srgbClr val="FDE8E8"/>
          </a:solidFill>
          <a:ln w="12700">
            <a:solidFill>
              <a:srgbClr val="D13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029200"/>
            <a:ext cx="10424160" cy="914400"/>
          </a:xfrm>
          <a:prstGeom prst="rect">
            <a:avLst/>
          </a:prstGeom>
          <a:noFill/>
        </p:spPr>
        <p:txBody>
          <a:bodyPr wrap="square">
            <a:spAutoFit/>
          </a:bodyPr>
          <a:lstStyle/>
          <a:p>
            <a:pPr algn="l">
              <a:defRPr sz="1500" b="1">
                <a:solidFill>
                  <a:srgbClr val="333333"/>
                </a:solidFill>
                <a:latin typeface="Segoe UI"/>
              </a:defRPr>
            </a:pPr>
            <a:r>
              <a:t>⚠️  Risk: If you reduce the default storage limit below a user's current usage,</a:t>
            </a:r>
            <a:br/>
            <a:r>
              <a:t>their OneDrive becomes read-only until they reduce their storage or you increase the limit.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Device Access Control: Unmanaged Devices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457200"/>
          </a:xfrm>
          <a:prstGeom prst="rect">
            <a:avLst/>
          </a:prstGeom>
          <a:noFill/>
        </p:spPr>
        <p:txBody>
          <a:bodyPr wrap="square">
            <a:spAutoFit/>
          </a:bodyPr>
          <a:lstStyle/>
          <a:p>
            <a:pPr algn="l">
              <a:defRPr sz="1600" b="1">
                <a:solidFill>
                  <a:srgbClr val="6B69D6"/>
                </a:solidFill>
                <a:latin typeface="Segoe UI"/>
              </a:defRPr>
            </a:pPr>
            <a:r>
              <a:t>SharePoint admin center → Access control → Unmanaged devices</a:t>
            </a:r>
          </a:p>
        </p:txBody>
      </p:sp>
      <p:sp>
        <p:nvSpPr>
          <p:cNvPr id="8" name="Rounded Rectangle 7"/>
          <p:cNvSpPr/>
          <p:nvPr/>
        </p:nvSpPr>
        <p:spPr>
          <a:xfrm>
            <a:off x="457200" y="2103120"/>
            <a:ext cx="3566160" cy="2743200"/>
          </a:xfrm>
          <a:prstGeom prst="roundRect">
            <a:avLst/>
          </a:prstGeom>
          <a:solidFill>
            <a:srgbClr val="F5F5F5"/>
          </a:solidFill>
          <a:ln w="12700">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103120"/>
            <a:ext cx="356616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86000"/>
            <a:ext cx="3017520" cy="548640"/>
          </a:xfrm>
          <a:prstGeom prst="rect">
            <a:avLst/>
          </a:prstGeom>
          <a:noFill/>
        </p:spPr>
        <p:txBody>
          <a:bodyPr wrap="square">
            <a:spAutoFit/>
          </a:bodyPr>
          <a:lstStyle/>
          <a:p>
            <a:pPr algn="ctr">
              <a:defRPr sz="3200" b="0">
                <a:solidFill>
                  <a:srgbClr val="333333"/>
                </a:solidFill>
                <a:latin typeface="Segoe UI"/>
              </a:defRPr>
            </a:pPr>
            <a:r>
              <a:t>🔓</a:t>
            </a:r>
          </a:p>
        </p:txBody>
      </p:sp>
      <p:sp>
        <p:nvSpPr>
          <p:cNvPr id="11" name="TextBox 10"/>
          <p:cNvSpPr txBox="1"/>
          <p:nvPr/>
        </p:nvSpPr>
        <p:spPr>
          <a:xfrm>
            <a:off x="731520" y="2834640"/>
            <a:ext cx="3017520" cy="640080"/>
          </a:xfrm>
          <a:prstGeom prst="rect">
            <a:avLst/>
          </a:prstGeom>
          <a:noFill/>
        </p:spPr>
        <p:txBody>
          <a:bodyPr wrap="square">
            <a:spAutoFit/>
          </a:bodyPr>
          <a:lstStyle/>
          <a:p>
            <a:pPr algn="ctr">
              <a:defRPr sz="1600" b="1">
                <a:solidFill>
                  <a:srgbClr val="107C10"/>
                </a:solidFill>
                <a:latin typeface="Segoe UI"/>
              </a:defRPr>
            </a:pPr>
            <a:r>
              <a:t>Allow Full Access</a:t>
            </a:r>
          </a:p>
        </p:txBody>
      </p:sp>
      <p:sp>
        <p:nvSpPr>
          <p:cNvPr id="12" name="TextBox 11"/>
          <p:cNvSpPr txBox="1"/>
          <p:nvPr/>
        </p:nvSpPr>
        <p:spPr>
          <a:xfrm>
            <a:off x="731520" y="3566160"/>
            <a:ext cx="3017520" cy="1097280"/>
          </a:xfrm>
          <a:prstGeom prst="rect">
            <a:avLst/>
          </a:prstGeom>
          <a:noFill/>
        </p:spPr>
        <p:txBody>
          <a:bodyPr wrap="square">
            <a:spAutoFit/>
          </a:bodyPr>
          <a:lstStyle/>
          <a:p>
            <a:pPr algn="ctr">
              <a:defRPr sz="1300" b="0">
                <a:solidFill>
                  <a:srgbClr val="333333"/>
                </a:solidFill>
                <a:latin typeface="Segoe UI"/>
              </a:defRPr>
            </a:pPr>
            <a:r>
              <a:t>Users can access from</a:t>
            </a:r>
            <a:br/>
            <a:r>
              <a:t>any device, any app.</a:t>
            </a:r>
            <a:br/>
            <a:r>
              <a:t>No restrictions.</a:t>
            </a:r>
          </a:p>
        </p:txBody>
      </p:sp>
      <p:sp>
        <p:nvSpPr>
          <p:cNvPr id="13" name="Rounded Rectangle 12"/>
          <p:cNvSpPr/>
          <p:nvPr/>
        </p:nvSpPr>
        <p:spPr>
          <a:xfrm>
            <a:off x="4251960" y="2103120"/>
            <a:ext cx="3566160" cy="2743200"/>
          </a:xfrm>
          <a:prstGeom prst="roundRect">
            <a:avLst/>
          </a:prstGeom>
          <a:solidFill>
            <a:srgbClr val="F5F5F5"/>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2103120"/>
            <a:ext cx="356616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286000"/>
            <a:ext cx="3017520" cy="548640"/>
          </a:xfrm>
          <a:prstGeom prst="rect">
            <a:avLst/>
          </a:prstGeom>
          <a:noFill/>
        </p:spPr>
        <p:txBody>
          <a:bodyPr wrap="square">
            <a:spAutoFit/>
          </a:bodyPr>
          <a:lstStyle/>
          <a:p>
            <a:pPr algn="ctr">
              <a:defRPr sz="3200" b="0">
                <a:solidFill>
                  <a:srgbClr val="333333"/>
                </a:solidFill>
                <a:latin typeface="Segoe UI"/>
              </a:defRPr>
            </a:pPr>
            <a:r>
              <a:t>🌐</a:t>
            </a:r>
          </a:p>
        </p:txBody>
      </p:sp>
      <p:sp>
        <p:nvSpPr>
          <p:cNvPr id="16" name="TextBox 15"/>
          <p:cNvSpPr txBox="1"/>
          <p:nvPr/>
        </p:nvSpPr>
        <p:spPr>
          <a:xfrm>
            <a:off x="4526280" y="2834640"/>
            <a:ext cx="3017520" cy="640080"/>
          </a:xfrm>
          <a:prstGeom prst="rect">
            <a:avLst/>
          </a:prstGeom>
          <a:noFill/>
        </p:spPr>
        <p:txBody>
          <a:bodyPr wrap="square">
            <a:spAutoFit/>
          </a:bodyPr>
          <a:lstStyle/>
          <a:p>
            <a:pPr algn="ctr">
              <a:defRPr sz="1600" b="1">
                <a:solidFill>
                  <a:srgbClr val="FF8C00"/>
                </a:solidFill>
                <a:latin typeface="Segoe UI"/>
              </a:defRPr>
            </a:pPr>
            <a:r>
              <a:t>Allow Limited</a:t>
            </a:r>
            <a:br/>
            <a:r>
              <a:t>(Web-Only)</a:t>
            </a:r>
          </a:p>
        </p:txBody>
      </p:sp>
      <p:sp>
        <p:nvSpPr>
          <p:cNvPr id="17" name="TextBox 16"/>
          <p:cNvSpPr txBox="1"/>
          <p:nvPr/>
        </p:nvSpPr>
        <p:spPr>
          <a:xfrm>
            <a:off x="4526280" y="3566160"/>
            <a:ext cx="3017520" cy="1097280"/>
          </a:xfrm>
          <a:prstGeom prst="rect">
            <a:avLst/>
          </a:prstGeom>
          <a:noFill/>
        </p:spPr>
        <p:txBody>
          <a:bodyPr wrap="square">
            <a:spAutoFit/>
          </a:bodyPr>
          <a:lstStyle/>
          <a:p>
            <a:pPr algn="ctr">
              <a:defRPr sz="1300" b="0">
                <a:solidFill>
                  <a:srgbClr val="333333"/>
                </a:solidFill>
                <a:latin typeface="Segoe UI"/>
              </a:defRPr>
            </a:pPr>
            <a:r>
              <a:t>Browser only — no download,</a:t>
            </a:r>
            <a:br/>
            <a:r>
              <a:t>print, or sync.</a:t>
            </a:r>
            <a:br/>
            <a:r>
              <a:t>Editing can be restricted.</a:t>
            </a:r>
          </a:p>
        </p:txBody>
      </p:sp>
      <p:sp>
        <p:nvSpPr>
          <p:cNvPr id="18" name="Rounded Rectangle 17"/>
          <p:cNvSpPr/>
          <p:nvPr/>
        </p:nvSpPr>
        <p:spPr>
          <a:xfrm>
            <a:off x="8046720" y="2103120"/>
            <a:ext cx="3566160" cy="2743200"/>
          </a:xfrm>
          <a:prstGeom prst="roundRect">
            <a:avLst/>
          </a:prstGeom>
          <a:solidFill>
            <a:srgbClr val="F5F5F5"/>
          </a:solidFill>
          <a:ln w="12700">
            <a:solidFill>
              <a:srgbClr val="D13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2103120"/>
            <a:ext cx="356616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286000"/>
            <a:ext cx="3017520" cy="548640"/>
          </a:xfrm>
          <a:prstGeom prst="rect">
            <a:avLst/>
          </a:prstGeom>
          <a:noFill/>
        </p:spPr>
        <p:txBody>
          <a:bodyPr wrap="square">
            <a:spAutoFit/>
          </a:bodyPr>
          <a:lstStyle/>
          <a:p>
            <a:pPr algn="ctr">
              <a:defRPr sz="3200" b="0">
                <a:solidFill>
                  <a:srgbClr val="333333"/>
                </a:solidFill>
                <a:latin typeface="Segoe UI"/>
              </a:defRPr>
            </a:pPr>
            <a:r>
              <a:t>🚫</a:t>
            </a:r>
          </a:p>
        </p:txBody>
      </p:sp>
      <p:sp>
        <p:nvSpPr>
          <p:cNvPr id="21" name="TextBox 20"/>
          <p:cNvSpPr txBox="1"/>
          <p:nvPr/>
        </p:nvSpPr>
        <p:spPr>
          <a:xfrm>
            <a:off x="8321040" y="2834640"/>
            <a:ext cx="3017520" cy="640080"/>
          </a:xfrm>
          <a:prstGeom prst="rect">
            <a:avLst/>
          </a:prstGeom>
          <a:noFill/>
        </p:spPr>
        <p:txBody>
          <a:bodyPr wrap="square">
            <a:spAutoFit/>
          </a:bodyPr>
          <a:lstStyle/>
          <a:p>
            <a:pPr algn="ctr">
              <a:defRPr sz="1600" b="1">
                <a:solidFill>
                  <a:srgbClr val="D13438"/>
                </a:solidFill>
                <a:latin typeface="Segoe UI"/>
              </a:defRPr>
            </a:pPr>
            <a:r>
              <a:t>Block Access</a:t>
            </a:r>
          </a:p>
        </p:txBody>
      </p:sp>
      <p:sp>
        <p:nvSpPr>
          <p:cNvPr id="22" name="TextBox 21"/>
          <p:cNvSpPr txBox="1"/>
          <p:nvPr/>
        </p:nvSpPr>
        <p:spPr>
          <a:xfrm>
            <a:off x="8321040" y="3566160"/>
            <a:ext cx="3017520" cy="1097280"/>
          </a:xfrm>
          <a:prstGeom prst="rect">
            <a:avLst/>
          </a:prstGeom>
          <a:noFill/>
        </p:spPr>
        <p:txBody>
          <a:bodyPr wrap="square">
            <a:spAutoFit/>
          </a:bodyPr>
          <a:lstStyle/>
          <a:p>
            <a:pPr algn="ctr">
              <a:defRPr sz="1300" b="0">
                <a:solidFill>
                  <a:srgbClr val="333333"/>
                </a:solidFill>
                <a:latin typeface="Segoe UI"/>
              </a:defRPr>
            </a:pPr>
            <a:r>
              <a:t>No access from</a:t>
            </a:r>
            <a:br/>
            <a:r>
              <a:t>unmanaged devices.</a:t>
            </a:r>
            <a:br/>
            <a:r>
              <a:t>Most restrictive.</a:t>
            </a:r>
          </a:p>
        </p:txBody>
      </p:sp>
      <p:sp>
        <p:nvSpPr>
          <p:cNvPr id="23" name="Rounded Rectangle 22"/>
          <p:cNvSpPr/>
          <p:nvPr/>
        </p:nvSpPr>
        <p:spPr>
          <a:xfrm>
            <a:off x="548640" y="5120640"/>
            <a:ext cx="10972800" cy="1005840"/>
          </a:xfrm>
          <a:prstGeom prst="roundRect">
            <a:avLst/>
          </a:prstGeom>
          <a:solidFill>
            <a:srgbClr val="FFF3E0"/>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212080"/>
            <a:ext cx="10424160" cy="822960"/>
          </a:xfrm>
          <a:prstGeom prst="rect">
            <a:avLst/>
          </a:prstGeom>
          <a:noFill/>
        </p:spPr>
        <p:txBody>
          <a:bodyPr wrap="square">
            <a:spAutoFit/>
          </a:bodyPr>
          <a:lstStyle/>
          <a:p>
            <a:pPr algn="l">
              <a:defRPr sz="1400" b="0">
                <a:solidFill>
                  <a:srgbClr val="333333"/>
                </a:solidFill>
                <a:latin typeface="Segoe UI"/>
              </a:defRPr>
            </a:pPr>
            <a:r>
              <a:t>⏱️  Changes can take up to 24 hours to take effect.</a:t>
            </a:r>
            <a:br/>
            <a:r>
              <a:t>Doesn't impact users already signed in. Uses Entra Conditional Access under the hood.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Limited Access: Advanced Configurations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ectangle 6"/>
          <p:cNvSpPr/>
          <p:nvPr/>
        </p:nvSpPr>
        <p:spPr>
          <a:xfrm>
            <a:off x="548640" y="1280160"/>
            <a:ext cx="3840480"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98448"/>
            <a:ext cx="3566160" cy="457200"/>
          </a:xfrm>
          <a:prstGeom prst="rect">
            <a:avLst/>
          </a:prstGeom>
          <a:noFill/>
        </p:spPr>
        <p:txBody>
          <a:bodyPr wrap="square">
            <a:spAutoFit/>
          </a:bodyPr>
          <a:lstStyle/>
          <a:p>
            <a:pPr algn="l">
              <a:defRPr sz="1400" b="1">
                <a:solidFill>
                  <a:srgbClr val="FFFFFF"/>
                </a:solidFill>
                <a:latin typeface="Segoe UI"/>
              </a:defRPr>
            </a:pPr>
            <a:r>
              <a:t>Parameter</a:t>
            </a:r>
          </a:p>
        </p:txBody>
      </p:sp>
      <p:sp>
        <p:nvSpPr>
          <p:cNvPr id="9" name="Rectangle 8"/>
          <p:cNvSpPr/>
          <p:nvPr/>
        </p:nvSpPr>
        <p:spPr>
          <a:xfrm>
            <a:off x="4389120" y="1280160"/>
            <a:ext cx="3840480"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298448"/>
            <a:ext cx="3566160" cy="457200"/>
          </a:xfrm>
          <a:prstGeom prst="rect">
            <a:avLst/>
          </a:prstGeom>
          <a:noFill/>
        </p:spPr>
        <p:txBody>
          <a:bodyPr wrap="square">
            <a:spAutoFit/>
          </a:bodyPr>
          <a:lstStyle/>
          <a:p>
            <a:pPr algn="l">
              <a:defRPr sz="1400" b="1">
                <a:solidFill>
                  <a:srgbClr val="FFFFFF"/>
                </a:solidFill>
                <a:latin typeface="Segoe UI"/>
              </a:defRPr>
            </a:pPr>
            <a:r>
              <a:t>Effect</a:t>
            </a:r>
          </a:p>
        </p:txBody>
      </p:sp>
      <p:sp>
        <p:nvSpPr>
          <p:cNvPr id="11" name="Rectangle 10"/>
          <p:cNvSpPr/>
          <p:nvPr/>
        </p:nvSpPr>
        <p:spPr>
          <a:xfrm>
            <a:off x="8229600" y="1280160"/>
            <a:ext cx="3474720" cy="50292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298448"/>
            <a:ext cx="3200400" cy="457200"/>
          </a:xfrm>
          <a:prstGeom prst="rect">
            <a:avLst/>
          </a:prstGeom>
          <a:noFill/>
        </p:spPr>
        <p:txBody>
          <a:bodyPr wrap="square">
            <a:spAutoFit/>
          </a:bodyPr>
          <a:lstStyle/>
          <a:p>
            <a:pPr algn="l">
              <a:defRPr sz="1400" b="1">
                <a:solidFill>
                  <a:srgbClr val="FFFFFF"/>
                </a:solidFill>
                <a:latin typeface="Segoe UI"/>
              </a:defRPr>
            </a:pPr>
            <a:r>
              <a:t>Use When</a:t>
            </a:r>
          </a:p>
        </p:txBody>
      </p:sp>
      <p:sp>
        <p:nvSpPr>
          <p:cNvPr id="13" name="Rectangle 12"/>
          <p:cNvSpPr/>
          <p:nvPr/>
        </p:nvSpPr>
        <p:spPr>
          <a:xfrm>
            <a:off x="548640" y="1828800"/>
            <a:ext cx="384048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920240"/>
            <a:ext cx="3657600" cy="868680"/>
          </a:xfrm>
          <a:prstGeom prst="rect">
            <a:avLst/>
          </a:prstGeom>
          <a:noFill/>
        </p:spPr>
        <p:txBody>
          <a:bodyPr wrap="square">
            <a:spAutoFit/>
          </a:bodyPr>
          <a:lstStyle/>
          <a:p>
            <a:pPr algn="l">
              <a:defRPr sz="1200" b="0">
                <a:solidFill>
                  <a:srgbClr val="333333"/>
                </a:solidFill>
                <a:latin typeface="Cascadia Code"/>
              </a:defRPr>
            </a:pPr>
            <a:r>
              <a:t>-AllowEditing $false</a:t>
            </a:r>
          </a:p>
        </p:txBody>
      </p:sp>
      <p:sp>
        <p:nvSpPr>
          <p:cNvPr id="15" name="Rectangle 14"/>
          <p:cNvSpPr/>
          <p:nvPr/>
        </p:nvSpPr>
        <p:spPr>
          <a:xfrm>
            <a:off x="4389120" y="1828800"/>
            <a:ext cx="384048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1920240"/>
            <a:ext cx="3657600" cy="868680"/>
          </a:xfrm>
          <a:prstGeom prst="rect">
            <a:avLst/>
          </a:prstGeom>
          <a:noFill/>
        </p:spPr>
        <p:txBody>
          <a:bodyPr wrap="square">
            <a:spAutoFit/>
          </a:bodyPr>
          <a:lstStyle/>
          <a:p>
            <a:pPr algn="l">
              <a:defRPr sz="1300" b="0">
                <a:solidFill>
                  <a:srgbClr val="333333"/>
                </a:solidFill>
                <a:latin typeface="Segoe UI"/>
              </a:defRPr>
            </a:pPr>
            <a:r>
              <a:t>Prevents editing Office files</a:t>
            </a:r>
            <a:br/>
            <a:r>
              <a:t>in browser</a:t>
            </a:r>
          </a:p>
        </p:txBody>
      </p:sp>
      <p:sp>
        <p:nvSpPr>
          <p:cNvPr id="17" name="Rectangle 16"/>
          <p:cNvSpPr/>
          <p:nvPr/>
        </p:nvSpPr>
        <p:spPr>
          <a:xfrm>
            <a:off x="8229600" y="1828800"/>
            <a:ext cx="347472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920240"/>
            <a:ext cx="3291840" cy="868680"/>
          </a:xfrm>
          <a:prstGeom prst="rect">
            <a:avLst/>
          </a:prstGeom>
          <a:noFill/>
        </p:spPr>
        <p:txBody>
          <a:bodyPr wrap="square">
            <a:spAutoFit/>
          </a:bodyPr>
          <a:lstStyle/>
          <a:p>
            <a:pPr algn="l">
              <a:defRPr sz="1300" b="0">
                <a:solidFill>
                  <a:srgbClr val="333333"/>
                </a:solidFill>
                <a:latin typeface="Segoe UI"/>
              </a:defRPr>
            </a:pPr>
            <a:r>
              <a:t>Strict view-only needed</a:t>
            </a:r>
          </a:p>
        </p:txBody>
      </p:sp>
      <p:sp>
        <p:nvSpPr>
          <p:cNvPr id="19" name="Rectangle 18"/>
          <p:cNvSpPr/>
          <p:nvPr/>
        </p:nvSpPr>
        <p:spPr>
          <a:xfrm>
            <a:off x="548640" y="2926080"/>
            <a:ext cx="384048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017520"/>
            <a:ext cx="3657600" cy="868680"/>
          </a:xfrm>
          <a:prstGeom prst="rect">
            <a:avLst/>
          </a:prstGeom>
          <a:noFill/>
        </p:spPr>
        <p:txBody>
          <a:bodyPr wrap="square">
            <a:spAutoFit/>
          </a:bodyPr>
          <a:lstStyle/>
          <a:p>
            <a:pPr algn="l">
              <a:defRPr sz="1200" b="0">
                <a:solidFill>
                  <a:srgbClr val="333333"/>
                </a:solidFill>
                <a:latin typeface="Cascadia Code"/>
              </a:defRPr>
            </a:pPr>
            <a:r>
              <a:t>-ReadOnlyForUnmanagedDevices</a:t>
            </a:r>
            <a:br/>
            <a:r>
              <a:t>$true</a:t>
            </a:r>
          </a:p>
        </p:txBody>
      </p:sp>
      <p:sp>
        <p:nvSpPr>
          <p:cNvPr id="21" name="Rectangle 20"/>
          <p:cNvSpPr/>
          <p:nvPr/>
        </p:nvSpPr>
        <p:spPr>
          <a:xfrm>
            <a:off x="4389120" y="2926080"/>
            <a:ext cx="384048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3017520"/>
            <a:ext cx="3657600" cy="868680"/>
          </a:xfrm>
          <a:prstGeom prst="rect">
            <a:avLst/>
          </a:prstGeom>
          <a:noFill/>
        </p:spPr>
        <p:txBody>
          <a:bodyPr wrap="square">
            <a:spAutoFit/>
          </a:bodyPr>
          <a:lstStyle/>
          <a:p>
            <a:pPr algn="l">
              <a:defRPr sz="1300" b="0">
                <a:solidFill>
                  <a:srgbClr val="333333"/>
                </a:solidFill>
                <a:latin typeface="Segoe UI"/>
              </a:defRPr>
            </a:pPr>
            <a:r>
              <a:t>Entire site read-only for</a:t>
            </a:r>
            <a:br/>
            <a:r>
              <a:t>impacted users</a:t>
            </a:r>
          </a:p>
        </p:txBody>
      </p:sp>
      <p:sp>
        <p:nvSpPr>
          <p:cNvPr id="23" name="Rectangle 22"/>
          <p:cNvSpPr/>
          <p:nvPr/>
        </p:nvSpPr>
        <p:spPr>
          <a:xfrm>
            <a:off x="8229600" y="2926080"/>
            <a:ext cx="347472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3017520"/>
            <a:ext cx="3291840" cy="868680"/>
          </a:xfrm>
          <a:prstGeom prst="rect">
            <a:avLst/>
          </a:prstGeom>
          <a:noFill/>
        </p:spPr>
        <p:txBody>
          <a:bodyPr wrap="square">
            <a:spAutoFit/>
          </a:bodyPr>
          <a:lstStyle/>
          <a:p>
            <a:pPr algn="l">
              <a:defRPr sz="1300" b="0">
                <a:solidFill>
                  <a:srgbClr val="333333"/>
                </a:solidFill>
                <a:latin typeface="Segoe UI"/>
              </a:defRPr>
            </a:pPr>
            <a:r>
              <a:t>Full protection required</a:t>
            </a:r>
          </a:p>
        </p:txBody>
      </p:sp>
      <p:sp>
        <p:nvSpPr>
          <p:cNvPr id="25" name="Rectangle 24"/>
          <p:cNvSpPr/>
          <p:nvPr/>
        </p:nvSpPr>
        <p:spPr>
          <a:xfrm>
            <a:off x="548640" y="4023360"/>
            <a:ext cx="384048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114800"/>
            <a:ext cx="3657600" cy="868680"/>
          </a:xfrm>
          <a:prstGeom prst="rect">
            <a:avLst/>
          </a:prstGeom>
          <a:noFill/>
        </p:spPr>
        <p:txBody>
          <a:bodyPr wrap="square">
            <a:spAutoFit/>
          </a:bodyPr>
          <a:lstStyle/>
          <a:p>
            <a:pPr algn="l">
              <a:defRPr sz="1200" b="0">
                <a:solidFill>
                  <a:srgbClr val="333333"/>
                </a:solidFill>
                <a:latin typeface="Cascadia Code"/>
              </a:defRPr>
            </a:pPr>
            <a:r>
              <a:t>-LimitedAccessFileType</a:t>
            </a:r>
            <a:br/>
            <a:r>
              <a:t>OfficeOnlineFilesOnly</a:t>
            </a:r>
          </a:p>
        </p:txBody>
      </p:sp>
      <p:sp>
        <p:nvSpPr>
          <p:cNvPr id="27" name="Rectangle 26"/>
          <p:cNvSpPr/>
          <p:nvPr/>
        </p:nvSpPr>
        <p:spPr>
          <a:xfrm>
            <a:off x="4389120" y="4023360"/>
            <a:ext cx="384048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60" y="4114800"/>
            <a:ext cx="3657600" cy="868680"/>
          </a:xfrm>
          <a:prstGeom prst="rect">
            <a:avLst/>
          </a:prstGeom>
          <a:noFill/>
        </p:spPr>
        <p:txBody>
          <a:bodyPr wrap="square">
            <a:spAutoFit/>
          </a:bodyPr>
          <a:lstStyle/>
          <a:p>
            <a:pPr algn="l">
              <a:defRPr sz="1300" b="0">
                <a:solidFill>
                  <a:srgbClr val="333333"/>
                </a:solidFill>
                <a:latin typeface="Segoe UI"/>
              </a:defRPr>
            </a:pPr>
            <a:r>
              <a:t>Preview only Office files;</a:t>
            </a:r>
            <a:br/>
            <a:r>
              <a:t>other files blocked</a:t>
            </a:r>
          </a:p>
        </p:txBody>
      </p:sp>
      <p:sp>
        <p:nvSpPr>
          <p:cNvPr id="29" name="Rectangle 28"/>
          <p:cNvSpPr/>
          <p:nvPr/>
        </p:nvSpPr>
        <p:spPr>
          <a:xfrm>
            <a:off x="8229600" y="4023360"/>
            <a:ext cx="3474720" cy="1051560"/>
          </a:xfrm>
          <a:prstGeom prst="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4114800"/>
            <a:ext cx="3291840" cy="868680"/>
          </a:xfrm>
          <a:prstGeom prst="rect">
            <a:avLst/>
          </a:prstGeom>
          <a:noFill/>
        </p:spPr>
        <p:txBody>
          <a:bodyPr wrap="square">
            <a:spAutoFit/>
          </a:bodyPr>
          <a:lstStyle/>
          <a:p>
            <a:pPr algn="l">
              <a:defRPr sz="1300" b="0">
                <a:solidFill>
                  <a:srgbClr val="333333"/>
                </a:solidFill>
                <a:latin typeface="Segoe UI"/>
              </a:defRPr>
            </a:pPr>
            <a:r>
              <a:t>Maximum security</a:t>
            </a:r>
          </a:p>
        </p:txBody>
      </p:sp>
      <p:sp>
        <p:nvSpPr>
          <p:cNvPr id="31" name="Rectangle 30"/>
          <p:cNvSpPr/>
          <p:nvPr/>
        </p:nvSpPr>
        <p:spPr>
          <a:xfrm>
            <a:off x="548640" y="5120640"/>
            <a:ext cx="384048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212080"/>
            <a:ext cx="3657600" cy="868680"/>
          </a:xfrm>
          <a:prstGeom prst="rect">
            <a:avLst/>
          </a:prstGeom>
          <a:noFill/>
        </p:spPr>
        <p:txBody>
          <a:bodyPr wrap="square">
            <a:spAutoFit/>
          </a:bodyPr>
          <a:lstStyle/>
          <a:p>
            <a:pPr algn="l">
              <a:defRPr sz="1200" b="0">
                <a:solidFill>
                  <a:srgbClr val="333333"/>
                </a:solidFill>
                <a:latin typeface="Cascadia Code"/>
              </a:defRPr>
            </a:pPr>
            <a:r>
              <a:t>-LimitedAccessFileType</a:t>
            </a:r>
            <a:br/>
            <a:r>
              <a:t>WebPreviewableFiles</a:t>
            </a:r>
          </a:p>
        </p:txBody>
      </p:sp>
      <p:sp>
        <p:nvSpPr>
          <p:cNvPr id="33" name="Rectangle 32"/>
          <p:cNvSpPr/>
          <p:nvPr/>
        </p:nvSpPr>
        <p:spPr>
          <a:xfrm>
            <a:off x="4389120" y="5120640"/>
            <a:ext cx="384048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80560" y="5212080"/>
            <a:ext cx="3657600" cy="868680"/>
          </a:xfrm>
          <a:prstGeom prst="rect">
            <a:avLst/>
          </a:prstGeom>
          <a:noFill/>
        </p:spPr>
        <p:txBody>
          <a:bodyPr wrap="square">
            <a:spAutoFit/>
          </a:bodyPr>
          <a:lstStyle/>
          <a:p>
            <a:pPr algn="l">
              <a:defRPr sz="1300" b="0">
                <a:solidFill>
                  <a:srgbClr val="333333"/>
                </a:solidFill>
                <a:latin typeface="Segoe UI"/>
              </a:defRPr>
            </a:pPr>
            <a:r>
              <a:t>Preview all files the browser</a:t>
            </a:r>
            <a:br/>
            <a:r>
              <a:t>can render (default)</a:t>
            </a:r>
          </a:p>
        </p:txBody>
      </p:sp>
      <p:sp>
        <p:nvSpPr>
          <p:cNvPr id="35" name="Rectangle 34"/>
          <p:cNvSpPr/>
          <p:nvPr/>
        </p:nvSpPr>
        <p:spPr>
          <a:xfrm>
            <a:off x="8229600" y="5120640"/>
            <a:ext cx="3474720" cy="105156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21040" y="5212080"/>
            <a:ext cx="3291840" cy="868680"/>
          </a:xfrm>
          <a:prstGeom prst="rect">
            <a:avLst/>
          </a:prstGeom>
          <a:noFill/>
        </p:spPr>
        <p:txBody>
          <a:bodyPr wrap="square">
            <a:spAutoFit/>
          </a:bodyPr>
          <a:lstStyle/>
          <a:p>
            <a:pPr algn="l">
              <a:defRPr sz="1300" b="0">
                <a:solidFill>
                  <a:srgbClr val="333333"/>
                </a:solidFill>
                <a:latin typeface="Segoe UI"/>
              </a:defRPr>
            </a:pPr>
            <a:r>
              <a:t>Balance security/usability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4</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User Lifecycle: Departures &amp; Restore</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Deleted User OneDrive Lifecycle</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457200"/>
          </a:xfrm>
          <a:prstGeom prst="rect">
            <a:avLst/>
          </a:prstGeom>
          <a:noFill/>
        </p:spPr>
        <p:txBody>
          <a:bodyPr wrap="square">
            <a:spAutoFit/>
          </a:bodyPr>
          <a:lstStyle/>
          <a:p>
            <a:pPr algn="l">
              <a:defRPr sz="1800" b="1">
                <a:solidFill>
                  <a:srgbClr val="333333"/>
                </a:solidFill>
                <a:latin typeface="Segoe UI"/>
              </a:defRPr>
            </a:pPr>
            <a:r>
              <a:t>What happens when a user is deleted from Microsoft 365?</a:t>
            </a:r>
          </a:p>
        </p:txBody>
      </p:sp>
      <p:sp>
        <p:nvSpPr>
          <p:cNvPr id="8" name="Rectangle 7"/>
          <p:cNvSpPr/>
          <p:nvPr/>
        </p:nvSpPr>
        <p:spPr>
          <a:xfrm>
            <a:off x="1645920" y="2194560"/>
            <a:ext cx="54864"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2651760"/>
            <a:ext cx="155448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Day 0</a:t>
            </a:r>
          </a:p>
        </p:txBody>
      </p:sp>
      <p:sp>
        <p:nvSpPr>
          <p:cNvPr id="10" name="TextBox 9"/>
          <p:cNvSpPr txBox="1"/>
          <p:nvPr/>
        </p:nvSpPr>
        <p:spPr>
          <a:xfrm>
            <a:off x="548640" y="3383280"/>
            <a:ext cx="2286000" cy="1188720"/>
          </a:xfrm>
          <a:prstGeom prst="rect">
            <a:avLst/>
          </a:prstGeom>
          <a:noFill/>
        </p:spPr>
        <p:txBody>
          <a:bodyPr wrap="square">
            <a:spAutoFit/>
          </a:bodyPr>
          <a:lstStyle/>
          <a:p>
            <a:pPr algn="ctr">
              <a:defRPr sz="1300" b="1">
                <a:solidFill>
                  <a:srgbClr val="0078D4"/>
                </a:solidFill>
                <a:latin typeface="Segoe UI"/>
              </a:defRPr>
            </a:pPr>
            <a:r>
              <a:t>User deleted from</a:t>
            </a:r>
            <a:br/>
            <a:r>
              <a:t>M365 admin center</a:t>
            </a:r>
          </a:p>
        </p:txBody>
      </p:sp>
      <p:sp>
        <p:nvSpPr>
          <p:cNvPr id="11" name="TextBox 10"/>
          <p:cNvSpPr txBox="1"/>
          <p:nvPr/>
        </p:nvSpPr>
        <p:spPr>
          <a:xfrm>
            <a:off x="548640" y="4572000"/>
            <a:ext cx="2286000" cy="1097280"/>
          </a:xfrm>
          <a:prstGeom prst="rect">
            <a:avLst/>
          </a:prstGeom>
          <a:noFill/>
        </p:spPr>
        <p:txBody>
          <a:bodyPr wrap="square">
            <a:spAutoFit/>
          </a:bodyPr>
          <a:lstStyle/>
          <a:p>
            <a:pPr algn="ctr">
              <a:defRPr sz="1200" b="0">
                <a:solidFill>
                  <a:srgbClr val="333333"/>
                </a:solidFill>
                <a:latin typeface="Segoe UI"/>
              </a:defRPr>
            </a:pPr>
            <a:r>
              <a:t>Account deletion</a:t>
            </a:r>
            <a:br/>
            <a:r>
              <a:t>synced to SharePoint</a:t>
            </a:r>
          </a:p>
        </p:txBody>
      </p:sp>
      <p:sp>
        <p:nvSpPr>
          <p:cNvPr id="12" name="Rectangle 11"/>
          <p:cNvSpPr/>
          <p:nvPr/>
        </p:nvSpPr>
        <p:spPr>
          <a:xfrm>
            <a:off x="4572000" y="2194560"/>
            <a:ext cx="54864" cy="45720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40480" y="2651760"/>
            <a:ext cx="1554480" cy="50292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Day 1–30*</a:t>
            </a:r>
          </a:p>
        </p:txBody>
      </p:sp>
      <p:sp>
        <p:nvSpPr>
          <p:cNvPr id="14" name="TextBox 13"/>
          <p:cNvSpPr txBox="1"/>
          <p:nvPr/>
        </p:nvSpPr>
        <p:spPr>
          <a:xfrm>
            <a:off x="3474720" y="3383280"/>
            <a:ext cx="2286000" cy="1188720"/>
          </a:xfrm>
          <a:prstGeom prst="rect">
            <a:avLst/>
          </a:prstGeom>
          <a:noFill/>
        </p:spPr>
        <p:txBody>
          <a:bodyPr wrap="square">
            <a:spAutoFit/>
          </a:bodyPr>
          <a:lstStyle/>
          <a:p>
            <a:pPr algn="ctr">
              <a:defRPr sz="1300" b="1">
                <a:solidFill>
                  <a:srgbClr val="107C10"/>
                </a:solidFill>
                <a:latin typeface="Segoe UI"/>
              </a:defRPr>
            </a:pPr>
            <a:r>
              <a:t>Retention period</a:t>
            </a:r>
            <a:br/>
            <a:r>
              <a:t>(default 30 days)</a:t>
            </a:r>
          </a:p>
        </p:txBody>
      </p:sp>
      <p:sp>
        <p:nvSpPr>
          <p:cNvPr id="15" name="TextBox 14"/>
          <p:cNvSpPr txBox="1"/>
          <p:nvPr/>
        </p:nvSpPr>
        <p:spPr>
          <a:xfrm>
            <a:off x="3474720" y="4572000"/>
            <a:ext cx="2286000" cy="1097280"/>
          </a:xfrm>
          <a:prstGeom prst="rect">
            <a:avLst/>
          </a:prstGeom>
          <a:noFill/>
        </p:spPr>
        <p:txBody>
          <a:bodyPr wrap="square">
            <a:spAutoFit/>
          </a:bodyPr>
          <a:lstStyle/>
          <a:p>
            <a:pPr algn="ctr">
              <a:defRPr sz="1200" b="0">
                <a:solidFill>
                  <a:srgbClr val="333333"/>
                </a:solidFill>
                <a:latin typeface="Segoe UI"/>
              </a:defRPr>
            </a:pPr>
            <a:r>
              <a:t>Manager gets access;</a:t>
            </a:r>
            <a:br/>
            <a:r>
              <a:t>shared content</a:t>
            </a:r>
            <a:br/>
            <a:r>
              <a:t>still accessible</a:t>
            </a:r>
          </a:p>
        </p:txBody>
      </p:sp>
      <p:sp>
        <p:nvSpPr>
          <p:cNvPr id="16" name="Rectangle 15"/>
          <p:cNvSpPr/>
          <p:nvPr/>
        </p:nvSpPr>
        <p:spPr>
          <a:xfrm>
            <a:off x="7498080" y="2194560"/>
            <a:ext cx="54864" cy="4572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0" y="2651760"/>
            <a:ext cx="1554480" cy="50292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Day 23*</a:t>
            </a:r>
          </a:p>
        </p:txBody>
      </p:sp>
      <p:sp>
        <p:nvSpPr>
          <p:cNvPr id="18" name="TextBox 17"/>
          <p:cNvSpPr txBox="1"/>
          <p:nvPr/>
        </p:nvSpPr>
        <p:spPr>
          <a:xfrm>
            <a:off x="6400800" y="3383280"/>
            <a:ext cx="2286000" cy="1188720"/>
          </a:xfrm>
          <a:prstGeom prst="rect">
            <a:avLst/>
          </a:prstGeom>
          <a:noFill/>
        </p:spPr>
        <p:txBody>
          <a:bodyPr wrap="square">
            <a:spAutoFit/>
          </a:bodyPr>
          <a:lstStyle/>
          <a:p>
            <a:pPr algn="ctr">
              <a:defRPr sz="1300" b="1">
                <a:solidFill>
                  <a:srgbClr val="FF8C00"/>
                </a:solidFill>
                <a:latin typeface="Segoe UI"/>
              </a:defRPr>
            </a:pPr>
            <a:r>
              <a:t>7-day warning email</a:t>
            </a:r>
            <a:br/>
            <a:r>
              <a:t>sent to manager or</a:t>
            </a:r>
            <a:br/>
            <a:r>
              <a:t>secondary owner</a:t>
            </a:r>
          </a:p>
        </p:txBody>
      </p:sp>
      <p:sp>
        <p:nvSpPr>
          <p:cNvPr id="19" name="TextBox 18"/>
          <p:cNvSpPr txBox="1"/>
          <p:nvPr/>
        </p:nvSpPr>
        <p:spPr>
          <a:xfrm>
            <a:off x="6400800" y="4572000"/>
            <a:ext cx="2286000" cy="1097280"/>
          </a:xfrm>
          <a:prstGeom prst="rect">
            <a:avLst/>
          </a:prstGeom>
          <a:noFill/>
        </p:spPr>
        <p:txBody>
          <a:bodyPr wrap="square">
            <a:spAutoFit/>
          </a:bodyPr>
          <a:lstStyle/>
          <a:p>
            <a:pPr algn="ctr">
              <a:defRPr sz="1200" b="0">
                <a:solidFill>
                  <a:srgbClr val="333333"/>
                </a:solidFill>
                <a:latin typeface="Segoe UI"/>
              </a:defRPr>
            </a:pPr>
            <a:r>
              <a:t>Reminder before</a:t>
            </a:r>
            <a:br/>
            <a:r>
              <a:t>deletion</a:t>
            </a:r>
          </a:p>
        </p:txBody>
      </p:sp>
      <p:sp>
        <p:nvSpPr>
          <p:cNvPr id="20" name="Rectangle 19"/>
          <p:cNvSpPr/>
          <p:nvPr/>
        </p:nvSpPr>
        <p:spPr>
          <a:xfrm>
            <a:off x="10424160" y="2194560"/>
            <a:ext cx="54864" cy="4572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92640" y="2651760"/>
            <a:ext cx="1554480" cy="502920"/>
          </a:xfrm>
          <a:prstGeom prst="round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After retention</a:t>
            </a:r>
          </a:p>
        </p:txBody>
      </p:sp>
      <p:sp>
        <p:nvSpPr>
          <p:cNvPr id="22" name="TextBox 21"/>
          <p:cNvSpPr txBox="1"/>
          <p:nvPr/>
        </p:nvSpPr>
        <p:spPr>
          <a:xfrm>
            <a:off x="9326880" y="3383280"/>
            <a:ext cx="2286000" cy="1188720"/>
          </a:xfrm>
          <a:prstGeom prst="rect">
            <a:avLst/>
          </a:prstGeom>
          <a:noFill/>
        </p:spPr>
        <p:txBody>
          <a:bodyPr wrap="square">
            <a:spAutoFit/>
          </a:bodyPr>
          <a:lstStyle/>
          <a:p>
            <a:pPr algn="ctr">
              <a:defRPr sz="1300" b="1">
                <a:solidFill>
                  <a:srgbClr val="D13438"/>
                </a:solidFill>
                <a:latin typeface="Segoe UI"/>
              </a:defRPr>
            </a:pPr>
            <a:r>
              <a:t>OneDrive enters</a:t>
            </a:r>
            <a:br/>
            <a:r>
              <a:t>deleted state</a:t>
            </a:r>
            <a:br/>
            <a:r>
              <a:t>(93 days)</a:t>
            </a:r>
          </a:p>
        </p:txBody>
      </p:sp>
      <p:sp>
        <p:nvSpPr>
          <p:cNvPr id="23" name="TextBox 22"/>
          <p:cNvSpPr txBox="1"/>
          <p:nvPr/>
        </p:nvSpPr>
        <p:spPr>
          <a:xfrm>
            <a:off x="9326880" y="4572000"/>
            <a:ext cx="2286000" cy="1097280"/>
          </a:xfrm>
          <a:prstGeom prst="rect">
            <a:avLst/>
          </a:prstGeom>
          <a:noFill/>
        </p:spPr>
        <p:txBody>
          <a:bodyPr wrap="square">
            <a:spAutoFit/>
          </a:bodyPr>
          <a:lstStyle/>
          <a:p>
            <a:pPr algn="ctr">
              <a:defRPr sz="1200" b="0">
                <a:solidFill>
                  <a:srgbClr val="333333"/>
                </a:solidFill>
                <a:latin typeface="Segoe UI"/>
              </a:defRPr>
            </a:pPr>
            <a:r>
              <a:t>Only SharePoint</a:t>
            </a:r>
            <a:br/>
            <a:r>
              <a:t>Admin can restore</a:t>
            </a:r>
          </a:p>
        </p:txBody>
      </p:sp>
      <p:sp>
        <p:nvSpPr>
          <p:cNvPr id="24" name="TextBox 23"/>
          <p:cNvSpPr txBox="1"/>
          <p:nvPr/>
        </p:nvSpPr>
        <p:spPr>
          <a:xfrm>
            <a:off x="731520" y="5852160"/>
            <a:ext cx="10058400" cy="365760"/>
          </a:xfrm>
          <a:prstGeom prst="rect">
            <a:avLst/>
          </a:prstGeom>
          <a:noFill/>
        </p:spPr>
        <p:txBody>
          <a:bodyPr wrap="square">
            <a:spAutoFit/>
          </a:bodyPr>
          <a:lstStyle/>
          <a:p>
            <a:pPr algn="l">
              <a:defRPr sz="1200" b="0">
                <a:solidFill>
                  <a:srgbClr val="6B69D6"/>
                </a:solidFill>
                <a:latin typeface="Segoe UI"/>
              </a:defRPr>
            </a:pPr>
            <a:r>
              <a:t>* Configurable: 30–3,650 days (Settings → Retention in SharePoint admin center)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Access Delegation: Manager &amp; Secondary Owner</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548640"/>
          </a:xfrm>
          <a:prstGeom prst="rect">
            <a:avLst/>
          </a:prstGeom>
          <a:noFill/>
        </p:spPr>
        <p:txBody>
          <a:bodyPr wrap="square">
            <a:spAutoFit/>
          </a:bodyPr>
          <a:lstStyle/>
          <a:p>
            <a:pPr algn="l">
              <a:defRPr sz="1800" b="1">
                <a:solidFill>
                  <a:srgbClr val="333333"/>
                </a:solidFill>
                <a:latin typeface="Segoe UI"/>
              </a:defRPr>
            </a:pPr>
            <a:r>
              <a:t>When a user is deleted, who gets automatic access to their OneDrive?</a:t>
            </a:r>
          </a:p>
        </p:txBody>
      </p:sp>
      <p:sp>
        <p:nvSpPr>
          <p:cNvPr id="8" name="Rounded Rectangle 7"/>
          <p:cNvSpPr/>
          <p:nvPr/>
        </p:nvSpPr>
        <p:spPr>
          <a:xfrm>
            <a:off x="548640" y="2286000"/>
            <a:ext cx="5303520" cy="3200400"/>
          </a:xfrm>
          <a:prstGeom prst="roundRect">
            <a:avLst/>
          </a:prstGeom>
          <a:solidFill>
            <a:srgbClr val="F5F5F5"/>
          </a:solidFill>
          <a:ln w="12700">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86000"/>
            <a:ext cx="530352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68880"/>
            <a:ext cx="4754880" cy="457200"/>
          </a:xfrm>
          <a:prstGeom prst="rect">
            <a:avLst/>
          </a:prstGeom>
          <a:noFill/>
        </p:spPr>
        <p:txBody>
          <a:bodyPr wrap="square">
            <a:spAutoFit/>
          </a:bodyPr>
          <a:lstStyle/>
          <a:p>
            <a:pPr algn="l">
              <a:defRPr sz="1700" b="1">
                <a:solidFill>
                  <a:srgbClr val="107C10"/>
                </a:solidFill>
                <a:latin typeface="Segoe UI"/>
              </a:defRPr>
            </a:pPr>
            <a:r>
              <a:t>Manager (Primary)</a:t>
            </a:r>
          </a:p>
        </p:txBody>
      </p:sp>
      <p:sp>
        <p:nvSpPr>
          <p:cNvPr id="11" name="TextBox 10"/>
          <p:cNvSpPr txBox="1"/>
          <p:nvPr/>
        </p:nvSpPr>
        <p:spPr>
          <a:xfrm>
            <a:off x="822960" y="3108960"/>
            <a:ext cx="4754880" cy="2194560"/>
          </a:xfrm>
          <a:prstGeom prst="rect">
            <a:avLst/>
          </a:prstGeom>
          <a:noFill/>
        </p:spPr>
        <p:txBody>
          <a:bodyPr wrap="square">
            <a:spAutoFit/>
          </a:bodyPr>
          <a:lstStyle/>
          <a:p>
            <a:pPr>
              <a:spcAft>
                <a:spcPts val="1000"/>
              </a:spcAft>
              <a:defRPr sz="1500">
                <a:solidFill>
                  <a:srgbClr val="333333"/>
                </a:solidFill>
                <a:latin typeface="Segoe UI"/>
              </a:defRPr>
            </a:pPr>
            <a:r>
              <a:t>→ Manager specified in Entra ID profile</a:t>
            </a:r>
          </a:p>
          <a:p>
            <a:pPr>
              <a:spcAft>
                <a:spcPts val="1000"/>
              </a:spcAft>
              <a:defRPr sz="1500">
                <a:solidFill>
                  <a:srgbClr val="333333"/>
                </a:solidFill>
                <a:latin typeface="Segoe UI"/>
              </a:defRPr>
            </a:pPr>
            <a:r>
              <a:t>→ Gets email notification on user deletion</a:t>
            </a:r>
          </a:p>
          <a:p>
            <a:pPr>
              <a:spcAft>
                <a:spcPts val="1000"/>
              </a:spcAft>
              <a:defRPr sz="1500">
                <a:solidFill>
                  <a:srgbClr val="333333"/>
                </a:solidFill>
                <a:latin typeface="Segoe UI"/>
              </a:defRPr>
            </a:pPr>
            <a:r>
              <a:t>→ Automatic access to the user's OneDrive</a:t>
            </a:r>
          </a:p>
          <a:p>
            <a:pPr>
              <a:spcAft>
                <a:spcPts val="1000"/>
              </a:spcAft>
              <a:defRPr sz="1500">
                <a:solidFill>
                  <a:srgbClr val="333333"/>
                </a:solidFill>
                <a:latin typeface="Segoe UI"/>
              </a:defRPr>
            </a:pPr>
            <a:r>
              <a:t>→ Gets 7-day reminder before deletion</a:t>
            </a:r>
          </a:p>
        </p:txBody>
      </p:sp>
      <p:sp>
        <p:nvSpPr>
          <p:cNvPr id="12" name="Rounded Rectangle 11"/>
          <p:cNvSpPr/>
          <p:nvPr/>
        </p:nvSpPr>
        <p:spPr>
          <a:xfrm>
            <a:off x="6309359" y="2286000"/>
            <a:ext cx="5303520" cy="3200400"/>
          </a:xfrm>
          <a:prstGeom prst="roundRect">
            <a:avLst/>
          </a:prstGeom>
          <a:solidFill>
            <a:srgbClr val="F5F5F5"/>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59" y="2286000"/>
            <a:ext cx="53035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79" y="2468880"/>
            <a:ext cx="4754880" cy="457200"/>
          </a:xfrm>
          <a:prstGeom prst="rect">
            <a:avLst/>
          </a:prstGeom>
          <a:noFill/>
        </p:spPr>
        <p:txBody>
          <a:bodyPr wrap="square">
            <a:spAutoFit/>
          </a:bodyPr>
          <a:lstStyle/>
          <a:p>
            <a:pPr algn="l">
              <a:defRPr sz="1700" b="1">
                <a:solidFill>
                  <a:srgbClr val="0078D4"/>
                </a:solidFill>
                <a:latin typeface="Segoe UI"/>
              </a:defRPr>
            </a:pPr>
            <a:r>
              <a:t>Secondary Owner (Fallback)</a:t>
            </a:r>
          </a:p>
        </p:txBody>
      </p:sp>
      <p:sp>
        <p:nvSpPr>
          <p:cNvPr id="15" name="TextBox 14"/>
          <p:cNvSpPr txBox="1"/>
          <p:nvPr/>
        </p:nvSpPr>
        <p:spPr>
          <a:xfrm>
            <a:off x="6583679" y="3108960"/>
            <a:ext cx="4754880" cy="2194560"/>
          </a:xfrm>
          <a:prstGeom prst="rect">
            <a:avLst/>
          </a:prstGeom>
          <a:noFill/>
        </p:spPr>
        <p:txBody>
          <a:bodyPr wrap="square">
            <a:spAutoFit/>
          </a:bodyPr>
          <a:lstStyle/>
          <a:p>
            <a:pPr>
              <a:spcAft>
                <a:spcPts val="1000"/>
              </a:spcAft>
              <a:defRPr sz="1500">
                <a:solidFill>
                  <a:srgbClr val="333333"/>
                </a:solidFill>
                <a:latin typeface="Segoe UI"/>
              </a:defRPr>
            </a:pPr>
            <a:r>
              <a:t>→ Configured in SharePoint admin center</a:t>
            </a:r>
          </a:p>
          <a:p>
            <a:pPr>
              <a:spcAft>
                <a:spcPts val="1000"/>
              </a:spcAft>
              <a:defRPr sz="1500">
                <a:solidFill>
                  <a:srgbClr val="333333"/>
                </a:solidFill>
                <a:latin typeface="Segoe UI"/>
              </a:defRPr>
            </a:pPr>
            <a:r>
              <a:t>→ More features → User profiles → My Sites</a:t>
            </a:r>
          </a:p>
          <a:p>
            <a:pPr>
              <a:spcAft>
                <a:spcPts val="1000"/>
              </a:spcAft>
              <a:defRPr sz="1500">
                <a:solidFill>
                  <a:srgbClr val="333333"/>
                </a:solidFill>
                <a:latin typeface="Segoe UI"/>
              </a:defRPr>
            </a:pPr>
            <a:r>
              <a:t>→ Used when no manager is set</a:t>
            </a:r>
          </a:p>
          <a:p>
            <a:pPr>
              <a:spcAft>
                <a:spcPts val="1000"/>
              </a:spcAft>
              <a:defRPr sz="1500">
                <a:solidFill>
                  <a:srgbClr val="333333"/>
                </a:solidFill>
                <a:latin typeface="Segoe UI"/>
              </a:defRPr>
            </a:pPr>
            <a:r>
              <a:t>→ Also receives email notification</a:t>
            </a:r>
          </a:p>
        </p:txBody>
      </p:sp>
      <p:sp>
        <p:nvSpPr>
          <p:cNvPr id="16" name="Rounded Rectangle 15"/>
          <p:cNvSpPr/>
          <p:nvPr/>
        </p:nvSpPr>
        <p:spPr>
          <a:xfrm>
            <a:off x="548640" y="5760720"/>
            <a:ext cx="10972800" cy="640080"/>
          </a:xfrm>
          <a:prstGeom prst="roundRect">
            <a:avLst/>
          </a:prstGeom>
          <a:solidFill>
            <a:srgbClr val="FDE8E8"/>
          </a:solidFill>
          <a:ln w="12700">
            <a:solidFill>
              <a:srgbClr val="D13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806440"/>
            <a:ext cx="10424160" cy="502920"/>
          </a:xfrm>
          <a:prstGeom prst="rect">
            <a:avLst/>
          </a:prstGeom>
          <a:noFill/>
        </p:spPr>
        <p:txBody>
          <a:bodyPr wrap="square">
            <a:spAutoFit/>
          </a:bodyPr>
          <a:lstStyle/>
          <a:p>
            <a:pPr algn="l">
              <a:defRPr sz="1400" b="1">
                <a:solidFill>
                  <a:srgbClr val="333333"/>
                </a:solidFill>
                <a:latin typeface="Segoe UI"/>
              </a:defRPr>
            </a:pPr>
            <a:r>
              <a:t>⚠️  If neither manager nor secondary owner is set, no one has automatic access.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Restoring a Deleted OneDrive</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365760" y="1371600"/>
            <a:ext cx="3566160" cy="4572000"/>
          </a:xfrm>
          <a:prstGeom prst="roundRect">
            <a:avLst/>
          </a:prstGeom>
          <a:solidFill>
            <a:srgbClr val="F5F5F5"/>
          </a:solidFill>
          <a:ln w="12700">
            <a:solidFill>
              <a:srgbClr val="107C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356616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54480"/>
            <a:ext cx="3200400" cy="822960"/>
          </a:xfrm>
          <a:prstGeom prst="rect">
            <a:avLst/>
          </a:prstGeom>
          <a:noFill/>
        </p:spPr>
        <p:txBody>
          <a:bodyPr wrap="square">
            <a:spAutoFit/>
          </a:bodyPr>
          <a:lstStyle/>
          <a:p>
            <a:pPr algn="ctr">
              <a:defRPr sz="1500" b="1">
                <a:solidFill>
                  <a:srgbClr val="107C10"/>
                </a:solidFill>
                <a:latin typeface="Segoe UI"/>
              </a:defRPr>
            </a:pPr>
            <a:r>
              <a:t>During Retention Period</a:t>
            </a:r>
            <a:br/>
            <a:r>
              <a:t>(default 30 days)</a:t>
            </a:r>
          </a:p>
        </p:txBody>
      </p:sp>
      <p:sp>
        <p:nvSpPr>
          <p:cNvPr id="10" name="TextBox 9"/>
          <p:cNvSpPr txBox="1"/>
          <p:nvPr/>
        </p:nvSpPr>
        <p:spPr>
          <a:xfrm>
            <a:off x="548640" y="2560320"/>
            <a:ext cx="3200400" cy="2926080"/>
          </a:xfrm>
          <a:prstGeom prst="rect">
            <a:avLst/>
          </a:prstGeom>
          <a:noFill/>
        </p:spPr>
        <p:txBody>
          <a:bodyPr wrap="square">
            <a:spAutoFit/>
          </a:bodyPr>
          <a:lstStyle/>
          <a:p>
            <a:pPr>
              <a:spcAft>
                <a:spcPts val="1000"/>
              </a:spcAft>
              <a:defRPr sz="1300">
                <a:solidFill>
                  <a:srgbClr val="333333"/>
                </a:solidFill>
                <a:latin typeface="Segoe UI"/>
              </a:defRPr>
            </a:pPr>
            <a:r>
              <a:t>→ OneDrive still accessible</a:t>
            </a:r>
          </a:p>
          <a:p>
            <a:pPr>
              <a:spcAft>
                <a:spcPts val="1000"/>
              </a:spcAft>
              <a:defRPr sz="1300">
                <a:solidFill>
                  <a:srgbClr val="333333"/>
                </a:solidFill>
                <a:latin typeface="Segoe UI"/>
              </a:defRPr>
            </a:pPr>
            <a:r>
              <a:t>→ Manager/secondary owner has access</a:t>
            </a:r>
          </a:p>
          <a:p>
            <a:pPr>
              <a:spcAft>
                <a:spcPts val="1000"/>
              </a:spcAft>
              <a:defRPr sz="1300">
                <a:solidFill>
                  <a:srgbClr val="333333"/>
                </a:solidFill>
                <a:latin typeface="Segoe UI"/>
              </a:defRPr>
            </a:pPr>
            <a:r>
              <a:t>→ Files can be downloaded/moved</a:t>
            </a:r>
          </a:p>
          <a:p>
            <a:pPr>
              <a:spcAft>
                <a:spcPts val="1000"/>
              </a:spcAft>
              <a:defRPr sz="1300">
                <a:solidFill>
                  <a:srgbClr val="333333"/>
                </a:solidFill>
                <a:latin typeface="Segoe UI"/>
              </a:defRPr>
            </a:pPr>
            <a:r>
              <a:t>→ Re-create user account restores access</a:t>
            </a:r>
          </a:p>
        </p:txBody>
      </p:sp>
      <p:sp>
        <p:nvSpPr>
          <p:cNvPr id="11" name="Rounded Rectangle 10"/>
          <p:cNvSpPr/>
          <p:nvPr/>
        </p:nvSpPr>
        <p:spPr>
          <a:xfrm>
            <a:off x="4206240" y="1371600"/>
            <a:ext cx="3566160" cy="4572000"/>
          </a:xfrm>
          <a:prstGeom prst="roundRect">
            <a:avLst/>
          </a:prstGeom>
          <a:solidFill>
            <a:srgbClr val="F5F5F5"/>
          </a:solidFill>
          <a:ln w="1270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06240" y="1371600"/>
            <a:ext cx="356616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554480"/>
            <a:ext cx="3200400" cy="822960"/>
          </a:xfrm>
          <a:prstGeom prst="rect">
            <a:avLst/>
          </a:prstGeom>
          <a:noFill/>
        </p:spPr>
        <p:txBody>
          <a:bodyPr wrap="square">
            <a:spAutoFit/>
          </a:bodyPr>
          <a:lstStyle/>
          <a:p>
            <a:pPr algn="ctr">
              <a:defRPr sz="1500" b="1">
                <a:solidFill>
                  <a:srgbClr val="FF8C00"/>
                </a:solidFill>
                <a:latin typeface="Segoe UI"/>
              </a:defRPr>
            </a:pPr>
            <a:r>
              <a:t>After Retention</a:t>
            </a:r>
            <a:br/>
            <a:r>
              <a:t>(93-day deleted state)</a:t>
            </a:r>
          </a:p>
        </p:txBody>
      </p:sp>
      <p:sp>
        <p:nvSpPr>
          <p:cNvPr id="14" name="TextBox 13"/>
          <p:cNvSpPr txBox="1"/>
          <p:nvPr/>
        </p:nvSpPr>
        <p:spPr>
          <a:xfrm>
            <a:off x="4389120" y="2560320"/>
            <a:ext cx="3200400" cy="2926080"/>
          </a:xfrm>
          <a:prstGeom prst="rect">
            <a:avLst/>
          </a:prstGeom>
          <a:noFill/>
        </p:spPr>
        <p:txBody>
          <a:bodyPr wrap="square">
            <a:spAutoFit/>
          </a:bodyPr>
          <a:lstStyle/>
          <a:p>
            <a:pPr>
              <a:spcAft>
                <a:spcPts val="1000"/>
              </a:spcAft>
              <a:defRPr sz="1300">
                <a:solidFill>
                  <a:srgbClr val="333333"/>
                </a:solidFill>
                <a:latin typeface="Segoe UI"/>
              </a:defRPr>
            </a:pPr>
            <a:r>
              <a:t>→ Only SharePoint Admin can restore</a:t>
            </a:r>
          </a:p>
          <a:p>
            <a:pPr>
              <a:spcAft>
                <a:spcPts val="1000"/>
              </a:spcAft>
              <a:defRPr sz="1300">
                <a:solidFill>
                  <a:srgbClr val="333333"/>
                </a:solidFill>
                <a:latin typeface="Segoe UI"/>
              </a:defRPr>
            </a:pPr>
            <a:r>
              <a:t>→ Use Restore-DeletedSite or admin center</a:t>
            </a:r>
          </a:p>
          <a:p>
            <a:pPr>
              <a:spcAft>
                <a:spcPts val="1000"/>
              </a:spcAft>
              <a:defRPr sz="1300">
                <a:solidFill>
                  <a:srgbClr val="333333"/>
                </a:solidFill>
                <a:latin typeface="Segoe UI"/>
              </a:defRPr>
            </a:pPr>
            <a:r>
              <a:t>→ Shared content no longer accessible</a:t>
            </a:r>
          </a:p>
          <a:p>
            <a:pPr>
              <a:spcAft>
                <a:spcPts val="1000"/>
              </a:spcAft>
              <a:defRPr sz="1300">
                <a:solidFill>
                  <a:srgbClr val="333333"/>
                </a:solidFill>
                <a:latin typeface="Segoe UI"/>
              </a:defRPr>
            </a:pPr>
            <a:r>
              <a:t>→ Last chance before permanent deletion</a:t>
            </a:r>
          </a:p>
        </p:txBody>
      </p:sp>
      <p:sp>
        <p:nvSpPr>
          <p:cNvPr id="15" name="Rounded Rectangle 14"/>
          <p:cNvSpPr/>
          <p:nvPr/>
        </p:nvSpPr>
        <p:spPr>
          <a:xfrm>
            <a:off x="8046720" y="1371600"/>
            <a:ext cx="3566160" cy="4572000"/>
          </a:xfrm>
          <a:prstGeom prst="roundRect">
            <a:avLst/>
          </a:prstGeom>
          <a:solidFill>
            <a:srgbClr val="F5F5F5"/>
          </a:solidFill>
          <a:ln w="12700">
            <a:solidFill>
              <a:srgbClr val="D134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371600"/>
            <a:ext cx="356616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554480"/>
            <a:ext cx="3200400" cy="822960"/>
          </a:xfrm>
          <a:prstGeom prst="rect">
            <a:avLst/>
          </a:prstGeom>
          <a:noFill/>
        </p:spPr>
        <p:txBody>
          <a:bodyPr wrap="square">
            <a:spAutoFit/>
          </a:bodyPr>
          <a:lstStyle/>
          <a:p>
            <a:pPr algn="ctr">
              <a:defRPr sz="1500" b="1">
                <a:solidFill>
                  <a:srgbClr val="D13438"/>
                </a:solidFill>
                <a:latin typeface="Segoe UI"/>
              </a:defRPr>
            </a:pPr>
            <a:r>
              <a:t>After 93-Day Window</a:t>
            </a:r>
          </a:p>
        </p:txBody>
      </p:sp>
      <p:sp>
        <p:nvSpPr>
          <p:cNvPr id="18" name="TextBox 17"/>
          <p:cNvSpPr txBox="1"/>
          <p:nvPr/>
        </p:nvSpPr>
        <p:spPr>
          <a:xfrm>
            <a:off x="8229600" y="2560320"/>
            <a:ext cx="3200400" cy="2926080"/>
          </a:xfrm>
          <a:prstGeom prst="rect">
            <a:avLst/>
          </a:prstGeom>
          <a:noFill/>
        </p:spPr>
        <p:txBody>
          <a:bodyPr wrap="square">
            <a:spAutoFit/>
          </a:bodyPr>
          <a:lstStyle/>
          <a:p>
            <a:pPr>
              <a:spcAft>
                <a:spcPts val="1000"/>
              </a:spcAft>
              <a:defRPr sz="1300">
                <a:solidFill>
                  <a:srgbClr val="333333"/>
                </a:solidFill>
                <a:latin typeface="Segoe UI"/>
              </a:defRPr>
            </a:pPr>
            <a:r>
              <a:t>→ Permanently deleted</a:t>
            </a:r>
          </a:p>
          <a:p>
            <a:pPr>
              <a:spcAft>
                <a:spcPts val="1000"/>
              </a:spcAft>
              <a:defRPr sz="1300">
                <a:solidFill>
                  <a:srgbClr val="333333"/>
                </a:solidFill>
                <a:latin typeface="Segoe UI"/>
              </a:defRPr>
            </a:pPr>
            <a:r>
              <a:t>→ Cannot be recovered by admin</a:t>
            </a:r>
          </a:p>
          <a:p>
            <a:pPr>
              <a:spcAft>
                <a:spcPts val="1000"/>
              </a:spcAft>
              <a:defRPr sz="1300">
                <a:solidFill>
                  <a:srgbClr val="333333"/>
                </a:solidFill>
                <a:latin typeface="Segoe UI"/>
              </a:defRPr>
            </a:pPr>
            <a:r>
              <a:t>→ Exception: Purview retention policies</a:t>
            </a:r>
            <a:br/>
            <a:r>
              <a:t>or eDiscovery holds may override</a:t>
            </a:r>
          </a:p>
          <a:p>
            <a:pPr>
              <a:spcAft>
                <a:spcPts val="1000"/>
              </a:spcAft>
              <a:defRPr sz="1300">
                <a:solidFill>
                  <a:srgbClr val="333333"/>
                </a:solidFill>
                <a:latin typeface="Segoe UI"/>
              </a:defRPr>
            </a:pPr>
            <a:r>
              <a:t>→ Plan ahead!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OneDrive + Purview: Retention &amp; eDiscovery Holds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371600"/>
            <a:ext cx="10058400" cy="548640"/>
          </a:xfrm>
          <a:prstGeom prst="rect">
            <a:avLst/>
          </a:prstGeom>
          <a:noFill/>
        </p:spPr>
        <p:txBody>
          <a:bodyPr wrap="square">
            <a:spAutoFit/>
          </a:bodyPr>
          <a:lstStyle/>
          <a:p>
            <a:pPr algn="l">
              <a:defRPr sz="1800" b="0">
                <a:solidFill>
                  <a:srgbClr val="333333"/>
                </a:solidFill>
                <a:latin typeface="Segoe UI"/>
              </a:defRPr>
            </a:pPr>
            <a:r>
              <a:t>Purview retention policies and eDiscovery holds can override</a:t>
            </a:r>
            <a:br/>
            <a:r>
              <a:t>the standard OneDrive deletion timeline.</a:t>
            </a:r>
          </a:p>
        </p:txBody>
      </p:sp>
      <p:sp>
        <p:nvSpPr>
          <p:cNvPr id="8" name="Rectangle 7"/>
          <p:cNvSpPr/>
          <p:nvPr/>
        </p:nvSpPr>
        <p:spPr>
          <a:xfrm>
            <a:off x="731520" y="2286000"/>
            <a:ext cx="109728" cy="109728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3657600" cy="457200"/>
          </a:xfrm>
          <a:prstGeom prst="rect">
            <a:avLst/>
          </a:prstGeom>
          <a:noFill/>
        </p:spPr>
        <p:txBody>
          <a:bodyPr wrap="square">
            <a:spAutoFit/>
          </a:bodyPr>
          <a:lstStyle/>
          <a:p>
            <a:pPr algn="l">
              <a:defRPr sz="1700" b="1">
                <a:solidFill>
                  <a:srgbClr val="6B69D6"/>
                </a:solidFill>
                <a:latin typeface="Segoe UI"/>
              </a:defRPr>
            </a:pPr>
            <a:r>
              <a:t>Purview Retention Policy</a:t>
            </a:r>
          </a:p>
        </p:txBody>
      </p:sp>
      <p:sp>
        <p:nvSpPr>
          <p:cNvPr id="10" name="TextBox 9"/>
          <p:cNvSpPr txBox="1"/>
          <p:nvPr/>
        </p:nvSpPr>
        <p:spPr>
          <a:xfrm>
            <a:off x="5029200" y="2286000"/>
            <a:ext cx="6400800" cy="1097280"/>
          </a:xfrm>
          <a:prstGeom prst="rect">
            <a:avLst/>
          </a:prstGeom>
          <a:noFill/>
        </p:spPr>
        <p:txBody>
          <a:bodyPr wrap="square">
            <a:spAutoFit/>
          </a:bodyPr>
          <a:lstStyle/>
          <a:p>
            <a:pPr algn="l">
              <a:defRPr sz="1400" b="0">
                <a:solidFill>
                  <a:srgbClr val="333333"/>
                </a:solidFill>
                <a:latin typeface="Segoe UI"/>
              </a:defRPr>
            </a:pPr>
            <a:r>
              <a:t>If a retention policy covers OneDrive,</a:t>
            </a:r>
            <a:br/>
            <a:r>
              <a:t>content is retained for the full policy period</a:t>
            </a:r>
            <a:br/>
            <a:r>
              <a:t>— even if the user is deleted.</a:t>
            </a:r>
          </a:p>
        </p:txBody>
      </p:sp>
      <p:sp>
        <p:nvSpPr>
          <p:cNvPr id="11" name="Rectangle 10"/>
          <p:cNvSpPr/>
          <p:nvPr/>
        </p:nvSpPr>
        <p:spPr>
          <a:xfrm>
            <a:off x="731520" y="3657600"/>
            <a:ext cx="109728" cy="109728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57600"/>
            <a:ext cx="3657600" cy="457200"/>
          </a:xfrm>
          <a:prstGeom prst="rect">
            <a:avLst/>
          </a:prstGeom>
          <a:noFill/>
        </p:spPr>
        <p:txBody>
          <a:bodyPr wrap="square">
            <a:spAutoFit/>
          </a:bodyPr>
          <a:lstStyle/>
          <a:p>
            <a:pPr algn="l">
              <a:defRPr sz="1700" b="1">
                <a:solidFill>
                  <a:srgbClr val="00B294"/>
                </a:solidFill>
                <a:latin typeface="Segoe UI"/>
              </a:defRPr>
            </a:pPr>
            <a:r>
              <a:t>eDiscovery Hold</a:t>
            </a:r>
          </a:p>
        </p:txBody>
      </p:sp>
      <p:sp>
        <p:nvSpPr>
          <p:cNvPr id="13" name="TextBox 12"/>
          <p:cNvSpPr txBox="1"/>
          <p:nvPr/>
        </p:nvSpPr>
        <p:spPr>
          <a:xfrm>
            <a:off x="5029200" y="3657600"/>
            <a:ext cx="6400800" cy="1097280"/>
          </a:xfrm>
          <a:prstGeom prst="rect">
            <a:avLst/>
          </a:prstGeom>
          <a:noFill/>
        </p:spPr>
        <p:txBody>
          <a:bodyPr wrap="square">
            <a:spAutoFit/>
          </a:bodyPr>
          <a:lstStyle/>
          <a:p>
            <a:pPr algn="l">
              <a:defRPr sz="1400" b="0">
                <a:solidFill>
                  <a:srgbClr val="333333"/>
                </a:solidFill>
                <a:latin typeface="Segoe UI"/>
              </a:defRPr>
            </a:pPr>
            <a:r>
              <a:t>If an eDiscovery hold is placed on a</a:t>
            </a:r>
            <a:br/>
            <a:r>
              <a:t>user's OneDrive, content is preserved</a:t>
            </a:r>
            <a:br/>
            <a:r>
              <a:t>regardless of deletion or retention settings.</a:t>
            </a:r>
          </a:p>
        </p:txBody>
      </p:sp>
      <p:sp>
        <p:nvSpPr>
          <p:cNvPr id="14" name="Rectangle 13"/>
          <p:cNvSpPr/>
          <p:nvPr/>
        </p:nvSpPr>
        <p:spPr>
          <a:xfrm>
            <a:off x="731520" y="5029200"/>
            <a:ext cx="109728"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5029200"/>
            <a:ext cx="3657600" cy="457200"/>
          </a:xfrm>
          <a:prstGeom prst="rect">
            <a:avLst/>
          </a:prstGeom>
          <a:noFill/>
        </p:spPr>
        <p:txBody>
          <a:bodyPr wrap="square">
            <a:spAutoFit/>
          </a:bodyPr>
          <a:lstStyle/>
          <a:p>
            <a:pPr algn="l">
              <a:defRPr sz="1700" b="1">
                <a:solidFill>
                  <a:srgbClr val="FF8C00"/>
                </a:solidFill>
                <a:latin typeface="Segoe UI"/>
              </a:defRPr>
            </a:pPr>
            <a:r>
              <a:t>Unlicensed Account Archive</a:t>
            </a:r>
          </a:p>
        </p:txBody>
      </p:sp>
      <p:sp>
        <p:nvSpPr>
          <p:cNvPr id="16" name="TextBox 15"/>
          <p:cNvSpPr txBox="1"/>
          <p:nvPr/>
        </p:nvSpPr>
        <p:spPr>
          <a:xfrm>
            <a:off x="5029200" y="5029200"/>
            <a:ext cx="6400800" cy="1097280"/>
          </a:xfrm>
          <a:prstGeom prst="rect">
            <a:avLst/>
          </a:prstGeom>
          <a:noFill/>
        </p:spPr>
        <p:txBody>
          <a:bodyPr wrap="square">
            <a:spAutoFit/>
          </a:bodyPr>
          <a:lstStyle/>
          <a:p>
            <a:pPr algn="l">
              <a:defRPr sz="1400" b="0">
                <a:solidFill>
                  <a:srgbClr val="333333"/>
                </a:solidFill>
                <a:latin typeface="Segoe UI"/>
              </a:defRPr>
            </a:pPr>
            <a:r>
              <a:t>OneDrive accounts without a valid</a:t>
            </a:r>
            <a:br/>
            <a:r>
              <a:t>license are automatically archived on</a:t>
            </a:r>
            <a:br/>
            <a:r>
              <a:t>day 93. Holds are still honored.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5</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Common Support Scenarios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Common Admin Support Scenarios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548640" y="1234440"/>
            <a:ext cx="10972800" cy="9144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25880"/>
            <a:ext cx="3200400" cy="731520"/>
          </a:xfrm>
          <a:prstGeom prst="rect">
            <a:avLst/>
          </a:prstGeom>
          <a:noFill/>
        </p:spPr>
        <p:txBody>
          <a:bodyPr wrap="square">
            <a:spAutoFit/>
          </a:bodyPr>
          <a:lstStyle/>
          <a:p>
            <a:pPr algn="l">
              <a:defRPr sz="1400" b="1">
                <a:solidFill>
                  <a:srgbClr val="D13438"/>
                </a:solidFill>
                <a:latin typeface="Segoe UI"/>
              </a:defRPr>
            </a:pPr>
            <a:r>
              <a:t>Sync missing / not working</a:t>
            </a:r>
          </a:p>
        </p:txBody>
      </p:sp>
      <p:sp>
        <p:nvSpPr>
          <p:cNvPr id="9" name="TextBox 8"/>
          <p:cNvSpPr txBox="1"/>
          <p:nvPr/>
        </p:nvSpPr>
        <p:spPr>
          <a:xfrm>
            <a:off x="4389120" y="1280160"/>
            <a:ext cx="6858000" cy="822960"/>
          </a:xfrm>
          <a:prstGeom prst="rect">
            <a:avLst/>
          </a:prstGeom>
          <a:noFill/>
        </p:spPr>
        <p:txBody>
          <a:bodyPr wrap="square">
            <a:spAutoFit/>
          </a:bodyPr>
          <a:lstStyle/>
          <a:p>
            <a:pPr algn="l">
              <a:defRPr sz="1300" b="0">
                <a:solidFill>
                  <a:srgbClr val="333333"/>
                </a:solidFill>
                <a:latin typeface="Segoe UI"/>
              </a:defRPr>
            </a:pPr>
            <a:r>
              <a:t>Check: is the Sync button hidden?</a:t>
            </a:r>
            <a:br/>
            <a:r>
              <a:t>Is the device managed? Check sync</a:t>
            </a:r>
            <a:br/>
            <a:r>
              <a:t>health reports in Apps Admin Center.</a:t>
            </a:r>
          </a:p>
        </p:txBody>
      </p:sp>
      <p:sp>
        <p:nvSpPr>
          <p:cNvPr id="10" name="Rounded Rectangle 9"/>
          <p:cNvSpPr/>
          <p:nvPr/>
        </p:nvSpPr>
        <p:spPr>
          <a:xfrm>
            <a:off x="548640" y="2240280"/>
            <a:ext cx="1097280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31720"/>
            <a:ext cx="3200400" cy="731520"/>
          </a:xfrm>
          <a:prstGeom prst="rect">
            <a:avLst/>
          </a:prstGeom>
          <a:noFill/>
        </p:spPr>
        <p:txBody>
          <a:bodyPr wrap="square">
            <a:spAutoFit/>
          </a:bodyPr>
          <a:lstStyle/>
          <a:p>
            <a:pPr algn="l">
              <a:defRPr sz="1400" b="1">
                <a:solidFill>
                  <a:srgbClr val="D13438"/>
                </a:solidFill>
                <a:latin typeface="Segoe UI"/>
              </a:defRPr>
            </a:pPr>
            <a:r>
              <a:t>Blocked download on</a:t>
            </a:r>
            <a:br/>
            <a:r>
              <a:t>unmanaged device</a:t>
            </a:r>
          </a:p>
        </p:txBody>
      </p:sp>
      <p:sp>
        <p:nvSpPr>
          <p:cNvPr id="12" name="TextBox 11"/>
          <p:cNvSpPr txBox="1"/>
          <p:nvPr/>
        </p:nvSpPr>
        <p:spPr>
          <a:xfrm>
            <a:off x="4389120" y="2286000"/>
            <a:ext cx="6858000" cy="822960"/>
          </a:xfrm>
          <a:prstGeom prst="rect">
            <a:avLst/>
          </a:prstGeom>
          <a:noFill/>
        </p:spPr>
        <p:txBody>
          <a:bodyPr wrap="square">
            <a:spAutoFit/>
          </a:bodyPr>
          <a:lstStyle/>
          <a:p>
            <a:pPr algn="l">
              <a:defRPr sz="1300" b="0">
                <a:solidFill>
                  <a:srgbClr val="333333"/>
                </a:solidFill>
                <a:latin typeface="Segoe UI"/>
              </a:defRPr>
            </a:pPr>
            <a:r>
              <a:t>Expected if limited access is set.</a:t>
            </a:r>
            <a:br/>
            <a:r>
              <a:t>Verify policy in Access control page.</a:t>
            </a:r>
            <a:br/>
            <a:r>
              <a:t>Changes take up to 24 hours.</a:t>
            </a:r>
          </a:p>
        </p:txBody>
      </p:sp>
      <p:sp>
        <p:nvSpPr>
          <p:cNvPr id="13" name="Rounded Rectangle 12"/>
          <p:cNvSpPr/>
          <p:nvPr/>
        </p:nvSpPr>
        <p:spPr>
          <a:xfrm>
            <a:off x="548640" y="3246120"/>
            <a:ext cx="10972800" cy="9144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3200400" cy="731520"/>
          </a:xfrm>
          <a:prstGeom prst="rect">
            <a:avLst/>
          </a:prstGeom>
          <a:noFill/>
        </p:spPr>
        <p:txBody>
          <a:bodyPr wrap="square">
            <a:spAutoFit/>
          </a:bodyPr>
          <a:lstStyle/>
          <a:p>
            <a:pPr algn="l">
              <a:defRPr sz="1400" b="1">
                <a:solidFill>
                  <a:srgbClr val="D13438"/>
                </a:solidFill>
                <a:latin typeface="Segoe UI"/>
              </a:defRPr>
            </a:pPr>
            <a:r>
              <a:t>User's OneDrive read-only</a:t>
            </a:r>
          </a:p>
        </p:txBody>
      </p:sp>
      <p:sp>
        <p:nvSpPr>
          <p:cNvPr id="15" name="TextBox 14"/>
          <p:cNvSpPr txBox="1"/>
          <p:nvPr/>
        </p:nvSpPr>
        <p:spPr>
          <a:xfrm>
            <a:off x="4389120" y="3291840"/>
            <a:ext cx="6858000" cy="822960"/>
          </a:xfrm>
          <a:prstGeom prst="rect">
            <a:avLst/>
          </a:prstGeom>
          <a:noFill/>
        </p:spPr>
        <p:txBody>
          <a:bodyPr wrap="square">
            <a:spAutoFit/>
          </a:bodyPr>
          <a:lstStyle/>
          <a:p>
            <a:pPr algn="l">
              <a:defRPr sz="1300" b="0">
                <a:solidFill>
                  <a:srgbClr val="333333"/>
                </a:solidFill>
                <a:latin typeface="Segoe UI"/>
              </a:defRPr>
            </a:pPr>
            <a:r>
              <a:t>Storage quota exceeded.</a:t>
            </a:r>
            <a:br/>
            <a:r>
              <a:t>Increase quota or ask user</a:t>
            </a:r>
            <a:br/>
            <a:r>
              <a:t>to free space.</a:t>
            </a:r>
          </a:p>
        </p:txBody>
      </p:sp>
      <p:sp>
        <p:nvSpPr>
          <p:cNvPr id="16" name="Rounded Rectangle 15"/>
          <p:cNvSpPr/>
          <p:nvPr/>
        </p:nvSpPr>
        <p:spPr>
          <a:xfrm>
            <a:off x="548640" y="4251960"/>
            <a:ext cx="10972800" cy="91440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343400"/>
            <a:ext cx="3200400" cy="731520"/>
          </a:xfrm>
          <a:prstGeom prst="rect">
            <a:avLst/>
          </a:prstGeom>
          <a:noFill/>
        </p:spPr>
        <p:txBody>
          <a:bodyPr wrap="square">
            <a:spAutoFit/>
          </a:bodyPr>
          <a:lstStyle/>
          <a:p>
            <a:pPr algn="l">
              <a:defRPr sz="1400" b="1">
                <a:solidFill>
                  <a:srgbClr val="D13438"/>
                </a:solidFill>
                <a:latin typeface="Segoe UI"/>
              </a:defRPr>
            </a:pPr>
            <a:r>
              <a:t>Departed user's files needed</a:t>
            </a:r>
          </a:p>
        </p:txBody>
      </p:sp>
      <p:sp>
        <p:nvSpPr>
          <p:cNvPr id="18" name="TextBox 17"/>
          <p:cNvSpPr txBox="1"/>
          <p:nvPr/>
        </p:nvSpPr>
        <p:spPr>
          <a:xfrm>
            <a:off x="4389120" y="4297680"/>
            <a:ext cx="6858000" cy="822960"/>
          </a:xfrm>
          <a:prstGeom prst="rect">
            <a:avLst/>
          </a:prstGeom>
          <a:noFill/>
        </p:spPr>
        <p:txBody>
          <a:bodyPr wrap="square">
            <a:spAutoFit/>
          </a:bodyPr>
          <a:lstStyle/>
          <a:p>
            <a:pPr algn="l">
              <a:defRPr sz="1300" b="0">
                <a:solidFill>
                  <a:srgbClr val="333333"/>
                </a:solidFill>
                <a:latin typeface="Segoe UI"/>
              </a:defRPr>
            </a:pPr>
            <a:r>
              <a:t>Check retention period setting.</a:t>
            </a:r>
            <a:br/>
            <a:r>
              <a:t>Access as manager or SPO admin.</a:t>
            </a:r>
            <a:br/>
            <a:r>
              <a:t>93-day deleted state = admin restore.</a:t>
            </a:r>
          </a:p>
        </p:txBody>
      </p:sp>
      <p:sp>
        <p:nvSpPr>
          <p:cNvPr id="19" name="Rounded Rectangle 18"/>
          <p:cNvSpPr/>
          <p:nvPr/>
        </p:nvSpPr>
        <p:spPr>
          <a:xfrm>
            <a:off x="548640" y="5257800"/>
            <a:ext cx="10972800" cy="91440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49240"/>
            <a:ext cx="3200400" cy="731520"/>
          </a:xfrm>
          <a:prstGeom prst="rect">
            <a:avLst/>
          </a:prstGeom>
          <a:noFill/>
        </p:spPr>
        <p:txBody>
          <a:bodyPr wrap="square">
            <a:spAutoFit/>
          </a:bodyPr>
          <a:lstStyle/>
          <a:p>
            <a:pPr algn="l">
              <a:defRPr sz="1400" b="1">
                <a:solidFill>
                  <a:srgbClr val="D13438"/>
                </a:solidFill>
                <a:latin typeface="Segoe UI"/>
              </a:defRPr>
            </a:pPr>
            <a:r>
              <a:t>External sharing not working</a:t>
            </a:r>
          </a:p>
        </p:txBody>
      </p:sp>
      <p:sp>
        <p:nvSpPr>
          <p:cNvPr id="21" name="TextBox 20"/>
          <p:cNvSpPr txBox="1"/>
          <p:nvPr/>
        </p:nvSpPr>
        <p:spPr>
          <a:xfrm>
            <a:off x="4389120" y="5303520"/>
            <a:ext cx="6858000" cy="822960"/>
          </a:xfrm>
          <a:prstGeom prst="rect">
            <a:avLst/>
          </a:prstGeom>
          <a:noFill/>
        </p:spPr>
        <p:txBody>
          <a:bodyPr wrap="square">
            <a:spAutoFit/>
          </a:bodyPr>
          <a:lstStyle/>
          <a:p>
            <a:pPr algn="l">
              <a:defRPr sz="1300" b="0">
                <a:solidFill>
                  <a:srgbClr val="333333"/>
                </a:solidFill>
                <a:latin typeface="Segoe UI"/>
              </a:defRPr>
            </a:pPr>
            <a:r>
              <a:t>OneDrive level ≤ SPO level.</a:t>
            </a:r>
            <a:br/>
            <a:r>
              <a:t>Check both org level and site level.</a:t>
            </a:r>
            <a:br/>
            <a:r>
              <a:t>Verify user hasn't been restricted.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Section 6</a:t>
            </a:r>
          </a:p>
        </p:txBody>
      </p:sp>
      <p:sp>
        <p:nvSpPr>
          <p:cNvPr id="4" name="TextBox 3"/>
          <p:cNvSpPr txBox="1"/>
          <p:nvPr/>
        </p:nvSpPr>
        <p:spPr>
          <a:xfrm>
            <a:off x="914400" y="3931920"/>
            <a:ext cx="9144000" cy="640080"/>
          </a:xfrm>
          <a:prstGeom prst="rect">
            <a:avLst/>
          </a:prstGeom>
          <a:noFill/>
        </p:spPr>
        <p:txBody>
          <a:bodyPr wrap="square">
            <a:spAutoFit/>
          </a:bodyPr>
          <a:lstStyle/>
          <a:p>
            <a:pPr algn="l">
              <a:defRPr sz="1800" b="0">
                <a:solidFill>
                  <a:srgbClr val="E0E0E0"/>
                </a:solidFill>
                <a:latin typeface="Segoe UI"/>
              </a:defRPr>
            </a:pPr>
            <a:r>
              <a:t>Lab 9: OneDrive Administration</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Lab 9: Hands-On Exercises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731520" y="1280160"/>
            <a:ext cx="10972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Task 1</a:t>
            </a:r>
          </a:p>
        </p:txBody>
      </p:sp>
      <p:sp>
        <p:nvSpPr>
          <p:cNvPr id="8" name="TextBox 7"/>
          <p:cNvSpPr txBox="1"/>
          <p:nvPr/>
        </p:nvSpPr>
        <p:spPr>
          <a:xfrm>
            <a:off x="2103120" y="1280160"/>
            <a:ext cx="3200400" cy="457200"/>
          </a:xfrm>
          <a:prstGeom prst="rect">
            <a:avLst/>
          </a:prstGeom>
          <a:noFill/>
        </p:spPr>
        <p:txBody>
          <a:bodyPr wrap="square">
            <a:spAutoFit/>
          </a:bodyPr>
          <a:lstStyle/>
          <a:p>
            <a:pPr algn="l">
              <a:defRPr sz="1700" b="1">
                <a:solidFill>
                  <a:srgbClr val="333333"/>
                </a:solidFill>
                <a:latin typeface="Segoe UI"/>
              </a:defRPr>
            </a:pPr>
            <a:r>
              <a:t>Document tenant settings</a:t>
            </a:r>
          </a:p>
        </p:txBody>
      </p:sp>
      <p:sp>
        <p:nvSpPr>
          <p:cNvPr id="9" name="TextBox 8"/>
          <p:cNvSpPr txBox="1"/>
          <p:nvPr/>
        </p:nvSpPr>
        <p:spPr>
          <a:xfrm>
            <a:off x="5669280" y="1280160"/>
            <a:ext cx="5943600" cy="457200"/>
          </a:xfrm>
          <a:prstGeom prst="rect">
            <a:avLst/>
          </a:prstGeom>
          <a:noFill/>
        </p:spPr>
        <p:txBody>
          <a:bodyPr wrap="square">
            <a:spAutoFit/>
          </a:bodyPr>
          <a:lstStyle/>
          <a:p>
            <a:pPr algn="l">
              <a:defRPr sz="1400" b="0">
                <a:solidFill>
                  <a:srgbClr val="333333"/>
                </a:solidFill>
                <a:latin typeface="Segoe UI"/>
              </a:defRPr>
            </a:pPr>
            <a:r>
              <a:t>Record current Sharing, Sync, Storage, Retention values</a:t>
            </a:r>
          </a:p>
        </p:txBody>
      </p:sp>
      <p:sp>
        <p:nvSpPr>
          <p:cNvPr id="10" name="Rounded Rectangle 9"/>
          <p:cNvSpPr/>
          <p:nvPr/>
        </p:nvSpPr>
        <p:spPr>
          <a:xfrm>
            <a:off x="731520" y="2286000"/>
            <a:ext cx="10972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Task 2</a:t>
            </a:r>
          </a:p>
        </p:txBody>
      </p:sp>
      <p:sp>
        <p:nvSpPr>
          <p:cNvPr id="11" name="TextBox 10"/>
          <p:cNvSpPr txBox="1"/>
          <p:nvPr/>
        </p:nvSpPr>
        <p:spPr>
          <a:xfrm>
            <a:off x="2103120" y="2286000"/>
            <a:ext cx="3200400" cy="457200"/>
          </a:xfrm>
          <a:prstGeom prst="rect">
            <a:avLst/>
          </a:prstGeom>
          <a:noFill/>
        </p:spPr>
        <p:txBody>
          <a:bodyPr wrap="square">
            <a:spAutoFit/>
          </a:bodyPr>
          <a:lstStyle/>
          <a:p>
            <a:pPr algn="l">
              <a:defRPr sz="1700" b="1">
                <a:solidFill>
                  <a:srgbClr val="333333"/>
                </a:solidFill>
                <a:latin typeface="Segoe UI"/>
              </a:defRPr>
            </a:pPr>
            <a:r>
              <a:t>Observe access control</a:t>
            </a:r>
          </a:p>
        </p:txBody>
      </p:sp>
      <p:sp>
        <p:nvSpPr>
          <p:cNvPr id="12" name="TextBox 11"/>
          <p:cNvSpPr txBox="1"/>
          <p:nvPr/>
        </p:nvSpPr>
        <p:spPr>
          <a:xfrm>
            <a:off x="5669280" y="2286000"/>
            <a:ext cx="5943600" cy="457200"/>
          </a:xfrm>
          <a:prstGeom prst="rect">
            <a:avLst/>
          </a:prstGeom>
          <a:noFill/>
        </p:spPr>
        <p:txBody>
          <a:bodyPr wrap="square">
            <a:spAutoFit/>
          </a:bodyPr>
          <a:lstStyle/>
          <a:p>
            <a:pPr algn="l">
              <a:defRPr sz="1400" b="0">
                <a:solidFill>
                  <a:srgbClr val="333333"/>
                </a:solidFill>
                <a:latin typeface="Segoe UI"/>
              </a:defRPr>
            </a:pPr>
            <a:r>
              <a:t>Review unmanaged device policy settings (read-only)</a:t>
            </a:r>
          </a:p>
        </p:txBody>
      </p:sp>
      <p:sp>
        <p:nvSpPr>
          <p:cNvPr id="13" name="Rounded Rectangle 12"/>
          <p:cNvSpPr/>
          <p:nvPr/>
        </p:nvSpPr>
        <p:spPr>
          <a:xfrm>
            <a:off x="731520" y="3291840"/>
            <a:ext cx="10972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Task 3</a:t>
            </a:r>
          </a:p>
        </p:txBody>
      </p:sp>
      <p:sp>
        <p:nvSpPr>
          <p:cNvPr id="14" name="TextBox 13"/>
          <p:cNvSpPr txBox="1"/>
          <p:nvPr/>
        </p:nvSpPr>
        <p:spPr>
          <a:xfrm>
            <a:off x="2103120" y="3291840"/>
            <a:ext cx="3200400" cy="457200"/>
          </a:xfrm>
          <a:prstGeom prst="rect">
            <a:avLst/>
          </a:prstGeom>
          <a:noFill/>
        </p:spPr>
        <p:txBody>
          <a:bodyPr wrap="square">
            <a:spAutoFit/>
          </a:bodyPr>
          <a:lstStyle/>
          <a:p>
            <a:pPr algn="l">
              <a:defRPr sz="1700" b="1">
                <a:solidFill>
                  <a:srgbClr val="333333"/>
                </a:solidFill>
                <a:latin typeface="Segoe UI"/>
              </a:defRPr>
            </a:pPr>
            <a:r>
              <a:t>Internal sharing test</a:t>
            </a:r>
          </a:p>
        </p:txBody>
      </p:sp>
      <p:sp>
        <p:nvSpPr>
          <p:cNvPr id="15" name="TextBox 14"/>
          <p:cNvSpPr txBox="1"/>
          <p:nvPr/>
        </p:nvSpPr>
        <p:spPr>
          <a:xfrm>
            <a:off x="5669280" y="3291840"/>
            <a:ext cx="5943600" cy="457200"/>
          </a:xfrm>
          <a:prstGeom prst="rect">
            <a:avLst/>
          </a:prstGeom>
          <a:noFill/>
        </p:spPr>
        <p:txBody>
          <a:bodyPr wrap="square">
            <a:spAutoFit/>
          </a:bodyPr>
          <a:lstStyle/>
          <a:p>
            <a:pPr algn="l">
              <a:defRPr sz="1400" b="0">
                <a:solidFill>
                  <a:srgbClr val="333333"/>
                </a:solidFill>
                <a:latin typeface="Segoe UI"/>
              </a:defRPr>
            </a:pPr>
            <a:r>
              <a:t>Share a OneDrive file with another participant</a:t>
            </a:r>
          </a:p>
        </p:txBody>
      </p:sp>
      <p:sp>
        <p:nvSpPr>
          <p:cNvPr id="16" name="Rounded Rectangle 15"/>
          <p:cNvSpPr/>
          <p:nvPr/>
        </p:nvSpPr>
        <p:spPr>
          <a:xfrm>
            <a:off x="731520" y="4297680"/>
            <a:ext cx="10972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Task 4</a:t>
            </a:r>
          </a:p>
        </p:txBody>
      </p:sp>
      <p:sp>
        <p:nvSpPr>
          <p:cNvPr id="17" name="TextBox 16"/>
          <p:cNvSpPr txBox="1"/>
          <p:nvPr/>
        </p:nvSpPr>
        <p:spPr>
          <a:xfrm>
            <a:off x="2103120" y="4297680"/>
            <a:ext cx="3200400" cy="457200"/>
          </a:xfrm>
          <a:prstGeom prst="rect">
            <a:avLst/>
          </a:prstGeom>
          <a:noFill/>
        </p:spPr>
        <p:txBody>
          <a:bodyPr wrap="square">
            <a:spAutoFit/>
          </a:bodyPr>
          <a:lstStyle/>
          <a:p>
            <a:pPr algn="l">
              <a:defRPr sz="1700" b="1">
                <a:solidFill>
                  <a:srgbClr val="333333"/>
                </a:solidFill>
                <a:latin typeface="Segoe UI"/>
              </a:defRPr>
            </a:pPr>
            <a:r>
              <a:t>Verify sharing behavior</a:t>
            </a:r>
          </a:p>
        </p:txBody>
      </p:sp>
      <p:sp>
        <p:nvSpPr>
          <p:cNvPr id="18" name="TextBox 17"/>
          <p:cNvSpPr txBox="1"/>
          <p:nvPr/>
        </p:nvSpPr>
        <p:spPr>
          <a:xfrm>
            <a:off x="5669280" y="4297680"/>
            <a:ext cx="5943600" cy="457200"/>
          </a:xfrm>
          <a:prstGeom prst="rect">
            <a:avLst/>
          </a:prstGeom>
          <a:noFill/>
        </p:spPr>
        <p:txBody>
          <a:bodyPr wrap="square">
            <a:spAutoFit/>
          </a:bodyPr>
          <a:lstStyle/>
          <a:p>
            <a:pPr algn="l">
              <a:defRPr sz="1400" b="0">
                <a:solidFill>
                  <a:srgbClr val="333333"/>
                </a:solidFill>
                <a:latin typeface="Segoe UI"/>
              </a:defRPr>
            </a:pPr>
            <a:r>
              <a:t>Confirm recipient can access the shared file</a:t>
            </a:r>
          </a:p>
        </p:txBody>
      </p:sp>
      <p:sp>
        <p:nvSpPr>
          <p:cNvPr id="19" name="Rounded Rectangle 18"/>
          <p:cNvSpPr/>
          <p:nvPr/>
        </p:nvSpPr>
        <p:spPr>
          <a:xfrm>
            <a:off x="731520" y="5303520"/>
            <a:ext cx="1097280" cy="45720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Task 5</a:t>
            </a:r>
          </a:p>
        </p:txBody>
      </p:sp>
      <p:sp>
        <p:nvSpPr>
          <p:cNvPr id="20" name="TextBox 19"/>
          <p:cNvSpPr txBox="1"/>
          <p:nvPr/>
        </p:nvSpPr>
        <p:spPr>
          <a:xfrm>
            <a:off x="2103120" y="5303520"/>
            <a:ext cx="3200400" cy="457200"/>
          </a:xfrm>
          <a:prstGeom prst="rect">
            <a:avLst/>
          </a:prstGeom>
          <a:noFill/>
        </p:spPr>
        <p:txBody>
          <a:bodyPr wrap="square">
            <a:spAutoFit/>
          </a:bodyPr>
          <a:lstStyle/>
          <a:p>
            <a:pPr algn="l">
              <a:defRPr sz="1700" b="1">
                <a:solidFill>
                  <a:srgbClr val="333333"/>
                </a:solidFill>
                <a:latin typeface="Segoe UI"/>
              </a:defRPr>
            </a:pPr>
            <a:r>
              <a:t>Complete M09 worksheet</a:t>
            </a:r>
          </a:p>
        </p:txBody>
      </p:sp>
      <p:sp>
        <p:nvSpPr>
          <p:cNvPr id="21" name="TextBox 20"/>
          <p:cNvSpPr txBox="1"/>
          <p:nvPr/>
        </p:nvSpPr>
        <p:spPr>
          <a:xfrm>
            <a:off x="5669280" y="5303520"/>
            <a:ext cx="5943600" cy="457200"/>
          </a:xfrm>
          <a:prstGeom prst="rect">
            <a:avLst/>
          </a:prstGeom>
          <a:noFill/>
        </p:spPr>
        <p:txBody>
          <a:bodyPr wrap="square">
            <a:spAutoFit/>
          </a:bodyPr>
          <a:lstStyle/>
          <a:p>
            <a:pPr algn="l">
              <a:defRPr sz="1400" b="0">
                <a:solidFill>
                  <a:srgbClr val="333333"/>
                </a:solidFill>
                <a:latin typeface="Segoe UI"/>
              </a:defRPr>
            </a:pPr>
            <a:r>
              <a:t>Document observations in your participant pack</a:t>
            </a:r>
          </a:p>
        </p:txBody>
      </p:sp>
      <p:sp>
        <p:nvSpPr>
          <p:cNvPr id="22" name="Rounded Rectangle 21"/>
          <p:cNvSpPr/>
          <p:nvPr/>
        </p:nvSpPr>
        <p:spPr>
          <a:xfrm>
            <a:off x="7772400" y="5760720"/>
            <a:ext cx="3657600" cy="54864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79" y="5806440"/>
            <a:ext cx="3291840" cy="457200"/>
          </a:xfrm>
          <a:prstGeom prst="rect">
            <a:avLst/>
          </a:prstGeom>
          <a:noFill/>
        </p:spPr>
        <p:txBody>
          <a:bodyPr wrap="square">
            <a:spAutoFit/>
          </a:bodyPr>
          <a:lstStyle/>
          <a:p>
            <a:pPr algn="l">
              <a:defRPr sz="1500" b="1">
                <a:solidFill>
                  <a:srgbClr val="FFFFFF"/>
                </a:solidFill>
                <a:latin typeface="Segoe UI"/>
              </a:defRPr>
            </a:pPr>
            <a:r>
              <a:t>⏱️  Estimated time: 25–35 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Lab 9: Validation Checklist</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731520" y="1280160"/>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8" name="TextBox 7"/>
          <p:cNvSpPr txBox="1"/>
          <p:nvPr/>
        </p:nvSpPr>
        <p:spPr>
          <a:xfrm>
            <a:off x="1371600" y="1280160"/>
            <a:ext cx="10058400" cy="502920"/>
          </a:xfrm>
          <a:prstGeom prst="rect">
            <a:avLst/>
          </a:prstGeom>
          <a:noFill/>
        </p:spPr>
        <p:txBody>
          <a:bodyPr wrap="square">
            <a:spAutoFit/>
          </a:bodyPr>
          <a:lstStyle/>
          <a:p>
            <a:pPr algn="l">
              <a:defRPr sz="1500" b="0">
                <a:solidFill>
                  <a:srgbClr val="333333"/>
                </a:solidFill>
                <a:latin typeface="Segoe UI"/>
              </a:defRPr>
            </a:pPr>
            <a:r>
              <a:t>Documented current Sharing level, Sync settings, Storage limit, and Retention value</a:t>
            </a:r>
          </a:p>
        </p:txBody>
      </p:sp>
      <p:sp>
        <p:nvSpPr>
          <p:cNvPr id="9" name="Rounded Rectangle 8"/>
          <p:cNvSpPr/>
          <p:nvPr/>
        </p:nvSpPr>
        <p:spPr>
          <a:xfrm>
            <a:off x="731520" y="2148839"/>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0" name="TextBox 9"/>
          <p:cNvSpPr txBox="1"/>
          <p:nvPr/>
        </p:nvSpPr>
        <p:spPr>
          <a:xfrm>
            <a:off x="1371600" y="2148839"/>
            <a:ext cx="10058400" cy="502920"/>
          </a:xfrm>
          <a:prstGeom prst="rect">
            <a:avLst/>
          </a:prstGeom>
          <a:noFill/>
        </p:spPr>
        <p:txBody>
          <a:bodyPr wrap="square">
            <a:spAutoFit/>
          </a:bodyPr>
          <a:lstStyle/>
          <a:p>
            <a:pPr algn="l">
              <a:defRPr sz="1500" b="0">
                <a:solidFill>
                  <a:srgbClr val="333333"/>
                </a:solidFill>
                <a:latin typeface="Segoe UI"/>
              </a:defRPr>
            </a:pPr>
            <a:r>
              <a:t>Reviewed Access control page — can describe unmanaged device policy options</a:t>
            </a:r>
          </a:p>
        </p:txBody>
      </p:sp>
      <p:sp>
        <p:nvSpPr>
          <p:cNvPr id="11" name="Rounded Rectangle 10"/>
          <p:cNvSpPr/>
          <p:nvPr/>
        </p:nvSpPr>
        <p:spPr>
          <a:xfrm>
            <a:off x="731520" y="3017520"/>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2" name="TextBox 11"/>
          <p:cNvSpPr txBox="1"/>
          <p:nvPr/>
        </p:nvSpPr>
        <p:spPr>
          <a:xfrm>
            <a:off x="1371600" y="3017520"/>
            <a:ext cx="10058400" cy="502920"/>
          </a:xfrm>
          <a:prstGeom prst="rect">
            <a:avLst/>
          </a:prstGeom>
          <a:noFill/>
        </p:spPr>
        <p:txBody>
          <a:bodyPr wrap="square">
            <a:spAutoFit/>
          </a:bodyPr>
          <a:lstStyle/>
          <a:p>
            <a:pPr algn="l">
              <a:defRPr sz="1500" b="0">
                <a:solidFill>
                  <a:srgbClr val="333333"/>
                </a:solidFill>
                <a:latin typeface="Segoe UI"/>
              </a:defRPr>
            </a:pPr>
            <a:r>
              <a:t>Successfully shared a OneDrive file internally with another participant</a:t>
            </a:r>
          </a:p>
        </p:txBody>
      </p:sp>
      <p:sp>
        <p:nvSpPr>
          <p:cNvPr id="13" name="Rounded Rectangle 12"/>
          <p:cNvSpPr/>
          <p:nvPr/>
        </p:nvSpPr>
        <p:spPr>
          <a:xfrm>
            <a:off x="731520" y="3886200"/>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4" name="TextBox 13"/>
          <p:cNvSpPr txBox="1"/>
          <p:nvPr/>
        </p:nvSpPr>
        <p:spPr>
          <a:xfrm>
            <a:off x="1371600" y="3886200"/>
            <a:ext cx="10058400" cy="502920"/>
          </a:xfrm>
          <a:prstGeom prst="rect">
            <a:avLst/>
          </a:prstGeom>
          <a:noFill/>
        </p:spPr>
        <p:txBody>
          <a:bodyPr wrap="square">
            <a:spAutoFit/>
          </a:bodyPr>
          <a:lstStyle/>
          <a:p>
            <a:pPr algn="l">
              <a:defRPr sz="1500" b="0">
                <a:solidFill>
                  <a:srgbClr val="333333"/>
                </a:solidFill>
                <a:latin typeface="Segoe UI"/>
              </a:defRPr>
            </a:pPr>
            <a:r>
              <a:t>Confirmed the recipient could access and open the shared file</a:t>
            </a:r>
          </a:p>
        </p:txBody>
      </p:sp>
      <p:sp>
        <p:nvSpPr>
          <p:cNvPr id="15" name="Rounded Rectangle 14"/>
          <p:cNvSpPr/>
          <p:nvPr/>
        </p:nvSpPr>
        <p:spPr>
          <a:xfrm>
            <a:off x="731520" y="4754879"/>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6" name="TextBox 15"/>
          <p:cNvSpPr txBox="1"/>
          <p:nvPr/>
        </p:nvSpPr>
        <p:spPr>
          <a:xfrm>
            <a:off x="1371600" y="4754879"/>
            <a:ext cx="10058400" cy="502920"/>
          </a:xfrm>
          <a:prstGeom prst="rect">
            <a:avLst/>
          </a:prstGeom>
          <a:noFill/>
        </p:spPr>
        <p:txBody>
          <a:bodyPr wrap="square">
            <a:spAutoFit/>
          </a:bodyPr>
          <a:lstStyle/>
          <a:p>
            <a:pPr algn="l">
              <a:defRPr sz="1500" b="0">
                <a:solidFill>
                  <a:srgbClr val="333333"/>
                </a:solidFill>
                <a:latin typeface="Segoe UI"/>
              </a:defRPr>
            </a:pPr>
            <a:r>
              <a:t>Completed M09 worksheet in participant pack</a:t>
            </a:r>
          </a:p>
        </p:txBody>
      </p:sp>
      <p:sp>
        <p:nvSpPr>
          <p:cNvPr id="17" name="Rounded Rectangle 16"/>
          <p:cNvSpPr/>
          <p:nvPr/>
        </p:nvSpPr>
        <p:spPr>
          <a:xfrm>
            <a:off x="731520" y="5623560"/>
            <a:ext cx="411480" cy="41148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a:t>
            </a:r>
          </a:p>
        </p:txBody>
      </p:sp>
      <p:sp>
        <p:nvSpPr>
          <p:cNvPr id="18" name="TextBox 17"/>
          <p:cNvSpPr txBox="1"/>
          <p:nvPr/>
        </p:nvSpPr>
        <p:spPr>
          <a:xfrm>
            <a:off x="1371600" y="5623560"/>
            <a:ext cx="10058400" cy="502920"/>
          </a:xfrm>
          <a:prstGeom prst="rect">
            <a:avLst/>
          </a:prstGeom>
          <a:noFill/>
        </p:spPr>
        <p:txBody>
          <a:bodyPr wrap="square">
            <a:spAutoFit/>
          </a:bodyPr>
          <a:lstStyle/>
          <a:p>
            <a:pPr algn="l">
              <a:defRPr sz="1500" b="0">
                <a:solidFill>
                  <a:srgbClr val="333333"/>
                </a:solidFill>
                <a:latin typeface="Segoe UI"/>
              </a:defRPr>
            </a:pPr>
            <a:r>
              <a:t>Can explain the 30-day default + 93-day deleted state lifecycle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Lab 9: Common Issues &amp; Troubleshooting</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548640" y="1371600"/>
            <a:ext cx="10972800" cy="109728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63040"/>
            <a:ext cx="2926080" cy="365760"/>
          </a:xfrm>
          <a:prstGeom prst="rect">
            <a:avLst/>
          </a:prstGeom>
          <a:noFill/>
        </p:spPr>
        <p:txBody>
          <a:bodyPr wrap="square">
            <a:spAutoFit/>
          </a:bodyPr>
          <a:lstStyle/>
          <a:p>
            <a:pPr algn="l">
              <a:defRPr sz="1400" b="1">
                <a:solidFill>
                  <a:srgbClr val="D13438"/>
                </a:solidFill>
                <a:latin typeface="Segoe UI"/>
              </a:defRPr>
            </a:pPr>
            <a:r>
              <a:t>Can't find Sync settings</a:t>
            </a:r>
          </a:p>
        </p:txBody>
      </p:sp>
      <p:sp>
        <p:nvSpPr>
          <p:cNvPr id="9" name="TextBox 8"/>
          <p:cNvSpPr txBox="1"/>
          <p:nvPr/>
        </p:nvSpPr>
        <p:spPr>
          <a:xfrm>
            <a:off x="822960" y="1874520"/>
            <a:ext cx="2926080" cy="457200"/>
          </a:xfrm>
          <a:prstGeom prst="rect">
            <a:avLst/>
          </a:prstGeom>
          <a:noFill/>
        </p:spPr>
        <p:txBody>
          <a:bodyPr wrap="square">
            <a:spAutoFit/>
          </a:bodyPr>
          <a:lstStyle/>
          <a:p>
            <a:pPr algn="l">
              <a:defRPr sz="1200" b="0">
                <a:solidFill>
                  <a:srgbClr val="333333"/>
                </a:solidFill>
                <a:latin typeface="Segoe UI"/>
              </a:defRPr>
            </a:pPr>
            <a:r>
              <a:t>Ensure you're in the</a:t>
            </a:r>
            <a:br/>
            <a:r>
              <a:t>SharePoint admin center</a:t>
            </a:r>
          </a:p>
        </p:txBody>
      </p:sp>
      <p:sp>
        <p:nvSpPr>
          <p:cNvPr id="10" name="TextBox 9"/>
          <p:cNvSpPr txBox="1"/>
          <p:nvPr/>
        </p:nvSpPr>
        <p:spPr>
          <a:xfrm>
            <a:off x="4114800" y="1463040"/>
            <a:ext cx="7132320" cy="914400"/>
          </a:xfrm>
          <a:prstGeom prst="rect">
            <a:avLst/>
          </a:prstGeom>
          <a:noFill/>
        </p:spPr>
        <p:txBody>
          <a:bodyPr wrap="square">
            <a:spAutoFit/>
          </a:bodyPr>
          <a:lstStyle/>
          <a:p>
            <a:pPr algn="l">
              <a:defRPr sz="1300" b="0">
                <a:solidFill>
                  <a:srgbClr val="333333"/>
                </a:solidFill>
                <a:latin typeface="Segoe UI"/>
              </a:defRPr>
            </a:pPr>
            <a:r>
              <a:t>Go to Settings → Sync</a:t>
            </a:r>
            <a:br/>
            <a:r>
              <a:t>(not OneDrive admin)</a:t>
            </a:r>
          </a:p>
        </p:txBody>
      </p:sp>
      <p:sp>
        <p:nvSpPr>
          <p:cNvPr id="11" name="Rounded Rectangle 10"/>
          <p:cNvSpPr/>
          <p:nvPr/>
        </p:nvSpPr>
        <p:spPr>
          <a:xfrm>
            <a:off x="548640" y="2606040"/>
            <a:ext cx="1097280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97480"/>
            <a:ext cx="2926080" cy="365760"/>
          </a:xfrm>
          <a:prstGeom prst="rect">
            <a:avLst/>
          </a:prstGeom>
          <a:noFill/>
        </p:spPr>
        <p:txBody>
          <a:bodyPr wrap="square">
            <a:spAutoFit/>
          </a:bodyPr>
          <a:lstStyle/>
          <a:p>
            <a:pPr algn="l">
              <a:defRPr sz="1400" b="1">
                <a:solidFill>
                  <a:srgbClr val="D13438"/>
                </a:solidFill>
                <a:latin typeface="Segoe UI"/>
              </a:defRPr>
            </a:pPr>
            <a:r>
              <a:t>Sharing link doesn't work</a:t>
            </a:r>
          </a:p>
        </p:txBody>
      </p:sp>
      <p:sp>
        <p:nvSpPr>
          <p:cNvPr id="13" name="TextBox 12"/>
          <p:cNvSpPr txBox="1"/>
          <p:nvPr/>
        </p:nvSpPr>
        <p:spPr>
          <a:xfrm>
            <a:off x="822960" y="3108960"/>
            <a:ext cx="2926080" cy="457200"/>
          </a:xfrm>
          <a:prstGeom prst="rect">
            <a:avLst/>
          </a:prstGeom>
          <a:noFill/>
        </p:spPr>
        <p:txBody>
          <a:bodyPr wrap="square">
            <a:spAutoFit/>
          </a:bodyPr>
          <a:lstStyle/>
          <a:p>
            <a:pPr algn="l">
              <a:defRPr sz="1200" b="0">
                <a:solidFill>
                  <a:srgbClr val="333333"/>
                </a:solidFill>
                <a:latin typeface="Segoe UI"/>
              </a:defRPr>
            </a:pPr>
            <a:r>
              <a:t>Recipient may be</a:t>
            </a:r>
            <a:br/>
            <a:r>
              <a:t>external or unlicensed</a:t>
            </a:r>
          </a:p>
        </p:txBody>
      </p:sp>
      <p:sp>
        <p:nvSpPr>
          <p:cNvPr id="14" name="TextBox 13"/>
          <p:cNvSpPr txBox="1"/>
          <p:nvPr/>
        </p:nvSpPr>
        <p:spPr>
          <a:xfrm>
            <a:off x="4114800" y="2697480"/>
            <a:ext cx="7132320" cy="914400"/>
          </a:xfrm>
          <a:prstGeom prst="rect">
            <a:avLst/>
          </a:prstGeom>
          <a:noFill/>
        </p:spPr>
        <p:txBody>
          <a:bodyPr wrap="square">
            <a:spAutoFit/>
          </a:bodyPr>
          <a:lstStyle/>
          <a:p>
            <a:pPr algn="l">
              <a:defRPr sz="1300" b="0">
                <a:solidFill>
                  <a:srgbClr val="333333"/>
                </a:solidFill>
                <a:latin typeface="Segoe UI"/>
              </a:defRPr>
            </a:pPr>
            <a:r>
              <a:t>Verify sharing level allows</a:t>
            </a:r>
            <a:br/>
            <a:r>
              <a:t>the link type used</a:t>
            </a:r>
          </a:p>
        </p:txBody>
      </p:sp>
      <p:sp>
        <p:nvSpPr>
          <p:cNvPr id="15" name="Rounded Rectangle 14"/>
          <p:cNvSpPr/>
          <p:nvPr/>
        </p:nvSpPr>
        <p:spPr>
          <a:xfrm>
            <a:off x="548640" y="3840480"/>
            <a:ext cx="10972800" cy="1097280"/>
          </a:xfrm>
          <a:prstGeom prst="roundRect">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931920"/>
            <a:ext cx="2926080" cy="365760"/>
          </a:xfrm>
          <a:prstGeom prst="rect">
            <a:avLst/>
          </a:prstGeom>
          <a:noFill/>
        </p:spPr>
        <p:txBody>
          <a:bodyPr wrap="square">
            <a:spAutoFit/>
          </a:bodyPr>
          <a:lstStyle/>
          <a:p>
            <a:pPr algn="l">
              <a:defRPr sz="1400" b="1">
                <a:solidFill>
                  <a:srgbClr val="D13438"/>
                </a:solidFill>
                <a:latin typeface="Segoe UI"/>
              </a:defRPr>
            </a:pPr>
            <a:r>
              <a:t>Storage limit shows 0</a:t>
            </a:r>
          </a:p>
        </p:txBody>
      </p:sp>
      <p:sp>
        <p:nvSpPr>
          <p:cNvPr id="17" name="TextBox 16"/>
          <p:cNvSpPr txBox="1"/>
          <p:nvPr/>
        </p:nvSpPr>
        <p:spPr>
          <a:xfrm>
            <a:off x="822960" y="4343400"/>
            <a:ext cx="2926080" cy="457200"/>
          </a:xfrm>
          <a:prstGeom prst="rect">
            <a:avLst/>
          </a:prstGeom>
          <a:noFill/>
        </p:spPr>
        <p:txBody>
          <a:bodyPr wrap="square">
            <a:spAutoFit/>
          </a:bodyPr>
          <a:lstStyle/>
          <a:p>
            <a:pPr algn="l">
              <a:defRPr sz="1200" b="0">
                <a:solidFill>
                  <a:srgbClr val="333333"/>
                </a:solidFill>
                <a:latin typeface="Segoe UI"/>
              </a:defRPr>
            </a:pPr>
            <a:r>
              <a:t>Tenant default may</a:t>
            </a:r>
            <a:br/>
            <a:r>
              <a:t>not be set</a:t>
            </a:r>
          </a:p>
        </p:txBody>
      </p:sp>
      <p:sp>
        <p:nvSpPr>
          <p:cNvPr id="18" name="TextBox 17"/>
          <p:cNvSpPr txBox="1"/>
          <p:nvPr/>
        </p:nvSpPr>
        <p:spPr>
          <a:xfrm>
            <a:off x="4114800" y="3931920"/>
            <a:ext cx="7132320" cy="914400"/>
          </a:xfrm>
          <a:prstGeom prst="rect">
            <a:avLst/>
          </a:prstGeom>
          <a:noFill/>
        </p:spPr>
        <p:txBody>
          <a:bodyPr wrap="square">
            <a:spAutoFit/>
          </a:bodyPr>
          <a:lstStyle/>
          <a:p>
            <a:pPr algn="l">
              <a:defRPr sz="1300" b="0">
                <a:solidFill>
                  <a:srgbClr val="333333"/>
                </a:solidFill>
                <a:latin typeface="Segoe UI"/>
              </a:defRPr>
            </a:pPr>
            <a:r>
              <a:t>Settings → Storage limit →</a:t>
            </a:r>
            <a:br/>
            <a:r>
              <a:t>set default or per-user</a:t>
            </a:r>
          </a:p>
        </p:txBody>
      </p:sp>
      <p:sp>
        <p:nvSpPr>
          <p:cNvPr id="19" name="Rounded Rectangle 18"/>
          <p:cNvSpPr/>
          <p:nvPr/>
        </p:nvSpPr>
        <p:spPr>
          <a:xfrm>
            <a:off x="548640" y="5074920"/>
            <a:ext cx="10972800" cy="1097280"/>
          </a:xfrm>
          <a:prstGeom prst="round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166360"/>
            <a:ext cx="2926080" cy="365760"/>
          </a:xfrm>
          <a:prstGeom prst="rect">
            <a:avLst/>
          </a:prstGeom>
          <a:noFill/>
        </p:spPr>
        <p:txBody>
          <a:bodyPr wrap="square">
            <a:spAutoFit/>
          </a:bodyPr>
          <a:lstStyle/>
          <a:p>
            <a:pPr algn="l">
              <a:defRPr sz="1400" b="1">
                <a:solidFill>
                  <a:srgbClr val="D13438"/>
                </a:solidFill>
                <a:latin typeface="Segoe UI"/>
              </a:defRPr>
            </a:pPr>
            <a:r>
              <a:t>Access control page empty</a:t>
            </a:r>
          </a:p>
        </p:txBody>
      </p:sp>
      <p:sp>
        <p:nvSpPr>
          <p:cNvPr id="21" name="TextBox 20"/>
          <p:cNvSpPr txBox="1"/>
          <p:nvPr/>
        </p:nvSpPr>
        <p:spPr>
          <a:xfrm>
            <a:off x="822960" y="5577840"/>
            <a:ext cx="2926080" cy="457200"/>
          </a:xfrm>
          <a:prstGeom prst="rect">
            <a:avLst/>
          </a:prstGeom>
          <a:noFill/>
        </p:spPr>
        <p:txBody>
          <a:bodyPr wrap="square">
            <a:spAutoFit/>
          </a:bodyPr>
          <a:lstStyle/>
          <a:p>
            <a:pPr algn="l">
              <a:defRPr sz="1200" b="0">
                <a:solidFill>
                  <a:srgbClr val="333333"/>
                </a:solidFill>
                <a:latin typeface="Segoe UI"/>
              </a:defRPr>
            </a:pPr>
            <a:r>
              <a:t>Requires SharePoint</a:t>
            </a:r>
            <a:br/>
            <a:r>
              <a:t>admin or higher role</a:t>
            </a:r>
          </a:p>
        </p:txBody>
      </p:sp>
      <p:sp>
        <p:nvSpPr>
          <p:cNvPr id="22" name="TextBox 21"/>
          <p:cNvSpPr txBox="1"/>
          <p:nvPr/>
        </p:nvSpPr>
        <p:spPr>
          <a:xfrm>
            <a:off x="4114800" y="5166360"/>
            <a:ext cx="7132320" cy="914400"/>
          </a:xfrm>
          <a:prstGeom prst="rect">
            <a:avLst/>
          </a:prstGeom>
          <a:noFill/>
        </p:spPr>
        <p:txBody>
          <a:bodyPr wrap="square">
            <a:spAutoFit/>
          </a:bodyPr>
          <a:lstStyle/>
          <a:p>
            <a:pPr algn="l">
              <a:defRPr sz="1300" b="0">
                <a:solidFill>
                  <a:srgbClr val="333333"/>
                </a:solidFill>
                <a:latin typeface="Segoe UI"/>
              </a:defRPr>
            </a:pPr>
            <a:r>
              <a:t>Confirm role assignment</a:t>
            </a:r>
            <a:br/>
            <a:r>
              <a:t>in M365 admin center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Key Takeaways</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ectangle 6"/>
          <p:cNvSpPr/>
          <p:nvPr/>
        </p:nvSpPr>
        <p:spPr>
          <a:xfrm>
            <a:off x="731520" y="141732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280160"/>
            <a:ext cx="10515600" cy="594360"/>
          </a:xfrm>
          <a:prstGeom prst="rect">
            <a:avLst/>
          </a:prstGeom>
          <a:noFill/>
        </p:spPr>
        <p:txBody>
          <a:bodyPr wrap="square">
            <a:spAutoFit/>
          </a:bodyPr>
          <a:lstStyle/>
          <a:p>
            <a:pPr algn="l">
              <a:defRPr sz="1600" b="0">
                <a:solidFill>
                  <a:srgbClr val="333333"/>
                </a:solidFill>
                <a:latin typeface="Segoe UI"/>
              </a:defRPr>
            </a:pPr>
            <a:r>
              <a:t>OneDrive for Business = personal site collection on SharePoint Online</a:t>
            </a:r>
          </a:p>
        </p:txBody>
      </p:sp>
      <p:sp>
        <p:nvSpPr>
          <p:cNvPr id="9" name="Rectangle 8"/>
          <p:cNvSpPr/>
          <p:nvPr/>
        </p:nvSpPr>
        <p:spPr>
          <a:xfrm>
            <a:off x="731520" y="214884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011680"/>
            <a:ext cx="10515600" cy="594360"/>
          </a:xfrm>
          <a:prstGeom prst="rect">
            <a:avLst/>
          </a:prstGeom>
          <a:noFill/>
        </p:spPr>
        <p:txBody>
          <a:bodyPr wrap="square">
            <a:spAutoFit/>
          </a:bodyPr>
          <a:lstStyle/>
          <a:p>
            <a:pPr algn="l">
              <a:defRPr sz="1600" b="0">
                <a:solidFill>
                  <a:srgbClr val="333333"/>
                </a:solidFill>
                <a:latin typeface="Segoe UI"/>
              </a:defRPr>
            </a:pPr>
            <a:r>
              <a:t>All key OneDrive policies are managed via the SharePoint admin center</a:t>
            </a:r>
          </a:p>
        </p:txBody>
      </p:sp>
      <p:sp>
        <p:nvSpPr>
          <p:cNvPr id="11" name="Rectangle 10"/>
          <p:cNvSpPr/>
          <p:nvPr/>
        </p:nvSpPr>
        <p:spPr>
          <a:xfrm>
            <a:off x="731520" y="288036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43200"/>
            <a:ext cx="10515600" cy="594360"/>
          </a:xfrm>
          <a:prstGeom prst="rect">
            <a:avLst/>
          </a:prstGeom>
          <a:noFill/>
        </p:spPr>
        <p:txBody>
          <a:bodyPr wrap="square">
            <a:spAutoFit/>
          </a:bodyPr>
          <a:lstStyle/>
          <a:p>
            <a:pPr algn="l">
              <a:defRPr sz="1600" b="0">
                <a:solidFill>
                  <a:srgbClr val="333333"/>
                </a:solidFill>
                <a:latin typeface="Segoe UI"/>
              </a:defRPr>
            </a:pPr>
            <a:r>
              <a:t>Six setting areas: Sharing, Sync, Storage, Retention, Access control, Notifications</a:t>
            </a:r>
          </a:p>
        </p:txBody>
      </p:sp>
      <p:sp>
        <p:nvSpPr>
          <p:cNvPr id="13" name="Rectangle 12"/>
          <p:cNvSpPr/>
          <p:nvPr/>
        </p:nvSpPr>
        <p:spPr>
          <a:xfrm>
            <a:off x="731520" y="361188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74720"/>
            <a:ext cx="10515600" cy="594360"/>
          </a:xfrm>
          <a:prstGeom prst="rect">
            <a:avLst/>
          </a:prstGeom>
          <a:noFill/>
        </p:spPr>
        <p:txBody>
          <a:bodyPr wrap="square">
            <a:spAutoFit/>
          </a:bodyPr>
          <a:lstStyle/>
          <a:p>
            <a:pPr algn="l">
              <a:defRPr sz="1600" b="0">
                <a:solidFill>
                  <a:srgbClr val="333333"/>
                </a:solidFill>
                <a:latin typeface="Segoe UI"/>
              </a:defRPr>
            </a:pPr>
            <a:r>
              <a:t>Shortcuts &gt; Sync button — Microsoft-recommended for file access</a:t>
            </a:r>
          </a:p>
        </p:txBody>
      </p:sp>
      <p:sp>
        <p:nvSpPr>
          <p:cNvPr id="15" name="Rectangle 14"/>
          <p:cNvSpPr/>
          <p:nvPr/>
        </p:nvSpPr>
        <p:spPr>
          <a:xfrm>
            <a:off x="731520" y="434340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06240"/>
            <a:ext cx="10515600" cy="594360"/>
          </a:xfrm>
          <a:prstGeom prst="rect">
            <a:avLst/>
          </a:prstGeom>
          <a:noFill/>
        </p:spPr>
        <p:txBody>
          <a:bodyPr wrap="square">
            <a:spAutoFit/>
          </a:bodyPr>
          <a:lstStyle/>
          <a:p>
            <a:pPr algn="l">
              <a:defRPr sz="1600" b="0">
                <a:solidFill>
                  <a:srgbClr val="333333"/>
                </a:solidFill>
                <a:latin typeface="Segoe UI"/>
              </a:defRPr>
            </a:pPr>
            <a:r>
              <a:t>Unmanaged device controls use Entra Conditional Access (24h propagation)</a:t>
            </a:r>
          </a:p>
        </p:txBody>
      </p:sp>
      <p:sp>
        <p:nvSpPr>
          <p:cNvPr id="17" name="Rectangle 16"/>
          <p:cNvSpPr/>
          <p:nvPr/>
        </p:nvSpPr>
        <p:spPr>
          <a:xfrm>
            <a:off x="731520" y="507492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937760"/>
            <a:ext cx="10515600" cy="594360"/>
          </a:xfrm>
          <a:prstGeom prst="rect">
            <a:avLst/>
          </a:prstGeom>
          <a:noFill/>
        </p:spPr>
        <p:txBody>
          <a:bodyPr wrap="square">
            <a:spAutoFit/>
          </a:bodyPr>
          <a:lstStyle/>
          <a:p>
            <a:pPr algn="l">
              <a:defRPr sz="1600" b="0">
                <a:solidFill>
                  <a:srgbClr val="333333"/>
                </a:solidFill>
                <a:latin typeface="Segoe UI"/>
              </a:defRPr>
            </a:pPr>
            <a:r>
              <a:t>Deleted-user OneDrive: default 30 days retention + 93 days deleted state</a:t>
            </a:r>
          </a:p>
        </p:txBody>
      </p:sp>
      <p:sp>
        <p:nvSpPr>
          <p:cNvPr id="19" name="Rectangle 18"/>
          <p:cNvSpPr/>
          <p:nvPr/>
        </p:nvSpPr>
        <p:spPr>
          <a:xfrm>
            <a:off x="731520" y="5806440"/>
            <a:ext cx="73152" cy="32004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669280"/>
            <a:ext cx="10515600" cy="594360"/>
          </a:xfrm>
          <a:prstGeom prst="rect">
            <a:avLst/>
          </a:prstGeom>
          <a:noFill/>
        </p:spPr>
        <p:txBody>
          <a:bodyPr wrap="square">
            <a:spAutoFit/>
          </a:bodyPr>
          <a:lstStyle/>
          <a:p>
            <a:pPr algn="l">
              <a:defRPr sz="1600" b="0">
                <a:solidFill>
                  <a:srgbClr val="333333"/>
                </a:solidFill>
                <a:latin typeface="Segoe UI"/>
              </a:defRPr>
            </a:pPr>
            <a:r>
              <a:t>Purview retention policies and eDiscovery holds can override deletion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Knowledge Check</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Rounded Rectangle 6"/>
          <p:cNvSpPr/>
          <p:nvPr/>
        </p:nvSpPr>
        <p:spPr>
          <a:xfrm>
            <a:off x="731520" y="1280160"/>
            <a:ext cx="64008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Q1</a:t>
            </a:r>
          </a:p>
        </p:txBody>
      </p:sp>
      <p:sp>
        <p:nvSpPr>
          <p:cNvPr id="8" name="TextBox 7"/>
          <p:cNvSpPr txBox="1"/>
          <p:nvPr/>
        </p:nvSpPr>
        <p:spPr>
          <a:xfrm>
            <a:off x="1645920" y="1325880"/>
            <a:ext cx="9601200" cy="502920"/>
          </a:xfrm>
          <a:prstGeom prst="rect">
            <a:avLst/>
          </a:prstGeom>
          <a:noFill/>
        </p:spPr>
        <p:txBody>
          <a:bodyPr wrap="square">
            <a:spAutoFit/>
          </a:bodyPr>
          <a:lstStyle/>
          <a:p>
            <a:pPr algn="l">
              <a:defRPr sz="1700" b="0">
                <a:solidFill>
                  <a:srgbClr val="333333"/>
                </a:solidFill>
                <a:latin typeface="Segoe UI"/>
              </a:defRPr>
            </a:pPr>
            <a:r>
              <a:t>Where do OneDrive admin settings live?</a:t>
            </a:r>
          </a:p>
        </p:txBody>
      </p:sp>
      <p:sp>
        <p:nvSpPr>
          <p:cNvPr id="9" name="Rounded Rectangle 8"/>
          <p:cNvSpPr/>
          <p:nvPr/>
        </p:nvSpPr>
        <p:spPr>
          <a:xfrm>
            <a:off x="731520" y="2286000"/>
            <a:ext cx="640080" cy="502920"/>
          </a:xfrm>
          <a:prstGeom prst="round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Q2</a:t>
            </a:r>
          </a:p>
        </p:txBody>
      </p:sp>
      <p:sp>
        <p:nvSpPr>
          <p:cNvPr id="10" name="TextBox 9"/>
          <p:cNvSpPr txBox="1"/>
          <p:nvPr/>
        </p:nvSpPr>
        <p:spPr>
          <a:xfrm>
            <a:off x="1645920" y="2331720"/>
            <a:ext cx="9601200" cy="502920"/>
          </a:xfrm>
          <a:prstGeom prst="rect">
            <a:avLst/>
          </a:prstGeom>
          <a:noFill/>
        </p:spPr>
        <p:txBody>
          <a:bodyPr wrap="square">
            <a:spAutoFit/>
          </a:bodyPr>
          <a:lstStyle/>
          <a:p>
            <a:pPr algn="l">
              <a:defRPr sz="1700" b="0">
                <a:solidFill>
                  <a:srgbClr val="333333"/>
                </a:solidFill>
                <a:latin typeface="Segoe UI"/>
              </a:defRPr>
            </a:pPr>
            <a:r>
              <a:t>What is the recommended way for users to access shared folders — Shortcuts or Sync?</a:t>
            </a:r>
          </a:p>
        </p:txBody>
      </p:sp>
      <p:sp>
        <p:nvSpPr>
          <p:cNvPr id="11" name="Rounded Rectangle 10"/>
          <p:cNvSpPr/>
          <p:nvPr/>
        </p:nvSpPr>
        <p:spPr>
          <a:xfrm>
            <a:off x="731520" y="3291840"/>
            <a:ext cx="640080" cy="502920"/>
          </a:xfrm>
          <a:prstGeom prst="round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Q3</a:t>
            </a:r>
          </a:p>
        </p:txBody>
      </p:sp>
      <p:sp>
        <p:nvSpPr>
          <p:cNvPr id="12" name="TextBox 11"/>
          <p:cNvSpPr txBox="1"/>
          <p:nvPr/>
        </p:nvSpPr>
        <p:spPr>
          <a:xfrm>
            <a:off x="1645920" y="3337560"/>
            <a:ext cx="9601200" cy="502920"/>
          </a:xfrm>
          <a:prstGeom prst="rect">
            <a:avLst/>
          </a:prstGeom>
          <a:noFill/>
        </p:spPr>
        <p:txBody>
          <a:bodyPr wrap="square">
            <a:spAutoFit/>
          </a:bodyPr>
          <a:lstStyle/>
          <a:p>
            <a:pPr algn="l">
              <a:defRPr sz="1700" b="0">
                <a:solidFill>
                  <a:srgbClr val="333333"/>
                </a:solidFill>
                <a:latin typeface="Segoe UI"/>
              </a:defRPr>
            </a:pPr>
            <a:r>
              <a:t>What happens if you reduce the storage limit below a user's current usage?</a:t>
            </a:r>
          </a:p>
        </p:txBody>
      </p:sp>
      <p:sp>
        <p:nvSpPr>
          <p:cNvPr id="13" name="Rounded Rectangle 12"/>
          <p:cNvSpPr/>
          <p:nvPr/>
        </p:nvSpPr>
        <p:spPr>
          <a:xfrm>
            <a:off x="731520" y="4297680"/>
            <a:ext cx="640080" cy="50292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Q4</a:t>
            </a:r>
          </a:p>
        </p:txBody>
      </p:sp>
      <p:sp>
        <p:nvSpPr>
          <p:cNvPr id="14" name="TextBox 13"/>
          <p:cNvSpPr txBox="1"/>
          <p:nvPr/>
        </p:nvSpPr>
        <p:spPr>
          <a:xfrm>
            <a:off x="1645920" y="4343400"/>
            <a:ext cx="9601200" cy="502920"/>
          </a:xfrm>
          <a:prstGeom prst="rect">
            <a:avLst/>
          </a:prstGeom>
          <a:noFill/>
        </p:spPr>
        <p:txBody>
          <a:bodyPr wrap="square">
            <a:spAutoFit/>
          </a:bodyPr>
          <a:lstStyle/>
          <a:p>
            <a:pPr algn="l">
              <a:defRPr sz="1700" b="0">
                <a:solidFill>
                  <a:srgbClr val="333333"/>
                </a:solidFill>
                <a:latin typeface="Segoe UI"/>
              </a:defRPr>
            </a:pPr>
            <a:r>
              <a:t>How many days is the default OneDrive retention for deleted users?</a:t>
            </a:r>
          </a:p>
        </p:txBody>
      </p:sp>
      <p:sp>
        <p:nvSpPr>
          <p:cNvPr id="15" name="Rounded Rectangle 14"/>
          <p:cNvSpPr/>
          <p:nvPr/>
        </p:nvSpPr>
        <p:spPr>
          <a:xfrm>
            <a:off x="731520" y="5303520"/>
            <a:ext cx="640080" cy="502920"/>
          </a:xfrm>
          <a:prstGeom prst="round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Q5</a:t>
            </a:r>
          </a:p>
        </p:txBody>
      </p:sp>
      <p:sp>
        <p:nvSpPr>
          <p:cNvPr id="16" name="TextBox 15"/>
          <p:cNvSpPr txBox="1"/>
          <p:nvPr/>
        </p:nvSpPr>
        <p:spPr>
          <a:xfrm>
            <a:off x="1645920" y="5349240"/>
            <a:ext cx="9601200" cy="502920"/>
          </a:xfrm>
          <a:prstGeom prst="rect">
            <a:avLst/>
          </a:prstGeom>
          <a:noFill/>
        </p:spPr>
        <p:txBody>
          <a:bodyPr wrap="square">
            <a:spAutoFit/>
          </a:bodyPr>
          <a:lstStyle/>
          <a:p>
            <a:pPr algn="l">
              <a:defRPr sz="1700" b="0">
                <a:solidFill>
                  <a:srgbClr val="333333"/>
                </a:solidFill>
                <a:latin typeface="Segoe UI"/>
              </a:defRPr>
            </a:pPr>
            <a:r>
              <a:t>After the retention period, how long does the 'deleted state' window last?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411480"/>
            <a:ext cx="73152"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058400" cy="594360"/>
          </a:xfrm>
          <a:prstGeom prst="rect">
            <a:avLst/>
          </a:prstGeom>
          <a:noFill/>
        </p:spPr>
        <p:txBody>
          <a:bodyPr wrap="square">
            <a:spAutoFit/>
          </a:bodyPr>
          <a:lstStyle/>
          <a:p>
            <a:pPr algn="l">
              <a:defRPr sz="2800" b="1">
                <a:solidFill>
                  <a:srgbClr val="333333"/>
                </a:solidFill>
                <a:latin typeface="Segoe UI"/>
              </a:defRPr>
            </a:pPr>
            <a:r>
              <a:t>PowerShell Quick Reference: OneDrive Admin</a:t>
            </a:r>
          </a:p>
        </p:txBody>
      </p:sp>
      <p:sp>
        <p:nvSpPr>
          <p:cNvPr id="5" name="Rectangle 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
        <p:nvSpPr>
          <p:cNvPr id="7" name="TextBox 6"/>
          <p:cNvSpPr txBox="1"/>
          <p:nvPr/>
        </p:nvSpPr>
        <p:spPr>
          <a:xfrm>
            <a:off x="731520" y="1234440"/>
            <a:ext cx="3200400" cy="365760"/>
          </a:xfrm>
          <a:prstGeom prst="rect">
            <a:avLst/>
          </a:prstGeom>
          <a:noFill/>
        </p:spPr>
        <p:txBody>
          <a:bodyPr wrap="square">
            <a:spAutoFit/>
          </a:bodyPr>
          <a:lstStyle/>
          <a:p>
            <a:pPr algn="l">
              <a:defRPr sz="1400" b="1">
                <a:solidFill>
                  <a:srgbClr val="0078D4"/>
                </a:solidFill>
                <a:latin typeface="Segoe UI"/>
              </a:defRPr>
            </a:pPr>
            <a:r>
              <a:t>Hide Sync button</a:t>
            </a:r>
          </a:p>
        </p:txBody>
      </p:sp>
      <p:sp>
        <p:nvSpPr>
          <p:cNvPr id="8" name="Rounded Rectangle 7"/>
          <p:cNvSpPr/>
          <p:nvPr/>
        </p:nvSpPr>
        <p:spPr>
          <a:xfrm>
            <a:off x="4114800" y="1234440"/>
            <a:ext cx="7498079" cy="8686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325880"/>
            <a:ext cx="7132320" cy="685800"/>
          </a:xfrm>
          <a:prstGeom prst="rect">
            <a:avLst/>
          </a:prstGeom>
          <a:noFill/>
        </p:spPr>
        <p:txBody>
          <a:bodyPr wrap="square">
            <a:spAutoFit/>
          </a:bodyPr>
          <a:lstStyle/>
          <a:p>
            <a:pPr algn="l">
              <a:defRPr sz="1200" b="0">
                <a:solidFill>
                  <a:srgbClr val="CED4DA"/>
                </a:solidFill>
                <a:latin typeface="Cascadia Code"/>
              </a:defRPr>
            </a:pPr>
            <a:r>
              <a:t>Set-SPOTenant -HideSyncButtonOnTeamSite $true</a:t>
            </a:r>
          </a:p>
        </p:txBody>
      </p:sp>
      <p:sp>
        <p:nvSpPr>
          <p:cNvPr id="10" name="TextBox 9"/>
          <p:cNvSpPr txBox="1"/>
          <p:nvPr/>
        </p:nvSpPr>
        <p:spPr>
          <a:xfrm>
            <a:off x="731520" y="2286000"/>
            <a:ext cx="3200400" cy="365760"/>
          </a:xfrm>
          <a:prstGeom prst="rect">
            <a:avLst/>
          </a:prstGeom>
          <a:noFill/>
        </p:spPr>
        <p:txBody>
          <a:bodyPr wrap="square">
            <a:spAutoFit/>
          </a:bodyPr>
          <a:lstStyle/>
          <a:p>
            <a:pPr algn="l">
              <a:defRPr sz="1400" b="1">
                <a:solidFill>
                  <a:srgbClr val="0078D4"/>
                </a:solidFill>
                <a:latin typeface="Segoe UI"/>
              </a:defRPr>
            </a:pPr>
            <a:r>
              <a:t>Set retention (days)</a:t>
            </a:r>
          </a:p>
        </p:txBody>
      </p:sp>
      <p:sp>
        <p:nvSpPr>
          <p:cNvPr id="11" name="Rounded Rectangle 10"/>
          <p:cNvSpPr/>
          <p:nvPr/>
        </p:nvSpPr>
        <p:spPr>
          <a:xfrm>
            <a:off x="4114800" y="2286000"/>
            <a:ext cx="7498079" cy="8686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2377440"/>
            <a:ext cx="7132320" cy="685800"/>
          </a:xfrm>
          <a:prstGeom prst="rect">
            <a:avLst/>
          </a:prstGeom>
          <a:noFill/>
        </p:spPr>
        <p:txBody>
          <a:bodyPr wrap="square">
            <a:spAutoFit/>
          </a:bodyPr>
          <a:lstStyle/>
          <a:p>
            <a:pPr algn="l">
              <a:defRPr sz="1200" b="0">
                <a:solidFill>
                  <a:srgbClr val="CED4DA"/>
                </a:solidFill>
                <a:latin typeface="Cascadia Code"/>
              </a:defRPr>
            </a:pPr>
            <a:r>
              <a:t>Set-SPOTenant -OrphanedPersonalSitesRetentionPeriod 365</a:t>
            </a:r>
          </a:p>
        </p:txBody>
      </p:sp>
      <p:sp>
        <p:nvSpPr>
          <p:cNvPr id="13" name="TextBox 12"/>
          <p:cNvSpPr txBox="1"/>
          <p:nvPr/>
        </p:nvSpPr>
        <p:spPr>
          <a:xfrm>
            <a:off x="731520" y="3337560"/>
            <a:ext cx="3200400" cy="365760"/>
          </a:xfrm>
          <a:prstGeom prst="rect">
            <a:avLst/>
          </a:prstGeom>
          <a:noFill/>
        </p:spPr>
        <p:txBody>
          <a:bodyPr wrap="square">
            <a:spAutoFit/>
          </a:bodyPr>
          <a:lstStyle/>
          <a:p>
            <a:pPr algn="l">
              <a:defRPr sz="1400" b="1">
                <a:solidFill>
                  <a:srgbClr val="0078D4"/>
                </a:solidFill>
                <a:latin typeface="Segoe UI"/>
              </a:defRPr>
            </a:pPr>
            <a:r>
              <a:t>Set default storage (MB)</a:t>
            </a:r>
          </a:p>
        </p:txBody>
      </p:sp>
      <p:sp>
        <p:nvSpPr>
          <p:cNvPr id="14" name="Rounded Rectangle 13"/>
          <p:cNvSpPr/>
          <p:nvPr/>
        </p:nvSpPr>
        <p:spPr>
          <a:xfrm>
            <a:off x="4114800" y="3337560"/>
            <a:ext cx="7498079" cy="8686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3429000"/>
            <a:ext cx="7132320" cy="685800"/>
          </a:xfrm>
          <a:prstGeom prst="rect">
            <a:avLst/>
          </a:prstGeom>
          <a:noFill/>
        </p:spPr>
        <p:txBody>
          <a:bodyPr wrap="square">
            <a:spAutoFit/>
          </a:bodyPr>
          <a:lstStyle/>
          <a:p>
            <a:pPr algn="l">
              <a:defRPr sz="1200" b="0">
                <a:solidFill>
                  <a:srgbClr val="CED4DA"/>
                </a:solidFill>
                <a:latin typeface="Cascadia Code"/>
              </a:defRPr>
            </a:pPr>
            <a:r>
              <a:t>Set-SPOTenant -OneDriveStorageQuota 5242880</a:t>
            </a:r>
          </a:p>
        </p:txBody>
      </p:sp>
      <p:sp>
        <p:nvSpPr>
          <p:cNvPr id="16" name="TextBox 15"/>
          <p:cNvSpPr txBox="1"/>
          <p:nvPr/>
        </p:nvSpPr>
        <p:spPr>
          <a:xfrm>
            <a:off x="731520" y="4389120"/>
            <a:ext cx="3200400" cy="365760"/>
          </a:xfrm>
          <a:prstGeom prst="rect">
            <a:avLst/>
          </a:prstGeom>
          <a:noFill/>
        </p:spPr>
        <p:txBody>
          <a:bodyPr wrap="square">
            <a:spAutoFit/>
          </a:bodyPr>
          <a:lstStyle/>
          <a:p>
            <a:pPr algn="l">
              <a:defRPr sz="1400" b="1">
                <a:solidFill>
                  <a:srgbClr val="0078D4"/>
                </a:solidFill>
                <a:latin typeface="Segoe UI"/>
              </a:defRPr>
            </a:pPr>
            <a:r>
              <a:t>Set per-user storage</a:t>
            </a:r>
          </a:p>
        </p:txBody>
      </p:sp>
      <p:sp>
        <p:nvSpPr>
          <p:cNvPr id="17" name="Rounded Rectangle 16"/>
          <p:cNvSpPr/>
          <p:nvPr/>
        </p:nvSpPr>
        <p:spPr>
          <a:xfrm>
            <a:off x="4114800" y="4389120"/>
            <a:ext cx="7498079" cy="8686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97680" y="4480560"/>
            <a:ext cx="7132320" cy="685800"/>
          </a:xfrm>
          <a:prstGeom prst="rect">
            <a:avLst/>
          </a:prstGeom>
          <a:noFill/>
        </p:spPr>
        <p:txBody>
          <a:bodyPr wrap="square">
            <a:spAutoFit/>
          </a:bodyPr>
          <a:lstStyle/>
          <a:p>
            <a:pPr algn="l">
              <a:defRPr sz="1200" b="0">
                <a:solidFill>
                  <a:srgbClr val="CED4DA"/>
                </a:solidFill>
                <a:latin typeface="Cascadia Code"/>
              </a:defRPr>
            </a:pPr>
            <a:r>
              <a:t>Set-SPOSite -Identity https://tenant-my.sharepoint.com/</a:t>
            </a:r>
            <a:br/>
            <a:r>
              <a:t>    personal/user_domain_com -StorageQuotaWarningLevel</a:t>
            </a:r>
            <a:br/>
            <a:r>
              <a:t>    4194304 -StorageQuota 5242880</a:t>
            </a:r>
          </a:p>
        </p:txBody>
      </p:sp>
      <p:sp>
        <p:nvSpPr>
          <p:cNvPr id="19" name="TextBox 18"/>
          <p:cNvSpPr txBox="1"/>
          <p:nvPr/>
        </p:nvSpPr>
        <p:spPr>
          <a:xfrm>
            <a:off x="731520" y="5440679"/>
            <a:ext cx="3200400" cy="365760"/>
          </a:xfrm>
          <a:prstGeom prst="rect">
            <a:avLst/>
          </a:prstGeom>
          <a:noFill/>
        </p:spPr>
        <p:txBody>
          <a:bodyPr wrap="square">
            <a:spAutoFit/>
          </a:bodyPr>
          <a:lstStyle/>
          <a:p>
            <a:pPr algn="l">
              <a:defRPr sz="1400" b="1">
                <a:solidFill>
                  <a:srgbClr val="0078D4"/>
                </a:solidFill>
                <a:latin typeface="Segoe UI"/>
              </a:defRPr>
            </a:pPr>
            <a:r>
              <a:t>Block unmanaged devices</a:t>
            </a:r>
          </a:p>
        </p:txBody>
      </p:sp>
      <p:sp>
        <p:nvSpPr>
          <p:cNvPr id="20" name="Rounded Rectangle 19"/>
          <p:cNvSpPr/>
          <p:nvPr/>
        </p:nvSpPr>
        <p:spPr>
          <a:xfrm>
            <a:off x="4114800" y="5440679"/>
            <a:ext cx="7498079" cy="86868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7680" y="5532119"/>
            <a:ext cx="7132320" cy="685800"/>
          </a:xfrm>
          <a:prstGeom prst="rect">
            <a:avLst/>
          </a:prstGeom>
          <a:noFill/>
        </p:spPr>
        <p:txBody>
          <a:bodyPr wrap="square">
            <a:spAutoFit/>
          </a:bodyPr>
          <a:lstStyle/>
          <a:p>
            <a:pPr algn="l">
              <a:defRPr sz="1200" b="0">
                <a:solidFill>
                  <a:srgbClr val="CED4DA"/>
                </a:solidFill>
                <a:latin typeface="Cascadia Code"/>
              </a:defRPr>
            </a:pPr>
            <a:r>
              <a:t>Set-SPOTenant -ConditionalAccessPolicy AllowLimitedAccess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914400" y="2834640"/>
            <a:ext cx="109728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640080"/>
          </a:xfrm>
          <a:prstGeom prst="rect">
            <a:avLst/>
          </a:prstGeom>
          <a:noFill/>
        </p:spPr>
        <p:txBody>
          <a:bodyPr wrap="square">
            <a:spAutoFit/>
          </a:bodyPr>
          <a:lstStyle/>
          <a:p>
            <a:pPr algn="l">
              <a:defRPr sz="2000" b="0">
                <a:solidFill>
                  <a:srgbClr val="00B294"/>
                </a:solidFill>
                <a:latin typeface="Segoe UI"/>
              </a:defRPr>
            </a:pPr>
            <a:r>
              <a:t>End of Module 9</a:t>
            </a:r>
          </a:p>
        </p:txBody>
      </p:sp>
      <p:sp>
        <p:nvSpPr>
          <p:cNvPr id="4" name="TextBox 3"/>
          <p:cNvSpPr txBox="1"/>
          <p:nvPr/>
        </p:nvSpPr>
        <p:spPr>
          <a:xfrm>
            <a:off x="914400" y="3063240"/>
            <a:ext cx="10058400" cy="914400"/>
          </a:xfrm>
          <a:prstGeom prst="rect">
            <a:avLst/>
          </a:prstGeom>
          <a:noFill/>
        </p:spPr>
        <p:txBody>
          <a:bodyPr wrap="square">
            <a:spAutoFit/>
          </a:bodyPr>
          <a:lstStyle/>
          <a:p>
            <a:pPr algn="l">
              <a:defRPr sz="3600" b="1">
                <a:solidFill>
                  <a:srgbClr val="FFFFFF"/>
                </a:solidFill>
                <a:latin typeface="Segoe UI"/>
              </a:defRPr>
            </a:pPr>
            <a:r>
              <a:t>OneDrive for Business</a:t>
            </a:r>
            <a:br/>
            <a:r>
              <a:t>Administration</a:t>
            </a:r>
          </a:p>
        </p:txBody>
      </p:sp>
      <p:sp>
        <p:nvSpPr>
          <p:cNvPr id="5" name="TextBox 4"/>
          <p:cNvSpPr txBox="1"/>
          <p:nvPr/>
        </p:nvSpPr>
        <p:spPr>
          <a:xfrm>
            <a:off x="914400" y="4389120"/>
            <a:ext cx="9144000" cy="548640"/>
          </a:xfrm>
          <a:prstGeom prst="rect">
            <a:avLst/>
          </a:prstGeom>
          <a:noFill/>
        </p:spPr>
        <p:txBody>
          <a:bodyPr wrap="square">
            <a:spAutoFit/>
          </a:bodyPr>
          <a:lstStyle/>
          <a:p>
            <a:pPr algn="l">
              <a:defRPr sz="1800" b="0">
                <a:solidFill>
                  <a:srgbClr val="E0E0E0"/>
                </a:solidFill>
                <a:latin typeface="Segoe UI"/>
              </a:defRPr>
            </a:pPr>
            <a:r>
              <a:t>Up Next  →  Module 10: Automating SharePoint Administration</a:t>
            </a:r>
          </a:p>
        </p:txBody>
      </p:sp>
      <p:sp>
        <p:nvSpPr>
          <p:cNvPr id="6" name="Rectangle 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73952"/>
            <a:ext cx="9144000" cy="320040"/>
          </a:xfrm>
          <a:prstGeom prst="rect">
            <a:avLst/>
          </a:prstGeom>
          <a:noFill/>
        </p:spPr>
        <p:txBody>
          <a:bodyPr wrap="square">
            <a:spAutoFit/>
          </a:bodyPr>
          <a:lstStyle/>
          <a:p>
            <a:pPr algn="l">
              <a:defRPr sz="1000" b="0">
                <a:solidFill>
                  <a:srgbClr val="FFFFFF"/>
                </a:solidFill>
                <a:latin typeface="Segoe UI"/>
              </a:defRPr>
            </a:pPr>
            <a:r>
              <a:t>Module 9 | OneDrive for Business Administration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