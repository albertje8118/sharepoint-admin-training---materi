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 7 covers the customization spectrum from out-of-box to SPFx, declarative JSON formatting, app governance, and API access. This is the last module of Day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Customization is a double-edged sword. It improves productivity but adds risk. Administrators must balance flexibility with governance, security, and long-term supportability.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learning outcomes covering the full customization spectrum, from JSON formatting to SPFx governance and API access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 spectrum from safest to most flexible. Admin recommendation: prefer out-of-box first, then JSON formatting, and only use SPFx when the other options aren't sufficient.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Out-of-box configuration = zero deployment risk. Covers most standard business needs. Modern pages + web parts give rich layout without custom code. Lists templates provide pre-built structures.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types of declarative customization. Column formatting targets individual fields. View formatting targets the entire row/card layout. List form configuration targets the item form. All use JSON — no compiled code, no deployment package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5-step process. Emphasize that the designer mode (conditional formatting) is the easiest entry point. Advanced mode gives full JSON control. Key point: formatting never modifies data, only visual rendering.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a real JSON example. The ternary operator (?) checks the Status field value. This is a great teaching moment: simple conditional logic, no SPFx required. Samples available at github.com/SharePoint/sp-dev-column-formatting. Schema URL: developer.microsoft.com/json-schemas/sp/v2/column-formatting.schema.json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layout options for view formatting. List is the default table view. Gallery renders cards — great for visual items. Board gives a Kanban experience. All three can be customized via the designer or advanced JSON mode.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Help participants draw the line. JSON formatting is remarkably powerful for 'app-like' experiences without deployment overhead. SPFx is for truly custom UI/logic scenarios. Most admin teams should exhaust formatting options before requesting SPFx development.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SPFx key facts: packages are .sppkg files. Code runs in the browser as the current user. The code bundle can be hosted anywhere — Office 365 CDN, Azure blob storage, or SPO itself. SPFx is the primary replacement for retired SharePoint Add-ins.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Two-part structure: the .sppkg contains manifest + CDN URL; the app catalog stores and governs it. Tenant app catalog for org-wide; site collection app catalog for isolated deployments. Admin always gets a trust dialog before approving. Can disable or remove at any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Tenant app catalog is the primary governance point. Site collection app catalogs allow isolated deployment for specific sites. In multi-geo tenants, each geo location gets its own catalog. For training: tenant-wide deployment is trainer-only in shared environments.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Five-step governance flow from development to production. Emphasize step 3: the trust dialog is the admin's key checkpoint. Step 5: admins can disable a solution immediately across all sites if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2026 context. The add-in model is being retired for SharePoint Online. SPFx continues to be fully supported and invested in. From Microsoft docs: 'The SharePoint add-in model deprecation does not impact SPFx.' Train admins to focus on SPFx and declarative approaches.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API access is where solutions request Entra ID-secured permissions. The admin center page (SharePoint admin center → API access) shows pending and approved requests. Each approval grants application-level consent — affects the entire tenant.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governance table. Third-party APIs need Application Administrator. Microsoft Graph and other Microsoft APIs require Global Administrator. Emphasize that each approval is tenant-wide — not scoped to a single site or user.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Scope is the most important governance consideration. Tenant-wide deployment affects all users immediately. In training environments, tenant-wide deployment should be trainer-only. In production, always test in a site collection app catalog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Tasks 1-3 are hands-on for participants. Tasks 4-5 are trainer-led demonstrations in the SharePoint admin center. Keep the app catalog and API access tours brief — participants observe while the trainer navigates.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each checkpoint. Verify formatting works in participants' browsers. For trainer-led items, confirm participants can articulate what the Apps page and API access page are used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common lab issue is JSON syntax errors — remind participants to use the designer (conditional formatting mode) first before switching to advanced JSON. Apps page requires admin role; participants with viewer-only access won't see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Seven key takeaways. Reinforce the customization spectrum and governance principles. The add-in retirement note is important for 2026-aligned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 Q1 — OOB Configuration, Declarative (JSON Formatting), SPFx. Q2 — No, formatting only changes rendering/display, not the stored data. Q3 — .sppkg files. Q4 — Global Administrator. Q5 — Because it immediately makes the solution available to all sites/users, and cannot be un-deployed per-site; affects the entire tenant.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concludes Module 7 and Day 2 of the training. Day 3 begins with Module 8: Compliance and Governance with Microsoft Purview. Remind participants to save their lab work and take any screenshots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237744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246120"/>
            <a:ext cx="1371600" cy="6400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B294"/>
                </a:solidFill>
                <a:latin typeface="Segoe UI"/>
              </a:defRPr>
            </a:pPr>
            <a:r>
              <a:t>Module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Apps and Customization</a:t>
            </a:r>
            <a:br/>
            <a:r>
              <a:t>in SharePoint Online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Segoe UI"/>
              </a:defRPr>
            </a:pPr>
            <a:r>
              <a:t>Scenario: Project Northwind Intranet Modernization  ·  Day 2 of 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Module 7 | Apps and Customization in SharePoint Online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5029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Segoe UI"/>
              </a:defRPr>
            </a:pPr>
            <a:r>
              <a:t>Why Admins Care About Customization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Module 7 | Apps and Customization in SharePoint Online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2560320" cy="4206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333333"/>
                </a:solidFill>
                <a:latin typeface="Segoe UI"/>
              </a:defRPr>
            </a:pPr>
            <a:r>
              <a:t>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78D4"/>
                </a:solidFill>
                <a:latin typeface="Segoe UI"/>
              </a:defRPr>
            </a:pPr>
            <a:r>
              <a:t>Productivity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26080"/>
            <a:ext cx="2103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33333"/>
                </a:solidFill>
                <a:latin typeface="Segoe UI"/>
              </a:defRPr>
            </a:pPr>
            <a:r>
              <a:t>Customized views and apps</a:t>
            </a:r>
            <a:br/>
            <a:r>
              <a:t>can dramatically improve</a:t>
            </a:r>
            <a:br/>
            <a:r>
              <a:t>user adoption.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463040"/>
            <a:ext cx="2560320" cy="4206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16459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333333"/>
                </a:solidFill>
                <a:latin typeface="Segoe UI"/>
              </a:defRPr>
            </a:pPr>
            <a:r>
              <a:t>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2860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78D4"/>
                </a:solidFill>
                <a:latin typeface="Segoe UI"/>
              </a:defRPr>
            </a:pPr>
            <a:r>
              <a:t>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926080"/>
            <a:ext cx="2103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33333"/>
                </a:solidFill>
                <a:latin typeface="Segoe UI"/>
              </a:defRPr>
            </a:pPr>
            <a:r>
              <a:t>Every customization adds a</a:t>
            </a:r>
            <a:br/>
            <a:r>
              <a:t>potential attack surface.</a:t>
            </a:r>
            <a:br/>
            <a:r>
              <a:t>Govern wisely.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463040"/>
            <a:ext cx="2560320" cy="4206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6459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333333"/>
                </a:solidFill>
                <a:latin typeface="Segoe UI"/>
              </a:defRPr>
            </a:pPr>
            <a:r>
              <a:t>🛠️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2860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78D4"/>
                </a:solidFill>
                <a:latin typeface="Segoe UI"/>
              </a:defRPr>
            </a:pPr>
            <a:r>
              <a:t>Supportability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926080"/>
            <a:ext cx="2103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33333"/>
                </a:solidFill>
                <a:latin typeface="Segoe UI"/>
              </a:defRPr>
            </a:pPr>
            <a:r>
              <a:t>Custom code must be</a:t>
            </a:r>
            <a:br/>
            <a:r>
              <a:t>maintainable over time.</a:t>
            </a:r>
            <a:br/>
            <a:r>
              <a:t>Prefer low-code first.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1463040"/>
            <a:ext cx="2560320" cy="4206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16459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333333"/>
                </a:solidFill>
                <a:latin typeface="Segoe UI"/>
              </a:defRPr>
            </a:pPr>
            <a:r>
              <a:t>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22860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78D4"/>
                </a:solidFill>
                <a:latin typeface="Segoe UI"/>
              </a:defRPr>
            </a:pPr>
            <a:r>
              <a:t>Governance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2926080"/>
            <a:ext cx="2103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33333"/>
                </a:solidFill>
                <a:latin typeface="Segoe UI"/>
              </a:defRPr>
            </a:pPr>
            <a:r>
              <a:t>Who can deploy what?</a:t>
            </a:r>
            <a:br/>
            <a:r>
              <a:t>Tenant-wide vs site-scoped</a:t>
            </a:r>
            <a:br/>
            <a:r>
              <a:t>decisions matter.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5029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Segoe UI"/>
              </a:defRPr>
            </a:pPr>
            <a:r>
              <a:t>Learning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Module 7 | Apps and Customization in SharePoint Online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02920" cy="50292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50876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Segoe UI"/>
              </a:defRPr>
            </a:pPr>
            <a:r>
              <a:t>Explain modern customization models in SharePoint Online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51760"/>
            <a:ext cx="502920" cy="50292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69748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Segoe UI"/>
              </a:defRPr>
            </a:pPr>
            <a:r>
              <a:t>Customize a list safely using JSON-based column and view formatting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502920" cy="50292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88620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Segoe UI"/>
              </a:defRPr>
            </a:pPr>
            <a:r>
              <a:t>Describe how SPFx solutions are deployed and governed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029200"/>
            <a:ext cx="502920" cy="50292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507492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Segoe UI"/>
              </a:defRPr>
            </a:pPr>
            <a:r>
              <a:t>Describe what API access is for and why it matters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834640"/>
            <a:ext cx="109728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0632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  <a:latin typeface="Segoe UI"/>
              </a:defRPr>
            </a:pPr>
            <a:r>
              <a:t>Customization Models in SharePoint Online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Module 7 | Apps and Customization in SharePoint Online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5029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Segoe UI"/>
              </a:defRPr>
            </a:pPr>
            <a:r>
              <a:t>The Customization Spectrum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Module 7 | Apps and Customization in SharePoint Online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109728" cy="128016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3716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333333"/>
                </a:solidFill>
                <a:latin typeface="Segoe UI"/>
              </a:defRPr>
            </a:pPr>
            <a:r>
              <a:t>⚙️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7C10"/>
                </a:solidFill>
                <a:latin typeface="Segoe UI"/>
              </a:defRPr>
            </a:pPr>
            <a:r>
              <a:t>Out-of-Box Configuration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828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Lowest risk  •  No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37160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Segoe UI"/>
              </a:defRPr>
            </a:pPr>
            <a:r>
              <a:t>Settings, web parts,</a:t>
            </a:r>
            <a:br/>
            <a:r>
              <a:t>pages, permissions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017520"/>
            <a:ext cx="109728" cy="12801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0175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333333"/>
                </a:solidFill>
                <a:latin typeface="Segoe UI"/>
              </a:defRPr>
            </a:pPr>
            <a:r>
              <a:t>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017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  <a:latin typeface="Segoe UI"/>
              </a:defRPr>
            </a:pPr>
            <a:r>
              <a:t>Declarative (JSON Formatting)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474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Low risk  •  JSON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01752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Segoe UI"/>
              </a:defRPr>
            </a:pPr>
            <a:r>
              <a:t>Column &amp; view formatting,</a:t>
            </a:r>
            <a:br/>
            <a:r>
              <a:t>list form config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663440"/>
            <a:ext cx="109728" cy="1280160"/>
          </a:xfrm>
          <a:prstGeom prst="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6634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333333"/>
                </a:solidFill>
                <a:latin typeface="Segoe UI"/>
              </a:defRPr>
            </a:pPr>
            <a:r>
              <a:t>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663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B69D6"/>
                </a:solidFill>
                <a:latin typeface="Segoe UI"/>
              </a:defRPr>
            </a:pPr>
            <a:r>
              <a:t>SharePoint Framework (SPFx)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120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Highest flexibility  •  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66344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Segoe UI"/>
              </a:defRPr>
            </a:pPr>
            <a:r>
              <a:t>Web parts, extensions,</a:t>
            </a:r>
            <a:br/>
            <a:r>
              <a:t>Teams + Viva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10972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07C10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" y="5212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69D6"/>
                </a:solidFill>
                <a:latin typeface="Segoe UI"/>
              </a:defRPr>
            </a:pPr>
            <a:r>
              <a:t>Flexibility 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50292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Segoe UI"/>
              </a:defRPr>
            </a:pPr>
            <a:r>
              <a:t>Tier 1: Out-of-Box Configuration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Module 7 | Apps and Customization in SharePoint Online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Segoe UI"/>
              </a:defRPr>
            </a:pPr>
            <a:r>
              <a:t>✅ List / library settings (columns, views, content types)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Segoe UI"/>
              </a:defRPr>
            </a:pPr>
            <a:r>
              <a:t>✅ Modern pages and web parts (no code needed)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Segoe UI"/>
              </a:defRPr>
            </a:pPr>
            <a:r>
              <a:t>✅ Permissions, sharing, and governance controls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Segoe UI"/>
              </a:defRPr>
            </a:pPr>
            <a:r>
              <a:t>✅ Hub sites, navigation, site templates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Segoe UI"/>
              </a:defRPr>
            </a:pPr>
            <a:r>
              <a:t>✅ Microsoft Lists templates (Issue Tracker, etc.)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371600"/>
            <a:ext cx="3840480" cy="18288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1554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7C10"/>
                </a:solidFill>
                <a:latin typeface="Segoe UI"/>
              </a:defRPr>
            </a:pPr>
            <a:r>
              <a:t>🎯  Admin Take-Away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1031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Segoe UI"/>
              </a:defRPr>
            </a:pPr>
            <a:r>
              <a:t>Always prefer out-of-box features first.</a:t>
            </a:r>
            <a:br/>
            <a:r>
              <a:t>They are easiest to support and</a:t>
            </a:r>
            <a:br/>
            <a:r>
              <a:t>require no code deployment.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5029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Segoe UI"/>
              </a:defRPr>
            </a:pPr>
            <a:r>
              <a:t>Tier 2: Declarative Customization (JSON Formatting)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Module 7 | Apps and Customization in SharePoint Online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Segoe UI"/>
              </a:defRPr>
            </a:pPr>
            <a:r>
              <a:t>JSON-based formatting changes how lists and libraries are displayed — not the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86000"/>
            <a:ext cx="3474720" cy="29260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333333"/>
                </a:solidFill>
                <a:latin typeface="Segoe UI"/>
              </a:defRPr>
            </a:pPr>
            <a:r>
              <a:t>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089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8D4"/>
                </a:solidFill>
                <a:latin typeface="Segoe UI"/>
              </a:defRPr>
            </a:pPr>
            <a:r>
              <a:t>Column Formatting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49039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33333"/>
                </a:solidFill>
                <a:latin typeface="Segoe UI"/>
              </a:defRPr>
            </a:pPr>
            <a:r>
              <a:t>Customize how a single</a:t>
            </a:r>
            <a:br/>
            <a:r>
              <a:t>field is rendered in a 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79" y="2286000"/>
            <a:ext cx="3474720" cy="29260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1999" y="246888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333333"/>
                </a:solidFill>
                <a:latin typeface="Segoe UI"/>
              </a:defRPr>
            </a:pPr>
            <a:r>
              <a:t>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999" y="31089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8D4"/>
                </a:solidFill>
                <a:latin typeface="Segoe UI"/>
              </a:defRPr>
            </a:pPr>
            <a:r>
              <a:t>View Formatting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1999" y="3749039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33333"/>
                </a:solidFill>
                <a:latin typeface="Segoe UI"/>
              </a:defRPr>
            </a:pPr>
            <a:r>
              <a:t>Customize how rows/cards</a:t>
            </a:r>
            <a:br/>
            <a:r>
              <a:t>are rendered in the view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2286000"/>
            <a:ext cx="3474720" cy="29260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39" y="246888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333333"/>
                </a:solidFill>
                <a:latin typeface="Segoe UI"/>
              </a:defRPr>
            </a:pPr>
            <a:r>
              <a:t>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39" y="31089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8D4"/>
                </a:solidFill>
                <a:latin typeface="Segoe UI"/>
              </a:defRPr>
            </a:pPr>
            <a:r>
              <a:t>List Form Configuration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39" y="3749039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33333"/>
                </a:solidFill>
                <a:latin typeface="Segoe UI"/>
              </a:defRPr>
            </a:pPr>
            <a:r>
              <a:t>Customize the item</a:t>
            </a:r>
            <a:br/>
            <a:r>
              <a:t>form layout (header/body/footer)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5029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Segoe UI"/>
              </a:defRPr>
            </a:pPr>
            <a:r>
              <a:t>Column Formatting: How It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Module 7 | Apps and Customization in SharePoint Online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457200" cy="4572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417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Segoe UI"/>
              </a:defRPr>
            </a:pPr>
            <a:r>
              <a:t>Click column header → Column settings → Format this column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457200" cy="4572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331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Segoe UI"/>
              </a:defRPr>
            </a:pPr>
            <a:r>
              <a:t>Choose a Conditional Formatting rule (designer) – or switch to Advanced mode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0"/>
            <a:ext cx="457200" cy="4572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246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Segoe UI"/>
              </a:defRPr>
            </a:pPr>
            <a:r>
              <a:t>Paste or write JSON in the Advanced editor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14800"/>
            <a:ext cx="457200" cy="4572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160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Segoe UI"/>
              </a:defRPr>
            </a:pPr>
            <a:r>
              <a:t>Click Preview to verify the rendering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029200"/>
            <a:ext cx="457200" cy="4572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5074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Segoe UI"/>
              </a:defRPr>
            </a:pPr>
            <a:r>
              <a:t>Click Save — formatting applies to all users in that view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5029200"/>
            <a:ext cx="3840480" cy="91440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512064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8D4"/>
                </a:solidFill>
                <a:latin typeface="Segoe UI"/>
              </a:defRPr>
            </a:pPr>
            <a:r>
              <a:t>💡 Formatting changes rendering only</a:t>
            </a:r>
            <a:br/>
            <a:r>
              <a:t>— the underlying data is unchanged.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5029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Segoe UI"/>
              </a:defRPr>
            </a:pPr>
            <a:r>
              <a:t>Column Formatting: JSON Example (Status Field)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Module 7 | Apps and Customization in SharePoint Online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6400800" cy="438912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5852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ED4DA"/>
                </a:solidFill>
                <a:latin typeface="Cascadia Code"/>
              </a:defRPr>
            </a:pPr>
            <a:r>
              <a:t>{</a:t>
            </a:r>
            <a:br/>
            <a:r>
              <a:t>  "$schema": "https://developer.microsoft.com/</a:t>
            </a:r>
            <a:br/>
            <a:r>
              <a:t>    json-schemas/sp/v2/column-formatting.schema.json",</a:t>
            </a:r>
            <a:br/>
            <a:r>
              <a:t>  "elmType": "div",</a:t>
            </a:r>
            <a:br/>
            <a:r>
              <a:t>  "style": {</a:t>
            </a:r>
            <a:br/>
            <a:r>
              <a:t>    "padding": "4px 8px",</a:t>
            </a:r>
            <a:br/>
            <a:r>
              <a:t>    "border-radius": "4px",</a:t>
            </a:r>
            <a:br/>
            <a:r>
              <a:t>    "background-color": {</a:t>
            </a:r>
            <a:br/>
            <a:r>
              <a:t>      "operator": "?",</a:t>
            </a:r>
            <a:br/>
            <a:r>
              <a:t>      "operands": [</a:t>
            </a:r>
            <a:br/>
            <a:r>
              <a:t>        { "operator": "==",</a:t>
            </a:r>
            <a:br/>
            <a:r>
              <a:t>          "operands": ["[$Status]","Active"] },</a:t>
            </a:r>
            <a:br/>
            <a:r>
              <a:t>        "#107C10",   // green</a:t>
            </a:r>
            <a:br/>
            <a:r>
              <a:t>        "#D13438"    // red</a:t>
            </a:r>
            <a:br/>
            <a:r>
              <a:t>      ]</a:t>
            </a:r>
            <a:br/>
            <a:r>
              <a:t>    }</a:t>
            </a:r>
            <a:br/>
            <a:r>
              <a:t>  },</a:t>
            </a:r>
            <a:br/>
            <a:r>
              <a:t>  "txtContent": "@currentField"</a:t>
            </a:r>
            <a:br/>
            <a: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1371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8D4"/>
                </a:solidFill>
                <a:latin typeface="Segoe UI"/>
              </a:defRPr>
            </a:pPr>
            <a:r>
              <a:t>What this does: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Segoe UI"/>
              </a:defRPr>
            </a:pPr>
            <a:r>
              <a:t>→ Renders Status field as a colored badge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Segoe UI"/>
              </a:defRPr>
            </a:pPr>
            <a:r>
              <a:t>→ Green (#107C10) if Status = 'Active'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Segoe UI"/>
              </a:defRPr>
            </a:pPr>
            <a:r>
              <a:t>→ Red (#D13438) otherwise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Segoe UI"/>
              </a:defRPr>
            </a:pPr>
            <a:r>
              <a:t>→ Uses the v2 column formatting schema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Segoe UI"/>
              </a:defRPr>
            </a:pPr>
            <a:r>
              <a:t>→ No code deployment needed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5029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Segoe UI"/>
              </a:defRPr>
            </a:pPr>
            <a:r>
              <a:t>View Formatting: Customizing Rows &amp; Cards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Module 7 | Apps and Customization in SharePoint Online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Segoe UI"/>
              </a:defRPr>
            </a:pPr>
            <a:r>
              <a:t>Format current view → Choose layout → Customize rendering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94560"/>
            <a:ext cx="3474720" cy="32918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194560"/>
            <a:ext cx="3474720" cy="6400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4688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8D4"/>
                </a:solidFill>
                <a:latin typeface="Segoe UI"/>
              </a:defRPr>
            </a:pPr>
            <a:r>
              <a:t>List / Compact 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0896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33333"/>
                </a:solidFill>
                <a:latin typeface="Segoe UI"/>
              </a:defRPr>
            </a:pPr>
            <a:r>
              <a:t>Default row-based layout.</a:t>
            </a:r>
            <a:br/>
            <a:r>
              <a:t>Apply alternating row colors</a:t>
            </a:r>
            <a:br/>
            <a:r>
              <a:t>or conditional row styles.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79" y="2194560"/>
            <a:ext cx="3474720" cy="32918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00B2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79" y="2194560"/>
            <a:ext cx="3474720" cy="64008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1999" y="24688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B294"/>
                </a:solidFill>
                <a:latin typeface="Segoe UI"/>
              </a:defRPr>
            </a:pPr>
            <a:r>
              <a:t>Gallery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1999" y="310896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33333"/>
                </a:solidFill>
                <a:latin typeface="Segoe UI"/>
              </a:defRPr>
            </a:pPr>
            <a:r>
              <a:t>Card-based layout.</a:t>
            </a:r>
            <a:br/>
            <a:r>
              <a:t>Great for visual content</a:t>
            </a:r>
            <a:br/>
            <a:r>
              <a:t>like projects or requests.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2194560"/>
            <a:ext cx="3474720" cy="32918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6B6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19" y="2194560"/>
            <a:ext cx="3474720" cy="64008"/>
          </a:xfrm>
          <a:prstGeom prst="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39" y="24688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B69D6"/>
                </a:solidFill>
                <a:latin typeface="Segoe UI"/>
              </a:defRPr>
            </a:pPr>
            <a:r>
              <a:t>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39" y="310896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33333"/>
                </a:solidFill>
                <a:latin typeface="Segoe UI"/>
              </a:defRPr>
            </a:pPr>
            <a:r>
              <a:t>Kanban-style view.</a:t>
            </a:r>
            <a:br/>
            <a:r>
              <a:t>Group items by a column</a:t>
            </a:r>
            <a:br/>
            <a:r>
              <a:t>(e.g., Status or Priority).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5029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Segoe UI"/>
              </a:defRPr>
            </a:pPr>
            <a:r>
              <a:t>When Is Formatting Enough?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Module 7 | Apps and Customization in SharePoint Online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029200" cy="438912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7C10"/>
                </a:solidFill>
                <a:latin typeface="Segoe UI"/>
              </a:defRPr>
            </a:pPr>
            <a:r>
              <a:t>✅ Use JSON Formatting When…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Segoe UI"/>
              </a:defRPr>
            </a:pPr>
            <a:r>
              <a:t>• Highlighting status fields with colors/icons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Segoe UI"/>
              </a:defRPr>
            </a:pPr>
            <a:r>
              <a:t>• Improving scannability of list data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Segoe UI"/>
              </a:defRPr>
            </a:pPr>
            <a:r>
              <a:t>• Showing progress bars or conditional badges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Segoe UI"/>
              </a:defRPr>
            </a:pPr>
            <a:r>
              <a:t>• Creating card-based project views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Segoe UI"/>
              </a:defRPr>
            </a:pPr>
            <a:r>
              <a:t>• Adding mailto: or URL action links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94960" cy="4389120"/>
          </a:xfrm>
          <a:prstGeom prst="roundRect">
            <a:avLst/>
          </a:prstGeom>
          <a:solidFill>
            <a:srgbClr val="FDE8E8"/>
          </a:solidFill>
          <a:ln w="12700">
            <a:solidFill>
              <a:srgbClr val="D13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54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13438"/>
                </a:solidFill>
                <a:latin typeface="Segoe UI"/>
              </a:defRPr>
            </a:pPr>
            <a:r>
              <a:t>⚠️ Consider SPFx When…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945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Segoe UI"/>
              </a:defRPr>
            </a:pPr>
            <a:r>
              <a:t>• You need custom web parts or extensions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Segoe UI"/>
              </a:defRPr>
            </a:pPr>
            <a:r>
              <a:t>• Complex business logic or external API calls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Segoe UI"/>
              </a:defRPr>
            </a:pPr>
            <a:r>
              <a:t>• Fully custom UI beyond list/library rendering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Segoe UI"/>
              </a:defRPr>
            </a:pPr>
            <a:r>
              <a:t>• Integration with Teams tabs or Viva Connections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Segoe UI"/>
              </a:defRPr>
            </a:pPr>
            <a:r>
              <a:t>• Rich interactive dashboards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834640"/>
            <a:ext cx="1097280" cy="54864"/>
          </a:xfrm>
          <a:prstGeom prst="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0632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  <a:latin typeface="Segoe UI"/>
              </a:defRPr>
            </a:pPr>
            <a:r>
              <a:t>SPFx Solutions &amp; App Governance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Module 7 | Apps and Customization in SharePoint Online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502920"/>
          </a:xfrm>
          <a:prstGeom prst="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Segoe UI"/>
              </a:defRPr>
            </a:pPr>
            <a:r>
              <a:t>SharePoint Framework (SPFx)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Module 7 | Apps and Customization in SharePoint Online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Segoe UI"/>
              </a:defRPr>
            </a:pPr>
            <a:r>
              <a:t>The modern extensibility model for SharePoint Online, Teams, and Viva Connections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94560"/>
            <a:ext cx="2560320" cy="32004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333333"/>
                </a:solidFill>
                <a:latin typeface="Segoe UI"/>
              </a:defRPr>
            </a:pPr>
            <a:r>
              <a:t>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6B69D6"/>
                </a:solidFill>
                <a:latin typeface="Segoe UI"/>
              </a:defRPr>
            </a:pPr>
            <a:r>
              <a:t>Package Format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6616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.sppkg file uploaded</a:t>
            </a:r>
            <a:br/>
            <a:r>
              <a:t>to App Catalog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2194560"/>
            <a:ext cx="2560320" cy="32004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23774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333333"/>
                </a:solidFill>
                <a:latin typeface="Segoe UI"/>
              </a:defRPr>
            </a:pPr>
            <a:r>
              <a:t>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926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6B69D6"/>
                </a:solidFill>
                <a:latin typeface="Segoe UI"/>
              </a:defRPr>
            </a:pPr>
            <a:r>
              <a:t>Runs Client-Side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56616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Executes in the browser</a:t>
            </a:r>
            <a:br/>
            <a:r>
              <a:t>in the user's context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194560"/>
            <a:ext cx="2560320" cy="32004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3774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333333"/>
                </a:solidFill>
                <a:latin typeface="Segoe UI"/>
              </a:defRPr>
            </a:pPr>
            <a:r>
              <a:t>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926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6B69D6"/>
                </a:solidFill>
                <a:latin typeface="Segoe UI"/>
              </a:defRPr>
            </a:pPr>
            <a:r>
              <a:t>Same Permissions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56616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Always runs with the</a:t>
            </a:r>
            <a:br/>
            <a:r>
              <a:t>current user's permissions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94560"/>
            <a:ext cx="2560320" cy="32004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23774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333333"/>
                </a:solidFill>
                <a:latin typeface="Segoe UI"/>
              </a:defRPr>
            </a:pPr>
            <a:r>
              <a:t>☁️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2926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6B69D6"/>
                </a:solidFill>
                <a:latin typeface="Segoe UI"/>
              </a:defRPr>
            </a:pPr>
            <a:r>
              <a:t>Code Hosting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356616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Bundle hosted on CDN,</a:t>
            </a:r>
            <a:br/>
            <a:r>
              <a:t>Azure, or SharePoint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502920"/>
          </a:xfrm>
          <a:prstGeom prst="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Segoe UI"/>
              </a:defRPr>
            </a:pPr>
            <a:r>
              <a:t>Anatomy of an SPFx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Module 7 | Apps and Customization in SharePoint Online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4114800" cy="3840480"/>
          </a:xfrm>
          <a:prstGeom prst="roundRect">
            <a:avLst/>
          </a:prstGeom>
          <a:solidFill>
            <a:srgbClr val="EEE8F5"/>
          </a:solidFill>
          <a:ln w="12700">
            <a:solidFill>
              <a:srgbClr val="6B6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B69D6"/>
                </a:solidFill>
                <a:latin typeface="Segoe UI"/>
              </a:defRPr>
            </a:pPr>
            <a:r>
              <a:t>📦  .sppkg Package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6888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Segoe UI"/>
              </a:defRPr>
            </a:pPr>
            <a:r>
              <a:t>→ Component manifest (metadata)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Segoe UI"/>
              </a:defRPr>
            </a:pPr>
            <a:r>
              <a:t>→ URL pointing to bundle location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Segoe UI"/>
              </a:defRPr>
            </a:pPr>
            <a:r>
              <a:t>→ Permissions declarations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Segoe UI"/>
              </a:defRPr>
            </a:pPr>
            <a:r>
              <a:t>→ Feature definitions (optional)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30175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B69D6"/>
                </a:solidFill>
                <a:latin typeface="Segoe UI"/>
              </a:defRPr>
            </a:pPr>
            <a:r>
              <a:t>→  deploys to 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645920"/>
            <a:ext cx="4846320" cy="3840480"/>
          </a:xfrm>
          <a:prstGeom prst="roundRect">
            <a:avLst/>
          </a:prstGeom>
          <a:solidFill>
            <a:srgbClr val="EEE8F5"/>
          </a:solidFill>
          <a:ln w="12700">
            <a:solidFill>
              <a:srgbClr val="6B6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182880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B69D6"/>
                </a:solidFill>
                <a:latin typeface="Segoe UI"/>
              </a:defRPr>
            </a:pPr>
            <a:r>
              <a:t>🏪  App Catalog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468880"/>
            <a:ext cx="4297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Segoe UI"/>
              </a:defRPr>
            </a:pPr>
            <a:r>
              <a:t>→ Tenant App Catalog — available org-wide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Segoe UI"/>
              </a:defRPr>
            </a:pPr>
            <a:r>
              <a:t>→ Site Collection App Catalog — scoped to one site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Segoe UI"/>
              </a:defRPr>
            </a:pPr>
            <a:r>
              <a:t>→ Admin reviews trust dialog before approval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Segoe UI"/>
              </a:defRPr>
            </a:pPr>
            <a:r>
              <a:t>→ Enable / Disable solutions at any time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Segoe UI"/>
              </a:defRPr>
            </a:pPr>
            <a:r>
              <a:t>→ Monitor installation count across sites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5029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Segoe UI"/>
              </a:defRPr>
            </a:pPr>
            <a:r>
              <a:t>Tenant vs Site Collection App Catalog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Module 7 | Apps and Customization in SharePoint Online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303520" cy="5943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Tenant App Catalog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303520" cy="594360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1732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Site Collection App Catalog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Segoe UI"/>
              </a:defRPr>
            </a:pPr>
            <a:r>
              <a:t>• Managed by SharePoint admin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Segoe UI"/>
              </a:defRPr>
            </a:pPr>
            <a:r>
              <a:t>• Solutions available org-wide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Segoe UI"/>
              </a:defRPr>
            </a:pPr>
            <a:r>
              <a:t>• Tenant-wide deployment option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Segoe UI"/>
              </a:defRPr>
            </a:pPr>
            <a:r>
              <a:t>• Central governance point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Segoe UI"/>
              </a:defRPr>
            </a:pPr>
            <a:r>
              <a:t>• One per tenant (+ one per geo in multi-geo)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8600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Segoe UI"/>
              </a:defRPr>
            </a:pPr>
            <a:r>
              <a:t>• Managed by site collection admin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Segoe UI"/>
              </a:defRPr>
            </a:pPr>
            <a:r>
              <a:t>• Solutions scoped to that site only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Segoe UI"/>
              </a:defRPr>
            </a:pPr>
            <a:r>
              <a:t>• No 'Make available to all sites'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Segoe UI"/>
              </a:defRPr>
            </a:pPr>
            <a:r>
              <a:t>• Useful for isolated testing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Segoe UI"/>
              </a:defRPr>
            </a:pPr>
            <a:r>
              <a:t>• Multiple per tenant possible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502920"/>
          </a:xfrm>
          <a:prstGeom prst="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Segoe UI"/>
              </a:defRPr>
            </a:pPr>
            <a:r>
              <a:t>SPFx Deployment Governance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Module 7 | Apps and Customization in SharePoint Online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457200" cy="45720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280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07C10"/>
                </a:solidFill>
                <a:latin typeface="Segoe UI"/>
              </a:defRPr>
            </a:pPr>
            <a:r>
              <a:t>Developer builds &amp; bundles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128016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gulp bundle --ship</a:t>
            </a:r>
            <a:br/>
            <a:r>
              <a:t>gulp package-solution --ship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286000"/>
            <a:ext cx="457200" cy="4572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286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78D4"/>
                </a:solidFill>
                <a:latin typeface="Segoe UI"/>
              </a:defRPr>
            </a:pPr>
            <a:r>
              <a:t>Admin uploads .sppkg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28600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Apps for SharePoint library</a:t>
            </a:r>
            <a:br/>
            <a:r>
              <a:t>in App Catalog site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91840"/>
            <a:ext cx="457200" cy="45720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2918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8C00"/>
                </a:solidFill>
                <a:latin typeface="Segoe UI"/>
              </a:defRPr>
            </a:pPr>
            <a:r>
              <a:t>Trust dialog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329184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Full trust client-side code?</a:t>
            </a:r>
            <a:br/>
            <a:r>
              <a:t>Check CDN domain origin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97680"/>
            <a:ext cx="457200" cy="457200"/>
          </a:xfrm>
          <a:prstGeom prst="round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297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B69D6"/>
                </a:solidFill>
                <a:latin typeface="Segoe UI"/>
              </a:defRPr>
            </a:pPr>
            <a:r>
              <a:t>Enable &amp; deploy 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429768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Tenant-wide vs per-site</a:t>
            </a:r>
            <a:br/>
            <a:r>
              <a:t>install decision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303520"/>
            <a:ext cx="457200" cy="457200"/>
          </a:xfrm>
          <a:prstGeom prst="round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303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B294"/>
                </a:solidFill>
                <a:latin typeface="Segoe UI"/>
              </a:defRPr>
            </a:pPr>
            <a:r>
              <a:t>Monitor &amp; maintain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530352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Track installations, update</a:t>
            </a:r>
            <a:br/>
            <a:r>
              <a:t>or disable as needed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5029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Segoe UI"/>
              </a:defRPr>
            </a:pPr>
            <a:r>
              <a:t>2026 Alignment: SharePoint Add-Ins Retirement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Module 7 | Apps and Customization in SharePoint Online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10972800" cy="128016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0876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Segoe UI"/>
              </a:defRPr>
            </a:pPr>
            <a:r>
              <a:t>⚠️  Microsoft has announced the retirement of SharePoint Add-ins for SharePoint Online.</a:t>
            </a:r>
            <a:br/>
            <a:r>
              <a:t>The SPFx is the primary replacement technology. Add-ins should be treated as legacy.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00"/>
                </a:solidFill>
                <a:latin typeface="Segoe UI"/>
              </a:defRPr>
            </a:pPr>
            <a:r>
              <a:t>What This Means for Admins: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Segoe UI"/>
              </a:defRPr>
            </a:pPr>
            <a:r>
              <a:t>→ New customization projects → SPFx or declarative (JSON)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Segoe UI"/>
              </a:defRPr>
            </a:pPr>
            <a:r>
              <a:t>→ Existing add-ins → plan migration timeline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Segoe UI"/>
              </a:defRPr>
            </a:pPr>
            <a:r>
              <a:t>→ App catalog supports both .sppkg (SPFx) and .app (legacy) — for now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Segoe UI"/>
              </a:defRPr>
            </a:pPr>
            <a:r>
              <a:t>→ Training focus: SPFx + declarative customization going forward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Segoe UI"/>
              </a:defRPr>
            </a:pPr>
            <a:r>
              <a:t>→ Add-in model retirement does NOT affect SPFx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834640"/>
            <a:ext cx="1097280" cy="54864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0632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  <a:latin typeface="Segoe UI"/>
              </a:defRPr>
            </a:pPr>
            <a:r>
              <a:t>API Access &amp; Permissions Governance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Module 7 | Apps and Customization in SharePoint Online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502920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Segoe UI"/>
              </a:defRPr>
            </a:pPr>
            <a:r>
              <a:t>API Access: Why It Exists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Module 7 | Apps and Customization in SharePoint Online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Segoe UI"/>
              </a:defRPr>
            </a:pPr>
            <a:r>
              <a:t>SPFx solutions and custom scripts can request permissions to</a:t>
            </a:r>
            <a:br/>
            <a:r>
              <a:t>Microsoft Entra ID-secured APIs. Admins manage these via API access.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200400"/>
            <a:ext cx="2011680" cy="1280160"/>
          </a:xfrm>
          <a:prstGeom prst="round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SPFx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34747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Segoe UI"/>
              </a:defRPr>
            </a:pPr>
            <a:r>
              <a:t>requests</a:t>
            </a:r>
            <a:br/>
            <a:r>
              <a:t>permission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31920" y="3200400"/>
            <a:ext cx="2011680" cy="1280160"/>
          </a:xfrm>
          <a:prstGeom prst="round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API Access</a:t>
            </a:r>
            <a:br/>
            <a:r>
              <a:t>(Admin Center)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4747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Segoe UI"/>
              </a:defRPr>
            </a:pPr>
            <a:r>
              <a:t>approves via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200400"/>
            <a:ext cx="2286000" cy="128016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Microsoft</a:t>
            </a:r>
            <a:br/>
            <a:r>
              <a:t>Entra 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029200"/>
            <a:ext cx="10972800" cy="914400"/>
          </a:xfrm>
          <a:prstGeom prst="roundRect">
            <a:avLst/>
          </a:prstGeom>
          <a:solidFill>
            <a:srgbClr val="E0F7F1"/>
          </a:solidFill>
          <a:ln w="12700">
            <a:solidFill>
              <a:srgbClr val="00B2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12064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Segoe UI"/>
              </a:defRPr>
            </a:pPr>
            <a:r>
              <a:t>🔐  API access is a governance &amp; security surface — not a routine click-through.</a:t>
            </a:r>
            <a:br/>
            <a:r>
              <a:t>Every approval grants the solution access to APIs on behalf of all tenant users.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502920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Segoe UI"/>
              </a:defRPr>
            </a:pPr>
            <a:r>
              <a:t>API Access: Roles and Approvals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Module 7 | Apps and Customization in SharePoint Online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3474720" cy="548640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9903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API Scope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371600"/>
            <a:ext cx="3474720" cy="548640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39903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Required Role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0" y="1371600"/>
            <a:ext cx="4114800" cy="548640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1399032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Notes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965960"/>
            <a:ext cx="3474720" cy="77724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05740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Third-party APIs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1965960"/>
            <a:ext cx="3474720" cy="77724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205740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Application Administrator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1965960"/>
            <a:ext cx="4114800" cy="77724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2057400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Sufficient for most external APIs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788920"/>
            <a:ext cx="34747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88036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Microsoft Graph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2788920"/>
            <a:ext cx="34747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43400" y="288036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Global Administrator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63840" y="278892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1000" y="2880360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Highest privilege required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611880"/>
            <a:ext cx="3474720" cy="77724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70332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Other Microsoft APIs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40" y="3611880"/>
            <a:ext cx="3474720" cy="77724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43400" y="370332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Global Administrator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63840" y="3611880"/>
            <a:ext cx="4114800" cy="77724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1000" y="3703320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e.g., Outlook, Teams APIs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434840"/>
            <a:ext cx="34747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52628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Custom line-of-business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06240" y="4434840"/>
            <a:ext cx="34747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43400" y="452628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Application Administrator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863840" y="443484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01000" y="4526280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Your org's own APIs via Entra ID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303520"/>
            <a:ext cx="10972800" cy="73152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539496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Segoe UI"/>
              </a:defRPr>
            </a:pPr>
            <a:r>
              <a:t>⚠️  Approvals affect the entire tenant. Review each request carefully before approving.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5029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Segoe UI"/>
              </a:defRPr>
            </a:pPr>
            <a:r>
              <a:t>Governance: Scope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Module 7 | Apps and Customization in SharePoint Online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  <a:latin typeface="Segoe UI"/>
              </a:defRPr>
            </a:pPr>
            <a:r>
              <a:t>"Don't surprise the tenant" — the #1 rule for app deployment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5303520" cy="36576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5303520" cy="64008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2860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7C10"/>
                </a:solidFill>
                <a:latin typeface="Segoe UI"/>
              </a:defRPr>
            </a:pPr>
            <a:r>
              <a:t>Site-Scoped Deployment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Segoe UI"/>
              </a:defRPr>
            </a:pPr>
            <a:r>
              <a:t>• Solution available in one site only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Segoe UI"/>
              </a:defRPr>
            </a:pPr>
            <a:r>
              <a:t>• Lower risk, easier to roll back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Segoe UI"/>
              </a:defRPr>
            </a:pPr>
            <a:r>
              <a:t>• Good for testing and pilots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Segoe UI"/>
              </a:defRPr>
            </a:pPr>
            <a:r>
              <a:t>• Site collection admin can manage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2103120"/>
            <a:ext cx="5303520" cy="36576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13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59" y="2103120"/>
            <a:ext cx="5303520" cy="64008"/>
          </a:xfrm>
          <a:prstGeom prst="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79" y="22860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13438"/>
                </a:solidFill>
                <a:latin typeface="Segoe UI"/>
              </a:defRPr>
            </a:pPr>
            <a:r>
              <a:t>Tenant-Wide Deployment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79" y="2926080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Segoe UI"/>
              </a:defRPr>
            </a:pPr>
            <a:r>
              <a:t>• Solution available everywhere immediately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Segoe UI"/>
              </a:defRPr>
            </a:pPr>
            <a:r>
              <a:t>• Higher risk — affects all users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Segoe UI"/>
              </a:defRPr>
            </a:pPr>
            <a:r>
              <a:t>• Requires SharePoint admin approval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Segoe UI"/>
              </a:defRPr>
            </a:pPr>
            <a:r>
              <a:t>• Cannot be 'un-deployed' per site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834640"/>
            <a:ext cx="109728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0632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  <a:latin typeface="Segoe UI"/>
              </a:defRPr>
            </a:pPr>
            <a:r>
              <a:t>Lab 7: Apps and Customization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Module 7 | Apps and Customization in SharePoint Online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5029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Segoe UI"/>
              </a:defRPr>
            </a:pPr>
            <a:r>
              <a:t>Lab 7: Hands-On Exercises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Module 7 | Apps and Customization in SharePoint Online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1097280" cy="45720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Task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2801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33333"/>
                </a:solidFill>
                <a:latin typeface="Segoe UI"/>
              </a:defRPr>
            </a:pPr>
            <a:r>
              <a:t>Create list NW-Pxx-AppRequests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Build a list to track app/customization requests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286000"/>
            <a:ext cx="1097280" cy="45720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Task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2860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33333"/>
                </a:solidFill>
                <a:latin typeface="Segoe UI"/>
              </a:defRPr>
            </a:pPr>
            <a:r>
              <a:t>Apply column formatting (Status)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286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Use conditional formatting to color-code the Status field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91840"/>
            <a:ext cx="1097280" cy="45720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Task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32918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33333"/>
                </a:solidFill>
                <a:latin typeface="Segoe UI"/>
              </a:defRPr>
            </a:pPr>
            <a:r>
              <a:t>Apply view formatting (row shading)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2918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Add alternating row colors for improved readability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97680"/>
            <a:ext cx="1097280" cy="45720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Task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4297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33333"/>
                </a:solidFill>
                <a:latin typeface="Segoe UI"/>
              </a:defRPr>
            </a:pPr>
            <a:r>
              <a:t>Trainer-led tour: Apps page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297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Explore More features → Apps in SharePoint admin center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303520"/>
            <a:ext cx="1097280" cy="45720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Task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53035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33333"/>
                </a:solidFill>
                <a:latin typeface="Segoe UI"/>
              </a:defRPr>
            </a:pPr>
            <a:r>
              <a:t>Trainer-led tour: API access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5303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Review the API access page and pending requests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0" y="5669280"/>
            <a:ext cx="3657600" cy="54864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79" y="57150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⏱️  Estimated time: 30–40 min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50292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Segoe UI"/>
              </a:defRPr>
            </a:pPr>
            <a:r>
              <a:t>Lab 7: Validation Checklist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Module 7 | Apps and Customization in SharePoint Online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411480" cy="41148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Segoe UI"/>
              </a:defRPr>
            </a:pPr>
            <a:r>
              <a:t>NW-Pxx-AppRequests list created with Title, Status, RequestedBy, Description columns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31720"/>
            <a:ext cx="411480" cy="41148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331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Segoe UI"/>
              </a:defRPr>
            </a:pPr>
            <a:r>
              <a:t>Column formatting applied — Status shows colored badges (green/red/yellow)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91840"/>
            <a:ext cx="411480" cy="41148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Segoe UI"/>
              </a:defRPr>
            </a:pPr>
            <a:r>
              <a:t>View formatting applied — alternating row colors visible in All Items 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51960"/>
            <a:ext cx="411480" cy="41148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251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Segoe UI"/>
              </a:defRPr>
            </a:pPr>
            <a:r>
              <a:t>Trainer demo: Apps page shown in SharePoint admin center → More features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212080"/>
            <a:ext cx="411480" cy="41148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212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Segoe UI"/>
              </a:defRPr>
            </a:pPr>
            <a:r>
              <a:t>Trainer demo: API access page reviewed — participants can explain its purpose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502920"/>
          </a:xfrm>
          <a:prstGeom prst="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Segoe UI"/>
              </a:defRPr>
            </a:pPr>
            <a:r>
              <a:t>Common Issues &amp; Troubleshooting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Module 7 | Apps and Customization in SharePoint Online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10972800" cy="10972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13438"/>
                </a:solidFill>
                <a:latin typeface="Segoe UI"/>
              </a:defRPr>
            </a:pPr>
            <a:r>
              <a:t>JSON syntax error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74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Preview shows error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463040"/>
            <a:ext cx="7132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Check for missing commas, brackets;</a:t>
            </a:r>
            <a:br/>
            <a:r>
              <a:t>use a JSON validator or VS Code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606040"/>
            <a:ext cx="109728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97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13438"/>
                </a:solidFill>
                <a:latin typeface="Segoe UI"/>
              </a:defRPr>
            </a:pPr>
            <a:r>
              <a:t>Formatting not appearing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108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Column looks normal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697480"/>
            <a:ext cx="7132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Verify you saved; check you're</a:t>
            </a:r>
            <a:br/>
            <a:r>
              <a:t>viewing the correct 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840480"/>
            <a:ext cx="10972800" cy="10972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931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13438"/>
                </a:solidFill>
                <a:latin typeface="Segoe UI"/>
              </a:defRPr>
            </a:pPr>
            <a:r>
              <a:t>Apps page not visible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343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Admin center navigation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3931920"/>
            <a:ext cx="7132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Go to More features → Apps;</a:t>
            </a:r>
            <a:br/>
            <a:r>
              <a:t>requires SharePoint admin role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074920"/>
            <a:ext cx="109728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166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13438"/>
                </a:solidFill>
                <a:latin typeface="Segoe UI"/>
              </a:defRPr>
            </a:pPr>
            <a:r>
              <a:t>API access empty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577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No pending requests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5166360"/>
            <a:ext cx="7132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Normal if no solutions have</a:t>
            </a:r>
            <a:br/>
            <a:r>
              <a:t>requested API permissions yet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5029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Segoe UI"/>
              </a:defRPr>
            </a:pPr>
            <a: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Module 7 | Apps and Customization in SharePoint Online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73152" cy="3200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28016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Segoe UI"/>
              </a:defRPr>
            </a:pPr>
            <a:r>
              <a:t>Prefer OOB first → then JSON formatting → then SPFx (customization spectrum)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48840"/>
            <a:ext cx="73152" cy="3200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0116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Segoe UI"/>
              </a:defRPr>
            </a:pPr>
            <a:r>
              <a:t>JSON formatting changes rendering only — never modifies list 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880360"/>
            <a:ext cx="73152" cy="3200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74320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Segoe UI"/>
              </a:defRPr>
            </a:pPr>
            <a:r>
              <a:t>Column formatting = single field; View formatting = rows/cards/boards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611880"/>
            <a:ext cx="73152" cy="3200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47472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Segoe UI"/>
              </a:defRPr>
            </a:pPr>
            <a:r>
              <a:t>SPFx solutions are .sppkg files deployed via the App Catalog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343400"/>
            <a:ext cx="73152" cy="3200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2062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Segoe UI"/>
              </a:defRPr>
            </a:pPr>
            <a:r>
              <a:t>Tenant-wide deployment needs careful governance — don't surprise the tenant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074920"/>
            <a:ext cx="73152" cy="3200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93776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Segoe UI"/>
              </a:defRPr>
            </a:pPr>
            <a:r>
              <a:t>API access approvals are tenant-wide and require appropriate admin roles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806440"/>
            <a:ext cx="73152" cy="3200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6692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Segoe UI"/>
              </a:defRPr>
            </a:pPr>
            <a:r>
              <a:t>SharePoint Add-ins are being retired — focus on SPFx + declarative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" cy="5029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Segoe UI"/>
              </a:defRPr>
            </a:pPr>
            <a:r>
              <a:t>Knowledge Check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Module 7 | Apps and Customization in SharePoint Online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640080" cy="50292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32588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Segoe UI"/>
              </a:defRPr>
            </a:pPr>
            <a:r>
              <a:t>What are the three tiers of the customization spectrum?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640080" cy="502920"/>
          </a:xfrm>
          <a:prstGeom prst="round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Q2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33172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Segoe UI"/>
              </a:defRPr>
            </a:pPr>
            <a:r>
              <a:t>Does column formatting change the underlying list data? Why or why not?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91840"/>
            <a:ext cx="640080" cy="502920"/>
          </a:xfrm>
          <a:prstGeom prst="round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Q3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33756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Segoe UI"/>
              </a:defRPr>
            </a:pPr>
            <a:r>
              <a:t>What file format is used to deploy SPFx solutions to the App Catalog?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97680"/>
            <a:ext cx="640080" cy="50292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Q4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34340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Segoe UI"/>
              </a:defRPr>
            </a:pPr>
            <a:r>
              <a:t>What admin role is needed to approve Microsoft Graph API access requests?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303520"/>
            <a:ext cx="640080" cy="50292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Q5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53492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Segoe UI"/>
              </a:defRPr>
            </a:pPr>
            <a:r>
              <a:t>Why is tenant-wide deployment considered higher risk than site-scoped?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834640"/>
            <a:ext cx="1097280" cy="54864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B294"/>
                </a:solidFill>
                <a:latin typeface="Segoe UI"/>
              </a:defRPr>
            </a:pPr>
            <a:r>
              <a:t>End of 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632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Apps and Customization</a:t>
            </a:r>
            <a:br/>
            <a:r>
              <a:t>in SharePoint Online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  <a:latin typeface="Segoe UI"/>
              </a:defRPr>
            </a:pPr>
            <a:r>
              <a:t>Up Next  →  Module 8: Compliance and Governance with Microsoft Purview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8C00"/>
                </a:solidFill>
                <a:latin typeface="Segoe UI"/>
              </a:defRPr>
            </a:pPr>
            <a:r>
              <a:t>🎉  Day 2 Complete!  Take a well-deserved break.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Module 7 | Apps and Customization in SharePoint Online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