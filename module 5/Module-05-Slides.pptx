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1146" y="29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2487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Module 5 — Managing Metadata and the Term Store. Metadata is the backbone of information architecture in SharePoint. In this module we learn why consistent tagging beats folders, how the term store works, and how to apply managed metadata to libraries.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Metadata answers the question 'What is this document about?' without relying on the file name or folder path. Consistent metadata drives better search refiners, reliable views, and enforceable governance policies. Use the Northwind contracts example to make this concrete.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clear expectations: by the end of this module learners can explain IA principles, navigate the term store, and apply managed metadata columns.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before diving into the term store, let's understand *why* information architecture matters.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Users don't search for 'the correct file name' — they search for concepts: contract type, department, customer, status. Good IA makes content findable by concept rather than by tribal knowledge of folder paths.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now let's compare the two main metadata approaches.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Site columns are great for simple, stable lists. Managed metadata columns are ideal when you need organization-wide controlled vocabulary, synonyms, hierarchy, and re-use across many site collections. Key decision: do you need governance and hierarchy? Choose managed metadata.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official Microsoft terms. Make sure learners can distinguish taxonomy vs folksonomy, managed terms vs enterprise keywords, open vs closed term sets.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 Microsoft docs: consistent metadata improves search, navigation, content discoverability, and enables metadata-driven navigation in lists and libraries.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now let's look at the heart of managed metadata — the Term Store.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term store has a 3-level hierarchy: Term Group → Term Set → Terms. Groups provide security boundaries (who can manage what). Term sets can be global (tenant-wide) or local (site-scoped). Terms can have synonyms, translations, and custom properties.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the scope difference: global term sets are tenant-wide, local term sets are scoped to a site. In our shared training tenant we prefer global term sets within participant-specific groups, but fall back to local if needed.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roles in the term store: Term Store Admin has full control, Group Manager can manage term sets within their group and assign contributors, Contributor can create/edit terms and term sets. Important: Owner/Contact/Stakeholders labels are informational only — they don't grant permissions.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admin center steps for assigning each role. All roles are managed from SharePoint admin center → Content services → Term store.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just admins — regular site members interact with metadata too. They can tag items, add enterprise keywords, use metadata navigation, and even create local term sets if they're site owners.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now let's put theory into practice — creating and applying metadata.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Step-by-step guide to creating a term group. Must be a Term Store Admin to do this. If restricted in a shared tenant, participants fall back to local term sets.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After the group exists, create a term set and populate it with terms. Demonstrate open vs closed submission policy and the tagging toggle.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bridge between term store and library: the Managed Metadata column. When users add or edit documents, they pick from the type-ahead term picker.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in our shared training tenant, we need to be extra careful.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a shared training tenant, every participant touches the same term store. Following these rules prevents cross-impact between participants.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Northwind scenario ties everything together: participants create a taxonomy for contract types and apply it to the contracts library created in Module 4.</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now for the hands-on lab and what to validate afterward.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Preview of Lab 5: participants will create a term group, term set, add terms, then add a managed metadata column to the contracts library and tag documents. Reinforces the library created in Module 4.</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Common issues and how to resolve them. These are the top 5 things that trip up learners during the lab.</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the module: IA principles, term store hierarchy, delegated roles, and practical application of managed metadata columns.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questions to check understanding. Encourage discussion rather than quick answers.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5 complete. Next up: Module 6 — Configuring the Search Experience.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
            <a:ext cx="12191695"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097280"/>
            <a:ext cx="10058400" cy="457200"/>
          </a:xfrm>
          <a:prstGeom prst="rect">
            <a:avLst/>
          </a:prstGeom>
          <a:noFill/>
        </p:spPr>
        <p:txBody>
          <a:bodyPr wrap="square">
            <a:spAutoFit/>
          </a:bodyPr>
          <a:lstStyle/>
          <a:p>
            <a:pPr algn="ctr">
              <a:defRPr sz="1400" b="1">
                <a:solidFill>
                  <a:srgbClr val="00B294"/>
                </a:solidFill>
                <a:latin typeface="Segoe UI"/>
              </a:defRPr>
            </a:pPr>
            <a:r>
              <a:t>MODERN SHAREPOINT ONLINE FOR ADMINISTRATORS  ·  DAY 2</a:t>
            </a:r>
          </a:p>
        </p:txBody>
      </p:sp>
      <p:sp>
        <p:nvSpPr>
          <p:cNvPr id="5" name="TextBox 4"/>
          <p:cNvSpPr txBox="1"/>
          <p:nvPr/>
        </p:nvSpPr>
        <p:spPr>
          <a:xfrm>
            <a:off x="914400" y="2103120"/>
            <a:ext cx="10058400" cy="1371600"/>
          </a:xfrm>
          <a:prstGeom prst="rect">
            <a:avLst/>
          </a:prstGeom>
          <a:noFill/>
        </p:spPr>
        <p:txBody>
          <a:bodyPr wrap="square">
            <a:spAutoFit/>
          </a:bodyPr>
          <a:lstStyle/>
          <a:p>
            <a:pPr algn="ctr">
              <a:defRPr sz="6000" b="1">
                <a:solidFill>
                  <a:srgbClr val="FFFFFF"/>
                </a:solidFill>
                <a:latin typeface="Segoe UI"/>
              </a:defRPr>
            </a:pPr>
            <a:r>
              <a:t>Module 5</a:t>
            </a:r>
          </a:p>
        </p:txBody>
      </p:sp>
      <p:sp>
        <p:nvSpPr>
          <p:cNvPr id="6" name="TextBox 5"/>
          <p:cNvSpPr txBox="1"/>
          <p:nvPr/>
        </p:nvSpPr>
        <p:spPr>
          <a:xfrm>
            <a:off x="914400" y="3474720"/>
            <a:ext cx="10058400" cy="914400"/>
          </a:xfrm>
          <a:prstGeom prst="rect">
            <a:avLst/>
          </a:prstGeom>
          <a:noFill/>
        </p:spPr>
        <p:txBody>
          <a:bodyPr wrap="square">
            <a:spAutoFit/>
          </a:bodyPr>
          <a:lstStyle/>
          <a:p>
            <a:pPr algn="ctr">
              <a:defRPr sz="3200" b="0">
                <a:solidFill>
                  <a:srgbClr val="00B294"/>
                </a:solidFill>
                <a:latin typeface="Segoe UI"/>
              </a:defRPr>
            </a:pPr>
            <a:r>
              <a:t>Managing Metadata and the Term Store</a:t>
            </a:r>
          </a:p>
        </p:txBody>
      </p:sp>
      <p:sp>
        <p:nvSpPr>
          <p:cNvPr id="7" name="TextBox 6"/>
          <p:cNvSpPr txBox="1"/>
          <p:nvPr/>
        </p:nvSpPr>
        <p:spPr>
          <a:xfrm>
            <a:off x="1828800" y="4754880"/>
            <a:ext cx="8229600" cy="548640"/>
          </a:xfrm>
          <a:prstGeom prst="rect">
            <a:avLst/>
          </a:prstGeom>
          <a:noFill/>
        </p:spPr>
        <p:txBody>
          <a:bodyPr wrap="square">
            <a:spAutoFit/>
          </a:bodyPr>
          <a:lstStyle/>
          <a:p>
            <a:pPr algn="ctr">
              <a:defRPr sz="1600" b="0">
                <a:solidFill>
                  <a:srgbClr val="AAAAAA"/>
                </a:solidFill>
                <a:latin typeface="Segoe UI"/>
              </a:defRPr>
            </a:pPr>
            <a:r>
              <a:t>Classify consistently  ·  Govern centrally  ·  Find anything fast</a:t>
            </a:r>
          </a:p>
        </p:txBody>
      </p:sp>
      <p:sp>
        <p:nvSpPr>
          <p:cNvPr id="8" name="Rectangle 7"/>
          <p:cNvSpPr/>
          <p:nvPr/>
        </p:nvSpPr>
        <p:spPr>
          <a:xfrm>
            <a:off x="5029200" y="5577840"/>
            <a:ext cx="2103120" cy="36576"/>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1B1B2F"/>
                </a:solidFill>
                <a:latin typeface="Segoe UI"/>
              </a:defRPr>
            </a:pPr>
            <a:r>
              <a:t>Why Metadata Matters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Move beyond folders — let documents describe themselves</a:t>
            </a:r>
          </a:p>
        </p:txBody>
      </p:sp>
      <p:sp>
        <p:nvSpPr>
          <p:cNvPr id="5" name="Rounded Rectangle 4"/>
          <p:cNvSpPr/>
          <p:nvPr/>
        </p:nvSpPr>
        <p:spPr>
          <a:xfrm>
            <a:off x="73152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7" name="TextBox 6"/>
          <p:cNvSpPr txBox="1"/>
          <p:nvPr/>
        </p:nvSpPr>
        <p:spPr>
          <a:xfrm>
            <a:off x="1005840" y="2468880"/>
            <a:ext cx="2011680" cy="523220"/>
          </a:xfrm>
          <a:prstGeom prst="rect">
            <a:avLst/>
          </a:prstGeom>
          <a:noFill/>
        </p:spPr>
        <p:txBody>
          <a:bodyPr wrap="square">
            <a:spAutoFit/>
          </a:bodyPr>
          <a:lstStyle/>
          <a:p>
            <a:pPr algn="ctr">
              <a:defRPr sz="4400" b="1">
                <a:solidFill>
                  <a:srgbClr val="0078D4"/>
                </a:solidFill>
                <a:latin typeface="Segoe UI"/>
              </a:defRPr>
            </a:pPr>
            <a:r>
              <a:rPr sz="2800" dirty="0"/>
              <a:t>Consistent</a:t>
            </a:r>
          </a:p>
        </p:txBody>
      </p:sp>
      <p:sp>
        <p:nvSpPr>
          <p:cNvPr id="8" name="TextBox 7"/>
          <p:cNvSpPr txBox="1"/>
          <p:nvPr/>
        </p:nvSpPr>
        <p:spPr>
          <a:xfrm>
            <a:off x="1005840" y="3200400"/>
            <a:ext cx="2011680" cy="457200"/>
          </a:xfrm>
          <a:prstGeom prst="rect">
            <a:avLst/>
          </a:prstGeom>
          <a:noFill/>
        </p:spPr>
        <p:txBody>
          <a:bodyPr wrap="square">
            <a:spAutoFit/>
          </a:bodyPr>
          <a:lstStyle/>
          <a:p>
            <a:pPr algn="ctr">
              <a:defRPr sz="1600" b="1">
                <a:solidFill>
                  <a:srgbClr val="242424"/>
                </a:solidFill>
                <a:latin typeface="Segoe UI"/>
              </a:defRPr>
            </a:pPr>
            <a:r>
              <a:t>Classification</a:t>
            </a:r>
          </a:p>
        </p:txBody>
      </p:sp>
      <p:sp>
        <p:nvSpPr>
          <p:cNvPr id="9" name="Rectangle 8"/>
          <p:cNvSpPr/>
          <p:nvPr/>
        </p:nvSpPr>
        <p:spPr>
          <a:xfrm>
            <a:off x="1280160" y="3749039"/>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931920"/>
            <a:ext cx="2194560" cy="914400"/>
          </a:xfrm>
          <a:prstGeom prst="rect">
            <a:avLst/>
          </a:prstGeom>
          <a:noFill/>
        </p:spPr>
        <p:txBody>
          <a:bodyPr wrap="square">
            <a:spAutoFit/>
          </a:bodyPr>
          <a:lstStyle/>
          <a:p>
            <a:pPr algn="ctr">
              <a:defRPr sz="1200" b="0">
                <a:solidFill>
                  <a:srgbClr val="606060"/>
                </a:solidFill>
                <a:latin typeface="Segoe UI"/>
              </a:defRPr>
            </a:pPr>
            <a:r>
              <a:t>Same terms used across</a:t>
            </a:r>
            <a:br/>
            <a:r>
              <a:t>sites, libraries, and teams</a:t>
            </a:r>
          </a:p>
        </p:txBody>
      </p:sp>
      <p:sp>
        <p:nvSpPr>
          <p:cNvPr id="11" name="Rounded Rectangle 10"/>
          <p:cNvSpPr/>
          <p:nvPr/>
        </p:nvSpPr>
        <p:spPr>
          <a:xfrm>
            <a:off x="356616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13" name="TextBox 12"/>
          <p:cNvSpPr txBox="1"/>
          <p:nvPr/>
        </p:nvSpPr>
        <p:spPr>
          <a:xfrm>
            <a:off x="3840480" y="2468880"/>
            <a:ext cx="2011680" cy="523220"/>
          </a:xfrm>
          <a:prstGeom prst="rect">
            <a:avLst/>
          </a:prstGeom>
          <a:noFill/>
        </p:spPr>
        <p:txBody>
          <a:bodyPr wrap="square">
            <a:spAutoFit/>
          </a:bodyPr>
          <a:lstStyle/>
          <a:p>
            <a:pPr algn="ctr">
              <a:defRPr sz="4400" b="1">
                <a:solidFill>
                  <a:srgbClr val="0078D4"/>
                </a:solidFill>
                <a:latin typeface="Segoe UI"/>
              </a:defRPr>
            </a:pPr>
            <a:r>
              <a:rPr sz="2800" dirty="0"/>
              <a:t>Better</a:t>
            </a:r>
          </a:p>
        </p:txBody>
      </p:sp>
      <p:sp>
        <p:nvSpPr>
          <p:cNvPr id="14" name="TextBox 13"/>
          <p:cNvSpPr txBox="1"/>
          <p:nvPr/>
        </p:nvSpPr>
        <p:spPr>
          <a:xfrm>
            <a:off x="3840480" y="3200400"/>
            <a:ext cx="2011680" cy="457200"/>
          </a:xfrm>
          <a:prstGeom prst="rect">
            <a:avLst/>
          </a:prstGeom>
          <a:noFill/>
        </p:spPr>
        <p:txBody>
          <a:bodyPr wrap="square">
            <a:spAutoFit/>
          </a:bodyPr>
          <a:lstStyle/>
          <a:p>
            <a:pPr algn="ctr">
              <a:defRPr sz="1600" b="1">
                <a:solidFill>
                  <a:srgbClr val="242424"/>
                </a:solidFill>
                <a:latin typeface="Segoe UI"/>
              </a:defRPr>
            </a:pPr>
            <a:r>
              <a:t>Search Refiners</a:t>
            </a:r>
          </a:p>
        </p:txBody>
      </p:sp>
      <p:sp>
        <p:nvSpPr>
          <p:cNvPr id="15" name="Rectangle 14"/>
          <p:cNvSpPr/>
          <p:nvPr/>
        </p:nvSpPr>
        <p:spPr>
          <a:xfrm>
            <a:off x="4114800" y="3749039"/>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49040" y="3931920"/>
            <a:ext cx="2194560" cy="914400"/>
          </a:xfrm>
          <a:prstGeom prst="rect">
            <a:avLst/>
          </a:prstGeom>
          <a:noFill/>
        </p:spPr>
        <p:txBody>
          <a:bodyPr wrap="square">
            <a:spAutoFit/>
          </a:bodyPr>
          <a:lstStyle/>
          <a:p>
            <a:pPr algn="ctr">
              <a:defRPr sz="1200" b="0">
                <a:solidFill>
                  <a:srgbClr val="606060"/>
                </a:solidFill>
                <a:latin typeface="Segoe UI"/>
              </a:defRPr>
            </a:pPr>
            <a:r>
              <a:t>Metadata powers the</a:t>
            </a:r>
            <a:br/>
            <a:r>
              <a:t>refinement panel in search</a:t>
            </a:r>
          </a:p>
        </p:txBody>
      </p:sp>
      <p:sp>
        <p:nvSpPr>
          <p:cNvPr id="17" name="Rounded Rectangle 16"/>
          <p:cNvSpPr/>
          <p:nvPr/>
        </p:nvSpPr>
        <p:spPr>
          <a:xfrm>
            <a:off x="640080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19" name="TextBox 18"/>
          <p:cNvSpPr txBox="1"/>
          <p:nvPr/>
        </p:nvSpPr>
        <p:spPr>
          <a:xfrm>
            <a:off x="6675120" y="2468880"/>
            <a:ext cx="2011680" cy="523220"/>
          </a:xfrm>
          <a:prstGeom prst="rect">
            <a:avLst/>
          </a:prstGeom>
          <a:noFill/>
        </p:spPr>
        <p:txBody>
          <a:bodyPr wrap="square">
            <a:spAutoFit/>
          </a:bodyPr>
          <a:lstStyle/>
          <a:p>
            <a:pPr algn="ctr">
              <a:defRPr sz="4400" b="1">
                <a:solidFill>
                  <a:srgbClr val="0078D4"/>
                </a:solidFill>
                <a:latin typeface="Segoe UI"/>
              </a:defRPr>
            </a:pPr>
            <a:r>
              <a:rPr sz="2800" dirty="0"/>
              <a:t>Reliable</a:t>
            </a:r>
          </a:p>
        </p:txBody>
      </p:sp>
      <p:sp>
        <p:nvSpPr>
          <p:cNvPr id="20" name="TextBox 19"/>
          <p:cNvSpPr txBox="1"/>
          <p:nvPr/>
        </p:nvSpPr>
        <p:spPr>
          <a:xfrm>
            <a:off x="6675120" y="3200400"/>
            <a:ext cx="2011680" cy="457200"/>
          </a:xfrm>
          <a:prstGeom prst="rect">
            <a:avLst/>
          </a:prstGeom>
          <a:noFill/>
        </p:spPr>
        <p:txBody>
          <a:bodyPr wrap="square">
            <a:spAutoFit/>
          </a:bodyPr>
          <a:lstStyle/>
          <a:p>
            <a:pPr algn="ctr">
              <a:defRPr sz="1600" b="1">
                <a:solidFill>
                  <a:srgbClr val="242424"/>
                </a:solidFill>
                <a:latin typeface="Segoe UI"/>
              </a:defRPr>
            </a:pPr>
            <a:r>
              <a:t>Views &amp; Filters</a:t>
            </a:r>
          </a:p>
        </p:txBody>
      </p:sp>
      <p:sp>
        <p:nvSpPr>
          <p:cNvPr id="21" name="Rectangle 20"/>
          <p:cNvSpPr/>
          <p:nvPr/>
        </p:nvSpPr>
        <p:spPr>
          <a:xfrm>
            <a:off x="6949440" y="3749039"/>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3931920"/>
            <a:ext cx="2194560" cy="914400"/>
          </a:xfrm>
          <a:prstGeom prst="rect">
            <a:avLst/>
          </a:prstGeom>
          <a:noFill/>
        </p:spPr>
        <p:txBody>
          <a:bodyPr wrap="square">
            <a:spAutoFit/>
          </a:bodyPr>
          <a:lstStyle/>
          <a:p>
            <a:pPr algn="ctr">
              <a:defRPr sz="1200" b="0">
                <a:solidFill>
                  <a:srgbClr val="606060"/>
                </a:solidFill>
                <a:latin typeface="Segoe UI"/>
              </a:defRPr>
            </a:pPr>
            <a:r>
              <a:t>Group, sort, and filter</a:t>
            </a:r>
            <a:br/>
            <a:r>
              <a:t>by metadata columns</a:t>
            </a:r>
          </a:p>
        </p:txBody>
      </p:sp>
      <p:sp>
        <p:nvSpPr>
          <p:cNvPr id="23" name="Rounded Rectangle 22"/>
          <p:cNvSpPr/>
          <p:nvPr/>
        </p:nvSpPr>
        <p:spPr>
          <a:xfrm>
            <a:off x="923544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0976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25" name="TextBox 24"/>
          <p:cNvSpPr txBox="1"/>
          <p:nvPr/>
        </p:nvSpPr>
        <p:spPr>
          <a:xfrm>
            <a:off x="9509760" y="2468880"/>
            <a:ext cx="2011680" cy="523220"/>
          </a:xfrm>
          <a:prstGeom prst="rect">
            <a:avLst/>
          </a:prstGeom>
          <a:noFill/>
        </p:spPr>
        <p:txBody>
          <a:bodyPr wrap="square">
            <a:spAutoFit/>
          </a:bodyPr>
          <a:lstStyle/>
          <a:p>
            <a:pPr algn="ctr">
              <a:defRPr sz="4400" b="1">
                <a:solidFill>
                  <a:srgbClr val="0078D4"/>
                </a:solidFill>
                <a:latin typeface="Segoe UI"/>
              </a:defRPr>
            </a:pPr>
            <a:r>
              <a:rPr sz="2800" dirty="0"/>
              <a:t>Stronger</a:t>
            </a:r>
          </a:p>
        </p:txBody>
      </p:sp>
      <p:sp>
        <p:nvSpPr>
          <p:cNvPr id="26" name="TextBox 25"/>
          <p:cNvSpPr txBox="1"/>
          <p:nvPr/>
        </p:nvSpPr>
        <p:spPr>
          <a:xfrm>
            <a:off x="9509760" y="3200400"/>
            <a:ext cx="2011680" cy="457200"/>
          </a:xfrm>
          <a:prstGeom prst="rect">
            <a:avLst/>
          </a:prstGeom>
          <a:noFill/>
        </p:spPr>
        <p:txBody>
          <a:bodyPr wrap="square">
            <a:spAutoFit/>
          </a:bodyPr>
          <a:lstStyle/>
          <a:p>
            <a:pPr algn="ctr">
              <a:defRPr sz="1600" b="1">
                <a:solidFill>
                  <a:srgbClr val="242424"/>
                </a:solidFill>
                <a:latin typeface="Segoe UI"/>
              </a:defRPr>
            </a:pPr>
            <a:r>
              <a:t>Governance</a:t>
            </a:r>
          </a:p>
        </p:txBody>
      </p:sp>
      <p:sp>
        <p:nvSpPr>
          <p:cNvPr id="27" name="Rectangle 26"/>
          <p:cNvSpPr/>
          <p:nvPr/>
        </p:nvSpPr>
        <p:spPr>
          <a:xfrm>
            <a:off x="9784080" y="3749039"/>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418320" y="3931920"/>
            <a:ext cx="2194560" cy="914400"/>
          </a:xfrm>
          <a:prstGeom prst="rect">
            <a:avLst/>
          </a:prstGeom>
          <a:noFill/>
        </p:spPr>
        <p:txBody>
          <a:bodyPr wrap="square">
            <a:spAutoFit/>
          </a:bodyPr>
          <a:lstStyle/>
          <a:p>
            <a:pPr algn="ctr">
              <a:defRPr sz="1200" b="0">
                <a:solidFill>
                  <a:srgbClr val="606060"/>
                </a:solidFill>
                <a:latin typeface="Segoe UI"/>
              </a:defRPr>
            </a:pPr>
            <a:r>
              <a:t>Enforce retention, DLP,</a:t>
            </a:r>
            <a:br/>
            <a:r>
              <a:t>and compliance via tags</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 / 28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Learning Outcomes</a:t>
            </a:r>
          </a:p>
        </p:txBody>
      </p:sp>
      <p:sp>
        <p:nvSpPr>
          <p:cNvPr id="4" name="Rounded Rectangle 3"/>
          <p:cNvSpPr/>
          <p:nvPr/>
        </p:nvSpPr>
        <p:spPr>
          <a:xfrm>
            <a:off x="731520" y="146304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2000" b="1">
                <a:solidFill>
                  <a:srgbClr val="FFFFFF"/>
                </a:solidFill>
                <a:latin typeface="Segoe UI"/>
              </a:defRPr>
            </a:pPr>
            <a:r>
              <a:t>1</a:t>
            </a:r>
          </a:p>
        </p:txBody>
      </p:sp>
      <p:sp>
        <p:nvSpPr>
          <p:cNvPr id="5" name="TextBox 4"/>
          <p:cNvSpPr txBox="1"/>
          <p:nvPr/>
        </p:nvSpPr>
        <p:spPr>
          <a:xfrm>
            <a:off x="1463040" y="1508760"/>
            <a:ext cx="9601200" cy="457200"/>
          </a:xfrm>
          <a:prstGeom prst="rect">
            <a:avLst/>
          </a:prstGeom>
          <a:noFill/>
        </p:spPr>
        <p:txBody>
          <a:bodyPr wrap="square">
            <a:spAutoFit/>
          </a:bodyPr>
          <a:lstStyle/>
          <a:p>
            <a:pPr algn="l">
              <a:defRPr sz="1800" b="0">
                <a:solidFill>
                  <a:srgbClr val="242424"/>
                </a:solidFill>
                <a:latin typeface="Segoe UI"/>
              </a:defRPr>
            </a:pPr>
            <a:r>
              <a:t>Explain basic IA principles and why metadata improves findability and governance</a:t>
            </a:r>
          </a:p>
        </p:txBody>
      </p:sp>
      <p:sp>
        <p:nvSpPr>
          <p:cNvPr id="6" name="Rounded Rectangle 5"/>
          <p:cNvSpPr/>
          <p:nvPr/>
        </p:nvSpPr>
        <p:spPr>
          <a:xfrm>
            <a:off x="731520" y="251460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2000" b="1">
                <a:solidFill>
                  <a:srgbClr val="FFFFFF"/>
                </a:solidFill>
                <a:latin typeface="Segoe UI"/>
              </a:defRPr>
            </a:pPr>
            <a:r>
              <a:t>2</a:t>
            </a:r>
          </a:p>
        </p:txBody>
      </p:sp>
      <p:sp>
        <p:nvSpPr>
          <p:cNvPr id="7" name="TextBox 6"/>
          <p:cNvSpPr txBox="1"/>
          <p:nvPr/>
        </p:nvSpPr>
        <p:spPr>
          <a:xfrm>
            <a:off x="1463040" y="2560320"/>
            <a:ext cx="9601200" cy="457200"/>
          </a:xfrm>
          <a:prstGeom prst="rect">
            <a:avLst/>
          </a:prstGeom>
          <a:noFill/>
        </p:spPr>
        <p:txBody>
          <a:bodyPr wrap="square">
            <a:spAutoFit/>
          </a:bodyPr>
          <a:lstStyle/>
          <a:p>
            <a:pPr algn="l">
              <a:defRPr sz="1800" b="0">
                <a:solidFill>
                  <a:srgbClr val="242424"/>
                </a:solidFill>
                <a:latin typeface="Segoe UI"/>
              </a:defRPr>
            </a:pPr>
            <a:r>
              <a:t>Describe the Term Store hierarchy: groups → term sets → terms</a:t>
            </a:r>
          </a:p>
        </p:txBody>
      </p:sp>
      <p:sp>
        <p:nvSpPr>
          <p:cNvPr id="8" name="Rounded Rectangle 7"/>
          <p:cNvSpPr/>
          <p:nvPr/>
        </p:nvSpPr>
        <p:spPr>
          <a:xfrm>
            <a:off x="731520" y="356616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2000" b="1">
                <a:solidFill>
                  <a:srgbClr val="FFFFFF"/>
                </a:solidFill>
                <a:latin typeface="Segoe UI"/>
              </a:defRPr>
            </a:pPr>
            <a:r>
              <a:t>3</a:t>
            </a:r>
          </a:p>
        </p:txBody>
      </p:sp>
      <p:sp>
        <p:nvSpPr>
          <p:cNvPr id="9" name="TextBox 8"/>
          <p:cNvSpPr txBox="1"/>
          <p:nvPr/>
        </p:nvSpPr>
        <p:spPr>
          <a:xfrm>
            <a:off x="1463040" y="3611880"/>
            <a:ext cx="9601200" cy="457200"/>
          </a:xfrm>
          <a:prstGeom prst="rect">
            <a:avLst/>
          </a:prstGeom>
          <a:noFill/>
        </p:spPr>
        <p:txBody>
          <a:bodyPr wrap="square">
            <a:spAutoFit/>
          </a:bodyPr>
          <a:lstStyle/>
          <a:p>
            <a:pPr algn="l">
              <a:defRPr sz="1800" b="0">
                <a:solidFill>
                  <a:srgbClr val="242424"/>
                </a:solidFill>
                <a:latin typeface="Segoe UI"/>
              </a:defRPr>
            </a:pPr>
            <a:r>
              <a:t>Describe term store roles and how delegated term management works</a:t>
            </a:r>
          </a:p>
        </p:txBody>
      </p:sp>
      <p:sp>
        <p:nvSpPr>
          <p:cNvPr id="10" name="Rounded Rectangle 9"/>
          <p:cNvSpPr/>
          <p:nvPr/>
        </p:nvSpPr>
        <p:spPr>
          <a:xfrm>
            <a:off x="731520" y="461772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2000" b="1">
                <a:solidFill>
                  <a:srgbClr val="FFFFFF"/>
                </a:solidFill>
                <a:latin typeface="Segoe UI"/>
              </a:defRPr>
            </a:pPr>
            <a:r>
              <a:t>4</a:t>
            </a:r>
          </a:p>
        </p:txBody>
      </p:sp>
      <p:sp>
        <p:nvSpPr>
          <p:cNvPr id="11" name="TextBox 10"/>
          <p:cNvSpPr txBox="1"/>
          <p:nvPr/>
        </p:nvSpPr>
        <p:spPr>
          <a:xfrm>
            <a:off x="1463040" y="4663440"/>
            <a:ext cx="9601200" cy="457200"/>
          </a:xfrm>
          <a:prstGeom prst="rect">
            <a:avLst/>
          </a:prstGeom>
          <a:noFill/>
        </p:spPr>
        <p:txBody>
          <a:bodyPr wrap="square">
            <a:spAutoFit/>
          </a:bodyPr>
          <a:lstStyle/>
          <a:p>
            <a:pPr algn="l">
              <a:defRPr sz="1800" b="0">
                <a:solidFill>
                  <a:srgbClr val="242424"/>
                </a:solidFill>
                <a:latin typeface="Segoe UI"/>
              </a:defRPr>
            </a:pPr>
            <a:r>
              <a:t>Apply managed metadata to a document library via a managed metadata column</a:t>
            </a:r>
          </a:p>
        </p:txBody>
      </p:sp>
      <p:sp>
        <p:nvSpPr>
          <p:cNvPr id="12" name="Rectangle 11"/>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14" name="TextBox 13"/>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3 / 28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Information Architecture</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Why structure matters before you touch the term store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Information Architecture Principles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How users actually find information — and how admins should structure it</a:t>
            </a:r>
          </a:p>
        </p:txBody>
      </p:sp>
      <p:sp>
        <p:nvSpPr>
          <p:cNvPr id="5" name="Rounded Rectangle 4"/>
          <p:cNvSpPr/>
          <p:nvPr/>
        </p:nvSpPr>
        <p:spPr>
          <a:xfrm>
            <a:off x="54864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874519"/>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8" name="TextBox 7"/>
          <p:cNvSpPr txBox="1"/>
          <p:nvPr/>
        </p:nvSpPr>
        <p:spPr>
          <a:xfrm>
            <a:off x="822960" y="2468880"/>
            <a:ext cx="2103120" cy="457200"/>
          </a:xfrm>
          <a:prstGeom prst="rect">
            <a:avLst/>
          </a:prstGeom>
          <a:noFill/>
        </p:spPr>
        <p:txBody>
          <a:bodyPr wrap="square">
            <a:spAutoFit/>
          </a:bodyPr>
          <a:lstStyle/>
          <a:p>
            <a:pPr algn="ctr">
              <a:defRPr sz="2200" b="1">
                <a:solidFill>
                  <a:srgbClr val="0078D4"/>
                </a:solidFill>
                <a:latin typeface="Segoe UI"/>
              </a:defRPr>
            </a:pPr>
            <a:r>
              <a:t>Findability</a:t>
            </a:r>
          </a:p>
        </p:txBody>
      </p:sp>
      <p:sp>
        <p:nvSpPr>
          <p:cNvPr id="9" name="TextBox 8"/>
          <p:cNvSpPr txBox="1"/>
          <p:nvPr/>
        </p:nvSpPr>
        <p:spPr>
          <a:xfrm>
            <a:off x="731520" y="3017520"/>
            <a:ext cx="2286000" cy="1097280"/>
          </a:xfrm>
          <a:prstGeom prst="rect">
            <a:avLst/>
          </a:prstGeom>
          <a:noFill/>
        </p:spPr>
        <p:txBody>
          <a:bodyPr wrap="square">
            <a:spAutoFit/>
          </a:bodyPr>
          <a:lstStyle/>
          <a:p>
            <a:pPr algn="ctr">
              <a:defRPr sz="1400" b="0">
                <a:solidFill>
                  <a:srgbClr val="242424"/>
                </a:solidFill>
                <a:latin typeface="Segoe UI"/>
              </a:defRPr>
            </a:pPr>
            <a:r>
              <a:t>Users search by concepts</a:t>
            </a:r>
            <a:br/>
            <a:r>
              <a:t>(type, department, status),</a:t>
            </a:r>
            <a:br/>
            <a:r>
              <a:t>not by file names</a:t>
            </a:r>
          </a:p>
        </p:txBody>
      </p:sp>
      <p:sp>
        <p:nvSpPr>
          <p:cNvPr id="10" name="Rounded Rectangle 9"/>
          <p:cNvSpPr/>
          <p:nvPr/>
        </p:nvSpPr>
        <p:spPr>
          <a:xfrm>
            <a:off x="342900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03320" y="1874519"/>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13" name="TextBox 12"/>
          <p:cNvSpPr txBox="1"/>
          <p:nvPr/>
        </p:nvSpPr>
        <p:spPr>
          <a:xfrm>
            <a:off x="3703320" y="2468880"/>
            <a:ext cx="2103120" cy="457200"/>
          </a:xfrm>
          <a:prstGeom prst="rect">
            <a:avLst/>
          </a:prstGeom>
          <a:noFill/>
        </p:spPr>
        <p:txBody>
          <a:bodyPr wrap="square">
            <a:spAutoFit/>
          </a:bodyPr>
          <a:lstStyle/>
          <a:p>
            <a:pPr algn="ctr">
              <a:defRPr sz="2200" b="1">
                <a:solidFill>
                  <a:srgbClr val="00B294"/>
                </a:solidFill>
                <a:latin typeface="Segoe UI"/>
              </a:defRPr>
            </a:pPr>
            <a:r>
              <a:t>Consistency</a:t>
            </a:r>
          </a:p>
        </p:txBody>
      </p:sp>
      <p:sp>
        <p:nvSpPr>
          <p:cNvPr id="14" name="TextBox 13"/>
          <p:cNvSpPr txBox="1"/>
          <p:nvPr/>
        </p:nvSpPr>
        <p:spPr>
          <a:xfrm>
            <a:off x="3611880" y="3017520"/>
            <a:ext cx="2286000" cy="1097280"/>
          </a:xfrm>
          <a:prstGeom prst="rect">
            <a:avLst/>
          </a:prstGeom>
          <a:noFill/>
        </p:spPr>
        <p:txBody>
          <a:bodyPr wrap="square">
            <a:spAutoFit/>
          </a:bodyPr>
          <a:lstStyle/>
          <a:p>
            <a:pPr algn="ctr">
              <a:defRPr sz="1400" b="0">
                <a:solidFill>
                  <a:srgbClr val="242424"/>
                </a:solidFill>
                <a:latin typeface="Segoe UI"/>
              </a:defRPr>
            </a:pPr>
            <a:r>
              <a:t>Same classification terms</a:t>
            </a:r>
            <a:br/>
            <a:r>
              <a:t>across all sites and teams</a:t>
            </a:r>
            <a:br/>
            <a:r>
              <a:t>reduces confusion</a:t>
            </a:r>
          </a:p>
        </p:txBody>
      </p:sp>
      <p:sp>
        <p:nvSpPr>
          <p:cNvPr id="15" name="Rounded Rectangle 14"/>
          <p:cNvSpPr/>
          <p:nvPr/>
        </p:nvSpPr>
        <p:spPr>
          <a:xfrm>
            <a:off x="630935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79" y="1874519"/>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18" name="TextBox 17"/>
          <p:cNvSpPr txBox="1"/>
          <p:nvPr/>
        </p:nvSpPr>
        <p:spPr>
          <a:xfrm>
            <a:off x="6583679" y="2468880"/>
            <a:ext cx="2103120" cy="457200"/>
          </a:xfrm>
          <a:prstGeom prst="rect">
            <a:avLst/>
          </a:prstGeom>
          <a:noFill/>
        </p:spPr>
        <p:txBody>
          <a:bodyPr wrap="square">
            <a:spAutoFit/>
          </a:bodyPr>
          <a:lstStyle/>
          <a:p>
            <a:pPr algn="ctr">
              <a:defRPr sz="2200" b="1">
                <a:solidFill>
                  <a:srgbClr val="6B69D6"/>
                </a:solidFill>
                <a:latin typeface="Segoe UI"/>
              </a:defRPr>
            </a:pPr>
            <a:r>
              <a:t>Connectedness</a:t>
            </a:r>
          </a:p>
        </p:txBody>
      </p:sp>
      <p:sp>
        <p:nvSpPr>
          <p:cNvPr id="19" name="TextBox 18"/>
          <p:cNvSpPr txBox="1"/>
          <p:nvPr/>
        </p:nvSpPr>
        <p:spPr>
          <a:xfrm>
            <a:off x="6492239" y="3017520"/>
            <a:ext cx="2286000" cy="1097280"/>
          </a:xfrm>
          <a:prstGeom prst="rect">
            <a:avLst/>
          </a:prstGeom>
          <a:noFill/>
        </p:spPr>
        <p:txBody>
          <a:bodyPr wrap="square">
            <a:spAutoFit/>
          </a:bodyPr>
          <a:lstStyle/>
          <a:p>
            <a:pPr algn="ctr">
              <a:defRPr sz="1400" b="0">
                <a:solidFill>
                  <a:srgbClr val="242424"/>
                </a:solidFill>
                <a:latin typeface="Segoe UI"/>
              </a:defRPr>
            </a:pPr>
            <a:r>
              <a:t>Related content linked via</a:t>
            </a:r>
            <a:br/>
            <a:r>
              <a:t>shared metadata enables</a:t>
            </a:r>
            <a:br/>
            <a:r>
              <a:t>cross-site discovery</a:t>
            </a:r>
          </a:p>
        </p:txBody>
      </p:sp>
      <p:sp>
        <p:nvSpPr>
          <p:cNvPr id="20" name="Rounded Rectangle 19"/>
          <p:cNvSpPr/>
          <p:nvPr/>
        </p:nvSpPr>
        <p:spPr>
          <a:xfrm>
            <a:off x="918971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64039" y="1874519"/>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23" name="TextBox 22"/>
          <p:cNvSpPr txBox="1"/>
          <p:nvPr/>
        </p:nvSpPr>
        <p:spPr>
          <a:xfrm>
            <a:off x="9464039" y="2468880"/>
            <a:ext cx="2103120" cy="457200"/>
          </a:xfrm>
          <a:prstGeom prst="rect">
            <a:avLst/>
          </a:prstGeom>
          <a:noFill/>
        </p:spPr>
        <p:txBody>
          <a:bodyPr wrap="square">
            <a:spAutoFit/>
          </a:bodyPr>
          <a:lstStyle/>
          <a:p>
            <a:pPr algn="ctr">
              <a:defRPr sz="2200" b="1">
                <a:solidFill>
                  <a:srgbClr val="FF8C00"/>
                </a:solidFill>
                <a:latin typeface="Segoe UI"/>
              </a:defRPr>
            </a:pPr>
            <a:r>
              <a:t>Scalability</a:t>
            </a:r>
          </a:p>
        </p:txBody>
      </p:sp>
      <p:sp>
        <p:nvSpPr>
          <p:cNvPr id="24" name="TextBox 23"/>
          <p:cNvSpPr txBox="1"/>
          <p:nvPr/>
        </p:nvSpPr>
        <p:spPr>
          <a:xfrm>
            <a:off x="9372599" y="3017520"/>
            <a:ext cx="2286000" cy="1097280"/>
          </a:xfrm>
          <a:prstGeom prst="rect">
            <a:avLst/>
          </a:prstGeom>
          <a:noFill/>
        </p:spPr>
        <p:txBody>
          <a:bodyPr wrap="square">
            <a:spAutoFit/>
          </a:bodyPr>
          <a:lstStyle/>
          <a:p>
            <a:pPr algn="ctr">
              <a:defRPr sz="1400" b="0">
                <a:solidFill>
                  <a:srgbClr val="242424"/>
                </a:solidFill>
                <a:latin typeface="Segoe UI"/>
              </a:defRPr>
            </a:pPr>
            <a:r>
              <a:t>A taxonomy designed today</a:t>
            </a:r>
            <a:br/>
            <a:r>
              <a:t>should grow with the org</a:t>
            </a:r>
            <a:br/>
            <a:r>
              <a:t>without re-work</a:t>
            </a:r>
          </a:p>
        </p:txBody>
      </p:sp>
      <p:sp>
        <p:nvSpPr>
          <p:cNvPr id="25" name="Rounded Rectangle 24"/>
          <p:cNvSpPr/>
          <p:nvPr/>
        </p:nvSpPr>
        <p:spPr>
          <a:xfrm>
            <a:off x="731520" y="5029200"/>
            <a:ext cx="10698480" cy="914400"/>
          </a:xfrm>
          <a:prstGeom prst="roundRect">
            <a:avLst>
              <a:gd name="adj" fmla="val 5000"/>
            </a:avLst>
          </a:prstGeom>
          <a:solidFill>
            <a:srgbClr val="FD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5840" y="5120640"/>
            <a:ext cx="10149840" cy="731520"/>
          </a:xfrm>
          <a:prstGeom prst="rect">
            <a:avLst/>
          </a:prstGeom>
          <a:noFill/>
        </p:spPr>
        <p:txBody>
          <a:bodyPr wrap="square">
            <a:spAutoFit/>
          </a:bodyPr>
          <a:lstStyle/>
          <a:p>
            <a:pPr algn="l">
              <a:defRPr sz="1400" b="0">
                <a:solidFill>
                  <a:srgbClr val="D13438"/>
                </a:solidFill>
                <a:latin typeface="Segoe UI"/>
              </a:defRPr>
            </a:pPr>
            <a:r>
              <a:t>⚠️  Common Anti-Patterns:  Too many folders encoding tribal knowledge  ·  Free-text columns for critical classification (spelling variants!)  ·  No governance = no consistency</a:t>
            </a:r>
          </a:p>
        </p:txBody>
      </p:sp>
      <p:sp>
        <p:nvSpPr>
          <p:cNvPr id="27" name="Rectangle 26"/>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29" name="TextBox 28"/>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5 / 28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Metadata Types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Managed metadata vs site columns — when to choose what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Site Columns vs Managed Metadata</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Right tool for the right job — both are valuable</a:t>
            </a:r>
          </a:p>
        </p:txBody>
      </p:sp>
      <p:sp>
        <p:nvSpPr>
          <p:cNvPr id="5" name="Rounded Rectangle 4"/>
          <p:cNvSpPr/>
          <p:nvPr/>
        </p:nvSpPr>
        <p:spPr>
          <a:xfrm>
            <a:off x="731520" y="1645920"/>
            <a:ext cx="5120640" cy="4206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645920"/>
            <a:ext cx="51206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4754880" cy="548640"/>
          </a:xfrm>
          <a:prstGeom prst="rect">
            <a:avLst/>
          </a:prstGeom>
          <a:noFill/>
        </p:spPr>
        <p:txBody>
          <a:bodyPr wrap="square">
            <a:spAutoFit/>
          </a:bodyPr>
          <a:lstStyle/>
          <a:p>
            <a:pPr algn="ctr">
              <a:defRPr sz="2400" b="1">
                <a:solidFill>
                  <a:srgbClr val="0078D4"/>
                </a:solidFill>
                <a:latin typeface="Segoe UI"/>
              </a:defRPr>
            </a:pPr>
            <a:r>
              <a:t>📋  Site Columns</a:t>
            </a:r>
          </a:p>
        </p:txBody>
      </p:sp>
      <p:sp>
        <p:nvSpPr>
          <p:cNvPr id="8" name="TextBox 7"/>
          <p:cNvSpPr txBox="1"/>
          <p:nvPr/>
        </p:nvSpPr>
        <p:spPr>
          <a:xfrm>
            <a:off x="1097280" y="2468880"/>
            <a:ext cx="4572000" cy="3108960"/>
          </a:xfrm>
          <a:prstGeom prst="rect">
            <a:avLst/>
          </a:prstGeom>
          <a:noFill/>
        </p:spPr>
        <p:txBody>
          <a:bodyPr wrap="square">
            <a:spAutoFit/>
          </a:bodyPr>
          <a:lstStyle/>
          <a:p>
            <a:pPr>
              <a:spcAft>
                <a:spcPts val="600"/>
              </a:spcAft>
              <a:defRPr sz="1500">
                <a:solidFill>
                  <a:srgbClr val="242424"/>
                </a:solidFill>
                <a:latin typeface="Segoe UI"/>
              </a:defRPr>
            </a:pPr>
            <a:r>
              <a:t>▸ Reusable field definition (date, number, choice, yes/no)</a:t>
            </a:r>
          </a:p>
          <a:p>
            <a:pPr>
              <a:spcAft>
                <a:spcPts val="600"/>
              </a:spcAft>
              <a:defRPr sz="1500">
                <a:solidFill>
                  <a:srgbClr val="242424"/>
                </a:solidFill>
                <a:latin typeface="Segoe UI"/>
              </a:defRPr>
            </a:pPr>
            <a:r>
              <a:t>▸ Scope: site or content type</a:t>
            </a:r>
          </a:p>
          <a:p>
            <a:pPr>
              <a:spcAft>
                <a:spcPts val="600"/>
              </a:spcAft>
              <a:defRPr sz="1500">
                <a:solidFill>
                  <a:srgbClr val="242424"/>
                </a:solidFill>
                <a:latin typeface="Segoe UI"/>
              </a:defRPr>
            </a:pPr>
            <a:r>
              <a:t>▸ Great for small, stable option lists</a:t>
            </a:r>
          </a:p>
          <a:p>
            <a:pPr>
              <a:spcAft>
                <a:spcPts val="600"/>
              </a:spcAft>
              <a:defRPr sz="1500">
                <a:solidFill>
                  <a:srgbClr val="242424"/>
                </a:solidFill>
                <a:latin typeface="Segoe UI"/>
              </a:defRPr>
            </a:pPr>
            <a:r>
              <a:t>▸ No built-in synonyms or hierarchy</a:t>
            </a:r>
          </a:p>
          <a:p>
            <a:pPr>
              <a:spcAft>
                <a:spcPts val="600"/>
              </a:spcAft>
              <a:defRPr sz="1500">
                <a:solidFill>
                  <a:srgbClr val="242424"/>
                </a:solidFill>
                <a:latin typeface="Segoe UI"/>
              </a:defRPr>
            </a:pPr>
            <a:r>
              <a:t>▸ Users type or select from a fixed list</a:t>
            </a:r>
          </a:p>
        </p:txBody>
      </p:sp>
      <p:sp>
        <p:nvSpPr>
          <p:cNvPr id="9" name="Rounded Rectangle 8"/>
          <p:cNvSpPr/>
          <p:nvPr/>
        </p:nvSpPr>
        <p:spPr>
          <a:xfrm>
            <a:off x="6309360" y="1645920"/>
            <a:ext cx="5120640" cy="4206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09360" y="1645920"/>
            <a:ext cx="51206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828800"/>
            <a:ext cx="4754880" cy="548640"/>
          </a:xfrm>
          <a:prstGeom prst="rect">
            <a:avLst/>
          </a:prstGeom>
          <a:noFill/>
        </p:spPr>
        <p:txBody>
          <a:bodyPr wrap="square">
            <a:spAutoFit/>
          </a:bodyPr>
          <a:lstStyle/>
          <a:p>
            <a:pPr algn="ctr">
              <a:defRPr sz="2400" b="1">
                <a:solidFill>
                  <a:srgbClr val="00B294"/>
                </a:solidFill>
                <a:latin typeface="Segoe UI"/>
              </a:defRPr>
            </a:pPr>
            <a:r>
              <a:t>🏷️  Managed Metadata</a:t>
            </a:r>
          </a:p>
        </p:txBody>
      </p:sp>
      <p:sp>
        <p:nvSpPr>
          <p:cNvPr id="12" name="TextBox 11"/>
          <p:cNvSpPr txBox="1"/>
          <p:nvPr/>
        </p:nvSpPr>
        <p:spPr>
          <a:xfrm>
            <a:off x="6675120" y="2468880"/>
            <a:ext cx="4572000" cy="3108960"/>
          </a:xfrm>
          <a:prstGeom prst="rect">
            <a:avLst/>
          </a:prstGeom>
          <a:noFill/>
        </p:spPr>
        <p:txBody>
          <a:bodyPr wrap="square">
            <a:spAutoFit/>
          </a:bodyPr>
          <a:lstStyle/>
          <a:p>
            <a:pPr>
              <a:spcAft>
                <a:spcPts val="600"/>
              </a:spcAft>
              <a:defRPr sz="1500">
                <a:solidFill>
                  <a:srgbClr val="242424"/>
                </a:solidFill>
                <a:latin typeface="Segoe UI"/>
              </a:defRPr>
            </a:pPr>
            <a:r>
              <a:t>▸ Terms from a centrally managed term store</a:t>
            </a:r>
          </a:p>
          <a:p>
            <a:pPr>
              <a:spcAft>
                <a:spcPts val="600"/>
              </a:spcAft>
              <a:defRPr sz="1500">
                <a:solidFill>
                  <a:srgbClr val="242424"/>
                </a:solidFill>
                <a:latin typeface="Segoe UI"/>
              </a:defRPr>
            </a:pPr>
            <a:r>
              <a:t>▸ Scope: tenant-wide (or local term set)</a:t>
            </a:r>
          </a:p>
          <a:p>
            <a:pPr>
              <a:spcAft>
                <a:spcPts val="600"/>
              </a:spcAft>
              <a:defRPr sz="1500">
                <a:solidFill>
                  <a:srgbClr val="242424"/>
                </a:solidFill>
                <a:latin typeface="Segoe UI"/>
              </a:defRPr>
            </a:pPr>
            <a:r>
              <a:t>▸ Ideal for organization-wide classification</a:t>
            </a:r>
          </a:p>
          <a:p>
            <a:pPr>
              <a:spcAft>
                <a:spcPts val="600"/>
              </a:spcAft>
              <a:defRPr sz="1500">
                <a:solidFill>
                  <a:srgbClr val="242424"/>
                </a:solidFill>
                <a:latin typeface="Segoe UI"/>
              </a:defRPr>
            </a:pPr>
            <a:r>
              <a:t>▸ Supports synonyms, hierarchy, and multilingual labels</a:t>
            </a:r>
          </a:p>
          <a:p>
            <a:pPr>
              <a:spcAft>
                <a:spcPts val="600"/>
              </a:spcAft>
              <a:defRPr sz="1500">
                <a:solidFill>
                  <a:srgbClr val="242424"/>
                </a:solidFill>
                <a:latin typeface="Segoe UI"/>
              </a:defRPr>
            </a:pPr>
            <a:r>
              <a:t>▸ Users pick from a type-ahead controlled picker</a:t>
            </a:r>
          </a:p>
        </p:txBody>
      </p:sp>
      <p:sp>
        <p:nvSpPr>
          <p:cNvPr id="13" name="Rounded Rectangle 12"/>
          <p:cNvSpPr/>
          <p:nvPr/>
        </p:nvSpPr>
        <p:spPr>
          <a:xfrm>
            <a:off x="1371600" y="6035040"/>
            <a:ext cx="9418320" cy="45720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45920" y="6080760"/>
            <a:ext cx="8869680" cy="365760"/>
          </a:xfrm>
          <a:prstGeom prst="rect">
            <a:avLst/>
          </a:prstGeom>
          <a:noFill/>
        </p:spPr>
        <p:txBody>
          <a:bodyPr wrap="square">
            <a:spAutoFit/>
          </a:bodyPr>
          <a:lstStyle/>
          <a:p>
            <a:pPr algn="l">
              <a:defRPr sz="1400" b="0">
                <a:solidFill>
                  <a:srgbClr val="242424"/>
                </a:solidFill>
                <a:latin typeface="Segoe UI"/>
              </a:defRPr>
            </a:pPr>
            <a:r>
              <a:t>💡 Rule of thumb:  Need governance, hierarchy, or reuse across sites?  → Managed Metadata</a:t>
            </a:r>
          </a:p>
        </p:txBody>
      </p:sp>
      <p:sp>
        <p:nvSpPr>
          <p:cNvPr id="15" name="Rectangle 1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17" name="TextBox 1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7 / 28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Key Terminology</a:t>
            </a:r>
          </a:p>
        </p:txBody>
      </p:sp>
      <p:sp>
        <p:nvSpPr>
          <p:cNvPr id="4" name="Rounded Rectangle 3"/>
          <p:cNvSpPr/>
          <p:nvPr/>
        </p:nvSpPr>
        <p:spPr>
          <a:xfrm>
            <a:off x="548640" y="137160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371600"/>
            <a:ext cx="347472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554480"/>
            <a:ext cx="2926080" cy="457200"/>
          </a:xfrm>
          <a:prstGeom prst="rect">
            <a:avLst/>
          </a:prstGeom>
          <a:noFill/>
        </p:spPr>
        <p:txBody>
          <a:bodyPr wrap="square">
            <a:spAutoFit/>
          </a:bodyPr>
          <a:lstStyle/>
          <a:p>
            <a:pPr algn="l">
              <a:defRPr sz="2000" b="1">
                <a:solidFill>
                  <a:srgbClr val="0078D4"/>
                </a:solidFill>
                <a:latin typeface="Segoe UI"/>
              </a:defRPr>
            </a:pPr>
            <a:r>
              <a:t>Taxonomy</a:t>
            </a:r>
          </a:p>
        </p:txBody>
      </p:sp>
      <p:sp>
        <p:nvSpPr>
          <p:cNvPr id="7" name="TextBox 6"/>
          <p:cNvSpPr txBox="1"/>
          <p:nvPr/>
        </p:nvSpPr>
        <p:spPr>
          <a:xfrm>
            <a:off x="822960" y="2103120"/>
            <a:ext cx="2926080" cy="1097280"/>
          </a:xfrm>
          <a:prstGeom prst="rect">
            <a:avLst/>
          </a:prstGeom>
          <a:noFill/>
        </p:spPr>
        <p:txBody>
          <a:bodyPr wrap="square">
            <a:spAutoFit/>
          </a:bodyPr>
          <a:lstStyle/>
          <a:p>
            <a:pPr algn="l">
              <a:defRPr sz="1400" b="0">
                <a:solidFill>
                  <a:srgbClr val="242424"/>
                </a:solidFill>
                <a:latin typeface="Segoe UI"/>
              </a:defRPr>
            </a:pPr>
            <a:r>
              <a:t>Formal, hierarchical classification system</a:t>
            </a:r>
            <a:br/>
            <a:r>
              <a:t>(controlled, structured, top-down)</a:t>
            </a:r>
          </a:p>
        </p:txBody>
      </p:sp>
      <p:sp>
        <p:nvSpPr>
          <p:cNvPr id="8" name="Rounded Rectangle 7"/>
          <p:cNvSpPr/>
          <p:nvPr/>
        </p:nvSpPr>
        <p:spPr>
          <a:xfrm>
            <a:off x="4297679" y="137160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97679" y="1371600"/>
            <a:ext cx="347472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1999" y="1554480"/>
            <a:ext cx="2926080" cy="457200"/>
          </a:xfrm>
          <a:prstGeom prst="rect">
            <a:avLst/>
          </a:prstGeom>
          <a:noFill/>
        </p:spPr>
        <p:txBody>
          <a:bodyPr wrap="square">
            <a:spAutoFit/>
          </a:bodyPr>
          <a:lstStyle/>
          <a:p>
            <a:pPr algn="l">
              <a:defRPr sz="2000" b="1">
                <a:solidFill>
                  <a:srgbClr val="00B294"/>
                </a:solidFill>
                <a:latin typeface="Segoe UI"/>
              </a:defRPr>
            </a:pPr>
            <a:r>
              <a:t>Folksonomy</a:t>
            </a:r>
          </a:p>
        </p:txBody>
      </p:sp>
      <p:sp>
        <p:nvSpPr>
          <p:cNvPr id="11" name="TextBox 10"/>
          <p:cNvSpPr txBox="1"/>
          <p:nvPr/>
        </p:nvSpPr>
        <p:spPr>
          <a:xfrm>
            <a:off x="4571999" y="2103120"/>
            <a:ext cx="2926080" cy="1097280"/>
          </a:xfrm>
          <a:prstGeom prst="rect">
            <a:avLst/>
          </a:prstGeom>
          <a:noFill/>
        </p:spPr>
        <p:txBody>
          <a:bodyPr wrap="square">
            <a:spAutoFit/>
          </a:bodyPr>
          <a:lstStyle/>
          <a:p>
            <a:pPr algn="l">
              <a:defRPr sz="1400" b="0">
                <a:solidFill>
                  <a:srgbClr val="242424"/>
                </a:solidFill>
                <a:latin typeface="Segoe UI"/>
              </a:defRPr>
            </a:pPr>
            <a:r>
              <a:t>Informal, user-driven tagging</a:t>
            </a:r>
            <a:br/>
            <a:r>
              <a:t>(unstructured, bottom-up, like tag clouds)</a:t>
            </a:r>
          </a:p>
        </p:txBody>
      </p:sp>
      <p:sp>
        <p:nvSpPr>
          <p:cNvPr id="12" name="Rounded Rectangle 11"/>
          <p:cNvSpPr/>
          <p:nvPr/>
        </p:nvSpPr>
        <p:spPr>
          <a:xfrm>
            <a:off x="8046719" y="137160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19" y="1371600"/>
            <a:ext cx="3474720" cy="54864"/>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39" y="1554480"/>
            <a:ext cx="2926080" cy="457200"/>
          </a:xfrm>
          <a:prstGeom prst="rect">
            <a:avLst/>
          </a:prstGeom>
          <a:noFill/>
        </p:spPr>
        <p:txBody>
          <a:bodyPr wrap="square">
            <a:spAutoFit/>
          </a:bodyPr>
          <a:lstStyle/>
          <a:p>
            <a:pPr algn="l">
              <a:defRPr sz="2000" b="1">
                <a:solidFill>
                  <a:srgbClr val="6B69D6"/>
                </a:solidFill>
                <a:latin typeface="Segoe UI"/>
              </a:defRPr>
            </a:pPr>
            <a:r>
              <a:t>Managed Terms</a:t>
            </a:r>
          </a:p>
        </p:txBody>
      </p:sp>
      <p:sp>
        <p:nvSpPr>
          <p:cNvPr id="15" name="TextBox 14"/>
          <p:cNvSpPr txBox="1"/>
          <p:nvPr/>
        </p:nvSpPr>
        <p:spPr>
          <a:xfrm>
            <a:off x="8321039" y="2103120"/>
            <a:ext cx="2926080" cy="1097280"/>
          </a:xfrm>
          <a:prstGeom prst="rect">
            <a:avLst/>
          </a:prstGeom>
          <a:noFill/>
        </p:spPr>
        <p:txBody>
          <a:bodyPr wrap="square">
            <a:spAutoFit/>
          </a:bodyPr>
          <a:lstStyle/>
          <a:p>
            <a:pPr algn="l">
              <a:defRPr sz="1400" b="0">
                <a:solidFill>
                  <a:srgbClr val="242424"/>
                </a:solidFill>
                <a:latin typeface="Segoe UI"/>
              </a:defRPr>
            </a:pPr>
            <a:r>
              <a:t>Pre-defined terms organized in</a:t>
            </a:r>
            <a:br/>
            <a:r>
              <a:t>hierarchical term sets by admins</a:t>
            </a:r>
          </a:p>
        </p:txBody>
      </p:sp>
      <p:sp>
        <p:nvSpPr>
          <p:cNvPr id="16" name="Rounded Rectangle 15"/>
          <p:cNvSpPr/>
          <p:nvPr/>
        </p:nvSpPr>
        <p:spPr>
          <a:xfrm>
            <a:off x="548640" y="3749039"/>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3749039"/>
            <a:ext cx="347472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931919"/>
            <a:ext cx="2926080" cy="457200"/>
          </a:xfrm>
          <a:prstGeom prst="rect">
            <a:avLst/>
          </a:prstGeom>
          <a:noFill/>
        </p:spPr>
        <p:txBody>
          <a:bodyPr wrap="square">
            <a:spAutoFit/>
          </a:bodyPr>
          <a:lstStyle/>
          <a:p>
            <a:pPr algn="l">
              <a:defRPr sz="2000" b="1">
                <a:solidFill>
                  <a:srgbClr val="FF8C00"/>
                </a:solidFill>
                <a:latin typeface="Segoe UI"/>
              </a:defRPr>
            </a:pPr>
            <a:r>
              <a:t>Enterprise Keywords</a:t>
            </a:r>
          </a:p>
        </p:txBody>
      </p:sp>
      <p:sp>
        <p:nvSpPr>
          <p:cNvPr id="19" name="TextBox 18"/>
          <p:cNvSpPr txBox="1"/>
          <p:nvPr/>
        </p:nvSpPr>
        <p:spPr>
          <a:xfrm>
            <a:off x="822960" y="4480559"/>
            <a:ext cx="2926080" cy="1097280"/>
          </a:xfrm>
          <a:prstGeom prst="rect">
            <a:avLst/>
          </a:prstGeom>
          <a:noFill/>
        </p:spPr>
        <p:txBody>
          <a:bodyPr wrap="square">
            <a:spAutoFit/>
          </a:bodyPr>
          <a:lstStyle/>
          <a:p>
            <a:pPr algn="l">
              <a:defRPr sz="1400" b="0">
                <a:solidFill>
                  <a:srgbClr val="242424"/>
                </a:solidFill>
                <a:latin typeface="Segoe UI"/>
              </a:defRPr>
            </a:pPr>
            <a:r>
              <a:t>Free-form words/phrases added by</a:t>
            </a:r>
            <a:br/>
            <a:r>
              <a:t>users — can later be promoted to managed terms</a:t>
            </a:r>
          </a:p>
        </p:txBody>
      </p:sp>
      <p:sp>
        <p:nvSpPr>
          <p:cNvPr id="20" name="Rounded Rectangle 19"/>
          <p:cNvSpPr/>
          <p:nvPr/>
        </p:nvSpPr>
        <p:spPr>
          <a:xfrm>
            <a:off x="4297679" y="3749039"/>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97679" y="3749039"/>
            <a:ext cx="3474720" cy="54864"/>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1999" y="3931919"/>
            <a:ext cx="2926080" cy="457200"/>
          </a:xfrm>
          <a:prstGeom prst="rect">
            <a:avLst/>
          </a:prstGeom>
          <a:noFill/>
        </p:spPr>
        <p:txBody>
          <a:bodyPr wrap="square">
            <a:spAutoFit/>
          </a:bodyPr>
          <a:lstStyle/>
          <a:p>
            <a:pPr algn="l">
              <a:defRPr sz="2000" b="1">
                <a:solidFill>
                  <a:srgbClr val="107C10"/>
                </a:solidFill>
                <a:latin typeface="Segoe UI"/>
              </a:defRPr>
            </a:pPr>
            <a:r>
              <a:t>Open Term Set</a:t>
            </a:r>
          </a:p>
        </p:txBody>
      </p:sp>
      <p:sp>
        <p:nvSpPr>
          <p:cNvPr id="23" name="TextBox 22"/>
          <p:cNvSpPr txBox="1"/>
          <p:nvPr/>
        </p:nvSpPr>
        <p:spPr>
          <a:xfrm>
            <a:off x="4571999" y="4480559"/>
            <a:ext cx="2926080" cy="1097280"/>
          </a:xfrm>
          <a:prstGeom prst="rect">
            <a:avLst/>
          </a:prstGeom>
          <a:noFill/>
        </p:spPr>
        <p:txBody>
          <a:bodyPr wrap="square">
            <a:spAutoFit/>
          </a:bodyPr>
          <a:lstStyle/>
          <a:p>
            <a:pPr algn="l">
              <a:defRPr sz="1400" b="0">
                <a:solidFill>
                  <a:srgbClr val="242424"/>
                </a:solidFill>
                <a:latin typeface="Segoe UI"/>
              </a:defRPr>
            </a:pPr>
            <a:r>
              <a:t>Users can add new terms</a:t>
            </a:r>
            <a:br/>
            <a:r>
              <a:t>when tagging items</a:t>
            </a:r>
          </a:p>
        </p:txBody>
      </p:sp>
      <p:sp>
        <p:nvSpPr>
          <p:cNvPr id="24" name="Rounded Rectangle 23"/>
          <p:cNvSpPr/>
          <p:nvPr/>
        </p:nvSpPr>
        <p:spPr>
          <a:xfrm>
            <a:off x="8046719" y="3749039"/>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046719" y="3749039"/>
            <a:ext cx="3474720" cy="54864"/>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21039" y="3931919"/>
            <a:ext cx="2926080" cy="457200"/>
          </a:xfrm>
          <a:prstGeom prst="rect">
            <a:avLst/>
          </a:prstGeom>
          <a:noFill/>
        </p:spPr>
        <p:txBody>
          <a:bodyPr wrap="square">
            <a:spAutoFit/>
          </a:bodyPr>
          <a:lstStyle/>
          <a:p>
            <a:pPr algn="l">
              <a:defRPr sz="2000" b="1">
                <a:solidFill>
                  <a:srgbClr val="D13438"/>
                </a:solidFill>
                <a:latin typeface="Segoe UI"/>
              </a:defRPr>
            </a:pPr>
            <a:r>
              <a:t>Closed Term Set</a:t>
            </a:r>
          </a:p>
        </p:txBody>
      </p:sp>
      <p:sp>
        <p:nvSpPr>
          <p:cNvPr id="27" name="TextBox 26"/>
          <p:cNvSpPr txBox="1"/>
          <p:nvPr/>
        </p:nvSpPr>
        <p:spPr>
          <a:xfrm>
            <a:off x="8321039" y="4480559"/>
            <a:ext cx="2926080" cy="1097280"/>
          </a:xfrm>
          <a:prstGeom prst="rect">
            <a:avLst/>
          </a:prstGeom>
          <a:noFill/>
        </p:spPr>
        <p:txBody>
          <a:bodyPr wrap="square">
            <a:spAutoFit/>
          </a:bodyPr>
          <a:lstStyle/>
          <a:p>
            <a:pPr algn="l">
              <a:defRPr sz="1400" b="0">
                <a:solidFill>
                  <a:srgbClr val="242424"/>
                </a:solidFill>
                <a:latin typeface="Segoe UI"/>
              </a:defRPr>
            </a:pPr>
            <a:r>
              <a:t>Only authorized users can add terms</a:t>
            </a:r>
            <a:br/>
            <a:r>
              <a:t>(stricter governance)</a:t>
            </a:r>
          </a:p>
        </p:txBody>
      </p:sp>
      <p:sp>
        <p:nvSpPr>
          <p:cNvPr id="28" name="Rectangle 2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30" name="TextBox 2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8 / 28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Benefits of Managed Metadata</a:t>
            </a:r>
          </a:p>
        </p:txBody>
      </p:sp>
      <p:sp>
        <p:nvSpPr>
          <p:cNvPr id="4" name="Rounded Rectangle 3"/>
          <p:cNvSpPr/>
          <p:nvPr/>
        </p:nvSpPr>
        <p:spPr>
          <a:xfrm>
            <a:off x="731520" y="137160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371600"/>
            <a:ext cx="73152" cy="201168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554480"/>
            <a:ext cx="548640" cy="457200"/>
          </a:xfrm>
          <a:prstGeom prst="rect">
            <a:avLst/>
          </a:prstGeom>
          <a:noFill/>
        </p:spPr>
        <p:txBody>
          <a:bodyPr wrap="square">
            <a:spAutoFit/>
          </a:bodyPr>
          <a:lstStyle/>
          <a:p>
            <a:pPr algn="ctr">
              <a:defRPr sz="3000" b="0">
                <a:solidFill>
                  <a:srgbClr val="242424"/>
                </a:solidFill>
                <a:latin typeface="Segoe UI"/>
              </a:defRPr>
            </a:pPr>
            <a:r>
              <a:t>🎯</a:t>
            </a:r>
          </a:p>
        </p:txBody>
      </p:sp>
      <p:sp>
        <p:nvSpPr>
          <p:cNvPr id="7" name="TextBox 6"/>
          <p:cNvSpPr txBox="1"/>
          <p:nvPr/>
        </p:nvSpPr>
        <p:spPr>
          <a:xfrm>
            <a:off x="1645920" y="1554480"/>
            <a:ext cx="4114800" cy="457200"/>
          </a:xfrm>
          <a:prstGeom prst="rect">
            <a:avLst/>
          </a:prstGeom>
          <a:noFill/>
        </p:spPr>
        <p:txBody>
          <a:bodyPr wrap="square">
            <a:spAutoFit/>
          </a:bodyPr>
          <a:lstStyle/>
          <a:p>
            <a:pPr algn="l">
              <a:defRPr sz="2000" b="1">
                <a:solidFill>
                  <a:srgbClr val="107C10"/>
                </a:solidFill>
                <a:latin typeface="Segoe UI"/>
              </a:defRPr>
            </a:pPr>
            <a:r>
              <a:t>Consistent Use</a:t>
            </a:r>
          </a:p>
        </p:txBody>
      </p:sp>
      <p:sp>
        <p:nvSpPr>
          <p:cNvPr id="8" name="TextBox 7"/>
          <p:cNvSpPr txBox="1"/>
          <p:nvPr/>
        </p:nvSpPr>
        <p:spPr>
          <a:xfrm>
            <a:off x="1645920" y="2011680"/>
            <a:ext cx="4114800" cy="914400"/>
          </a:xfrm>
          <a:prstGeom prst="rect">
            <a:avLst/>
          </a:prstGeom>
          <a:noFill/>
        </p:spPr>
        <p:txBody>
          <a:bodyPr wrap="square">
            <a:spAutoFit/>
          </a:bodyPr>
          <a:lstStyle/>
          <a:p>
            <a:pPr algn="l">
              <a:defRPr sz="1400" b="0">
                <a:solidFill>
                  <a:srgbClr val="242424"/>
                </a:solidFill>
                <a:latin typeface="Segoe UI"/>
              </a:defRPr>
            </a:pPr>
            <a:r>
              <a:t>Control which terms users can apply.</a:t>
            </a:r>
            <a:br/>
            <a:r>
              <a:t>Same terms across all sites = reliable governance.</a:t>
            </a:r>
          </a:p>
        </p:txBody>
      </p:sp>
      <p:sp>
        <p:nvSpPr>
          <p:cNvPr id="9" name="TextBox 8"/>
          <p:cNvSpPr txBox="1"/>
          <p:nvPr/>
        </p:nvSpPr>
        <p:spPr>
          <a:xfrm>
            <a:off x="1645920" y="2926080"/>
            <a:ext cx="4114800" cy="365760"/>
          </a:xfrm>
          <a:prstGeom prst="rect">
            <a:avLst/>
          </a:prstGeom>
          <a:noFill/>
        </p:spPr>
        <p:txBody>
          <a:bodyPr wrap="square">
            <a:spAutoFit/>
          </a:bodyPr>
          <a:lstStyle/>
          <a:p>
            <a:pPr algn="l">
              <a:defRPr sz="1200" b="0">
                <a:solidFill>
                  <a:srgbClr val="606060"/>
                </a:solidFill>
                <a:latin typeface="Segoe UI"/>
              </a:defRPr>
            </a:pPr>
            <a:r>
              <a:t>Term sets enforce uniformity</a:t>
            </a:r>
          </a:p>
        </p:txBody>
      </p:sp>
      <p:sp>
        <p:nvSpPr>
          <p:cNvPr id="10" name="Rounded Rectangle 9"/>
          <p:cNvSpPr/>
          <p:nvPr/>
        </p:nvSpPr>
        <p:spPr>
          <a:xfrm>
            <a:off x="6400800" y="137160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0" y="1371600"/>
            <a:ext cx="73152" cy="201168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1554480"/>
            <a:ext cx="548640" cy="457200"/>
          </a:xfrm>
          <a:prstGeom prst="rect">
            <a:avLst/>
          </a:prstGeom>
          <a:noFill/>
        </p:spPr>
        <p:txBody>
          <a:bodyPr wrap="square">
            <a:spAutoFit/>
          </a:bodyPr>
          <a:lstStyle/>
          <a:p>
            <a:pPr algn="ctr">
              <a:defRPr sz="3000" b="0">
                <a:solidFill>
                  <a:srgbClr val="242424"/>
                </a:solidFill>
                <a:latin typeface="Segoe UI"/>
              </a:defRPr>
            </a:pPr>
            <a:r>
              <a:t>🔍</a:t>
            </a:r>
          </a:p>
        </p:txBody>
      </p:sp>
      <p:sp>
        <p:nvSpPr>
          <p:cNvPr id="13" name="TextBox 12"/>
          <p:cNvSpPr txBox="1"/>
          <p:nvPr/>
        </p:nvSpPr>
        <p:spPr>
          <a:xfrm>
            <a:off x="7315200" y="1554480"/>
            <a:ext cx="4114800" cy="457200"/>
          </a:xfrm>
          <a:prstGeom prst="rect">
            <a:avLst/>
          </a:prstGeom>
          <a:noFill/>
        </p:spPr>
        <p:txBody>
          <a:bodyPr wrap="square">
            <a:spAutoFit/>
          </a:bodyPr>
          <a:lstStyle/>
          <a:p>
            <a:pPr algn="l">
              <a:defRPr sz="2000" b="1">
                <a:solidFill>
                  <a:srgbClr val="107C10"/>
                </a:solidFill>
                <a:latin typeface="Segoe UI"/>
              </a:defRPr>
            </a:pPr>
            <a:r>
              <a:t>Improved Discoverability</a:t>
            </a:r>
          </a:p>
        </p:txBody>
      </p:sp>
      <p:sp>
        <p:nvSpPr>
          <p:cNvPr id="14" name="TextBox 13"/>
          <p:cNvSpPr txBox="1"/>
          <p:nvPr/>
        </p:nvSpPr>
        <p:spPr>
          <a:xfrm>
            <a:off x="7315200" y="2011680"/>
            <a:ext cx="4114800" cy="914400"/>
          </a:xfrm>
          <a:prstGeom prst="rect">
            <a:avLst/>
          </a:prstGeom>
          <a:noFill/>
        </p:spPr>
        <p:txBody>
          <a:bodyPr wrap="square">
            <a:spAutoFit/>
          </a:bodyPr>
          <a:lstStyle/>
          <a:p>
            <a:pPr algn="l">
              <a:defRPr sz="1400" b="0">
                <a:solidFill>
                  <a:srgbClr val="242424"/>
                </a:solidFill>
                <a:latin typeface="Segoe UI"/>
              </a:defRPr>
            </a:pPr>
            <a:r>
              <a:t>Search refinement panel lets users filter</a:t>
            </a:r>
            <a:br/>
            <a:r>
              <a:t>results by metadata facets.</a:t>
            </a:r>
          </a:p>
        </p:txBody>
      </p:sp>
      <p:sp>
        <p:nvSpPr>
          <p:cNvPr id="15" name="TextBox 14"/>
          <p:cNvSpPr txBox="1"/>
          <p:nvPr/>
        </p:nvSpPr>
        <p:spPr>
          <a:xfrm>
            <a:off x="7315200" y="2926080"/>
            <a:ext cx="4114800" cy="365760"/>
          </a:xfrm>
          <a:prstGeom prst="rect">
            <a:avLst/>
          </a:prstGeom>
          <a:noFill/>
        </p:spPr>
        <p:txBody>
          <a:bodyPr wrap="square">
            <a:spAutoFit/>
          </a:bodyPr>
          <a:lstStyle/>
          <a:p>
            <a:pPr algn="l">
              <a:defRPr sz="1200" b="0">
                <a:solidFill>
                  <a:srgbClr val="606060"/>
                </a:solidFill>
                <a:latin typeface="Segoe UI"/>
              </a:defRPr>
            </a:pPr>
            <a:r>
              <a:t>Metadata powers refiners in search</a:t>
            </a:r>
          </a:p>
        </p:txBody>
      </p:sp>
      <p:sp>
        <p:nvSpPr>
          <p:cNvPr id="16" name="Rounded Rectangle 15"/>
          <p:cNvSpPr/>
          <p:nvPr/>
        </p:nvSpPr>
        <p:spPr>
          <a:xfrm>
            <a:off x="731520" y="3749039"/>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1520" y="3749039"/>
            <a:ext cx="73152" cy="201168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3931919"/>
            <a:ext cx="548640" cy="457200"/>
          </a:xfrm>
          <a:prstGeom prst="rect">
            <a:avLst/>
          </a:prstGeom>
          <a:noFill/>
        </p:spPr>
        <p:txBody>
          <a:bodyPr wrap="square">
            <a:spAutoFit/>
          </a:bodyPr>
          <a:lstStyle/>
          <a:p>
            <a:pPr algn="ctr">
              <a:defRPr sz="3000" b="0">
                <a:solidFill>
                  <a:srgbClr val="242424"/>
                </a:solidFill>
                <a:latin typeface="Segoe UI"/>
              </a:defRPr>
            </a:pPr>
            <a:r>
              <a:t>🧭</a:t>
            </a:r>
          </a:p>
        </p:txBody>
      </p:sp>
      <p:sp>
        <p:nvSpPr>
          <p:cNvPr id="19" name="TextBox 18"/>
          <p:cNvSpPr txBox="1"/>
          <p:nvPr/>
        </p:nvSpPr>
        <p:spPr>
          <a:xfrm>
            <a:off x="1645920" y="3931919"/>
            <a:ext cx="4114800" cy="457200"/>
          </a:xfrm>
          <a:prstGeom prst="rect">
            <a:avLst/>
          </a:prstGeom>
          <a:noFill/>
        </p:spPr>
        <p:txBody>
          <a:bodyPr wrap="square">
            <a:spAutoFit/>
          </a:bodyPr>
          <a:lstStyle/>
          <a:p>
            <a:pPr algn="l">
              <a:defRPr sz="2000" b="1">
                <a:solidFill>
                  <a:srgbClr val="107C10"/>
                </a:solidFill>
                <a:latin typeface="Segoe UI"/>
              </a:defRPr>
            </a:pPr>
            <a:r>
              <a:t>Metadata Navigation</a:t>
            </a:r>
          </a:p>
        </p:txBody>
      </p:sp>
      <p:sp>
        <p:nvSpPr>
          <p:cNvPr id="20" name="TextBox 19"/>
          <p:cNvSpPr txBox="1"/>
          <p:nvPr/>
        </p:nvSpPr>
        <p:spPr>
          <a:xfrm>
            <a:off x="1645920" y="4389119"/>
            <a:ext cx="4114800" cy="914400"/>
          </a:xfrm>
          <a:prstGeom prst="rect">
            <a:avLst/>
          </a:prstGeom>
          <a:noFill/>
        </p:spPr>
        <p:txBody>
          <a:bodyPr wrap="square">
            <a:spAutoFit/>
          </a:bodyPr>
          <a:lstStyle/>
          <a:p>
            <a:pPr algn="l">
              <a:defRPr sz="1400" b="0">
                <a:solidFill>
                  <a:srgbClr val="242424"/>
                </a:solidFill>
                <a:latin typeface="Segoe UI"/>
              </a:defRPr>
            </a:pPr>
            <a:r>
              <a:t>Site admins build navigation and views</a:t>
            </a:r>
            <a:br/>
            <a:r>
              <a:t>based on metadata terms.</a:t>
            </a:r>
          </a:p>
        </p:txBody>
      </p:sp>
      <p:sp>
        <p:nvSpPr>
          <p:cNvPr id="21" name="TextBox 20"/>
          <p:cNvSpPr txBox="1"/>
          <p:nvPr/>
        </p:nvSpPr>
        <p:spPr>
          <a:xfrm>
            <a:off x="1645920" y="5303519"/>
            <a:ext cx="4114800" cy="365760"/>
          </a:xfrm>
          <a:prstGeom prst="rect">
            <a:avLst/>
          </a:prstGeom>
          <a:noFill/>
        </p:spPr>
        <p:txBody>
          <a:bodyPr wrap="square">
            <a:spAutoFit/>
          </a:bodyPr>
          <a:lstStyle/>
          <a:p>
            <a:pPr algn="l">
              <a:defRPr sz="1200" b="0">
                <a:solidFill>
                  <a:srgbClr val="606060"/>
                </a:solidFill>
                <a:latin typeface="Segoe UI"/>
              </a:defRPr>
            </a:pPr>
            <a:r>
              <a:t>Filter lists/libraries by metadata pivots</a:t>
            </a:r>
          </a:p>
        </p:txBody>
      </p:sp>
      <p:sp>
        <p:nvSpPr>
          <p:cNvPr id="22" name="Rounded Rectangle 21"/>
          <p:cNvSpPr/>
          <p:nvPr/>
        </p:nvSpPr>
        <p:spPr>
          <a:xfrm>
            <a:off x="6400800" y="3749039"/>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0" y="3749039"/>
            <a:ext cx="73152" cy="201168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75120" y="3931919"/>
            <a:ext cx="548640" cy="457200"/>
          </a:xfrm>
          <a:prstGeom prst="rect">
            <a:avLst/>
          </a:prstGeom>
          <a:noFill/>
        </p:spPr>
        <p:txBody>
          <a:bodyPr wrap="square">
            <a:spAutoFit/>
          </a:bodyPr>
          <a:lstStyle/>
          <a:p>
            <a:pPr algn="ctr">
              <a:defRPr sz="3000" b="0">
                <a:solidFill>
                  <a:srgbClr val="242424"/>
                </a:solidFill>
                <a:latin typeface="Segoe UI"/>
              </a:defRPr>
            </a:pPr>
            <a:r>
              <a:t>⚡</a:t>
            </a:r>
          </a:p>
        </p:txBody>
      </p:sp>
      <p:sp>
        <p:nvSpPr>
          <p:cNvPr id="25" name="TextBox 24"/>
          <p:cNvSpPr txBox="1"/>
          <p:nvPr/>
        </p:nvSpPr>
        <p:spPr>
          <a:xfrm>
            <a:off x="7315200" y="3931919"/>
            <a:ext cx="4114800" cy="457200"/>
          </a:xfrm>
          <a:prstGeom prst="rect">
            <a:avLst/>
          </a:prstGeom>
          <a:noFill/>
        </p:spPr>
        <p:txBody>
          <a:bodyPr wrap="square">
            <a:spAutoFit/>
          </a:bodyPr>
          <a:lstStyle/>
          <a:p>
            <a:pPr algn="l">
              <a:defRPr sz="2000" b="1">
                <a:solidFill>
                  <a:srgbClr val="107C10"/>
                </a:solidFill>
                <a:latin typeface="Segoe UI"/>
              </a:defRPr>
            </a:pPr>
            <a:r>
              <a:t>Flexibility</a:t>
            </a:r>
          </a:p>
        </p:txBody>
      </p:sp>
      <p:sp>
        <p:nvSpPr>
          <p:cNvPr id="26" name="TextBox 25"/>
          <p:cNvSpPr txBox="1"/>
          <p:nvPr/>
        </p:nvSpPr>
        <p:spPr>
          <a:xfrm>
            <a:off x="7315200" y="4389119"/>
            <a:ext cx="4114800" cy="914400"/>
          </a:xfrm>
          <a:prstGeom prst="rect">
            <a:avLst/>
          </a:prstGeom>
          <a:noFill/>
        </p:spPr>
        <p:txBody>
          <a:bodyPr wrap="square">
            <a:spAutoFit/>
          </a:bodyPr>
          <a:lstStyle/>
          <a:p>
            <a:pPr algn="l">
              <a:defRPr sz="1400" b="0">
                <a:solidFill>
                  <a:srgbClr val="242424"/>
                </a:solidFill>
                <a:latin typeface="Segoe UI"/>
              </a:defRPr>
            </a:pPr>
            <a:r>
              <a:t>Supports range from strict taxonomy</a:t>
            </a:r>
            <a:br/>
            <a:r>
              <a:t>to open folksonomy — your choice.</a:t>
            </a:r>
          </a:p>
        </p:txBody>
      </p:sp>
      <p:sp>
        <p:nvSpPr>
          <p:cNvPr id="27" name="TextBox 26"/>
          <p:cNvSpPr txBox="1"/>
          <p:nvPr/>
        </p:nvSpPr>
        <p:spPr>
          <a:xfrm>
            <a:off x="7315200" y="5303519"/>
            <a:ext cx="4114800" cy="365760"/>
          </a:xfrm>
          <a:prstGeom prst="rect">
            <a:avLst/>
          </a:prstGeom>
          <a:noFill/>
        </p:spPr>
        <p:txBody>
          <a:bodyPr wrap="square">
            <a:spAutoFit/>
          </a:bodyPr>
          <a:lstStyle/>
          <a:p>
            <a:pPr algn="l">
              <a:defRPr sz="1200" b="0">
                <a:solidFill>
                  <a:srgbClr val="606060"/>
                </a:solidFill>
                <a:latin typeface="Segoe UI"/>
              </a:defRPr>
            </a:pPr>
            <a:r>
              <a:t>Open or closed term sets per need</a:t>
            </a:r>
          </a:p>
        </p:txBody>
      </p:sp>
      <p:sp>
        <p:nvSpPr>
          <p:cNvPr id="28" name="Rectangle 2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30" name="TextBox 2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9 / 28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The Term Store</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Hierarchy, roles, and delegated management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Term Store Hierarchy</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Three levels — each with a distinct purpose</a:t>
            </a:r>
          </a:p>
        </p:txBody>
      </p:sp>
      <p:sp>
        <p:nvSpPr>
          <p:cNvPr id="5" name="Rounded Rectangle 4"/>
          <p:cNvSpPr/>
          <p:nvPr/>
        </p:nvSpPr>
        <p:spPr>
          <a:xfrm>
            <a:off x="731520" y="1737360"/>
            <a:ext cx="3291840" cy="3657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737360"/>
            <a:ext cx="3291840" cy="914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011680"/>
            <a:ext cx="2926080" cy="548640"/>
          </a:xfrm>
          <a:prstGeom prst="rect">
            <a:avLst/>
          </a:prstGeom>
          <a:noFill/>
        </p:spPr>
        <p:txBody>
          <a:bodyPr wrap="square">
            <a:spAutoFit/>
          </a:bodyPr>
          <a:lstStyle/>
          <a:p>
            <a:pPr algn="ctr">
              <a:defRPr sz="2400" b="1">
                <a:solidFill>
                  <a:srgbClr val="0078D4"/>
                </a:solidFill>
                <a:latin typeface="Segoe UI"/>
              </a:defRPr>
            </a:pPr>
            <a:r>
              <a:t>📦  Term Group</a:t>
            </a:r>
          </a:p>
        </p:txBody>
      </p:sp>
      <p:sp>
        <p:nvSpPr>
          <p:cNvPr id="8" name="TextBox 7"/>
          <p:cNvSpPr txBox="1"/>
          <p:nvPr/>
        </p:nvSpPr>
        <p:spPr>
          <a:xfrm>
            <a:off x="914400" y="2651760"/>
            <a:ext cx="2926080" cy="365760"/>
          </a:xfrm>
          <a:prstGeom prst="rect">
            <a:avLst/>
          </a:prstGeom>
          <a:noFill/>
        </p:spPr>
        <p:txBody>
          <a:bodyPr wrap="square">
            <a:spAutoFit/>
          </a:bodyPr>
          <a:lstStyle/>
          <a:p>
            <a:pPr algn="ctr">
              <a:defRPr sz="1600" b="1">
                <a:solidFill>
                  <a:srgbClr val="242424"/>
                </a:solidFill>
                <a:latin typeface="Segoe UI"/>
              </a:defRPr>
            </a:pPr>
            <a:r>
              <a:t>Security boundary</a:t>
            </a:r>
          </a:p>
        </p:txBody>
      </p:sp>
      <p:sp>
        <p:nvSpPr>
          <p:cNvPr id="9" name="TextBox 8"/>
          <p:cNvSpPr txBox="1"/>
          <p:nvPr/>
        </p:nvSpPr>
        <p:spPr>
          <a:xfrm>
            <a:off x="1097280" y="3200400"/>
            <a:ext cx="2743200" cy="1828800"/>
          </a:xfrm>
          <a:prstGeom prst="rect">
            <a:avLst/>
          </a:prstGeom>
          <a:noFill/>
        </p:spPr>
        <p:txBody>
          <a:bodyPr wrap="square">
            <a:spAutoFit/>
          </a:bodyPr>
          <a:lstStyle/>
          <a:p>
            <a:pPr>
              <a:spcAft>
                <a:spcPts val="600"/>
              </a:spcAft>
              <a:defRPr sz="1300">
                <a:solidFill>
                  <a:srgbClr val="242424"/>
                </a:solidFill>
                <a:latin typeface="Segoe UI"/>
              </a:defRPr>
            </a:pPr>
            <a:r>
              <a:t>• Container for term sets</a:t>
            </a:r>
          </a:p>
          <a:p>
            <a:pPr>
              <a:spcAft>
                <a:spcPts val="600"/>
              </a:spcAft>
              <a:defRPr sz="1300">
                <a:solidFill>
                  <a:srgbClr val="242424"/>
                </a:solidFill>
                <a:latin typeface="Segoe UI"/>
              </a:defRPr>
            </a:pPr>
            <a:r>
              <a:t>• Controls who can manage</a:t>
            </a:r>
          </a:p>
          <a:p>
            <a:pPr>
              <a:spcAft>
                <a:spcPts val="600"/>
              </a:spcAft>
              <a:defRPr sz="1300">
                <a:solidFill>
                  <a:srgbClr val="242424"/>
                </a:solidFill>
                <a:latin typeface="Segoe UI"/>
              </a:defRPr>
            </a:pPr>
            <a:r>
              <a:t>• Only term store admins create groups</a:t>
            </a:r>
          </a:p>
          <a:p>
            <a:pPr>
              <a:spcAft>
                <a:spcPts val="600"/>
              </a:spcAft>
              <a:defRPr sz="1300">
                <a:solidFill>
                  <a:srgbClr val="242424"/>
                </a:solidFill>
                <a:latin typeface="Segoe UI"/>
              </a:defRPr>
            </a:pPr>
            <a:r>
              <a:t>• E.g. 'NW-Pxx-TermGroup'</a:t>
            </a:r>
          </a:p>
        </p:txBody>
      </p:sp>
      <p:sp>
        <p:nvSpPr>
          <p:cNvPr id="10" name="TextBox 9"/>
          <p:cNvSpPr txBox="1"/>
          <p:nvPr/>
        </p:nvSpPr>
        <p:spPr>
          <a:xfrm>
            <a:off x="4114800" y="3291840"/>
            <a:ext cx="548640" cy="548640"/>
          </a:xfrm>
          <a:prstGeom prst="rect">
            <a:avLst/>
          </a:prstGeom>
          <a:noFill/>
        </p:spPr>
        <p:txBody>
          <a:bodyPr wrap="square">
            <a:spAutoFit/>
          </a:bodyPr>
          <a:lstStyle/>
          <a:p>
            <a:pPr algn="ctr">
              <a:defRPr sz="3600" b="1">
                <a:solidFill>
                  <a:srgbClr val="606060"/>
                </a:solidFill>
                <a:latin typeface="Segoe UI"/>
              </a:defRPr>
            </a:pPr>
            <a:r>
              <a:t>→</a:t>
            </a:r>
          </a:p>
        </p:txBody>
      </p:sp>
      <p:sp>
        <p:nvSpPr>
          <p:cNvPr id="11" name="Rounded Rectangle 10"/>
          <p:cNvSpPr/>
          <p:nvPr/>
        </p:nvSpPr>
        <p:spPr>
          <a:xfrm>
            <a:off x="4663440" y="1737360"/>
            <a:ext cx="3291840" cy="3657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663440" y="1737360"/>
            <a:ext cx="3291840" cy="9144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46320" y="2011680"/>
            <a:ext cx="2926080" cy="548640"/>
          </a:xfrm>
          <a:prstGeom prst="rect">
            <a:avLst/>
          </a:prstGeom>
          <a:noFill/>
        </p:spPr>
        <p:txBody>
          <a:bodyPr wrap="square">
            <a:spAutoFit/>
          </a:bodyPr>
          <a:lstStyle/>
          <a:p>
            <a:pPr algn="ctr">
              <a:defRPr sz="2400" b="1">
                <a:solidFill>
                  <a:srgbClr val="00B294"/>
                </a:solidFill>
                <a:latin typeface="Segoe UI"/>
              </a:defRPr>
            </a:pPr>
            <a:r>
              <a:t>📋  Term Set</a:t>
            </a:r>
          </a:p>
        </p:txBody>
      </p:sp>
      <p:sp>
        <p:nvSpPr>
          <p:cNvPr id="14" name="TextBox 13"/>
          <p:cNvSpPr txBox="1"/>
          <p:nvPr/>
        </p:nvSpPr>
        <p:spPr>
          <a:xfrm>
            <a:off x="4846320" y="2651760"/>
            <a:ext cx="2926080" cy="365760"/>
          </a:xfrm>
          <a:prstGeom prst="rect">
            <a:avLst/>
          </a:prstGeom>
          <a:noFill/>
        </p:spPr>
        <p:txBody>
          <a:bodyPr wrap="square">
            <a:spAutoFit/>
          </a:bodyPr>
          <a:lstStyle/>
          <a:p>
            <a:pPr algn="ctr">
              <a:defRPr sz="1600" b="1">
                <a:solidFill>
                  <a:srgbClr val="242424"/>
                </a:solidFill>
                <a:latin typeface="Segoe UI"/>
              </a:defRPr>
            </a:pPr>
            <a:r>
              <a:t>Group of related terms</a:t>
            </a:r>
          </a:p>
        </p:txBody>
      </p:sp>
      <p:sp>
        <p:nvSpPr>
          <p:cNvPr id="15" name="TextBox 14"/>
          <p:cNvSpPr txBox="1"/>
          <p:nvPr/>
        </p:nvSpPr>
        <p:spPr>
          <a:xfrm>
            <a:off x="5029200" y="3200400"/>
            <a:ext cx="2743200" cy="1828800"/>
          </a:xfrm>
          <a:prstGeom prst="rect">
            <a:avLst/>
          </a:prstGeom>
          <a:noFill/>
        </p:spPr>
        <p:txBody>
          <a:bodyPr wrap="square">
            <a:spAutoFit/>
          </a:bodyPr>
          <a:lstStyle/>
          <a:p>
            <a:pPr>
              <a:spcAft>
                <a:spcPts val="600"/>
              </a:spcAft>
              <a:defRPr sz="1300">
                <a:solidFill>
                  <a:srgbClr val="242424"/>
                </a:solidFill>
                <a:latin typeface="Segoe UI"/>
              </a:defRPr>
            </a:pPr>
            <a:r>
              <a:t>• Global or local scope</a:t>
            </a:r>
          </a:p>
          <a:p>
            <a:pPr>
              <a:spcAft>
                <a:spcPts val="600"/>
              </a:spcAft>
              <a:defRPr sz="1300">
                <a:solidFill>
                  <a:srgbClr val="242424"/>
                </a:solidFill>
                <a:latin typeface="Segoe UI"/>
              </a:defRPr>
            </a:pPr>
            <a:r>
              <a:t>• Open or closed for submissions</a:t>
            </a:r>
          </a:p>
          <a:p>
            <a:pPr>
              <a:spcAft>
                <a:spcPts val="600"/>
              </a:spcAft>
              <a:defRPr sz="1300">
                <a:solidFill>
                  <a:srgbClr val="242424"/>
                </a:solidFill>
                <a:latin typeface="Segoe UI"/>
              </a:defRPr>
            </a:pPr>
            <a:r>
              <a:t>• Has owner, contact, stakeholders</a:t>
            </a:r>
          </a:p>
          <a:p>
            <a:pPr>
              <a:spcAft>
                <a:spcPts val="600"/>
              </a:spcAft>
              <a:defRPr sz="1300">
                <a:solidFill>
                  <a:srgbClr val="242424"/>
                </a:solidFill>
                <a:latin typeface="Segoe UI"/>
              </a:defRPr>
            </a:pPr>
            <a:r>
              <a:t>• E.g. 'NW-Pxx-ContractType'</a:t>
            </a:r>
          </a:p>
        </p:txBody>
      </p:sp>
      <p:sp>
        <p:nvSpPr>
          <p:cNvPr id="16" name="TextBox 15"/>
          <p:cNvSpPr txBox="1"/>
          <p:nvPr/>
        </p:nvSpPr>
        <p:spPr>
          <a:xfrm>
            <a:off x="8046720" y="3291840"/>
            <a:ext cx="548640" cy="548640"/>
          </a:xfrm>
          <a:prstGeom prst="rect">
            <a:avLst/>
          </a:prstGeom>
          <a:noFill/>
        </p:spPr>
        <p:txBody>
          <a:bodyPr wrap="square">
            <a:spAutoFit/>
          </a:bodyPr>
          <a:lstStyle/>
          <a:p>
            <a:pPr algn="ctr">
              <a:defRPr sz="3600" b="1">
                <a:solidFill>
                  <a:srgbClr val="606060"/>
                </a:solidFill>
                <a:latin typeface="Segoe UI"/>
              </a:defRPr>
            </a:pPr>
            <a:r>
              <a:t>→</a:t>
            </a:r>
          </a:p>
        </p:txBody>
      </p:sp>
      <p:sp>
        <p:nvSpPr>
          <p:cNvPr id="17" name="Rounded Rectangle 16"/>
          <p:cNvSpPr/>
          <p:nvPr/>
        </p:nvSpPr>
        <p:spPr>
          <a:xfrm>
            <a:off x="8595360" y="1737360"/>
            <a:ext cx="3291840" cy="3657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595360" y="1737360"/>
            <a:ext cx="3291840" cy="9144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78240" y="2011680"/>
            <a:ext cx="2926080" cy="548640"/>
          </a:xfrm>
          <a:prstGeom prst="rect">
            <a:avLst/>
          </a:prstGeom>
          <a:noFill/>
        </p:spPr>
        <p:txBody>
          <a:bodyPr wrap="square">
            <a:spAutoFit/>
          </a:bodyPr>
          <a:lstStyle/>
          <a:p>
            <a:pPr algn="ctr">
              <a:defRPr sz="2400" b="1">
                <a:solidFill>
                  <a:srgbClr val="6B69D6"/>
                </a:solidFill>
                <a:latin typeface="Segoe UI"/>
              </a:defRPr>
            </a:pPr>
            <a:r>
              <a:t>🏷️  Terms</a:t>
            </a:r>
          </a:p>
        </p:txBody>
      </p:sp>
      <p:sp>
        <p:nvSpPr>
          <p:cNvPr id="20" name="TextBox 19"/>
          <p:cNvSpPr txBox="1"/>
          <p:nvPr/>
        </p:nvSpPr>
        <p:spPr>
          <a:xfrm>
            <a:off x="8778240" y="2651760"/>
            <a:ext cx="2926080" cy="365760"/>
          </a:xfrm>
          <a:prstGeom prst="rect">
            <a:avLst/>
          </a:prstGeom>
          <a:noFill/>
        </p:spPr>
        <p:txBody>
          <a:bodyPr wrap="square">
            <a:spAutoFit/>
          </a:bodyPr>
          <a:lstStyle/>
          <a:p>
            <a:pPr algn="ctr">
              <a:defRPr sz="1600" b="1">
                <a:solidFill>
                  <a:srgbClr val="242424"/>
                </a:solidFill>
                <a:latin typeface="Segoe UI"/>
              </a:defRPr>
            </a:pPr>
            <a:r>
              <a:t>Individual labels</a:t>
            </a:r>
          </a:p>
        </p:txBody>
      </p:sp>
      <p:sp>
        <p:nvSpPr>
          <p:cNvPr id="21" name="TextBox 20"/>
          <p:cNvSpPr txBox="1"/>
          <p:nvPr/>
        </p:nvSpPr>
        <p:spPr>
          <a:xfrm>
            <a:off x="8961120" y="3200400"/>
            <a:ext cx="2743200" cy="1828800"/>
          </a:xfrm>
          <a:prstGeom prst="rect">
            <a:avLst/>
          </a:prstGeom>
          <a:noFill/>
        </p:spPr>
        <p:txBody>
          <a:bodyPr wrap="square">
            <a:spAutoFit/>
          </a:bodyPr>
          <a:lstStyle/>
          <a:p>
            <a:pPr>
              <a:spcAft>
                <a:spcPts val="600"/>
              </a:spcAft>
              <a:defRPr sz="1300">
                <a:solidFill>
                  <a:srgbClr val="242424"/>
                </a:solidFill>
                <a:latin typeface="Segoe UI"/>
              </a:defRPr>
            </a:pPr>
            <a:r>
              <a:t>• Unique ID + text labels</a:t>
            </a:r>
          </a:p>
          <a:p>
            <a:pPr>
              <a:spcAft>
                <a:spcPts val="600"/>
              </a:spcAft>
              <a:defRPr sz="1300">
                <a:solidFill>
                  <a:srgbClr val="242424"/>
                </a:solidFill>
                <a:latin typeface="Segoe UI"/>
              </a:defRPr>
            </a:pPr>
            <a:r>
              <a:t>• Supports synonyms</a:t>
            </a:r>
          </a:p>
          <a:p>
            <a:pPr>
              <a:spcAft>
                <a:spcPts val="600"/>
              </a:spcAft>
              <a:defRPr sz="1300">
                <a:solidFill>
                  <a:srgbClr val="242424"/>
                </a:solidFill>
                <a:latin typeface="Segoe UI"/>
              </a:defRPr>
            </a:pPr>
            <a:r>
              <a:t>• Multilingual labels possible</a:t>
            </a:r>
          </a:p>
          <a:p>
            <a:pPr>
              <a:spcAft>
                <a:spcPts val="600"/>
              </a:spcAft>
              <a:defRPr sz="1300">
                <a:solidFill>
                  <a:srgbClr val="242424"/>
                </a:solidFill>
                <a:latin typeface="Segoe UI"/>
              </a:defRPr>
            </a:pPr>
            <a:r>
              <a:t>• E.g. NDA, MSA, SOW, Renewal</a:t>
            </a:r>
          </a:p>
        </p:txBody>
      </p:sp>
      <p:sp>
        <p:nvSpPr>
          <p:cNvPr id="22" name="Rounded Rectangle 21"/>
          <p:cNvSpPr/>
          <p:nvPr/>
        </p:nvSpPr>
        <p:spPr>
          <a:xfrm>
            <a:off x="1371600" y="5760720"/>
            <a:ext cx="9418320" cy="54864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5806440"/>
            <a:ext cx="8869680" cy="457200"/>
          </a:xfrm>
          <a:prstGeom prst="rect">
            <a:avLst/>
          </a:prstGeom>
          <a:noFill/>
        </p:spPr>
        <p:txBody>
          <a:bodyPr wrap="square">
            <a:spAutoFit/>
          </a:bodyPr>
          <a:lstStyle/>
          <a:p>
            <a:pPr algn="l">
              <a:defRPr sz="1400" b="0">
                <a:solidFill>
                  <a:srgbClr val="242424"/>
                </a:solidFill>
                <a:latin typeface="Segoe UI"/>
              </a:defRPr>
            </a:pPr>
            <a:r>
              <a:t>💡  Access the term store:  SharePoint admin center → Content services → Term store</a:t>
            </a:r>
          </a:p>
        </p:txBody>
      </p:sp>
      <p:sp>
        <p:nvSpPr>
          <p:cNvPr id="24" name="Rectangle 23"/>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26" name="TextBox 25"/>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11 / 28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Global vs Local Term Sets</a:t>
            </a:r>
          </a:p>
        </p:txBody>
      </p:sp>
      <p:sp>
        <p:nvSpPr>
          <p:cNvPr id="4" name="Rounded Rectangle 3"/>
          <p:cNvSpPr/>
          <p:nvPr/>
        </p:nvSpPr>
        <p:spPr>
          <a:xfrm>
            <a:off x="731520" y="1371600"/>
            <a:ext cx="51206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371600"/>
            <a:ext cx="51206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54480"/>
            <a:ext cx="4754880" cy="548640"/>
          </a:xfrm>
          <a:prstGeom prst="rect">
            <a:avLst/>
          </a:prstGeom>
          <a:noFill/>
        </p:spPr>
        <p:txBody>
          <a:bodyPr wrap="square">
            <a:spAutoFit/>
          </a:bodyPr>
          <a:lstStyle/>
          <a:p>
            <a:pPr algn="ctr">
              <a:defRPr sz="2400" b="1">
                <a:solidFill>
                  <a:srgbClr val="0078D4"/>
                </a:solidFill>
                <a:latin typeface="Segoe UI"/>
              </a:defRPr>
            </a:pPr>
            <a:r>
              <a:t>🌐  Global Term Sets</a:t>
            </a:r>
          </a:p>
        </p:txBody>
      </p:sp>
      <p:sp>
        <p:nvSpPr>
          <p:cNvPr id="7" name="TextBox 6"/>
          <p:cNvSpPr txBox="1"/>
          <p:nvPr/>
        </p:nvSpPr>
        <p:spPr>
          <a:xfrm>
            <a:off x="1097280" y="2194560"/>
            <a:ext cx="4572000" cy="2743200"/>
          </a:xfrm>
          <a:prstGeom prst="rect">
            <a:avLst/>
          </a:prstGeom>
          <a:noFill/>
        </p:spPr>
        <p:txBody>
          <a:bodyPr wrap="square">
            <a:spAutoFit/>
          </a:bodyPr>
          <a:lstStyle/>
          <a:p>
            <a:pPr>
              <a:spcAft>
                <a:spcPts val="600"/>
              </a:spcAft>
              <a:defRPr sz="1500">
                <a:solidFill>
                  <a:srgbClr val="242424"/>
                </a:solidFill>
                <a:latin typeface="Segoe UI"/>
              </a:defRPr>
            </a:pPr>
            <a:r>
              <a:t>▸ Available across ALL sites in the tenant</a:t>
            </a:r>
          </a:p>
          <a:p>
            <a:pPr>
              <a:spcAft>
                <a:spcPts val="600"/>
              </a:spcAft>
              <a:defRPr sz="1500">
                <a:solidFill>
                  <a:srgbClr val="242424"/>
                </a:solidFill>
                <a:latin typeface="Segoe UI"/>
              </a:defRPr>
            </a:pPr>
            <a:r>
              <a:t>▸ Created in the Term Store admin center</a:t>
            </a:r>
          </a:p>
          <a:p>
            <a:pPr>
              <a:spcAft>
                <a:spcPts val="600"/>
              </a:spcAft>
              <a:defRPr sz="1500">
                <a:solidFill>
                  <a:srgbClr val="242424"/>
                </a:solidFill>
                <a:latin typeface="Segoe UI"/>
              </a:defRPr>
            </a:pPr>
            <a:r>
              <a:t>▸ Ideal for org-wide classification (departments, regions)</a:t>
            </a:r>
          </a:p>
          <a:p>
            <a:pPr>
              <a:spcAft>
                <a:spcPts val="600"/>
              </a:spcAft>
              <a:defRPr sz="1500">
                <a:solidFill>
                  <a:srgbClr val="242424"/>
                </a:solidFill>
                <a:latin typeface="Segoe UI"/>
              </a:defRPr>
            </a:pPr>
            <a:r>
              <a:t>▸ Requires Term Store Admin or Contributor role</a:t>
            </a:r>
          </a:p>
          <a:p>
            <a:pPr>
              <a:spcAft>
                <a:spcPts val="600"/>
              </a:spcAft>
              <a:defRPr sz="1500">
                <a:solidFill>
                  <a:srgbClr val="242424"/>
                </a:solidFill>
                <a:latin typeface="Segoe UI"/>
              </a:defRPr>
            </a:pPr>
            <a:r>
              <a:t>▸ Our approach: NW-Pxx-TermGroup in global scope</a:t>
            </a:r>
          </a:p>
        </p:txBody>
      </p:sp>
      <p:sp>
        <p:nvSpPr>
          <p:cNvPr id="8" name="Rounded Rectangle 7"/>
          <p:cNvSpPr/>
          <p:nvPr/>
        </p:nvSpPr>
        <p:spPr>
          <a:xfrm>
            <a:off x="6309360" y="1371600"/>
            <a:ext cx="51206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09360" y="1371600"/>
            <a:ext cx="512064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554480"/>
            <a:ext cx="4754880" cy="548640"/>
          </a:xfrm>
          <a:prstGeom prst="rect">
            <a:avLst/>
          </a:prstGeom>
          <a:noFill/>
        </p:spPr>
        <p:txBody>
          <a:bodyPr wrap="square">
            <a:spAutoFit/>
          </a:bodyPr>
          <a:lstStyle/>
          <a:p>
            <a:pPr algn="ctr">
              <a:defRPr sz="2400" b="1">
                <a:solidFill>
                  <a:srgbClr val="FF8C00"/>
                </a:solidFill>
                <a:latin typeface="Segoe UI"/>
              </a:defRPr>
            </a:pPr>
            <a:r>
              <a:t>📍  Local Term Sets</a:t>
            </a:r>
          </a:p>
        </p:txBody>
      </p:sp>
      <p:sp>
        <p:nvSpPr>
          <p:cNvPr id="11" name="TextBox 10"/>
          <p:cNvSpPr txBox="1"/>
          <p:nvPr/>
        </p:nvSpPr>
        <p:spPr>
          <a:xfrm>
            <a:off x="6675120" y="2194560"/>
            <a:ext cx="4572000" cy="2743200"/>
          </a:xfrm>
          <a:prstGeom prst="rect">
            <a:avLst/>
          </a:prstGeom>
          <a:noFill/>
        </p:spPr>
        <p:txBody>
          <a:bodyPr wrap="square">
            <a:spAutoFit/>
          </a:bodyPr>
          <a:lstStyle/>
          <a:p>
            <a:pPr>
              <a:spcAft>
                <a:spcPts val="600"/>
              </a:spcAft>
              <a:defRPr sz="1500">
                <a:solidFill>
                  <a:srgbClr val="242424"/>
                </a:solidFill>
                <a:latin typeface="Segoe UI"/>
              </a:defRPr>
            </a:pPr>
            <a:r>
              <a:t>▸ Scoped to a single site (site collection)</a:t>
            </a:r>
          </a:p>
          <a:p>
            <a:pPr>
              <a:spcAft>
                <a:spcPts val="600"/>
              </a:spcAft>
              <a:defRPr sz="1500">
                <a:solidFill>
                  <a:srgbClr val="242424"/>
                </a:solidFill>
                <a:latin typeface="Segoe UI"/>
              </a:defRPr>
            </a:pPr>
            <a:r>
              <a:t>▸ Created when adding a MM column to a list/library</a:t>
            </a:r>
          </a:p>
          <a:p>
            <a:pPr>
              <a:spcAft>
                <a:spcPts val="600"/>
              </a:spcAft>
              <a:defRPr sz="1500">
                <a:solidFill>
                  <a:srgbClr val="242424"/>
                </a:solidFill>
                <a:latin typeface="Segoe UI"/>
              </a:defRPr>
            </a:pPr>
            <a:r>
              <a:t>▸ Only visible within that site collection</a:t>
            </a:r>
          </a:p>
          <a:p>
            <a:pPr>
              <a:spcAft>
                <a:spcPts val="600"/>
              </a:spcAft>
              <a:defRPr sz="1500">
                <a:solidFill>
                  <a:srgbClr val="242424"/>
                </a:solidFill>
                <a:latin typeface="Segoe UI"/>
              </a:defRPr>
            </a:pPr>
            <a:r>
              <a:t>▸ No special admin role required (site owner can create)</a:t>
            </a:r>
          </a:p>
          <a:p>
            <a:pPr>
              <a:spcAft>
                <a:spcPts val="600"/>
              </a:spcAft>
              <a:defRPr sz="1500">
                <a:solidFill>
                  <a:srgbClr val="242424"/>
                </a:solidFill>
                <a:latin typeface="Segoe UI"/>
              </a:defRPr>
            </a:pPr>
            <a:r>
              <a:t>▸ Our fallback if term group creation is restricted</a:t>
            </a:r>
          </a:p>
        </p:txBody>
      </p:sp>
      <p:sp>
        <p:nvSpPr>
          <p:cNvPr id="12" name="Rectangle 11"/>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14" name="TextBox 13"/>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12 / 28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Delegated Term Management Roles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Three levels of control — delegate wisely</a:t>
            </a:r>
          </a:p>
        </p:txBody>
      </p:sp>
      <p:sp>
        <p:nvSpPr>
          <p:cNvPr id="5" name="Rounded Rectangle 4"/>
          <p:cNvSpPr/>
          <p:nvPr/>
        </p:nvSpPr>
        <p:spPr>
          <a:xfrm>
            <a:off x="548640" y="1645920"/>
            <a:ext cx="35204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45920"/>
            <a:ext cx="35204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828800"/>
            <a:ext cx="3154680" cy="548640"/>
          </a:xfrm>
          <a:prstGeom prst="rect">
            <a:avLst/>
          </a:prstGeom>
          <a:noFill/>
        </p:spPr>
        <p:txBody>
          <a:bodyPr wrap="square">
            <a:spAutoFit/>
          </a:bodyPr>
          <a:lstStyle/>
          <a:p>
            <a:pPr algn="ctr">
              <a:defRPr sz="2200" b="1">
                <a:solidFill>
                  <a:srgbClr val="0078D4"/>
                </a:solidFill>
                <a:latin typeface="Segoe UI"/>
              </a:defRPr>
            </a:pPr>
            <a:r>
              <a:t>👑  Term Store Admin</a:t>
            </a:r>
          </a:p>
        </p:txBody>
      </p:sp>
      <p:sp>
        <p:nvSpPr>
          <p:cNvPr id="8" name="TextBox 7"/>
          <p:cNvSpPr txBox="1"/>
          <p:nvPr/>
        </p:nvSpPr>
        <p:spPr>
          <a:xfrm>
            <a:off x="822960" y="2468880"/>
            <a:ext cx="2971800" cy="2743200"/>
          </a:xfrm>
          <a:prstGeom prst="rect">
            <a:avLst/>
          </a:prstGeom>
          <a:noFill/>
        </p:spPr>
        <p:txBody>
          <a:bodyPr wrap="square">
            <a:spAutoFit/>
          </a:bodyPr>
          <a:lstStyle/>
          <a:p>
            <a:pPr>
              <a:spcAft>
                <a:spcPts val="600"/>
              </a:spcAft>
              <a:defRPr sz="1400">
                <a:solidFill>
                  <a:srgbClr val="242424"/>
                </a:solidFill>
                <a:latin typeface="Segoe UI"/>
              </a:defRPr>
            </a:pPr>
            <a:r>
              <a:t>• Create / delete term groups</a:t>
            </a:r>
          </a:p>
          <a:p>
            <a:pPr>
              <a:spcAft>
                <a:spcPts val="600"/>
              </a:spcAft>
              <a:defRPr sz="1400">
                <a:solidFill>
                  <a:srgbClr val="242424"/>
                </a:solidFill>
                <a:latin typeface="Segoe UI"/>
              </a:defRPr>
            </a:pPr>
            <a:r>
              <a:t>• Add or remove other admins</a:t>
            </a:r>
          </a:p>
          <a:p>
            <a:pPr>
              <a:spcAft>
                <a:spcPts val="600"/>
              </a:spcAft>
              <a:defRPr sz="1400">
                <a:solidFill>
                  <a:srgbClr val="242424"/>
                </a:solidFill>
                <a:latin typeface="Segoe UI"/>
              </a:defRPr>
            </a:pPr>
            <a:r>
              <a:t>• Assign group managers &amp; contributors</a:t>
            </a:r>
          </a:p>
          <a:p>
            <a:pPr>
              <a:spcAft>
                <a:spcPts val="600"/>
              </a:spcAft>
              <a:defRPr sz="1400">
                <a:solidFill>
                  <a:srgbClr val="242424"/>
                </a:solidFill>
                <a:latin typeface="Segoe UI"/>
              </a:defRPr>
            </a:pPr>
            <a:r>
              <a:t>• Change working languages</a:t>
            </a:r>
          </a:p>
          <a:p>
            <a:pPr>
              <a:spcAft>
                <a:spcPts val="600"/>
              </a:spcAft>
              <a:defRPr sz="1400">
                <a:solidFill>
                  <a:srgbClr val="242424"/>
                </a:solidFill>
                <a:latin typeface="Segoe UI"/>
              </a:defRPr>
            </a:pPr>
            <a:r>
              <a:t>• All actions of lower roles</a:t>
            </a:r>
          </a:p>
        </p:txBody>
      </p:sp>
      <p:sp>
        <p:nvSpPr>
          <p:cNvPr id="9" name="Rounded Rectangle 8"/>
          <p:cNvSpPr/>
          <p:nvPr/>
        </p:nvSpPr>
        <p:spPr>
          <a:xfrm>
            <a:off x="4343400" y="1645920"/>
            <a:ext cx="35204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645920"/>
            <a:ext cx="35204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6280" y="1828800"/>
            <a:ext cx="3154680" cy="548640"/>
          </a:xfrm>
          <a:prstGeom prst="rect">
            <a:avLst/>
          </a:prstGeom>
          <a:noFill/>
        </p:spPr>
        <p:txBody>
          <a:bodyPr wrap="square">
            <a:spAutoFit/>
          </a:bodyPr>
          <a:lstStyle/>
          <a:p>
            <a:pPr algn="ctr">
              <a:defRPr sz="2200" b="1">
                <a:solidFill>
                  <a:srgbClr val="00B294"/>
                </a:solidFill>
                <a:latin typeface="Segoe UI"/>
              </a:defRPr>
            </a:pPr>
            <a:r>
              <a:t>🛡️  Group Manager</a:t>
            </a:r>
          </a:p>
        </p:txBody>
      </p:sp>
      <p:sp>
        <p:nvSpPr>
          <p:cNvPr id="12" name="TextBox 11"/>
          <p:cNvSpPr txBox="1"/>
          <p:nvPr/>
        </p:nvSpPr>
        <p:spPr>
          <a:xfrm>
            <a:off x="4617720" y="2468880"/>
            <a:ext cx="2971800" cy="2743200"/>
          </a:xfrm>
          <a:prstGeom prst="rect">
            <a:avLst/>
          </a:prstGeom>
          <a:noFill/>
        </p:spPr>
        <p:txBody>
          <a:bodyPr wrap="square">
            <a:spAutoFit/>
          </a:bodyPr>
          <a:lstStyle/>
          <a:p>
            <a:pPr>
              <a:spcAft>
                <a:spcPts val="600"/>
              </a:spcAft>
              <a:defRPr sz="1400">
                <a:solidFill>
                  <a:srgbClr val="242424"/>
                </a:solidFill>
                <a:latin typeface="Segoe UI"/>
              </a:defRPr>
            </a:pPr>
            <a:r>
              <a:t>• Manage term sets within their group</a:t>
            </a:r>
          </a:p>
          <a:p>
            <a:pPr>
              <a:spcAft>
                <a:spcPts val="600"/>
              </a:spcAft>
              <a:defRPr sz="1400">
                <a:solidFill>
                  <a:srgbClr val="242424"/>
                </a:solidFill>
                <a:latin typeface="Segoe UI"/>
              </a:defRPr>
            </a:pPr>
            <a:r>
              <a:t>• Add or remove contributors</a:t>
            </a:r>
          </a:p>
          <a:p>
            <a:pPr>
              <a:spcAft>
                <a:spcPts val="600"/>
              </a:spcAft>
              <a:defRPr sz="1400">
                <a:solidFill>
                  <a:srgbClr val="242424"/>
                </a:solidFill>
                <a:latin typeface="Segoe UI"/>
              </a:defRPr>
            </a:pPr>
            <a:r>
              <a:t>• All actions of contributor role</a:t>
            </a:r>
          </a:p>
          <a:p>
            <a:pPr>
              <a:spcAft>
                <a:spcPts val="600"/>
              </a:spcAft>
              <a:defRPr sz="1400">
                <a:solidFill>
                  <a:srgbClr val="242424"/>
                </a:solidFill>
                <a:latin typeface="Segoe UI"/>
              </a:defRPr>
            </a:pPr>
            <a:r>
              <a:t>• Cannot create new groups</a:t>
            </a:r>
          </a:p>
        </p:txBody>
      </p:sp>
      <p:sp>
        <p:nvSpPr>
          <p:cNvPr id="13" name="Rounded Rectangle 12"/>
          <p:cNvSpPr/>
          <p:nvPr/>
        </p:nvSpPr>
        <p:spPr>
          <a:xfrm>
            <a:off x="8138160" y="1645920"/>
            <a:ext cx="35204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645920"/>
            <a:ext cx="352044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1828800"/>
            <a:ext cx="3154680" cy="548640"/>
          </a:xfrm>
          <a:prstGeom prst="rect">
            <a:avLst/>
          </a:prstGeom>
          <a:noFill/>
        </p:spPr>
        <p:txBody>
          <a:bodyPr wrap="square">
            <a:spAutoFit/>
          </a:bodyPr>
          <a:lstStyle/>
          <a:p>
            <a:pPr algn="ctr">
              <a:defRPr sz="2200" b="1">
                <a:solidFill>
                  <a:srgbClr val="6B69D6"/>
                </a:solidFill>
                <a:latin typeface="Segoe UI"/>
              </a:defRPr>
            </a:pPr>
            <a:r>
              <a:t>✏️  Contributor</a:t>
            </a:r>
          </a:p>
        </p:txBody>
      </p:sp>
      <p:sp>
        <p:nvSpPr>
          <p:cNvPr id="16" name="TextBox 15"/>
          <p:cNvSpPr txBox="1"/>
          <p:nvPr/>
        </p:nvSpPr>
        <p:spPr>
          <a:xfrm>
            <a:off x="8412480" y="2468880"/>
            <a:ext cx="2971800" cy="2743200"/>
          </a:xfrm>
          <a:prstGeom prst="rect">
            <a:avLst/>
          </a:prstGeom>
          <a:noFill/>
        </p:spPr>
        <p:txBody>
          <a:bodyPr wrap="square">
            <a:spAutoFit/>
          </a:bodyPr>
          <a:lstStyle/>
          <a:p>
            <a:pPr>
              <a:spcAft>
                <a:spcPts val="600"/>
              </a:spcAft>
              <a:defRPr sz="1400">
                <a:solidFill>
                  <a:srgbClr val="242424"/>
                </a:solidFill>
                <a:latin typeface="Segoe UI"/>
              </a:defRPr>
            </a:pPr>
            <a:r>
              <a:t>• Create / edit term sets and terms</a:t>
            </a:r>
          </a:p>
          <a:p>
            <a:pPr>
              <a:spcAft>
                <a:spcPts val="600"/>
              </a:spcAft>
              <a:defRPr sz="1400">
                <a:solidFill>
                  <a:srgbClr val="242424"/>
                </a:solidFill>
                <a:latin typeface="Segoe UI"/>
              </a:defRPr>
            </a:pPr>
            <a:r>
              <a:t>• Within assigned group only</a:t>
            </a:r>
          </a:p>
          <a:p>
            <a:pPr>
              <a:spcAft>
                <a:spcPts val="600"/>
              </a:spcAft>
              <a:defRPr sz="1400">
                <a:solidFill>
                  <a:srgbClr val="242424"/>
                </a:solidFill>
                <a:latin typeface="Segoe UI"/>
              </a:defRPr>
            </a:pPr>
            <a:r>
              <a:t>• Cannot manage roles or groups</a:t>
            </a:r>
          </a:p>
          <a:p>
            <a:pPr>
              <a:spcAft>
                <a:spcPts val="600"/>
              </a:spcAft>
              <a:defRPr sz="1400">
                <a:solidFill>
                  <a:srgbClr val="242424"/>
                </a:solidFill>
                <a:latin typeface="Segoe UI"/>
              </a:defRPr>
            </a:pPr>
            <a:r>
              <a:t>• Lowest management privilege</a:t>
            </a:r>
          </a:p>
        </p:txBody>
      </p:sp>
      <p:sp>
        <p:nvSpPr>
          <p:cNvPr id="17" name="Rounded Rectangle 16"/>
          <p:cNvSpPr/>
          <p:nvPr/>
        </p:nvSpPr>
        <p:spPr>
          <a:xfrm>
            <a:off x="731520" y="5760720"/>
            <a:ext cx="10698480" cy="548640"/>
          </a:xfrm>
          <a:prstGeom prst="roundRect">
            <a:avLst>
              <a:gd name="adj" fmla="val 5000"/>
            </a:avLst>
          </a:prstGeom>
          <a:solidFill>
            <a:srgbClr val="FD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5806440"/>
            <a:ext cx="10149840" cy="457200"/>
          </a:xfrm>
          <a:prstGeom prst="rect">
            <a:avLst/>
          </a:prstGeom>
          <a:noFill/>
        </p:spPr>
        <p:txBody>
          <a:bodyPr wrap="square">
            <a:spAutoFit/>
          </a:bodyPr>
          <a:lstStyle/>
          <a:p>
            <a:pPr algn="l">
              <a:defRPr sz="1400" b="0">
                <a:solidFill>
                  <a:srgbClr val="D13438"/>
                </a:solidFill>
                <a:latin typeface="Segoe UI"/>
              </a:defRPr>
            </a:pPr>
            <a:r>
              <a:t>⚠️  Note:  Owner, Contact, and Stakeholders labels on term sets are informational only — they do NOT grant term store permissions.</a:t>
            </a:r>
          </a:p>
        </p:txBody>
      </p:sp>
      <p:sp>
        <p:nvSpPr>
          <p:cNvPr id="19" name="Rectangle 1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21" name="TextBox 2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13 / 28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Assigning Term Store Roles</a:t>
            </a:r>
          </a:p>
        </p:txBody>
      </p:sp>
      <p:sp>
        <p:nvSpPr>
          <p:cNvPr id="4" name="Rounded Rectangle 3"/>
          <p:cNvSpPr/>
          <p:nvPr/>
        </p:nvSpPr>
        <p:spPr>
          <a:xfrm>
            <a:off x="548640" y="1280160"/>
            <a:ext cx="352044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280160"/>
            <a:ext cx="35204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63040"/>
            <a:ext cx="3154680" cy="457200"/>
          </a:xfrm>
          <a:prstGeom prst="rect">
            <a:avLst/>
          </a:prstGeom>
          <a:noFill/>
        </p:spPr>
        <p:txBody>
          <a:bodyPr wrap="square">
            <a:spAutoFit/>
          </a:bodyPr>
          <a:lstStyle/>
          <a:p>
            <a:pPr algn="ctr">
              <a:defRPr sz="1800" b="1">
                <a:solidFill>
                  <a:srgbClr val="0078D4"/>
                </a:solidFill>
                <a:latin typeface="Segoe UI"/>
              </a:defRPr>
            </a:pPr>
            <a:r>
              <a:t>Add Term Store Admin</a:t>
            </a:r>
          </a:p>
        </p:txBody>
      </p:sp>
      <p:sp>
        <p:nvSpPr>
          <p:cNvPr id="7" name="TextBox 6"/>
          <p:cNvSpPr txBox="1"/>
          <p:nvPr/>
        </p:nvSpPr>
        <p:spPr>
          <a:xfrm>
            <a:off x="914400" y="2011680"/>
            <a:ext cx="2743200" cy="2286000"/>
          </a:xfrm>
          <a:prstGeom prst="rect">
            <a:avLst/>
          </a:prstGeom>
          <a:noFill/>
        </p:spPr>
        <p:txBody>
          <a:bodyPr wrap="square">
            <a:spAutoFit/>
          </a:bodyPr>
          <a:lstStyle/>
          <a:p>
            <a:pPr>
              <a:spcAft>
                <a:spcPts val="600"/>
              </a:spcAft>
              <a:defRPr sz="1400">
                <a:solidFill>
                  <a:srgbClr val="242424"/>
                </a:solidFill>
                <a:latin typeface="Segoe UI"/>
              </a:defRPr>
            </a:pPr>
            <a:r>
              <a:t> 1. Go to Term store page</a:t>
            </a:r>
          </a:p>
          <a:p>
            <a:pPr>
              <a:spcAft>
                <a:spcPts val="600"/>
              </a:spcAft>
              <a:defRPr sz="1400">
                <a:solidFill>
                  <a:srgbClr val="242424"/>
                </a:solidFill>
                <a:latin typeface="Segoe UI"/>
              </a:defRPr>
            </a:pPr>
            <a:r>
              <a:t> 2. Select the taxonomy in tree view</a:t>
            </a:r>
          </a:p>
          <a:p>
            <a:pPr>
              <a:spcAft>
                <a:spcPts val="600"/>
              </a:spcAft>
              <a:defRPr sz="1400">
                <a:solidFill>
                  <a:srgbClr val="242424"/>
                </a:solidFill>
                <a:latin typeface="Segoe UI"/>
              </a:defRPr>
            </a:pPr>
            <a:r>
              <a:t> 3. Under Admins → click Edit</a:t>
            </a:r>
          </a:p>
          <a:p>
            <a:pPr>
              <a:spcAft>
                <a:spcPts val="600"/>
              </a:spcAft>
              <a:defRPr sz="1400">
                <a:solidFill>
                  <a:srgbClr val="242424"/>
                </a:solidFill>
                <a:latin typeface="Segoe UI"/>
              </a:defRPr>
            </a:pPr>
            <a:r>
              <a:t> 4. Enter names/email → Save</a:t>
            </a:r>
          </a:p>
        </p:txBody>
      </p:sp>
      <p:sp>
        <p:nvSpPr>
          <p:cNvPr id="8" name="Rounded Rectangle 7"/>
          <p:cNvSpPr/>
          <p:nvPr/>
        </p:nvSpPr>
        <p:spPr>
          <a:xfrm>
            <a:off x="4343400" y="1280160"/>
            <a:ext cx="352044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43400" y="1280160"/>
            <a:ext cx="35204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1463040"/>
            <a:ext cx="3154680" cy="457200"/>
          </a:xfrm>
          <a:prstGeom prst="rect">
            <a:avLst/>
          </a:prstGeom>
          <a:noFill/>
        </p:spPr>
        <p:txBody>
          <a:bodyPr wrap="square">
            <a:spAutoFit/>
          </a:bodyPr>
          <a:lstStyle/>
          <a:p>
            <a:pPr algn="ctr">
              <a:defRPr sz="1800" b="1">
                <a:solidFill>
                  <a:srgbClr val="00B294"/>
                </a:solidFill>
                <a:latin typeface="Segoe UI"/>
              </a:defRPr>
            </a:pPr>
            <a:r>
              <a:t>Add Group Manager</a:t>
            </a:r>
          </a:p>
        </p:txBody>
      </p:sp>
      <p:sp>
        <p:nvSpPr>
          <p:cNvPr id="11" name="TextBox 10"/>
          <p:cNvSpPr txBox="1"/>
          <p:nvPr/>
        </p:nvSpPr>
        <p:spPr>
          <a:xfrm>
            <a:off x="4709160" y="2011680"/>
            <a:ext cx="2743200" cy="2286000"/>
          </a:xfrm>
          <a:prstGeom prst="rect">
            <a:avLst/>
          </a:prstGeom>
          <a:noFill/>
        </p:spPr>
        <p:txBody>
          <a:bodyPr wrap="square">
            <a:spAutoFit/>
          </a:bodyPr>
          <a:lstStyle/>
          <a:p>
            <a:pPr>
              <a:spcAft>
                <a:spcPts val="600"/>
              </a:spcAft>
              <a:defRPr sz="1400">
                <a:solidFill>
                  <a:srgbClr val="242424"/>
                </a:solidFill>
                <a:latin typeface="Segoe UI"/>
              </a:defRPr>
            </a:pPr>
            <a:r>
              <a:t> 1. Select the target term group</a:t>
            </a:r>
          </a:p>
          <a:p>
            <a:pPr>
              <a:spcAft>
                <a:spcPts val="600"/>
              </a:spcAft>
              <a:defRPr sz="1400">
                <a:solidFill>
                  <a:srgbClr val="242424"/>
                </a:solidFill>
                <a:latin typeface="Segoe UI"/>
              </a:defRPr>
            </a:pPr>
            <a:r>
              <a:t> 2. Go to People page</a:t>
            </a:r>
          </a:p>
          <a:p>
            <a:pPr>
              <a:spcAft>
                <a:spcPts val="600"/>
              </a:spcAft>
              <a:defRPr sz="1400">
                <a:solidFill>
                  <a:srgbClr val="242424"/>
                </a:solidFill>
                <a:latin typeface="Segoe UI"/>
              </a:defRPr>
            </a:pPr>
            <a:r>
              <a:t> 3. Under Group Managers → Edit</a:t>
            </a:r>
          </a:p>
          <a:p>
            <a:pPr>
              <a:spcAft>
                <a:spcPts val="600"/>
              </a:spcAft>
              <a:defRPr sz="1400">
                <a:solidFill>
                  <a:srgbClr val="242424"/>
                </a:solidFill>
                <a:latin typeface="Segoe UI"/>
              </a:defRPr>
            </a:pPr>
            <a:r>
              <a:t> 4. Enter names/email → Save</a:t>
            </a:r>
          </a:p>
        </p:txBody>
      </p:sp>
      <p:sp>
        <p:nvSpPr>
          <p:cNvPr id="12" name="Rounded Rectangle 11"/>
          <p:cNvSpPr/>
          <p:nvPr/>
        </p:nvSpPr>
        <p:spPr>
          <a:xfrm>
            <a:off x="8138160" y="1280160"/>
            <a:ext cx="352044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38160" y="1280160"/>
            <a:ext cx="352044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1463040"/>
            <a:ext cx="3154680" cy="457200"/>
          </a:xfrm>
          <a:prstGeom prst="rect">
            <a:avLst/>
          </a:prstGeom>
          <a:noFill/>
        </p:spPr>
        <p:txBody>
          <a:bodyPr wrap="square">
            <a:spAutoFit/>
          </a:bodyPr>
          <a:lstStyle/>
          <a:p>
            <a:pPr algn="ctr">
              <a:defRPr sz="1800" b="1">
                <a:solidFill>
                  <a:srgbClr val="6B69D6"/>
                </a:solidFill>
                <a:latin typeface="Segoe UI"/>
              </a:defRPr>
            </a:pPr>
            <a:r>
              <a:t>Add Contributor</a:t>
            </a:r>
          </a:p>
        </p:txBody>
      </p:sp>
      <p:sp>
        <p:nvSpPr>
          <p:cNvPr id="15" name="TextBox 14"/>
          <p:cNvSpPr txBox="1"/>
          <p:nvPr/>
        </p:nvSpPr>
        <p:spPr>
          <a:xfrm>
            <a:off x="8503920" y="2011680"/>
            <a:ext cx="2743200" cy="2286000"/>
          </a:xfrm>
          <a:prstGeom prst="rect">
            <a:avLst/>
          </a:prstGeom>
          <a:noFill/>
        </p:spPr>
        <p:txBody>
          <a:bodyPr wrap="square">
            <a:spAutoFit/>
          </a:bodyPr>
          <a:lstStyle/>
          <a:p>
            <a:pPr>
              <a:spcAft>
                <a:spcPts val="600"/>
              </a:spcAft>
              <a:defRPr sz="1400">
                <a:solidFill>
                  <a:srgbClr val="242424"/>
                </a:solidFill>
                <a:latin typeface="Segoe UI"/>
              </a:defRPr>
            </a:pPr>
            <a:r>
              <a:t> 1. Select the target term group</a:t>
            </a:r>
          </a:p>
          <a:p>
            <a:pPr>
              <a:spcAft>
                <a:spcPts val="600"/>
              </a:spcAft>
              <a:defRPr sz="1400">
                <a:solidFill>
                  <a:srgbClr val="242424"/>
                </a:solidFill>
                <a:latin typeface="Segoe UI"/>
              </a:defRPr>
            </a:pPr>
            <a:r>
              <a:t> 2. Go to People page</a:t>
            </a:r>
          </a:p>
          <a:p>
            <a:pPr>
              <a:spcAft>
                <a:spcPts val="600"/>
              </a:spcAft>
              <a:defRPr sz="1400">
                <a:solidFill>
                  <a:srgbClr val="242424"/>
                </a:solidFill>
                <a:latin typeface="Segoe UI"/>
              </a:defRPr>
            </a:pPr>
            <a:r>
              <a:t> 3. Under Contributors → Edit</a:t>
            </a:r>
          </a:p>
          <a:p>
            <a:pPr>
              <a:spcAft>
                <a:spcPts val="600"/>
              </a:spcAft>
              <a:defRPr sz="1400">
                <a:solidFill>
                  <a:srgbClr val="242424"/>
                </a:solidFill>
                <a:latin typeface="Segoe UI"/>
              </a:defRPr>
            </a:pPr>
            <a:r>
              <a:t> 4. Enter names/email → Save</a:t>
            </a:r>
          </a:p>
        </p:txBody>
      </p:sp>
      <p:sp>
        <p:nvSpPr>
          <p:cNvPr id="16" name="Rounded Rectangle 15"/>
          <p:cNvSpPr/>
          <p:nvPr/>
        </p:nvSpPr>
        <p:spPr>
          <a:xfrm>
            <a:off x="731520" y="4846320"/>
            <a:ext cx="10698480" cy="45720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4892040"/>
            <a:ext cx="10149840" cy="365760"/>
          </a:xfrm>
          <a:prstGeom prst="rect">
            <a:avLst/>
          </a:prstGeom>
          <a:noFill/>
        </p:spPr>
        <p:txBody>
          <a:bodyPr wrap="square">
            <a:spAutoFit/>
          </a:bodyPr>
          <a:lstStyle/>
          <a:p>
            <a:pPr algn="l">
              <a:defRPr sz="1400" b="0">
                <a:solidFill>
                  <a:srgbClr val="242424"/>
                </a:solidFill>
                <a:latin typeface="Segoe UI"/>
              </a:defRPr>
            </a:pPr>
            <a:r>
              <a:t>📍  Path:  SharePoint admin center → Content services → Term store</a:t>
            </a:r>
          </a:p>
        </p:txBody>
      </p:sp>
      <p:sp>
        <p:nvSpPr>
          <p:cNvPr id="18" name="Rectangle 1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20" name="TextBox 1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14 / 28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1B1B2F"/>
                </a:solidFill>
                <a:latin typeface="Segoe UI"/>
              </a:defRPr>
            </a:pPr>
            <a:r>
              <a:t>What Can Site Users Do with Metadata?</a:t>
            </a:r>
          </a:p>
        </p:txBody>
      </p:sp>
      <p:sp>
        <p:nvSpPr>
          <p:cNvPr id="4" name="Rounded Rectangle 3"/>
          <p:cNvSpPr/>
          <p:nvPr/>
        </p:nvSpPr>
        <p:spPr>
          <a:xfrm>
            <a:off x="548640" y="137160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554480"/>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6" name="TextBox 5"/>
          <p:cNvSpPr txBox="1"/>
          <p:nvPr/>
        </p:nvSpPr>
        <p:spPr>
          <a:xfrm>
            <a:off x="1463040" y="1554480"/>
            <a:ext cx="2286000" cy="365760"/>
          </a:xfrm>
          <a:prstGeom prst="rect">
            <a:avLst/>
          </a:prstGeom>
          <a:noFill/>
        </p:spPr>
        <p:txBody>
          <a:bodyPr wrap="square">
            <a:spAutoFit/>
          </a:bodyPr>
          <a:lstStyle/>
          <a:p>
            <a:pPr algn="l">
              <a:defRPr sz="1800" b="1">
                <a:solidFill>
                  <a:srgbClr val="0078D4"/>
                </a:solidFill>
                <a:latin typeface="Segoe UI"/>
              </a:defRPr>
            </a:pPr>
            <a:r>
              <a:t>Tag Items</a:t>
            </a:r>
          </a:p>
        </p:txBody>
      </p:sp>
      <p:sp>
        <p:nvSpPr>
          <p:cNvPr id="7" name="TextBox 6"/>
          <p:cNvSpPr txBox="1"/>
          <p:nvPr/>
        </p:nvSpPr>
        <p:spPr>
          <a:xfrm>
            <a:off x="1463040" y="2011680"/>
            <a:ext cx="2286000" cy="1097280"/>
          </a:xfrm>
          <a:prstGeom prst="rect">
            <a:avLst/>
          </a:prstGeom>
          <a:noFill/>
        </p:spPr>
        <p:txBody>
          <a:bodyPr wrap="square">
            <a:spAutoFit/>
          </a:bodyPr>
          <a:lstStyle/>
          <a:p>
            <a:pPr algn="l">
              <a:defRPr sz="1300" b="0">
                <a:solidFill>
                  <a:srgbClr val="242424"/>
                </a:solidFill>
                <a:latin typeface="Segoe UI"/>
              </a:defRPr>
            </a:pPr>
            <a:r>
              <a:t>Update managed metadata columns</a:t>
            </a:r>
            <a:br/>
            <a:r>
              <a:t>(if term set is open or allows fill-in)</a:t>
            </a:r>
          </a:p>
        </p:txBody>
      </p:sp>
      <p:sp>
        <p:nvSpPr>
          <p:cNvPr id="8" name="Rounded Rectangle 7"/>
          <p:cNvSpPr/>
          <p:nvPr/>
        </p:nvSpPr>
        <p:spPr>
          <a:xfrm>
            <a:off x="4297679" y="137160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1999" y="1554480"/>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0" name="TextBox 9"/>
          <p:cNvSpPr txBox="1"/>
          <p:nvPr/>
        </p:nvSpPr>
        <p:spPr>
          <a:xfrm>
            <a:off x="5212079" y="1554480"/>
            <a:ext cx="2286000" cy="365760"/>
          </a:xfrm>
          <a:prstGeom prst="rect">
            <a:avLst/>
          </a:prstGeom>
          <a:noFill/>
        </p:spPr>
        <p:txBody>
          <a:bodyPr wrap="square">
            <a:spAutoFit/>
          </a:bodyPr>
          <a:lstStyle/>
          <a:p>
            <a:pPr algn="l">
              <a:defRPr sz="1800" b="1">
                <a:solidFill>
                  <a:srgbClr val="0078D4"/>
                </a:solidFill>
                <a:latin typeface="Segoe UI"/>
              </a:defRPr>
            </a:pPr>
            <a:r>
              <a:t>Add Keywords</a:t>
            </a:r>
          </a:p>
        </p:txBody>
      </p:sp>
      <p:sp>
        <p:nvSpPr>
          <p:cNvPr id="11" name="TextBox 10"/>
          <p:cNvSpPr txBox="1"/>
          <p:nvPr/>
        </p:nvSpPr>
        <p:spPr>
          <a:xfrm>
            <a:off x="5212079" y="2011680"/>
            <a:ext cx="2286000" cy="1097280"/>
          </a:xfrm>
          <a:prstGeom prst="rect">
            <a:avLst/>
          </a:prstGeom>
          <a:noFill/>
        </p:spPr>
        <p:txBody>
          <a:bodyPr wrap="square">
            <a:spAutoFit/>
          </a:bodyPr>
          <a:lstStyle/>
          <a:p>
            <a:pPr algn="l">
              <a:defRPr sz="1300" b="0">
                <a:solidFill>
                  <a:srgbClr val="242424"/>
                </a:solidFill>
                <a:latin typeface="Segoe UI"/>
              </a:defRPr>
            </a:pPr>
            <a:r>
              <a:t>Add enterprise keywords when</a:t>
            </a:r>
            <a:br/>
            <a:r>
              <a:t>the keywords column is enabled</a:t>
            </a:r>
          </a:p>
        </p:txBody>
      </p:sp>
      <p:sp>
        <p:nvSpPr>
          <p:cNvPr id="12" name="Rounded Rectangle 11"/>
          <p:cNvSpPr/>
          <p:nvPr/>
        </p:nvSpPr>
        <p:spPr>
          <a:xfrm>
            <a:off x="8046719" y="137160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39" y="1554480"/>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4" name="TextBox 13"/>
          <p:cNvSpPr txBox="1"/>
          <p:nvPr/>
        </p:nvSpPr>
        <p:spPr>
          <a:xfrm>
            <a:off x="8961119" y="1554480"/>
            <a:ext cx="2286000" cy="365760"/>
          </a:xfrm>
          <a:prstGeom prst="rect">
            <a:avLst/>
          </a:prstGeom>
          <a:noFill/>
        </p:spPr>
        <p:txBody>
          <a:bodyPr wrap="square">
            <a:spAutoFit/>
          </a:bodyPr>
          <a:lstStyle/>
          <a:p>
            <a:pPr algn="l">
              <a:defRPr sz="1800" b="1">
                <a:solidFill>
                  <a:srgbClr val="0078D4"/>
                </a:solidFill>
                <a:latin typeface="Segoe UI"/>
              </a:defRPr>
            </a:pPr>
            <a:r>
              <a:t>Navigate by Metadata</a:t>
            </a:r>
          </a:p>
        </p:txBody>
      </p:sp>
      <p:sp>
        <p:nvSpPr>
          <p:cNvPr id="15" name="TextBox 14"/>
          <p:cNvSpPr txBox="1"/>
          <p:nvPr/>
        </p:nvSpPr>
        <p:spPr>
          <a:xfrm>
            <a:off x="8961119" y="2011680"/>
            <a:ext cx="2286000" cy="1097280"/>
          </a:xfrm>
          <a:prstGeom prst="rect">
            <a:avLst/>
          </a:prstGeom>
          <a:noFill/>
        </p:spPr>
        <p:txBody>
          <a:bodyPr wrap="square">
            <a:spAutoFit/>
          </a:bodyPr>
          <a:lstStyle/>
          <a:p>
            <a:pPr algn="l">
              <a:defRPr sz="1300" b="0">
                <a:solidFill>
                  <a:srgbClr val="242424"/>
                </a:solidFill>
                <a:latin typeface="Segoe UI"/>
              </a:defRPr>
            </a:pPr>
            <a:r>
              <a:t>Use metadata navigation to filter</a:t>
            </a:r>
            <a:br/>
            <a:r>
              <a:t>and browse list/library items</a:t>
            </a:r>
          </a:p>
        </p:txBody>
      </p:sp>
      <p:sp>
        <p:nvSpPr>
          <p:cNvPr id="16" name="Rounded Rectangle 15"/>
          <p:cNvSpPr/>
          <p:nvPr/>
        </p:nvSpPr>
        <p:spPr>
          <a:xfrm>
            <a:off x="548640" y="3749039"/>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3931919"/>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8" name="TextBox 17"/>
          <p:cNvSpPr txBox="1"/>
          <p:nvPr/>
        </p:nvSpPr>
        <p:spPr>
          <a:xfrm>
            <a:off x="1463040" y="3931919"/>
            <a:ext cx="2286000" cy="365760"/>
          </a:xfrm>
          <a:prstGeom prst="rect">
            <a:avLst/>
          </a:prstGeom>
          <a:noFill/>
        </p:spPr>
        <p:txBody>
          <a:bodyPr wrap="square">
            <a:spAutoFit/>
          </a:bodyPr>
          <a:lstStyle/>
          <a:p>
            <a:pPr algn="l">
              <a:defRPr sz="1800" b="1">
                <a:solidFill>
                  <a:srgbClr val="0078D4"/>
                </a:solidFill>
                <a:latin typeface="Segoe UI"/>
              </a:defRPr>
            </a:pPr>
            <a:r>
              <a:t>Refine Search</a:t>
            </a:r>
          </a:p>
        </p:txBody>
      </p:sp>
      <p:sp>
        <p:nvSpPr>
          <p:cNvPr id="19" name="TextBox 18"/>
          <p:cNvSpPr txBox="1"/>
          <p:nvPr/>
        </p:nvSpPr>
        <p:spPr>
          <a:xfrm>
            <a:off x="1463040" y="4389119"/>
            <a:ext cx="2286000" cy="1097280"/>
          </a:xfrm>
          <a:prstGeom prst="rect">
            <a:avLst/>
          </a:prstGeom>
          <a:noFill/>
        </p:spPr>
        <p:txBody>
          <a:bodyPr wrap="square">
            <a:spAutoFit/>
          </a:bodyPr>
          <a:lstStyle/>
          <a:p>
            <a:pPr algn="l">
              <a:defRPr sz="1300" b="0">
                <a:solidFill>
                  <a:srgbClr val="242424"/>
                </a:solidFill>
                <a:latin typeface="Segoe UI"/>
              </a:defRPr>
            </a:pPr>
            <a:r>
              <a:t>Use managed terms to refine</a:t>
            </a:r>
            <a:br/>
            <a:r>
              <a:t>search results via the panel</a:t>
            </a:r>
          </a:p>
        </p:txBody>
      </p:sp>
      <p:sp>
        <p:nvSpPr>
          <p:cNvPr id="20" name="Rounded Rectangle 19"/>
          <p:cNvSpPr/>
          <p:nvPr/>
        </p:nvSpPr>
        <p:spPr>
          <a:xfrm>
            <a:off x="4297679" y="3749039"/>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1999" y="3931919"/>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22" name="TextBox 21"/>
          <p:cNvSpPr txBox="1"/>
          <p:nvPr/>
        </p:nvSpPr>
        <p:spPr>
          <a:xfrm>
            <a:off x="5212079" y="3931919"/>
            <a:ext cx="2286000" cy="365760"/>
          </a:xfrm>
          <a:prstGeom prst="rect">
            <a:avLst/>
          </a:prstGeom>
          <a:noFill/>
        </p:spPr>
        <p:txBody>
          <a:bodyPr wrap="square">
            <a:spAutoFit/>
          </a:bodyPr>
          <a:lstStyle/>
          <a:p>
            <a:pPr algn="l">
              <a:defRPr sz="1800" b="1">
                <a:solidFill>
                  <a:srgbClr val="0078D4"/>
                </a:solidFill>
                <a:latin typeface="Segoe UI"/>
              </a:defRPr>
            </a:pPr>
            <a:r>
              <a:t>Create Local Sets</a:t>
            </a:r>
          </a:p>
        </p:txBody>
      </p:sp>
      <p:sp>
        <p:nvSpPr>
          <p:cNvPr id="23" name="TextBox 22"/>
          <p:cNvSpPr txBox="1"/>
          <p:nvPr/>
        </p:nvSpPr>
        <p:spPr>
          <a:xfrm>
            <a:off x="5212079" y="4389119"/>
            <a:ext cx="2286000" cy="1097280"/>
          </a:xfrm>
          <a:prstGeom prst="rect">
            <a:avLst/>
          </a:prstGeom>
          <a:noFill/>
        </p:spPr>
        <p:txBody>
          <a:bodyPr wrap="square">
            <a:spAutoFit/>
          </a:bodyPr>
          <a:lstStyle/>
          <a:p>
            <a:pPr algn="l">
              <a:defRPr sz="1300" b="0">
                <a:solidFill>
                  <a:srgbClr val="242424"/>
                </a:solidFill>
                <a:latin typeface="Segoe UI"/>
              </a:defRPr>
            </a:pPr>
            <a:r>
              <a:t>Site owners can create local term</a:t>
            </a:r>
            <a:br/>
            <a:r>
              <a:t>sets when adding MM columns</a:t>
            </a:r>
          </a:p>
        </p:txBody>
      </p:sp>
      <p:sp>
        <p:nvSpPr>
          <p:cNvPr id="24" name="Rounded Rectangle 23"/>
          <p:cNvSpPr/>
          <p:nvPr/>
        </p:nvSpPr>
        <p:spPr>
          <a:xfrm>
            <a:off x="8046719" y="3749039"/>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21039" y="3931919"/>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26" name="TextBox 25"/>
          <p:cNvSpPr txBox="1"/>
          <p:nvPr/>
        </p:nvSpPr>
        <p:spPr>
          <a:xfrm>
            <a:off x="8961119" y="3931919"/>
            <a:ext cx="2286000" cy="365760"/>
          </a:xfrm>
          <a:prstGeom prst="rect">
            <a:avLst/>
          </a:prstGeom>
          <a:noFill/>
        </p:spPr>
        <p:txBody>
          <a:bodyPr wrap="square">
            <a:spAutoFit/>
          </a:bodyPr>
          <a:lstStyle/>
          <a:p>
            <a:pPr algn="l">
              <a:defRPr sz="1800" b="1">
                <a:solidFill>
                  <a:srgbClr val="0078D4"/>
                </a:solidFill>
                <a:latin typeface="Segoe UI"/>
              </a:defRPr>
            </a:pPr>
            <a:r>
              <a:t>Contribute to Open Sets</a:t>
            </a:r>
          </a:p>
        </p:txBody>
      </p:sp>
      <p:sp>
        <p:nvSpPr>
          <p:cNvPr id="27" name="TextBox 26"/>
          <p:cNvSpPr txBox="1"/>
          <p:nvPr/>
        </p:nvSpPr>
        <p:spPr>
          <a:xfrm>
            <a:off x="8961119" y="4389119"/>
            <a:ext cx="2286000" cy="1097280"/>
          </a:xfrm>
          <a:prstGeom prst="rect">
            <a:avLst/>
          </a:prstGeom>
          <a:noFill/>
        </p:spPr>
        <p:txBody>
          <a:bodyPr wrap="square">
            <a:spAutoFit/>
          </a:bodyPr>
          <a:lstStyle/>
          <a:p>
            <a:pPr algn="l">
              <a:defRPr sz="1300" b="0">
                <a:solidFill>
                  <a:srgbClr val="242424"/>
                </a:solidFill>
                <a:latin typeface="Segoe UI"/>
              </a:defRPr>
            </a:pPr>
            <a:r>
              <a:t>Add new terms to open term sets</a:t>
            </a:r>
            <a:br/>
            <a:r>
              <a:t>when tagging content</a:t>
            </a:r>
          </a:p>
        </p:txBody>
      </p:sp>
      <p:sp>
        <p:nvSpPr>
          <p:cNvPr id="28" name="Rectangle 2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30" name="TextBox 2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15 / 28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Applying Metadata</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From term store to library columns — hands-on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Creating a Term Group</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Prerequisite: you must be a Term Store Admin</a:t>
            </a:r>
          </a:p>
        </p:txBody>
      </p:sp>
      <p:sp>
        <p:nvSpPr>
          <p:cNvPr id="5" name="Rounded Rectangle 4"/>
          <p:cNvSpPr/>
          <p:nvPr/>
        </p:nvSpPr>
        <p:spPr>
          <a:xfrm>
            <a:off x="54864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5087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1</a:t>
            </a:r>
          </a:p>
        </p:txBody>
      </p:sp>
      <p:sp>
        <p:nvSpPr>
          <p:cNvPr id="8" name="TextBox 7"/>
          <p:cNvSpPr txBox="1"/>
          <p:nvPr/>
        </p:nvSpPr>
        <p:spPr>
          <a:xfrm>
            <a:off x="731520" y="2651760"/>
            <a:ext cx="2286000" cy="457200"/>
          </a:xfrm>
          <a:prstGeom prst="rect">
            <a:avLst/>
          </a:prstGeom>
          <a:noFill/>
        </p:spPr>
        <p:txBody>
          <a:bodyPr wrap="square">
            <a:spAutoFit/>
          </a:bodyPr>
          <a:lstStyle/>
          <a:p>
            <a:pPr algn="ctr">
              <a:defRPr sz="1800" b="1">
                <a:solidFill>
                  <a:srgbClr val="0078D4"/>
                </a:solidFill>
                <a:latin typeface="Segoe UI"/>
              </a:defRPr>
            </a:pPr>
            <a:r>
              <a:t>Navigate</a:t>
            </a:r>
          </a:p>
        </p:txBody>
      </p:sp>
      <p:sp>
        <p:nvSpPr>
          <p:cNvPr id="9" name="TextBox 8"/>
          <p:cNvSpPr txBox="1"/>
          <p:nvPr/>
        </p:nvSpPr>
        <p:spPr>
          <a:xfrm>
            <a:off x="731520" y="3200400"/>
            <a:ext cx="2286000" cy="1097280"/>
          </a:xfrm>
          <a:prstGeom prst="rect">
            <a:avLst/>
          </a:prstGeom>
          <a:noFill/>
        </p:spPr>
        <p:txBody>
          <a:bodyPr wrap="square">
            <a:spAutoFit/>
          </a:bodyPr>
          <a:lstStyle/>
          <a:p>
            <a:pPr algn="ctr">
              <a:defRPr sz="1400" b="0">
                <a:solidFill>
                  <a:srgbClr val="242424"/>
                </a:solidFill>
                <a:latin typeface="Segoe UI"/>
              </a:defRPr>
            </a:pPr>
            <a:r>
              <a:t>SharePoint admin center →</a:t>
            </a:r>
            <a:br/>
            <a:r>
              <a:t>Content services → Term store</a:t>
            </a:r>
          </a:p>
        </p:txBody>
      </p:sp>
      <p:sp>
        <p:nvSpPr>
          <p:cNvPr id="10" name="Rounded Rectangle 9"/>
          <p:cNvSpPr/>
          <p:nvPr/>
        </p:nvSpPr>
        <p:spPr>
          <a:xfrm>
            <a:off x="342900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891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2</a:t>
            </a:r>
          </a:p>
        </p:txBody>
      </p:sp>
      <p:sp>
        <p:nvSpPr>
          <p:cNvPr id="13" name="TextBox 12"/>
          <p:cNvSpPr txBox="1"/>
          <p:nvPr/>
        </p:nvSpPr>
        <p:spPr>
          <a:xfrm>
            <a:off x="3611880" y="2651760"/>
            <a:ext cx="2286000" cy="457200"/>
          </a:xfrm>
          <a:prstGeom prst="rect">
            <a:avLst/>
          </a:prstGeom>
          <a:noFill/>
        </p:spPr>
        <p:txBody>
          <a:bodyPr wrap="square">
            <a:spAutoFit/>
          </a:bodyPr>
          <a:lstStyle/>
          <a:p>
            <a:pPr algn="ctr">
              <a:defRPr sz="1800" b="1">
                <a:solidFill>
                  <a:srgbClr val="00B294"/>
                </a:solidFill>
                <a:latin typeface="Segoe UI"/>
              </a:defRPr>
            </a:pPr>
            <a:r>
              <a:t>Add Group</a:t>
            </a:r>
          </a:p>
        </p:txBody>
      </p:sp>
      <p:sp>
        <p:nvSpPr>
          <p:cNvPr id="14" name="TextBox 13"/>
          <p:cNvSpPr txBox="1"/>
          <p:nvPr/>
        </p:nvSpPr>
        <p:spPr>
          <a:xfrm>
            <a:off x="3611880" y="3200400"/>
            <a:ext cx="2286000" cy="1097280"/>
          </a:xfrm>
          <a:prstGeom prst="rect">
            <a:avLst/>
          </a:prstGeom>
          <a:noFill/>
        </p:spPr>
        <p:txBody>
          <a:bodyPr wrap="square">
            <a:spAutoFit/>
          </a:bodyPr>
          <a:lstStyle/>
          <a:p>
            <a:pPr algn="ctr">
              <a:defRPr sz="1400" b="0">
                <a:solidFill>
                  <a:srgbClr val="242424"/>
                </a:solidFill>
                <a:latin typeface="Segoe UI"/>
              </a:defRPr>
            </a:pPr>
            <a:r>
              <a:t>Click 'Add term group'</a:t>
            </a:r>
            <a:br/>
            <a:r>
              <a:t>in the right pane</a:t>
            </a:r>
          </a:p>
        </p:txBody>
      </p:sp>
      <p:sp>
        <p:nvSpPr>
          <p:cNvPr id="15" name="Rounded Rectangle 14"/>
          <p:cNvSpPr/>
          <p:nvPr/>
        </p:nvSpPr>
        <p:spPr>
          <a:xfrm>
            <a:off x="630935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269479"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3</a:t>
            </a:r>
          </a:p>
        </p:txBody>
      </p:sp>
      <p:sp>
        <p:nvSpPr>
          <p:cNvPr id="18" name="TextBox 17"/>
          <p:cNvSpPr txBox="1"/>
          <p:nvPr/>
        </p:nvSpPr>
        <p:spPr>
          <a:xfrm>
            <a:off x="6492239" y="2651760"/>
            <a:ext cx="2286000" cy="457200"/>
          </a:xfrm>
          <a:prstGeom prst="rect">
            <a:avLst/>
          </a:prstGeom>
          <a:noFill/>
        </p:spPr>
        <p:txBody>
          <a:bodyPr wrap="square">
            <a:spAutoFit/>
          </a:bodyPr>
          <a:lstStyle/>
          <a:p>
            <a:pPr algn="ctr">
              <a:defRPr sz="1800" b="1">
                <a:solidFill>
                  <a:srgbClr val="6B69D6"/>
                </a:solidFill>
                <a:latin typeface="Segoe UI"/>
              </a:defRPr>
            </a:pPr>
            <a:r>
              <a:t>Name It</a:t>
            </a:r>
          </a:p>
        </p:txBody>
      </p:sp>
      <p:sp>
        <p:nvSpPr>
          <p:cNvPr id="19" name="TextBox 18"/>
          <p:cNvSpPr txBox="1"/>
          <p:nvPr/>
        </p:nvSpPr>
        <p:spPr>
          <a:xfrm>
            <a:off x="6492239" y="3200400"/>
            <a:ext cx="2286000" cy="1097280"/>
          </a:xfrm>
          <a:prstGeom prst="rect">
            <a:avLst/>
          </a:prstGeom>
          <a:noFill/>
        </p:spPr>
        <p:txBody>
          <a:bodyPr wrap="square">
            <a:spAutoFit/>
          </a:bodyPr>
          <a:lstStyle/>
          <a:p>
            <a:pPr algn="ctr">
              <a:defRPr sz="1400" b="0">
                <a:solidFill>
                  <a:srgbClr val="242424"/>
                </a:solidFill>
                <a:latin typeface="Segoe UI"/>
              </a:defRPr>
            </a:pPr>
            <a:r>
              <a:t>Enter group name</a:t>
            </a:r>
            <a:br/>
            <a:r>
              <a:t>(e.g. NW-Pxx-TermGroup) → Enter</a:t>
            </a:r>
          </a:p>
        </p:txBody>
      </p:sp>
      <p:sp>
        <p:nvSpPr>
          <p:cNvPr id="20" name="Rounded Rectangle 19"/>
          <p:cNvSpPr/>
          <p:nvPr/>
        </p:nvSpPr>
        <p:spPr>
          <a:xfrm>
            <a:off x="918971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149839" y="1828800"/>
            <a:ext cx="640080" cy="64008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4</a:t>
            </a:r>
          </a:p>
        </p:txBody>
      </p:sp>
      <p:sp>
        <p:nvSpPr>
          <p:cNvPr id="23" name="TextBox 22"/>
          <p:cNvSpPr txBox="1"/>
          <p:nvPr/>
        </p:nvSpPr>
        <p:spPr>
          <a:xfrm>
            <a:off x="9372599" y="2651760"/>
            <a:ext cx="2286000" cy="457200"/>
          </a:xfrm>
          <a:prstGeom prst="rect">
            <a:avLst/>
          </a:prstGeom>
          <a:noFill/>
        </p:spPr>
        <p:txBody>
          <a:bodyPr wrap="square">
            <a:spAutoFit/>
          </a:bodyPr>
          <a:lstStyle/>
          <a:p>
            <a:pPr algn="ctr">
              <a:defRPr sz="1800" b="1">
                <a:solidFill>
                  <a:srgbClr val="FF8C00"/>
                </a:solidFill>
                <a:latin typeface="Segoe UI"/>
              </a:defRPr>
            </a:pPr>
            <a:r>
              <a:t>Configure</a:t>
            </a:r>
          </a:p>
        </p:txBody>
      </p:sp>
      <p:sp>
        <p:nvSpPr>
          <p:cNvPr id="24" name="TextBox 23"/>
          <p:cNvSpPr txBox="1"/>
          <p:nvPr/>
        </p:nvSpPr>
        <p:spPr>
          <a:xfrm>
            <a:off x="9372599" y="3200400"/>
            <a:ext cx="2286000" cy="1097280"/>
          </a:xfrm>
          <a:prstGeom prst="rect">
            <a:avLst/>
          </a:prstGeom>
          <a:noFill/>
        </p:spPr>
        <p:txBody>
          <a:bodyPr wrap="square">
            <a:spAutoFit/>
          </a:bodyPr>
          <a:lstStyle/>
          <a:p>
            <a:pPr algn="ctr">
              <a:defRPr sz="1400" b="0">
                <a:solidFill>
                  <a:srgbClr val="242424"/>
                </a:solidFill>
                <a:latin typeface="Segoe UI"/>
              </a:defRPr>
            </a:pPr>
            <a:r>
              <a:t>Add description, assign</a:t>
            </a:r>
            <a:br/>
            <a:r>
              <a:t>group managers &amp; contributors</a:t>
            </a:r>
          </a:p>
        </p:txBody>
      </p:sp>
      <p:sp>
        <p:nvSpPr>
          <p:cNvPr id="25" name="Rectangle 2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27" name="TextBox 2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17 / 28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Creating a Term Set &amp; Adding Terms</a:t>
            </a:r>
          </a:p>
        </p:txBody>
      </p:sp>
      <p:sp>
        <p:nvSpPr>
          <p:cNvPr id="4" name="Rounded Rectangle 3"/>
          <p:cNvSpPr/>
          <p:nvPr/>
        </p:nvSpPr>
        <p:spPr>
          <a:xfrm>
            <a:off x="731520" y="1280160"/>
            <a:ext cx="5120640" cy="4389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280160"/>
            <a:ext cx="51206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63040"/>
            <a:ext cx="4754880" cy="457200"/>
          </a:xfrm>
          <a:prstGeom prst="rect">
            <a:avLst/>
          </a:prstGeom>
          <a:noFill/>
        </p:spPr>
        <p:txBody>
          <a:bodyPr wrap="square">
            <a:spAutoFit/>
          </a:bodyPr>
          <a:lstStyle/>
          <a:p>
            <a:pPr algn="ctr">
              <a:defRPr sz="2200" b="1">
                <a:solidFill>
                  <a:srgbClr val="00B294"/>
                </a:solidFill>
                <a:latin typeface="Segoe UI"/>
              </a:defRPr>
            </a:pPr>
            <a:r>
              <a:t>📋  Create Term Set</a:t>
            </a:r>
          </a:p>
        </p:txBody>
      </p:sp>
      <p:sp>
        <p:nvSpPr>
          <p:cNvPr id="7" name="TextBox 6"/>
          <p:cNvSpPr txBox="1"/>
          <p:nvPr/>
        </p:nvSpPr>
        <p:spPr>
          <a:xfrm>
            <a:off x="1097280" y="2103120"/>
            <a:ext cx="4572000" cy="3200400"/>
          </a:xfrm>
          <a:prstGeom prst="rect">
            <a:avLst/>
          </a:prstGeom>
          <a:noFill/>
        </p:spPr>
        <p:txBody>
          <a:bodyPr wrap="square">
            <a:spAutoFit/>
          </a:bodyPr>
          <a:lstStyle/>
          <a:p>
            <a:pPr>
              <a:spcAft>
                <a:spcPts val="600"/>
              </a:spcAft>
              <a:defRPr sz="1500">
                <a:solidFill>
                  <a:srgbClr val="242424"/>
                </a:solidFill>
                <a:latin typeface="Segoe UI"/>
              </a:defRPr>
            </a:pPr>
            <a:r>
              <a:t> 1. Expand the group → click 'Add term set'</a:t>
            </a:r>
          </a:p>
          <a:p>
            <a:pPr>
              <a:spcAft>
                <a:spcPts val="600"/>
              </a:spcAft>
              <a:defRPr sz="1500">
                <a:solidFill>
                  <a:srgbClr val="242424"/>
                </a:solidFill>
                <a:latin typeface="Segoe UI"/>
              </a:defRPr>
            </a:pPr>
            <a:r>
              <a:t> 2. Type name (e.g. NW-Pxx-ContractType) → Enter</a:t>
            </a:r>
          </a:p>
          <a:p>
            <a:pPr>
              <a:spcAft>
                <a:spcPts val="600"/>
              </a:spcAft>
              <a:defRPr sz="1500">
                <a:solidFill>
                  <a:srgbClr val="242424"/>
                </a:solidFill>
                <a:latin typeface="Segoe UI"/>
              </a:defRPr>
            </a:pPr>
            <a:r>
              <a:t> 3. General tab: set Owner, Contact, Stakeholders</a:t>
            </a:r>
          </a:p>
          <a:p>
            <a:pPr>
              <a:spcAft>
                <a:spcPts val="600"/>
              </a:spcAft>
              <a:defRPr sz="1500">
                <a:solidFill>
                  <a:srgbClr val="242424"/>
                </a:solidFill>
                <a:latin typeface="Segoe UI"/>
              </a:defRPr>
            </a:pPr>
            <a:r>
              <a:t> 4. Usage settings: choose Open or Closed</a:t>
            </a:r>
          </a:p>
          <a:p>
            <a:pPr>
              <a:spcAft>
                <a:spcPts val="600"/>
              </a:spcAft>
              <a:defRPr sz="1500">
                <a:solidFill>
                  <a:srgbClr val="242424"/>
                </a:solidFill>
                <a:latin typeface="Segoe UI"/>
              </a:defRPr>
            </a:pPr>
            <a:r>
              <a:t> 5. Enable 'Available for tagging'</a:t>
            </a:r>
          </a:p>
        </p:txBody>
      </p:sp>
      <p:sp>
        <p:nvSpPr>
          <p:cNvPr id="8" name="Rounded Rectangle 7"/>
          <p:cNvSpPr/>
          <p:nvPr/>
        </p:nvSpPr>
        <p:spPr>
          <a:xfrm>
            <a:off x="6309360" y="1280160"/>
            <a:ext cx="5120640" cy="4389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09360" y="1280160"/>
            <a:ext cx="512064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463040"/>
            <a:ext cx="4754880" cy="457200"/>
          </a:xfrm>
          <a:prstGeom prst="rect">
            <a:avLst/>
          </a:prstGeom>
          <a:noFill/>
        </p:spPr>
        <p:txBody>
          <a:bodyPr wrap="square">
            <a:spAutoFit/>
          </a:bodyPr>
          <a:lstStyle/>
          <a:p>
            <a:pPr algn="ctr">
              <a:defRPr sz="2200" b="1">
                <a:solidFill>
                  <a:srgbClr val="6B69D6"/>
                </a:solidFill>
                <a:latin typeface="Segoe UI"/>
              </a:defRPr>
            </a:pPr>
            <a:r>
              <a:t>🏷️  Add Terms</a:t>
            </a:r>
          </a:p>
        </p:txBody>
      </p:sp>
      <p:sp>
        <p:nvSpPr>
          <p:cNvPr id="11" name="TextBox 10"/>
          <p:cNvSpPr txBox="1"/>
          <p:nvPr/>
        </p:nvSpPr>
        <p:spPr>
          <a:xfrm>
            <a:off x="6675120" y="2103120"/>
            <a:ext cx="4572000" cy="3200400"/>
          </a:xfrm>
          <a:prstGeom prst="rect">
            <a:avLst/>
          </a:prstGeom>
          <a:noFill/>
        </p:spPr>
        <p:txBody>
          <a:bodyPr wrap="square">
            <a:spAutoFit/>
          </a:bodyPr>
          <a:lstStyle/>
          <a:p>
            <a:pPr>
              <a:spcAft>
                <a:spcPts val="600"/>
              </a:spcAft>
              <a:defRPr sz="1500">
                <a:solidFill>
                  <a:srgbClr val="242424"/>
                </a:solidFill>
                <a:latin typeface="Segoe UI"/>
              </a:defRPr>
            </a:pPr>
            <a:r>
              <a:t> 1. Select the term set in tree view</a:t>
            </a:r>
          </a:p>
          <a:p>
            <a:pPr>
              <a:spcAft>
                <a:spcPts val="600"/>
              </a:spcAft>
              <a:defRPr sz="1500">
                <a:solidFill>
                  <a:srgbClr val="242424"/>
                </a:solidFill>
                <a:latin typeface="Segoe UI"/>
              </a:defRPr>
            </a:pPr>
            <a:r>
              <a:t> 2. Click 'Add term'</a:t>
            </a:r>
          </a:p>
          <a:p>
            <a:pPr>
              <a:spcAft>
                <a:spcPts val="600"/>
              </a:spcAft>
              <a:defRPr sz="1500">
                <a:solidFill>
                  <a:srgbClr val="242424"/>
                </a:solidFill>
                <a:latin typeface="Segoe UI"/>
              </a:defRPr>
            </a:pPr>
            <a:r>
              <a:t> 3. Type term name (e.g. NDA) → Enter</a:t>
            </a:r>
          </a:p>
          <a:p>
            <a:pPr>
              <a:spcAft>
                <a:spcPts val="600"/>
              </a:spcAft>
              <a:defRPr sz="1500">
                <a:solidFill>
                  <a:srgbClr val="242424"/>
                </a:solidFill>
                <a:latin typeface="Segoe UI"/>
              </a:defRPr>
            </a:pPr>
            <a:r>
              <a:t> 4. Optional: add synonyms, translations</a:t>
            </a:r>
          </a:p>
          <a:p>
            <a:pPr>
              <a:spcAft>
                <a:spcPts val="600"/>
              </a:spcAft>
              <a:defRPr sz="1500">
                <a:solidFill>
                  <a:srgbClr val="242424"/>
                </a:solidFill>
                <a:latin typeface="Segoe UI"/>
              </a:defRPr>
            </a:pPr>
            <a:r>
              <a:t> 5. Repeat for MSA, SOW, Renewal</a:t>
            </a:r>
          </a:p>
        </p:txBody>
      </p:sp>
      <p:sp>
        <p:nvSpPr>
          <p:cNvPr id="12" name="Rectangle 11"/>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14" name="TextBox 13"/>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18 / 28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Adding a Managed Metadata Column</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Connect the term store to your library</a:t>
            </a:r>
          </a:p>
        </p:txBody>
      </p:sp>
      <p:sp>
        <p:nvSpPr>
          <p:cNvPr id="5" name="Rounded Rectangle 4"/>
          <p:cNvSpPr/>
          <p:nvPr/>
        </p:nvSpPr>
        <p:spPr>
          <a:xfrm>
            <a:off x="548640" y="1645920"/>
            <a:ext cx="2651760" cy="3474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5087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1</a:t>
            </a:r>
          </a:p>
        </p:txBody>
      </p:sp>
      <p:sp>
        <p:nvSpPr>
          <p:cNvPr id="8" name="TextBox 7"/>
          <p:cNvSpPr txBox="1"/>
          <p:nvPr/>
        </p:nvSpPr>
        <p:spPr>
          <a:xfrm>
            <a:off x="731520" y="2651760"/>
            <a:ext cx="2286000" cy="457200"/>
          </a:xfrm>
          <a:prstGeom prst="rect">
            <a:avLst/>
          </a:prstGeom>
          <a:noFill/>
        </p:spPr>
        <p:txBody>
          <a:bodyPr wrap="square">
            <a:spAutoFit/>
          </a:bodyPr>
          <a:lstStyle/>
          <a:p>
            <a:pPr algn="ctr">
              <a:defRPr sz="1800" b="1">
                <a:solidFill>
                  <a:srgbClr val="0078D4"/>
                </a:solidFill>
                <a:latin typeface="Segoe UI"/>
              </a:defRPr>
            </a:pPr>
            <a:r>
              <a:t>Open Library Settings</a:t>
            </a:r>
          </a:p>
        </p:txBody>
      </p:sp>
      <p:sp>
        <p:nvSpPr>
          <p:cNvPr id="9" name="TextBox 8"/>
          <p:cNvSpPr txBox="1"/>
          <p:nvPr/>
        </p:nvSpPr>
        <p:spPr>
          <a:xfrm>
            <a:off x="731520" y="3200400"/>
            <a:ext cx="2286000" cy="1371600"/>
          </a:xfrm>
          <a:prstGeom prst="rect">
            <a:avLst/>
          </a:prstGeom>
          <a:noFill/>
        </p:spPr>
        <p:txBody>
          <a:bodyPr wrap="square">
            <a:spAutoFit/>
          </a:bodyPr>
          <a:lstStyle/>
          <a:p>
            <a:pPr algn="ctr">
              <a:defRPr sz="1400" b="0">
                <a:solidFill>
                  <a:srgbClr val="242424"/>
                </a:solidFill>
                <a:latin typeface="Segoe UI"/>
              </a:defRPr>
            </a:pPr>
            <a:r>
              <a:t>Go to NW-Pxx-Contracts →</a:t>
            </a:r>
            <a:br/>
            <a:r>
              <a:t>Settings → Library settings →</a:t>
            </a:r>
            <a:br/>
            <a:r>
              <a:t>'Create column'</a:t>
            </a:r>
          </a:p>
        </p:txBody>
      </p:sp>
      <p:sp>
        <p:nvSpPr>
          <p:cNvPr id="10" name="Rounded Rectangle 9"/>
          <p:cNvSpPr/>
          <p:nvPr/>
        </p:nvSpPr>
        <p:spPr>
          <a:xfrm>
            <a:off x="3429000" y="1645920"/>
            <a:ext cx="2651760" cy="3474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891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2</a:t>
            </a:r>
          </a:p>
        </p:txBody>
      </p:sp>
      <p:sp>
        <p:nvSpPr>
          <p:cNvPr id="13" name="TextBox 12"/>
          <p:cNvSpPr txBox="1"/>
          <p:nvPr/>
        </p:nvSpPr>
        <p:spPr>
          <a:xfrm>
            <a:off x="3611880" y="2651760"/>
            <a:ext cx="2286000" cy="457200"/>
          </a:xfrm>
          <a:prstGeom prst="rect">
            <a:avLst/>
          </a:prstGeom>
          <a:noFill/>
        </p:spPr>
        <p:txBody>
          <a:bodyPr wrap="square">
            <a:spAutoFit/>
          </a:bodyPr>
          <a:lstStyle/>
          <a:p>
            <a:pPr algn="ctr">
              <a:defRPr sz="1800" b="1">
                <a:solidFill>
                  <a:srgbClr val="00B294"/>
                </a:solidFill>
                <a:latin typeface="Segoe UI"/>
              </a:defRPr>
            </a:pPr>
            <a:r>
              <a:t>Choose Type</a:t>
            </a:r>
          </a:p>
        </p:txBody>
      </p:sp>
      <p:sp>
        <p:nvSpPr>
          <p:cNvPr id="14" name="TextBox 13"/>
          <p:cNvSpPr txBox="1"/>
          <p:nvPr/>
        </p:nvSpPr>
        <p:spPr>
          <a:xfrm>
            <a:off x="3611880" y="3200400"/>
            <a:ext cx="2286000" cy="1371600"/>
          </a:xfrm>
          <a:prstGeom prst="rect">
            <a:avLst/>
          </a:prstGeom>
          <a:noFill/>
        </p:spPr>
        <p:txBody>
          <a:bodyPr wrap="square">
            <a:spAutoFit/>
          </a:bodyPr>
          <a:lstStyle/>
          <a:p>
            <a:pPr algn="ctr">
              <a:defRPr sz="1400" b="0">
                <a:solidFill>
                  <a:srgbClr val="242424"/>
                </a:solidFill>
                <a:latin typeface="Segoe UI"/>
              </a:defRPr>
            </a:pPr>
            <a:r>
              <a:t>Select 'Managed Metadata'</a:t>
            </a:r>
            <a:br/>
            <a:r>
              <a:t>as the column type → name it</a:t>
            </a:r>
            <a:br/>
            <a:r>
              <a:t>'Contract Type'</a:t>
            </a:r>
          </a:p>
        </p:txBody>
      </p:sp>
      <p:sp>
        <p:nvSpPr>
          <p:cNvPr id="15" name="Rounded Rectangle 14"/>
          <p:cNvSpPr/>
          <p:nvPr/>
        </p:nvSpPr>
        <p:spPr>
          <a:xfrm>
            <a:off x="6309359" y="1645920"/>
            <a:ext cx="2651760" cy="3474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269479"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3</a:t>
            </a:r>
          </a:p>
        </p:txBody>
      </p:sp>
      <p:sp>
        <p:nvSpPr>
          <p:cNvPr id="18" name="TextBox 17"/>
          <p:cNvSpPr txBox="1"/>
          <p:nvPr/>
        </p:nvSpPr>
        <p:spPr>
          <a:xfrm>
            <a:off x="6492239" y="2651760"/>
            <a:ext cx="2286000" cy="457200"/>
          </a:xfrm>
          <a:prstGeom prst="rect">
            <a:avLst/>
          </a:prstGeom>
          <a:noFill/>
        </p:spPr>
        <p:txBody>
          <a:bodyPr wrap="square">
            <a:spAutoFit/>
          </a:bodyPr>
          <a:lstStyle/>
          <a:p>
            <a:pPr algn="ctr">
              <a:defRPr sz="1800" b="1">
                <a:solidFill>
                  <a:srgbClr val="6B69D6"/>
                </a:solidFill>
                <a:latin typeface="Segoe UI"/>
              </a:defRPr>
            </a:pPr>
            <a:r>
              <a:t>Connect Term Set</a:t>
            </a:r>
          </a:p>
        </p:txBody>
      </p:sp>
      <p:sp>
        <p:nvSpPr>
          <p:cNvPr id="19" name="TextBox 18"/>
          <p:cNvSpPr txBox="1"/>
          <p:nvPr/>
        </p:nvSpPr>
        <p:spPr>
          <a:xfrm>
            <a:off x="6492239" y="3200400"/>
            <a:ext cx="2286000" cy="1371600"/>
          </a:xfrm>
          <a:prstGeom prst="rect">
            <a:avLst/>
          </a:prstGeom>
          <a:noFill/>
        </p:spPr>
        <p:txBody>
          <a:bodyPr wrap="square">
            <a:spAutoFit/>
          </a:bodyPr>
          <a:lstStyle/>
          <a:p>
            <a:pPr algn="ctr">
              <a:defRPr sz="1400" b="0">
                <a:solidFill>
                  <a:srgbClr val="242424"/>
                </a:solidFill>
                <a:latin typeface="Segoe UI"/>
              </a:defRPr>
            </a:pPr>
            <a:r>
              <a:t>Browse or search for your</a:t>
            </a:r>
            <a:br/>
            <a:r>
              <a:t>term set (NW-Pxx-ContractType)</a:t>
            </a:r>
            <a:br/>
            <a:r>
              <a:t>and select it</a:t>
            </a:r>
          </a:p>
        </p:txBody>
      </p:sp>
      <p:sp>
        <p:nvSpPr>
          <p:cNvPr id="20" name="Rounded Rectangle 19"/>
          <p:cNvSpPr/>
          <p:nvPr/>
        </p:nvSpPr>
        <p:spPr>
          <a:xfrm>
            <a:off x="9189719" y="1645920"/>
            <a:ext cx="2651760" cy="3474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149839" y="1828800"/>
            <a:ext cx="640080" cy="64008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4</a:t>
            </a:r>
          </a:p>
        </p:txBody>
      </p:sp>
      <p:sp>
        <p:nvSpPr>
          <p:cNvPr id="23" name="TextBox 22"/>
          <p:cNvSpPr txBox="1"/>
          <p:nvPr/>
        </p:nvSpPr>
        <p:spPr>
          <a:xfrm>
            <a:off x="9372599" y="2651760"/>
            <a:ext cx="2286000" cy="457200"/>
          </a:xfrm>
          <a:prstGeom prst="rect">
            <a:avLst/>
          </a:prstGeom>
          <a:noFill/>
        </p:spPr>
        <p:txBody>
          <a:bodyPr wrap="square">
            <a:spAutoFit/>
          </a:bodyPr>
          <a:lstStyle/>
          <a:p>
            <a:pPr algn="ctr">
              <a:defRPr sz="1800" b="1">
                <a:solidFill>
                  <a:srgbClr val="FF8C00"/>
                </a:solidFill>
                <a:latin typeface="Segoe UI"/>
              </a:defRPr>
            </a:pPr>
            <a:r>
              <a:t>Tag Documents</a:t>
            </a:r>
          </a:p>
        </p:txBody>
      </p:sp>
      <p:sp>
        <p:nvSpPr>
          <p:cNvPr id="24" name="TextBox 23"/>
          <p:cNvSpPr txBox="1"/>
          <p:nvPr/>
        </p:nvSpPr>
        <p:spPr>
          <a:xfrm>
            <a:off x="9372599" y="3200400"/>
            <a:ext cx="2286000" cy="1371600"/>
          </a:xfrm>
          <a:prstGeom prst="rect">
            <a:avLst/>
          </a:prstGeom>
          <a:noFill/>
        </p:spPr>
        <p:txBody>
          <a:bodyPr wrap="square">
            <a:spAutoFit/>
          </a:bodyPr>
          <a:lstStyle/>
          <a:p>
            <a:pPr algn="ctr">
              <a:defRPr sz="1400" b="0">
                <a:solidFill>
                  <a:srgbClr val="242424"/>
                </a:solidFill>
                <a:latin typeface="Segoe UI"/>
              </a:defRPr>
            </a:pPr>
            <a:r>
              <a:t>Edit document properties →</a:t>
            </a:r>
            <a:br/>
            <a:r>
              <a:t>use type-ahead picker to</a:t>
            </a:r>
            <a:br/>
            <a:r>
              <a:t>select terms (NDA, MSA…)</a:t>
            </a:r>
          </a:p>
        </p:txBody>
      </p:sp>
      <p:sp>
        <p:nvSpPr>
          <p:cNvPr id="25" name="Rounded Rectangle 24"/>
          <p:cNvSpPr/>
          <p:nvPr/>
        </p:nvSpPr>
        <p:spPr>
          <a:xfrm>
            <a:off x="1371600" y="5486400"/>
            <a:ext cx="9418320" cy="54864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645920" y="5532120"/>
            <a:ext cx="8869680" cy="457200"/>
          </a:xfrm>
          <a:prstGeom prst="rect">
            <a:avLst/>
          </a:prstGeom>
          <a:noFill/>
        </p:spPr>
        <p:txBody>
          <a:bodyPr wrap="square">
            <a:spAutoFit/>
          </a:bodyPr>
          <a:lstStyle/>
          <a:p>
            <a:pPr algn="l">
              <a:defRPr sz="1400" b="0">
                <a:solidFill>
                  <a:srgbClr val="242424"/>
                </a:solidFill>
                <a:latin typeface="Segoe UI"/>
              </a:defRPr>
            </a:pPr>
            <a:r>
              <a:t>💡  Enterprise Keywords column can also be added — it allows free-form tagging alongside managed terms</a:t>
            </a:r>
          </a:p>
        </p:txBody>
      </p:sp>
      <p:sp>
        <p:nvSpPr>
          <p:cNvPr id="27" name="Rectangle 26"/>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29" name="TextBox 28"/>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19 / 28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Shared-Tenant Safety</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Keeping the training environment clean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Shared-Tenant Safety Rules</a:t>
            </a:r>
          </a:p>
        </p:txBody>
      </p:sp>
      <p:sp>
        <p:nvSpPr>
          <p:cNvPr id="4" name="Rounded Rectangle 3"/>
          <p:cNvSpPr/>
          <p:nvPr/>
        </p:nvSpPr>
        <p:spPr>
          <a:xfrm>
            <a:off x="731520" y="137160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371600"/>
            <a:ext cx="73152" cy="201168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554480"/>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7" name="TextBox 6"/>
          <p:cNvSpPr txBox="1"/>
          <p:nvPr/>
        </p:nvSpPr>
        <p:spPr>
          <a:xfrm>
            <a:off x="1554480" y="1554480"/>
            <a:ext cx="4206240" cy="365760"/>
          </a:xfrm>
          <a:prstGeom prst="rect">
            <a:avLst/>
          </a:prstGeom>
          <a:noFill/>
        </p:spPr>
        <p:txBody>
          <a:bodyPr wrap="square">
            <a:spAutoFit/>
          </a:bodyPr>
          <a:lstStyle/>
          <a:p>
            <a:pPr algn="l">
              <a:defRPr sz="1800" b="1">
                <a:solidFill>
                  <a:srgbClr val="107C10"/>
                </a:solidFill>
                <a:latin typeface="Segoe UI"/>
              </a:defRPr>
            </a:pPr>
            <a:r>
              <a:t>Use NW-Pxx- prefix</a:t>
            </a:r>
          </a:p>
        </p:txBody>
      </p:sp>
      <p:sp>
        <p:nvSpPr>
          <p:cNvPr id="8" name="TextBox 7"/>
          <p:cNvSpPr txBox="1"/>
          <p:nvPr/>
        </p:nvSpPr>
        <p:spPr>
          <a:xfrm>
            <a:off x="1554480" y="2011680"/>
            <a:ext cx="4206240" cy="731520"/>
          </a:xfrm>
          <a:prstGeom prst="rect">
            <a:avLst/>
          </a:prstGeom>
          <a:noFill/>
        </p:spPr>
        <p:txBody>
          <a:bodyPr wrap="square">
            <a:spAutoFit/>
          </a:bodyPr>
          <a:lstStyle/>
          <a:p>
            <a:pPr algn="l">
              <a:defRPr sz="1400" b="0">
                <a:solidFill>
                  <a:srgbClr val="242424"/>
                </a:solidFill>
                <a:latin typeface="Segoe UI"/>
              </a:defRPr>
            </a:pPr>
            <a:r>
              <a:t>Always name your term groups, sets,</a:t>
            </a:r>
            <a:br/>
            <a:r>
              <a:t>and columns with your participant ID</a:t>
            </a:r>
          </a:p>
        </p:txBody>
      </p:sp>
      <p:sp>
        <p:nvSpPr>
          <p:cNvPr id="9" name="TextBox 8"/>
          <p:cNvSpPr txBox="1"/>
          <p:nvPr/>
        </p:nvSpPr>
        <p:spPr>
          <a:xfrm>
            <a:off x="1554480" y="2834640"/>
            <a:ext cx="4206240" cy="365760"/>
          </a:xfrm>
          <a:prstGeom prst="rect">
            <a:avLst/>
          </a:prstGeom>
          <a:noFill/>
        </p:spPr>
        <p:txBody>
          <a:bodyPr wrap="square">
            <a:spAutoFit/>
          </a:bodyPr>
          <a:lstStyle/>
          <a:p>
            <a:pPr algn="l">
              <a:defRPr sz="1200" b="0">
                <a:solidFill>
                  <a:srgbClr val="606060"/>
                </a:solidFill>
                <a:latin typeface="Segoe UI"/>
              </a:defRPr>
            </a:pPr>
            <a:r>
              <a:t>E.g. NW-P03-TermGroup, NW-P03-ContractType</a:t>
            </a:r>
          </a:p>
        </p:txBody>
      </p:sp>
      <p:sp>
        <p:nvSpPr>
          <p:cNvPr id="10" name="Rounded Rectangle 9"/>
          <p:cNvSpPr/>
          <p:nvPr/>
        </p:nvSpPr>
        <p:spPr>
          <a:xfrm>
            <a:off x="6400800" y="137160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0" y="1371600"/>
            <a:ext cx="73152" cy="201168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1554480"/>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3" name="TextBox 12"/>
          <p:cNvSpPr txBox="1"/>
          <p:nvPr/>
        </p:nvSpPr>
        <p:spPr>
          <a:xfrm>
            <a:off x="7223760" y="1554480"/>
            <a:ext cx="4206240" cy="365760"/>
          </a:xfrm>
          <a:prstGeom prst="rect">
            <a:avLst/>
          </a:prstGeom>
          <a:noFill/>
        </p:spPr>
        <p:txBody>
          <a:bodyPr wrap="square">
            <a:spAutoFit/>
          </a:bodyPr>
          <a:lstStyle/>
          <a:p>
            <a:pPr algn="l">
              <a:defRPr sz="1800" b="1">
                <a:solidFill>
                  <a:srgbClr val="D13438"/>
                </a:solidFill>
                <a:latin typeface="Segoe UI"/>
              </a:defRPr>
            </a:pPr>
            <a:r>
              <a:t>Never edit others' taxonomy</a:t>
            </a:r>
          </a:p>
        </p:txBody>
      </p:sp>
      <p:sp>
        <p:nvSpPr>
          <p:cNvPr id="14" name="TextBox 13"/>
          <p:cNvSpPr txBox="1"/>
          <p:nvPr/>
        </p:nvSpPr>
        <p:spPr>
          <a:xfrm>
            <a:off x="7223760" y="2011680"/>
            <a:ext cx="4206240" cy="731520"/>
          </a:xfrm>
          <a:prstGeom prst="rect">
            <a:avLst/>
          </a:prstGeom>
          <a:noFill/>
        </p:spPr>
        <p:txBody>
          <a:bodyPr wrap="square">
            <a:spAutoFit/>
          </a:bodyPr>
          <a:lstStyle/>
          <a:p>
            <a:pPr algn="l">
              <a:defRPr sz="1400" b="0">
                <a:solidFill>
                  <a:srgbClr val="242424"/>
                </a:solidFill>
                <a:latin typeface="Segoe UI"/>
              </a:defRPr>
            </a:pPr>
            <a:r>
              <a:t>Don't modify, rename, or delete</a:t>
            </a:r>
            <a:br/>
            <a:r>
              <a:t>term groups/sets from other participants</a:t>
            </a:r>
          </a:p>
        </p:txBody>
      </p:sp>
      <p:sp>
        <p:nvSpPr>
          <p:cNvPr id="15" name="TextBox 14"/>
          <p:cNvSpPr txBox="1"/>
          <p:nvPr/>
        </p:nvSpPr>
        <p:spPr>
          <a:xfrm>
            <a:off x="7223760" y="2834640"/>
            <a:ext cx="4206240" cy="365760"/>
          </a:xfrm>
          <a:prstGeom prst="rect">
            <a:avLst/>
          </a:prstGeom>
          <a:noFill/>
        </p:spPr>
        <p:txBody>
          <a:bodyPr wrap="square">
            <a:spAutoFit/>
          </a:bodyPr>
          <a:lstStyle/>
          <a:p>
            <a:pPr algn="l">
              <a:defRPr sz="1200" b="0">
                <a:solidFill>
                  <a:srgbClr val="606060"/>
                </a:solidFill>
                <a:latin typeface="Segoe UI"/>
              </a:defRPr>
            </a:pPr>
            <a:r>
              <a:t>Treat other participants' metadata as read-only</a:t>
            </a:r>
          </a:p>
        </p:txBody>
      </p:sp>
      <p:sp>
        <p:nvSpPr>
          <p:cNvPr id="16" name="Rounded Rectangle 15"/>
          <p:cNvSpPr/>
          <p:nvPr/>
        </p:nvSpPr>
        <p:spPr>
          <a:xfrm>
            <a:off x="731520" y="3749039"/>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1520" y="3749039"/>
            <a:ext cx="73152" cy="20116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3931919"/>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9" name="TextBox 18"/>
          <p:cNvSpPr txBox="1"/>
          <p:nvPr/>
        </p:nvSpPr>
        <p:spPr>
          <a:xfrm>
            <a:off x="1554480" y="3931919"/>
            <a:ext cx="4206240" cy="365760"/>
          </a:xfrm>
          <a:prstGeom prst="rect">
            <a:avLst/>
          </a:prstGeom>
          <a:noFill/>
        </p:spPr>
        <p:txBody>
          <a:bodyPr wrap="square">
            <a:spAutoFit/>
          </a:bodyPr>
          <a:lstStyle/>
          <a:p>
            <a:pPr algn="l">
              <a:defRPr sz="1800" b="1">
                <a:solidFill>
                  <a:srgbClr val="FF8C00"/>
                </a:solidFill>
                <a:latin typeface="Segoe UI"/>
              </a:defRPr>
            </a:pPr>
            <a:r>
              <a:t>Fallback to local</a:t>
            </a:r>
          </a:p>
        </p:txBody>
      </p:sp>
      <p:sp>
        <p:nvSpPr>
          <p:cNvPr id="20" name="TextBox 19"/>
          <p:cNvSpPr txBox="1"/>
          <p:nvPr/>
        </p:nvSpPr>
        <p:spPr>
          <a:xfrm>
            <a:off x="1554480" y="4389119"/>
            <a:ext cx="4206240" cy="731520"/>
          </a:xfrm>
          <a:prstGeom prst="rect">
            <a:avLst/>
          </a:prstGeom>
          <a:noFill/>
        </p:spPr>
        <p:txBody>
          <a:bodyPr wrap="square">
            <a:spAutoFit/>
          </a:bodyPr>
          <a:lstStyle/>
          <a:p>
            <a:pPr algn="l">
              <a:defRPr sz="1400" b="0">
                <a:solidFill>
                  <a:srgbClr val="242424"/>
                </a:solidFill>
                <a:latin typeface="Segoe UI"/>
              </a:defRPr>
            </a:pPr>
            <a:r>
              <a:t>If you can't create a global term group,</a:t>
            </a:r>
            <a:br/>
            <a:r>
              <a:t>use a local term set instead</a:t>
            </a:r>
          </a:p>
        </p:txBody>
      </p:sp>
      <p:sp>
        <p:nvSpPr>
          <p:cNvPr id="21" name="TextBox 20"/>
          <p:cNvSpPr txBox="1"/>
          <p:nvPr/>
        </p:nvSpPr>
        <p:spPr>
          <a:xfrm>
            <a:off x="1554480" y="5212079"/>
            <a:ext cx="4206240" cy="365760"/>
          </a:xfrm>
          <a:prstGeom prst="rect">
            <a:avLst/>
          </a:prstGeom>
          <a:noFill/>
        </p:spPr>
        <p:txBody>
          <a:bodyPr wrap="square">
            <a:spAutoFit/>
          </a:bodyPr>
          <a:lstStyle/>
          <a:p>
            <a:pPr algn="l">
              <a:defRPr sz="1200" b="0">
                <a:solidFill>
                  <a:srgbClr val="606060"/>
                </a:solidFill>
                <a:latin typeface="Segoe UI"/>
              </a:defRPr>
            </a:pPr>
            <a:r>
              <a:t>Create the term set when adding the MM column</a:t>
            </a:r>
          </a:p>
        </p:txBody>
      </p:sp>
      <p:sp>
        <p:nvSpPr>
          <p:cNvPr id="22" name="Rounded Rectangle 21"/>
          <p:cNvSpPr/>
          <p:nvPr/>
        </p:nvSpPr>
        <p:spPr>
          <a:xfrm>
            <a:off x="6400800" y="3749039"/>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0" y="3749039"/>
            <a:ext cx="73152" cy="201168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75120" y="3931919"/>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25" name="TextBox 24"/>
          <p:cNvSpPr txBox="1"/>
          <p:nvPr/>
        </p:nvSpPr>
        <p:spPr>
          <a:xfrm>
            <a:off x="7223760" y="3931919"/>
            <a:ext cx="4206240" cy="365760"/>
          </a:xfrm>
          <a:prstGeom prst="rect">
            <a:avLst/>
          </a:prstGeom>
          <a:noFill/>
        </p:spPr>
        <p:txBody>
          <a:bodyPr wrap="square">
            <a:spAutoFit/>
          </a:bodyPr>
          <a:lstStyle/>
          <a:p>
            <a:pPr algn="l">
              <a:defRPr sz="1800" b="1">
                <a:solidFill>
                  <a:srgbClr val="6B69D6"/>
                </a:solidFill>
                <a:latin typeface="Segoe UI"/>
              </a:defRPr>
            </a:pPr>
            <a:r>
              <a:t>Clean up after labs</a:t>
            </a:r>
          </a:p>
        </p:txBody>
      </p:sp>
      <p:sp>
        <p:nvSpPr>
          <p:cNvPr id="26" name="TextBox 25"/>
          <p:cNvSpPr txBox="1"/>
          <p:nvPr/>
        </p:nvSpPr>
        <p:spPr>
          <a:xfrm>
            <a:off x="7223760" y="4389119"/>
            <a:ext cx="4206240" cy="731520"/>
          </a:xfrm>
          <a:prstGeom prst="rect">
            <a:avLst/>
          </a:prstGeom>
          <a:noFill/>
        </p:spPr>
        <p:txBody>
          <a:bodyPr wrap="square">
            <a:spAutoFit/>
          </a:bodyPr>
          <a:lstStyle/>
          <a:p>
            <a:pPr algn="l">
              <a:defRPr sz="1400" b="0">
                <a:solidFill>
                  <a:srgbClr val="242424"/>
                </a:solidFill>
                <a:latin typeface="Segoe UI"/>
              </a:defRPr>
            </a:pPr>
            <a:r>
              <a:t>Delete your test term groups/sets</a:t>
            </a:r>
            <a:br/>
            <a:r>
              <a:t>when instructed during cleanup</a:t>
            </a:r>
          </a:p>
        </p:txBody>
      </p:sp>
      <p:sp>
        <p:nvSpPr>
          <p:cNvPr id="27" name="TextBox 26"/>
          <p:cNvSpPr txBox="1"/>
          <p:nvPr/>
        </p:nvSpPr>
        <p:spPr>
          <a:xfrm>
            <a:off x="7223760" y="5212079"/>
            <a:ext cx="4206240" cy="365760"/>
          </a:xfrm>
          <a:prstGeom prst="rect">
            <a:avLst/>
          </a:prstGeom>
          <a:noFill/>
        </p:spPr>
        <p:txBody>
          <a:bodyPr wrap="square">
            <a:spAutoFit/>
          </a:bodyPr>
          <a:lstStyle/>
          <a:p>
            <a:pPr algn="l">
              <a:defRPr sz="1200" b="0">
                <a:solidFill>
                  <a:srgbClr val="606060"/>
                </a:solidFill>
                <a:latin typeface="Segoe UI"/>
              </a:defRPr>
            </a:pPr>
            <a:r>
              <a:t>Keeps the tenant tidy for future sessions</a:t>
            </a:r>
          </a:p>
        </p:txBody>
      </p:sp>
      <p:sp>
        <p:nvSpPr>
          <p:cNvPr id="28" name="Rectangle 2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30" name="TextBox 2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21 / 28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1B1B2F"/>
                </a:solidFill>
                <a:latin typeface="Segoe UI"/>
              </a:defRPr>
            </a:pPr>
            <a:r>
              <a:t>🏢  Scenario: Northwind Contracts Taxonomy</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Applying metadata to the contracts library from Module 4</a:t>
            </a:r>
          </a:p>
        </p:txBody>
      </p:sp>
      <p:sp>
        <p:nvSpPr>
          <p:cNvPr id="5" name="Rounded Rectangle 4"/>
          <p:cNvSpPr/>
          <p:nvPr/>
        </p:nvSpPr>
        <p:spPr>
          <a:xfrm>
            <a:off x="731520" y="1645920"/>
            <a:ext cx="512064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645920"/>
            <a:ext cx="51206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4754880" cy="457200"/>
          </a:xfrm>
          <a:prstGeom prst="rect">
            <a:avLst/>
          </a:prstGeom>
          <a:noFill/>
        </p:spPr>
        <p:txBody>
          <a:bodyPr wrap="square">
            <a:spAutoFit/>
          </a:bodyPr>
          <a:lstStyle/>
          <a:p>
            <a:pPr algn="ctr">
              <a:defRPr sz="2000" b="1">
                <a:solidFill>
                  <a:srgbClr val="0078D4"/>
                </a:solidFill>
                <a:latin typeface="Segoe UI"/>
              </a:defRPr>
            </a:pPr>
            <a:r>
              <a:t>📦 Taxonomy Structure</a:t>
            </a:r>
          </a:p>
        </p:txBody>
      </p:sp>
      <p:sp>
        <p:nvSpPr>
          <p:cNvPr id="8" name="TextBox 7"/>
          <p:cNvSpPr txBox="1"/>
          <p:nvPr/>
        </p:nvSpPr>
        <p:spPr>
          <a:xfrm>
            <a:off x="1097280" y="2468880"/>
            <a:ext cx="4572000" cy="2926080"/>
          </a:xfrm>
          <a:prstGeom prst="rect">
            <a:avLst/>
          </a:prstGeom>
          <a:noFill/>
        </p:spPr>
        <p:txBody>
          <a:bodyPr wrap="square">
            <a:spAutoFit/>
          </a:bodyPr>
          <a:lstStyle/>
          <a:p>
            <a:pPr>
              <a:spcAft>
                <a:spcPts val="600"/>
              </a:spcAft>
              <a:defRPr sz="1500">
                <a:solidFill>
                  <a:srgbClr val="242424"/>
                </a:solidFill>
                <a:latin typeface="Cascadia Code"/>
              </a:defRPr>
            </a:pPr>
            <a:r>
              <a:t> 📦  NW-Pxx-TermGroup</a:t>
            </a:r>
          </a:p>
          <a:p>
            <a:pPr>
              <a:spcAft>
                <a:spcPts val="600"/>
              </a:spcAft>
              <a:defRPr sz="1500">
                <a:solidFill>
                  <a:srgbClr val="242424"/>
                </a:solidFill>
                <a:latin typeface="Cascadia Code"/>
              </a:defRPr>
            </a:pPr>
            <a:r>
              <a:t>     └── 📋  NW-Pxx-ContractType</a:t>
            </a:r>
          </a:p>
          <a:p>
            <a:pPr>
              <a:spcAft>
                <a:spcPts val="600"/>
              </a:spcAft>
              <a:defRPr sz="1500">
                <a:solidFill>
                  <a:srgbClr val="242424"/>
                </a:solidFill>
                <a:latin typeface="Cascadia Code"/>
              </a:defRPr>
            </a:pPr>
            <a:r>
              <a:t>             ├── 🏷️  NDA (Non-Disclosure Agreement)</a:t>
            </a:r>
          </a:p>
          <a:p>
            <a:pPr>
              <a:spcAft>
                <a:spcPts val="600"/>
              </a:spcAft>
              <a:defRPr sz="1500">
                <a:solidFill>
                  <a:srgbClr val="242424"/>
                </a:solidFill>
                <a:latin typeface="Cascadia Code"/>
              </a:defRPr>
            </a:pPr>
            <a:r>
              <a:t>             ├── 🏷️  MSA (Master Service Agreement)</a:t>
            </a:r>
          </a:p>
          <a:p>
            <a:pPr>
              <a:spcAft>
                <a:spcPts val="600"/>
              </a:spcAft>
              <a:defRPr sz="1500">
                <a:solidFill>
                  <a:srgbClr val="242424"/>
                </a:solidFill>
                <a:latin typeface="Cascadia Code"/>
              </a:defRPr>
            </a:pPr>
            <a:r>
              <a:t>             ├── 🏷️  SOW (Statement of Work)</a:t>
            </a:r>
          </a:p>
          <a:p>
            <a:pPr>
              <a:spcAft>
                <a:spcPts val="600"/>
              </a:spcAft>
              <a:defRPr sz="1500">
                <a:solidFill>
                  <a:srgbClr val="242424"/>
                </a:solidFill>
                <a:latin typeface="Cascadia Code"/>
              </a:defRPr>
            </a:pPr>
            <a:r>
              <a:t>             └── 🏷️  Renewal</a:t>
            </a:r>
          </a:p>
        </p:txBody>
      </p:sp>
      <p:sp>
        <p:nvSpPr>
          <p:cNvPr id="9" name="Rounded Rectangle 8"/>
          <p:cNvSpPr/>
          <p:nvPr/>
        </p:nvSpPr>
        <p:spPr>
          <a:xfrm>
            <a:off x="6309360" y="1645920"/>
            <a:ext cx="512064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09360" y="1645920"/>
            <a:ext cx="51206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828800"/>
            <a:ext cx="4754880" cy="457200"/>
          </a:xfrm>
          <a:prstGeom prst="rect">
            <a:avLst/>
          </a:prstGeom>
          <a:noFill/>
        </p:spPr>
        <p:txBody>
          <a:bodyPr wrap="square">
            <a:spAutoFit/>
          </a:bodyPr>
          <a:lstStyle/>
          <a:p>
            <a:pPr algn="ctr">
              <a:defRPr sz="2000" b="1">
                <a:solidFill>
                  <a:srgbClr val="00B294"/>
                </a:solidFill>
                <a:latin typeface="Segoe UI"/>
              </a:defRPr>
            </a:pPr>
            <a:r>
              <a:t>⚙️ How It's Applied</a:t>
            </a:r>
          </a:p>
        </p:txBody>
      </p:sp>
      <p:sp>
        <p:nvSpPr>
          <p:cNvPr id="12" name="TextBox 11"/>
          <p:cNvSpPr txBox="1"/>
          <p:nvPr/>
        </p:nvSpPr>
        <p:spPr>
          <a:xfrm>
            <a:off x="6675120" y="2468880"/>
            <a:ext cx="4572000" cy="2926080"/>
          </a:xfrm>
          <a:prstGeom prst="rect">
            <a:avLst/>
          </a:prstGeom>
          <a:noFill/>
        </p:spPr>
        <p:txBody>
          <a:bodyPr wrap="square">
            <a:spAutoFit/>
          </a:bodyPr>
          <a:lstStyle/>
          <a:p>
            <a:pPr>
              <a:spcAft>
                <a:spcPts val="600"/>
              </a:spcAft>
              <a:defRPr sz="1500">
                <a:solidFill>
                  <a:srgbClr val="242424"/>
                </a:solidFill>
                <a:latin typeface="Segoe UI"/>
              </a:defRPr>
            </a:pPr>
            <a:r>
              <a:t>▸ Library: NW-Pxx-Contracts</a:t>
            </a:r>
          </a:p>
          <a:p>
            <a:pPr>
              <a:spcAft>
                <a:spcPts val="600"/>
              </a:spcAft>
              <a:defRPr sz="1500">
                <a:solidFill>
                  <a:srgbClr val="242424"/>
                </a:solidFill>
                <a:latin typeface="Segoe UI"/>
              </a:defRPr>
            </a:pPr>
            <a:r>
              <a:t>▸ New column: 'Contract Type' (Managed Metadata)</a:t>
            </a:r>
          </a:p>
          <a:p>
            <a:pPr>
              <a:spcAft>
                <a:spcPts val="600"/>
              </a:spcAft>
              <a:defRPr sz="1500">
                <a:solidFill>
                  <a:srgbClr val="242424"/>
                </a:solidFill>
                <a:latin typeface="Segoe UI"/>
              </a:defRPr>
            </a:pPr>
            <a:r>
              <a:t>▸ Connected to: NW-Pxx-ContractType term set</a:t>
            </a:r>
          </a:p>
          <a:p>
            <a:pPr>
              <a:spcAft>
                <a:spcPts val="600"/>
              </a:spcAft>
              <a:defRPr sz="1500">
                <a:solidFill>
                  <a:srgbClr val="242424"/>
                </a:solidFill>
                <a:latin typeface="Segoe UI"/>
              </a:defRPr>
            </a:pPr>
            <a:r>
              <a:t>▸ Users pick terms via type-ahead picker</a:t>
            </a:r>
          </a:p>
          <a:p>
            <a:pPr>
              <a:spcAft>
                <a:spcPts val="600"/>
              </a:spcAft>
              <a:defRPr sz="1500">
                <a:solidFill>
                  <a:srgbClr val="242424"/>
                </a:solidFill>
                <a:latin typeface="Segoe UI"/>
              </a:defRPr>
            </a:pPr>
            <a:r>
              <a:t>▸ Views: group contracts by type</a:t>
            </a:r>
          </a:p>
          <a:p>
            <a:pPr>
              <a:spcAft>
                <a:spcPts val="600"/>
              </a:spcAft>
              <a:defRPr sz="1500">
                <a:solidFill>
                  <a:srgbClr val="242424"/>
                </a:solidFill>
                <a:latin typeface="Segoe UI"/>
              </a:defRPr>
            </a:pPr>
            <a:r>
              <a:t>▸ Search: refine results by contract type</a:t>
            </a:r>
          </a:p>
        </p:txBody>
      </p:sp>
      <p:sp>
        <p:nvSpPr>
          <p:cNvPr id="13" name="Rectangle 12"/>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15" name="TextBox 14"/>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22 / 28</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Lab &amp; Validation</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Hands-on practice and validation checks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Lab 5 Preview</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Hands-on: Create taxonomy + apply managed metadata</a:t>
            </a:r>
          </a:p>
        </p:txBody>
      </p:sp>
      <p:sp>
        <p:nvSpPr>
          <p:cNvPr id="5" name="Rounded Rectangle 4"/>
          <p:cNvSpPr/>
          <p:nvPr/>
        </p:nvSpPr>
        <p:spPr>
          <a:xfrm>
            <a:off x="54864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5087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1</a:t>
            </a:r>
          </a:p>
        </p:txBody>
      </p:sp>
      <p:sp>
        <p:nvSpPr>
          <p:cNvPr id="8" name="TextBox 7"/>
          <p:cNvSpPr txBox="1"/>
          <p:nvPr/>
        </p:nvSpPr>
        <p:spPr>
          <a:xfrm>
            <a:off x="731520" y="2651760"/>
            <a:ext cx="2286000" cy="457200"/>
          </a:xfrm>
          <a:prstGeom prst="rect">
            <a:avLst/>
          </a:prstGeom>
          <a:noFill/>
        </p:spPr>
        <p:txBody>
          <a:bodyPr wrap="square">
            <a:spAutoFit/>
          </a:bodyPr>
          <a:lstStyle/>
          <a:p>
            <a:pPr algn="ctr">
              <a:defRPr sz="1800" b="1">
                <a:solidFill>
                  <a:srgbClr val="0078D4"/>
                </a:solidFill>
                <a:latin typeface="Segoe UI"/>
              </a:defRPr>
            </a:pPr>
            <a:r>
              <a:t>Create Term Group</a:t>
            </a:r>
          </a:p>
        </p:txBody>
      </p:sp>
      <p:sp>
        <p:nvSpPr>
          <p:cNvPr id="9" name="TextBox 8"/>
          <p:cNvSpPr txBox="1"/>
          <p:nvPr/>
        </p:nvSpPr>
        <p:spPr>
          <a:xfrm>
            <a:off x="731520" y="3200400"/>
            <a:ext cx="2286000" cy="1097280"/>
          </a:xfrm>
          <a:prstGeom prst="rect">
            <a:avLst/>
          </a:prstGeom>
          <a:noFill/>
        </p:spPr>
        <p:txBody>
          <a:bodyPr wrap="square">
            <a:spAutoFit/>
          </a:bodyPr>
          <a:lstStyle/>
          <a:p>
            <a:pPr algn="ctr">
              <a:defRPr sz="1400" b="0">
                <a:solidFill>
                  <a:srgbClr val="242424"/>
                </a:solidFill>
                <a:latin typeface="Segoe UI"/>
              </a:defRPr>
            </a:pPr>
            <a:r>
              <a:t>Navigate to the Term Store</a:t>
            </a:r>
            <a:br/>
            <a:r>
              <a:t>and create NW-Pxx-TermGroup</a:t>
            </a:r>
            <a:br/>
            <a:r>
              <a:t>(or use local fallback)</a:t>
            </a:r>
          </a:p>
        </p:txBody>
      </p:sp>
      <p:sp>
        <p:nvSpPr>
          <p:cNvPr id="10" name="Rounded Rectangle 9"/>
          <p:cNvSpPr/>
          <p:nvPr/>
        </p:nvSpPr>
        <p:spPr>
          <a:xfrm>
            <a:off x="342900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891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2</a:t>
            </a:r>
          </a:p>
        </p:txBody>
      </p:sp>
      <p:sp>
        <p:nvSpPr>
          <p:cNvPr id="13" name="TextBox 12"/>
          <p:cNvSpPr txBox="1"/>
          <p:nvPr/>
        </p:nvSpPr>
        <p:spPr>
          <a:xfrm>
            <a:off x="3611880" y="2651760"/>
            <a:ext cx="2286000" cy="457200"/>
          </a:xfrm>
          <a:prstGeom prst="rect">
            <a:avLst/>
          </a:prstGeom>
          <a:noFill/>
        </p:spPr>
        <p:txBody>
          <a:bodyPr wrap="square">
            <a:spAutoFit/>
          </a:bodyPr>
          <a:lstStyle/>
          <a:p>
            <a:pPr algn="ctr">
              <a:defRPr sz="1800" b="1">
                <a:solidFill>
                  <a:srgbClr val="00B294"/>
                </a:solidFill>
                <a:latin typeface="Segoe UI"/>
              </a:defRPr>
            </a:pPr>
            <a:r>
              <a:t>Create Term Set</a:t>
            </a:r>
          </a:p>
        </p:txBody>
      </p:sp>
      <p:sp>
        <p:nvSpPr>
          <p:cNvPr id="14" name="TextBox 13"/>
          <p:cNvSpPr txBox="1"/>
          <p:nvPr/>
        </p:nvSpPr>
        <p:spPr>
          <a:xfrm>
            <a:off x="3611880" y="3200400"/>
            <a:ext cx="2286000" cy="1097280"/>
          </a:xfrm>
          <a:prstGeom prst="rect">
            <a:avLst/>
          </a:prstGeom>
          <a:noFill/>
        </p:spPr>
        <p:txBody>
          <a:bodyPr wrap="square">
            <a:spAutoFit/>
          </a:bodyPr>
          <a:lstStyle/>
          <a:p>
            <a:pPr algn="ctr">
              <a:defRPr sz="1400" b="0">
                <a:solidFill>
                  <a:srgbClr val="242424"/>
                </a:solidFill>
                <a:latin typeface="Segoe UI"/>
              </a:defRPr>
            </a:pPr>
            <a:r>
              <a:t>Within your group, create</a:t>
            </a:r>
            <a:br/>
            <a:r>
              <a:t>NW-Pxx-ContractType</a:t>
            </a:r>
            <a:br/>
            <a:r>
              <a:t>with Closed submission policy</a:t>
            </a:r>
          </a:p>
        </p:txBody>
      </p:sp>
      <p:sp>
        <p:nvSpPr>
          <p:cNvPr id="15" name="Rounded Rectangle 14"/>
          <p:cNvSpPr/>
          <p:nvPr/>
        </p:nvSpPr>
        <p:spPr>
          <a:xfrm>
            <a:off x="630935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269479"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3</a:t>
            </a:r>
          </a:p>
        </p:txBody>
      </p:sp>
      <p:sp>
        <p:nvSpPr>
          <p:cNvPr id="18" name="TextBox 17"/>
          <p:cNvSpPr txBox="1"/>
          <p:nvPr/>
        </p:nvSpPr>
        <p:spPr>
          <a:xfrm>
            <a:off x="6492239" y="2651760"/>
            <a:ext cx="2286000" cy="457200"/>
          </a:xfrm>
          <a:prstGeom prst="rect">
            <a:avLst/>
          </a:prstGeom>
          <a:noFill/>
        </p:spPr>
        <p:txBody>
          <a:bodyPr wrap="square">
            <a:spAutoFit/>
          </a:bodyPr>
          <a:lstStyle/>
          <a:p>
            <a:pPr algn="ctr">
              <a:defRPr sz="1800" b="1">
                <a:solidFill>
                  <a:srgbClr val="6B69D6"/>
                </a:solidFill>
                <a:latin typeface="Segoe UI"/>
              </a:defRPr>
            </a:pPr>
            <a:r>
              <a:t>Add Terms</a:t>
            </a:r>
          </a:p>
        </p:txBody>
      </p:sp>
      <p:sp>
        <p:nvSpPr>
          <p:cNvPr id="19" name="TextBox 18"/>
          <p:cNvSpPr txBox="1"/>
          <p:nvPr/>
        </p:nvSpPr>
        <p:spPr>
          <a:xfrm>
            <a:off x="6492239" y="3200400"/>
            <a:ext cx="2286000" cy="1097280"/>
          </a:xfrm>
          <a:prstGeom prst="rect">
            <a:avLst/>
          </a:prstGeom>
          <a:noFill/>
        </p:spPr>
        <p:txBody>
          <a:bodyPr wrap="square">
            <a:spAutoFit/>
          </a:bodyPr>
          <a:lstStyle/>
          <a:p>
            <a:pPr algn="ctr">
              <a:defRPr sz="1400" b="0">
                <a:solidFill>
                  <a:srgbClr val="242424"/>
                </a:solidFill>
                <a:latin typeface="Segoe UI"/>
              </a:defRPr>
            </a:pPr>
            <a:r>
              <a:t>Add NDA, MSA, SOW,</a:t>
            </a:r>
            <a:br/>
            <a:r>
              <a:t>and Renewal as terms</a:t>
            </a:r>
            <a:br/>
            <a:r>
              <a:t>to your term set</a:t>
            </a:r>
          </a:p>
        </p:txBody>
      </p:sp>
      <p:sp>
        <p:nvSpPr>
          <p:cNvPr id="20" name="Rounded Rectangle 19"/>
          <p:cNvSpPr/>
          <p:nvPr/>
        </p:nvSpPr>
        <p:spPr>
          <a:xfrm>
            <a:off x="918971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149839" y="1828800"/>
            <a:ext cx="640080" cy="64008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4</a:t>
            </a:r>
          </a:p>
        </p:txBody>
      </p:sp>
      <p:sp>
        <p:nvSpPr>
          <p:cNvPr id="23" name="TextBox 22"/>
          <p:cNvSpPr txBox="1"/>
          <p:nvPr/>
        </p:nvSpPr>
        <p:spPr>
          <a:xfrm>
            <a:off x="9372599" y="2651760"/>
            <a:ext cx="2286000" cy="457200"/>
          </a:xfrm>
          <a:prstGeom prst="rect">
            <a:avLst/>
          </a:prstGeom>
          <a:noFill/>
        </p:spPr>
        <p:txBody>
          <a:bodyPr wrap="square">
            <a:spAutoFit/>
          </a:bodyPr>
          <a:lstStyle/>
          <a:p>
            <a:pPr algn="ctr">
              <a:defRPr sz="1800" b="1">
                <a:solidFill>
                  <a:srgbClr val="FF8C00"/>
                </a:solidFill>
                <a:latin typeface="Segoe UI"/>
              </a:defRPr>
            </a:pPr>
            <a:r>
              <a:t>Add MM Column</a:t>
            </a:r>
          </a:p>
        </p:txBody>
      </p:sp>
      <p:sp>
        <p:nvSpPr>
          <p:cNvPr id="24" name="TextBox 23"/>
          <p:cNvSpPr txBox="1"/>
          <p:nvPr/>
        </p:nvSpPr>
        <p:spPr>
          <a:xfrm>
            <a:off x="9372599" y="3200400"/>
            <a:ext cx="2286000" cy="1097280"/>
          </a:xfrm>
          <a:prstGeom prst="rect">
            <a:avLst/>
          </a:prstGeom>
          <a:noFill/>
        </p:spPr>
        <p:txBody>
          <a:bodyPr wrap="square">
            <a:spAutoFit/>
          </a:bodyPr>
          <a:lstStyle/>
          <a:p>
            <a:pPr algn="ctr">
              <a:defRPr sz="1400" b="0">
                <a:solidFill>
                  <a:srgbClr val="242424"/>
                </a:solidFill>
                <a:latin typeface="Segoe UI"/>
              </a:defRPr>
            </a:pPr>
            <a:r>
              <a:t>In NW-Pxx-Contracts library,</a:t>
            </a:r>
            <a:br/>
            <a:r>
              <a:t>create 'Contract Type'</a:t>
            </a:r>
            <a:br/>
            <a:r>
              <a:t>managed metadata column</a:t>
            </a:r>
          </a:p>
        </p:txBody>
      </p:sp>
      <p:sp>
        <p:nvSpPr>
          <p:cNvPr id="25" name="Rounded Rectangle 24"/>
          <p:cNvSpPr/>
          <p:nvPr/>
        </p:nvSpPr>
        <p:spPr>
          <a:xfrm>
            <a:off x="1371600" y="4937760"/>
            <a:ext cx="9418320" cy="73152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645920" y="4983480"/>
            <a:ext cx="8869680" cy="640080"/>
          </a:xfrm>
          <a:prstGeom prst="rect">
            <a:avLst/>
          </a:prstGeom>
          <a:noFill/>
        </p:spPr>
        <p:txBody>
          <a:bodyPr wrap="square">
            <a:spAutoFit/>
          </a:bodyPr>
          <a:lstStyle/>
          <a:p>
            <a:pPr algn="l">
              <a:defRPr sz="1400" b="0">
                <a:solidFill>
                  <a:srgbClr val="242424"/>
                </a:solidFill>
                <a:latin typeface="Segoe UI"/>
              </a:defRPr>
            </a:pPr>
            <a:r>
              <a:t>📝  Bonus:  Tag uploaded contract documents with the new column and create a view grouped by Contract Type to see metadata-driven organization in action.</a:t>
            </a:r>
          </a:p>
        </p:txBody>
      </p:sp>
      <p:sp>
        <p:nvSpPr>
          <p:cNvPr id="27" name="Rectangle 26"/>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29" name="TextBox 28"/>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24 / 28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Validation &amp; Troubleshooting</a:t>
            </a:r>
          </a:p>
        </p:txBody>
      </p:sp>
      <p:sp>
        <p:nvSpPr>
          <p:cNvPr id="4" name="Rounded Rectangle 3"/>
          <p:cNvSpPr/>
          <p:nvPr/>
        </p:nvSpPr>
        <p:spPr>
          <a:xfrm>
            <a:off x="548640" y="118872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188720"/>
            <a:ext cx="73152" cy="91440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234440"/>
            <a:ext cx="2926080" cy="365760"/>
          </a:xfrm>
          <a:prstGeom prst="rect">
            <a:avLst/>
          </a:prstGeom>
          <a:noFill/>
        </p:spPr>
        <p:txBody>
          <a:bodyPr wrap="square">
            <a:spAutoFit/>
          </a:bodyPr>
          <a:lstStyle/>
          <a:p>
            <a:pPr algn="l">
              <a:defRPr sz="1400" b="1">
                <a:solidFill>
                  <a:srgbClr val="D13438"/>
                </a:solidFill>
                <a:latin typeface="Segoe UI"/>
              </a:defRPr>
            </a:pPr>
            <a:r>
              <a:t>Can't create term group</a:t>
            </a:r>
          </a:p>
        </p:txBody>
      </p:sp>
      <p:sp>
        <p:nvSpPr>
          <p:cNvPr id="7" name="TextBox 6"/>
          <p:cNvSpPr txBox="1"/>
          <p:nvPr/>
        </p:nvSpPr>
        <p:spPr>
          <a:xfrm>
            <a:off x="3840480" y="1234440"/>
            <a:ext cx="4389120" cy="822960"/>
          </a:xfrm>
          <a:prstGeom prst="rect">
            <a:avLst/>
          </a:prstGeom>
          <a:noFill/>
        </p:spPr>
        <p:txBody>
          <a:bodyPr wrap="square">
            <a:spAutoFit/>
          </a:bodyPr>
          <a:lstStyle/>
          <a:p>
            <a:pPr algn="l">
              <a:defRPr sz="1200" b="0">
                <a:solidFill>
                  <a:srgbClr val="242424"/>
                </a:solidFill>
                <a:latin typeface="Segoe UI"/>
              </a:defRPr>
            </a:pPr>
            <a:r>
              <a:t>You need Term Store Admin role. Fallback: create a local term set when adding the column.</a:t>
            </a:r>
          </a:p>
        </p:txBody>
      </p:sp>
      <p:sp>
        <p:nvSpPr>
          <p:cNvPr id="8" name="TextBox 7"/>
          <p:cNvSpPr txBox="1"/>
          <p:nvPr/>
        </p:nvSpPr>
        <p:spPr>
          <a:xfrm>
            <a:off x="8412480" y="1234440"/>
            <a:ext cx="3017520" cy="822960"/>
          </a:xfrm>
          <a:prstGeom prst="rect">
            <a:avLst/>
          </a:prstGeom>
          <a:noFill/>
        </p:spPr>
        <p:txBody>
          <a:bodyPr wrap="square">
            <a:spAutoFit/>
          </a:bodyPr>
          <a:lstStyle/>
          <a:p>
            <a:pPr algn="l">
              <a:defRPr sz="1100" b="0">
                <a:solidFill>
                  <a:srgbClr val="606060"/>
                </a:solidFill>
                <a:latin typeface="Segoe UI"/>
              </a:defRPr>
            </a:pPr>
            <a:r>
              <a:t>Check: ask trainer to verify your role</a:t>
            </a:r>
          </a:p>
        </p:txBody>
      </p:sp>
      <p:sp>
        <p:nvSpPr>
          <p:cNvPr id="9" name="Rounded Rectangle 8"/>
          <p:cNvSpPr/>
          <p:nvPr/>
        </p:nvSpPr>
        <p:spPr>
          <a:xfrm>
            <a:off x="548640" y="224028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240280"/>
            <a:ext cx="73152" cy="9144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286000"/>
            <a:ext cx="2926080" cy="365760"/>
          </a:xfrm>
          <a:prstGeom prst="rect">
            <a:avLst/>
          </a:prstGeom>
          <a:noFill/>
        </p:spPr>
        <p:txBody>
          <a:bodyPr wrap="square">
            <a:spAutoFit/>
          </a:bodyPr>
          <a:lstStyle/>
          <a:p>
            <a:pPr algn="l">
              <a:defRPr sz="1400" b="1">
                <a:solidFill>
                  <a:srgbClr val="FF8C00"/>
                </a:solidFill>
                <a:latin typeface="Segoe UI"/>
              </a:defRPr>
            </a:pPr>
            <a:r>
              <a:t>Term set not visible in column picker</a:t>
            </a:r>
          </a:p>
        </p:txBody>
      </p:sp>
      <p:sp>
        <p:nvSpPr>
          <p:cNvPr id="12" name="TextBox 11"/>
          <p:cNvSpPr txBox="1"/>
          <p:nvPr/>
        </p:nvSpPr>
        <p:spPr>
          <a:xfrm>
            <a:off x="3840480" y="2286000"/>
            <a:ext cx="4389120" cy="822960"/>
          </a:xfrm>
          <a:prstGeom prst="rect">
            <a:avLst/>
          </a:prstGeom>
          <a:noFill/>
        </p:spPr>
        <p:txBody>
          <a:bodyPr wrap="square">
            <a:spAutoFit/>
          </a:bodyPr>
          <a:lstStyle/>
          <a:p>
            <a:pPr algn="l">
              <a:defRPr sz="1200" b="0">
                <a:solidFill>
                  <a:srgbClr val="242424"/>
                </a:solidFill>
                <a:latin typeface="Segoe UI"/>
              </a:defRPr>
            </a:pPr>
            <a:r>
              <a:t>Ensure 'Available for tagging' is enabled in the term set's Usage Settings tab.</a:t>
            </a:r>
          </a:p>
        </p:txBody>
      </p:sp>
      <p:sp>
        <p:nvSpPr>
          <p:cNvPr id="13" name="TextBox 12"/>
          <p:cNvSpPr txBox="1"/>
          <p:nvPr/>
        </p:nvSpPr>
        <p:spPr>
          <a:xfrm>
            <a:off x="8412480" y="2286000"/>
            <a:ext cx="3017520" cy="822960"/>
          </a:xfrm>
          <a:prstGeom prst="rect">
            <a:avLst/>
          </a:prstGeom>
          <a:noFill/>
        </p:spPr>
        <p:txBody>
          <a:bodyPr wrap="square">
            <a:spAutoFit/>
          </a:bodyPr>
          <a:lstStyle/>
          <a:p>
            <a:pPr algn="l">
              <a:defRPr sz="1100" b="0">
                <a:solidFill>
                  <a:srgbClr val="606060"/>
                </a:solidFill>
                <a:latin typeface="Segoe UI"/>
              </a:defRPr>
            </a:pPr>
            <a:r>
              <a:t>Check: Term store → select set → Usage settings</a:t>
            </a:r>
          </a:p>
        </p:txBody>
      </p:sp>
      <p:sp>
        <p:nvSpPr>
          <p:cNvPr id="14" name="Rounded Rectangle 13"/>
          <p:cNvSpPr/>
          <p:nvPr/>
        </p:nvSpPr>
        <p:spPr>
          <a:xfrm>
            <a:off x="548640" y="3291839"/>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3291839"/>
            <a:ext cx="73152"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337559"/>
            <a:ext cx="2926080" cy="365760"/>
          </a:xfrm>
          <a:prstGeom prst="rect">
            <a:avLst/>
          </a:prstGeom>
          <a:noFill/>
        </p:spPr>
        <p:txBody>
          <a:bodyPr wrap="square">
            <a:spAutoFit/>
          </a:bodyPr>
          <a:lstStyle/>
          <a:p>
            <a:pPr algn="l">
              <a:defRPr sz="1400" b="1">
                <a:solidFill>
                  <a:srgbClr val="0078D4"/>
                </a:solidFill>
                <a:latin typeface="Segoe UI"/>
              </a:defRPr>
            </a:pPr>
            <a:r>
              <a:t>Users adding unexpected free-text terms</a:t>
            </a:r>
          </a:p>
        </p:txBody>
      </p:sp>
      <p:sp>
        <p:nvSpPr>
          <p:cNvPr id="17" name="TextBox 16"/>
          <p:cNvSpPr txBox="1"/>
          <p:nvPr/>
        </p:nvSpPr>
        <p:spPr>
          <a:xfrm>
            <a:off x="3840480" y="3337559"/>
            <a:ext cx="4389120" cy="822960"/>
          </a:xfrm>
          <a:prstGeom prst="rect">
            <a:avLst/>
          </a:prstGeom>
          <a:noFill/>
        </p:spPr>
        <p:txBody>
          <a:bodyPr wrap="square">
            <a:spAutoFit/>
          </a:bodyPr>
          <a:lstStyle/>
          <a:p>
            <a:pPr algn="l">
              <a:defRPr sz="1200" b="0">
                <a:solidFill>
                  <a:srgbClr val="242424"/>
                </a:solidFill>
                <a:latin typeface="Segoe UI"/>
              </a:defRPr>
            </a:pPr>
            <a:r>
              <a:t>Your term set is Open. Change to Closed if you need strict control.</a:t>
            </a:r>
          </a:p>
        </p:txBody>
      </p:sp>
      <p:sp>
        <p:nvSpPr>
          <p:cNvPr id="18" name="TextBox 17"/>
          <p:cNvSpPr txBox="1"/>
          <p:nvPr/>
        </p:nvSpPr>
        <p:spPr>
          <a:xfrm>
            <a:off x="8412480" y="3337559"/>
            <a:ext cx="3017520" cy="822960"/>
          </a:xfrm>
          <a:prstGeom prst="rect">
            <a:avLst/>
          </a:prstGeom>
          <a:noFill/>
        </p:spPr>
        <p:txBody>
          <a:bodyPr wrap="square">
            <a:spAutoFit/>
          </a:bodyPr>
          <a:lstStyle/>
          <a:p>
            <a:pPr algn="l">
              <a:defRPr sz="1100" b="0">
                <a:solidFill>
                  <a:srgbClr val="606060"/>
                </a:solidFill>
                <a:latin typeface="Segoe UI"/>
              </a:defRPr>
            </a:pPr>
            <a:r>
              <a:t>Check: Term set → Usage settings → Submission policy</a:t>
            </a:r>
          </a:p>
        </p:txBody>
      </p:sp>
      <p:sp>
        <p:nvSpPr>
          <p:cNvPr id="19" name="Rounded Rectangle 18"/>
          <p:cNvSpPr/>
          <p:nvPr/>
        </p:nvSpPr>
        <p:spPr>
          <a:xfrm>
            <a:off x="548640" y="434340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 y="4343400"/>
            <a:ext cx="73152" cy="91440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4389120"/>
            <a:ext cx="2926080" cy="365760"/>
          </a:xfrm>
          <a:prstGeom prst="rect">
            <a:avLst/>
          </a:prstGeom>
          <a:noFill/>
        </p:spPr>
        <p:txBody>
          <a:bodyPr wrap="square">
            <a:spAutoFit/>
          </a:bodyPr>
          <a:lstStyle/>
          <a:p>
            <a:pPr algn="l">
              <a:defRPr sz="1400" b="1">
                <a:solidFill>
                  <a:srgbClr val="6B69D6"/>
                </a:solidFill>
                <a:latin typeface="Segoe UI"/>
              </a:defRPr>
            </a:pPr>
            <a:r>
              <a:t>Column shows GUID instead of term name</a:t>
            </a:r>
          </a:p>
        </p:txBody>
      </p:sp>
      <p:sp>
        <p:nvSpPr>
          <p:cNvPr id="22" name="TextBox 21"/>
          <p:cNvSpPr txBox="1"/>
          <p:nvPr/>
        </p:nvSpPr>
        <p:spPr>
          <a:xfrm>
            <a:off x="3840480" y="4389120"/>
            <a:ext cx="4389120" cy="822960"/>
          </a:xfrm>
          <a:prstGeom prst="rect">
            <a:avLst/>
          </a:prstGeom>
          <a:noFill/>
        </p:spPr>
        <p:txBody>
          <a:bodyPr wrap="square">
            <a:spAutoFit/>
          </a:bodyPr>
          <a:lstStyle/>
          <a:p>
            <a:pPr algn="l">
              <a:defRPr sz="1200" b="0">
                <a:solidFill>
                  <a:srgbClr val="242424"/>
                </a:solidFill>
                <a:latin typeface="Segoe UI"/>
              </a:defRPr>
            </a:pPr>
            <a:r>
              <a:t>Replication delay or column mapping issue. Wait a few minutes and refresh. Re-check the term set binding.</a:t>
            </a:r>
          </a:p>
        </p:txBody>
      </p:sp>
      <p:sp>
        <p:nvSpPr>
          <p:cNvPr id="23" name="TextBox 22"/>
          <p:cNvSpPr txBox="1"/>
          <p:nvPr/>
        </p:nvSpPr>
        <p:spPr>
          <a:xfrm>
            <a:off x="8412480" y="4389120"/>
            <a:ext cx="3017520" cy="822960"/>
          </a:xfrm>
          <a:prstGeom prst="rect">
            <a:avLst/>
          </a:prstGeom>
          <a:noFill/>
        </p:spPr>
        <p:txBody>
          <a:bodyPr wrap="square">
            <a:spAutoFit/>
          </a:bodyPr>
          <a:lstStyle/>
          <a:p>
            <a:pPr algn="l">
              <a:defRPr sz="1100" b="0">
                <a:solidFill>
                  <a:srgbClr val="606060"/>
                </a:solidFill>
                <a:latin typeface="Segoe UI"/>
              </a:defRPr>
            </a:pPr>
            <a:r>
              <a:t>Check: library settings → column → term set mapping</a:t>
            </a:r>
          </a:p>
        </p:txBody>
      </p:sp>
      <p:sp>
        <p:nvSpPr>
          <p:cNvPr id="24" name="Rounded Rectangle 23"/>
          <p:cNvSpPr/>
          <p:nvPr/>
        </p:nvSpPr>
        <p:spPr>
          <a:xfrm>
            <a:off x="548640" y="5394959"/>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48640" y="5394959"/>
            <a:ext cx="73152" cy="91440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5440679"/>
            <a:ext cx="2926080" cy="365760"/>
          </a:xfrm>
          <a:prstGeom prst="rect">
            <a:avLst/>
          </a:prstGeom>
          <a:noFill/>
        </p:spPr>
        <p:txBody>
          <a:bodyPr wrap="square">
            <a:spAutoFit/>
          </a:bodyPr>
          <a:lstStyle/>
          <a:p>
            <a:pPr algn="l">
              <a:defRPr sz="1400" b="1">
                <a:solidFill>
                  <a:srgbClr val="00B294"/>
                </a:solidFill>
                <a:latin typeface="Segoe UI"/>
              </a:defRPr>
            </a:pPr>
            <a:r>
              <a:t>Terms not appearing for other users</a:t>
            </a:r>
          </a:p>
        </p:txBody>
      </p:sp>
      <p:sp>
        <p:nvSpPr>
          <p:cNvPr id="27" name="TextBox 26"/>
          <p:cNvSpPr txBox="1"/>
          <p:nvPr/>
        </p:nvSpPr>
        <p:spPr>
          <a:xfrm>
            <a:off x="3840480" y="5440679"/>
            <a:ext cx="4389120" cy="822960"/>
          </a:xfrm>
          <a:prstGeom prst="rect">
            <a:avLst/>
          </a:prstGeom>
          <a:noFill/>
        </p:spPr>
        <p:txBody>
          <a:bodyPr wrap="square">
            <a:spAutoFit/>
          </a:bodyPr>
          <a:lstStyle/>
          <a:p>
            <a:pPr algn="l">
              <a:defRPr sz="1200" b="0">
                <a:solidFill>
                  <a:srgbClr val="242424"/>
                </a:solidFill>
                <a:latin typeface="Segoe UI"/>
              </a:defRPr>
            </a:pPr>
            <a:r>
              <a:t>Check that terms have 'Available for tagging' enabled and the user has at least read access to the site.</a:t>
            </a:r>
          </a:p>
        </p:txBody>
      </p:sp>
      <p:sp>
        <p:nvSpPr>
          <p:cNvPr id="28" name="TextBox 27"/>
          <p:cNvSpPr txBox="1"/>
          <p:nvPr/>
        </p:nvSpPr>
        <p:spPr>
          <a:xfrm>
            <a:off x="8412480" y="5440679"/>
            <a:ext cx="3017520" cy="822960"/>
          </a:xfrm>
          <a:prstGeom prst="rect">
            <a:avLst/>
          </a:prstGeom>
          <a:noFill/>
        </p:spPr>
        <p:txBody>
          <a:bodyPr wrap="square">
            <a:spAutoFit/>
          </a:bodyPr>
          <a:lstStyle/>
          <a:p>
            <a:pPr algn="l">
              <a:defRPr sz="1100" b="0">
                <a:solidFill>
                  <a:srgbClr val="606060"/>
                </a:solidFill>
                <a:latin typeface="Segoe UI"/>
              </a:defRPr>
            </a:pPr>
            <a:r>
              <a:t>Check: Term store → select term → Usage settings</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25 / 28</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Key Takeaways</a:t>
            </a:r>
          </a:p>
        </p:txBody>
      </p:sp>
      <p:sp>
        <p:nvSpPr>
          <p:cNvPr id="4" name="Rounded Rectangle 3"/>
          <p:cNvSpPr/>
          <p:nvPr/>
        </p:nvSpPr>
        <p:spPr>
          <a:xfrm>
            <a:off x="548640" y="118872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6" name="TextBox 5"/>
          <p:cNvSpPr txBox="1"/>
          <p:nvPr/>
        </p:nvSpPr>
        <p:spPr>
          <a:xfrm>
            <a:off x="1371600" y="1280160"/>
            <a:ext cx="2286000" cy="365760"/>
          </a:xfrm>
          <a:prstGeom prst="rect">
            <a:avLst/>
          </a:prstGeom>
          <a:noFill/>
        </p:spPr>
        <p:txBody>
          <a:bodyPr wrap="square">
            <a:spAutoFit/>
          </a:bodyPr>
          <a:lstStyle/>
          <a:p>
            <a:pPr algn="l">
              <a:defRPr sz="1700" b="1">
                <a:solidFill>
                  <a:srgbClr val="0078D4"/>
                </a:solidFill>
                <a:latin typeface="Segoe UI"/>
              </a:defRPr>
            </a:pPr>
            <a:r>
              <a:t>Information Architecture</a:t>
            </a:r>
          </a:p>
        </p:txBody>
      </p:sp>
      <p:sp>
        <p:nvSpPr>
          <p:cNvPr id="7" name="TextBox 6"/>
          <p:cNvSpPr txBox="1"/>
          <p:nvPr/>
        </p:nvSpPr>
        <p:spPr>
          <a:xfrm>
            <a:off x="3840480" y="1280160"/>
            <a:ext cx="7589520" cy="731520"/>
          </a:xfrm>
          <a:prstGeom prst="rect">
            <a:avLst/>
          </a:prstGeom>
          <a:noFill/>
        </p:spPr>
        <p:txBody>
          <a:bodyPr wrap="square">
            <a:spAutoFit/>
          </a:bodyPr>
          <a:lstStyle/>
          <a:p>
            <a:pPr algn="l">
              <a:defRPr sz="1400" b="0">
                <a:solidFill>
                  <a:srgbClr val="242424"/>
                </a:solidFill>
                <a:latin typeface="Segoe UI"/>
              </a:defRPr>
            </a:pPr>
            <a:r>
              <a:t>Good IA makes content findable by concept, not by folder path.</a:t>
            </a:r>
            <a:br/>
            <a:r>
              <a:t>Metadata &gt; folders for classification at scale.</a:t>
            </a:r>
          </a:p>
        </p:txBody>
      </p:sp>
      <p:sp>
        <p:nvSpPr>
          <p:cNvPr id="8" name="Rounded Rectangle 7"/>
          <p:cNvSpPr/>
          <p:nvPr/>
        </p:nvSpPr>
        <p:spPr>
          <a:xfrm>
            <a:off x="548640" y="224028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31720"/>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10" name="TextBox 9"/>
          <p:cNvSpPr txBox="1"/>
          <p:nvPr/>
        </p:nvSpPr>
        <p:spPr>
          <a:xfrm>
            <a:off x="1371600" y="2331720"/>
            <a:ext cx="2286000" cy="365760"/>
          </a:xfrm>
          <a:prstGeom prst="rect">
            <a:avLst/>
          </a:prstGeom>
          <a:noFill/>
        </p:spPr>
        <p:txBody>
          <a:bodyPr wrap="square">
            <a:spAutoFit/>
          </a:bodyPr>
          <a:lstStyle/>
          <a:p>
            <a:pPr algn="l">
              <a:defRPr sz="1700" b="1">
                <a:solidFill>
                  <a:srgbClr val="0078D4"/>
                </a:solidFill>
                <a:latin typeface="Segoe UI"/>
              </a:defRPr>
            </a:pPr>
            <a:r>
              <a:t>Managed Metadata</a:t>
            </a:r>
          </a:p>
        </p:txBody>
      </p:sp>
      <p:sp>
        <p:nvSpPr>
          <p:cNvPr id="11" name="TextBox 10"/>
          <p:cNvSpPr txBox="1"/>
          <p:nvPr/>
        </p:nvSpPr>
        <p:spPr>
          <a:xfrm>
            <a:off x="3840480" y="2331720"/>
            <a:ext cx="7589520" cy="731520"/>
          </a:xfrm>
          <a:prstGeom prst="rect">
            <a:avLst/>
          </a:prstGeom>
          <a:noFill/>
        </p:spPr>
        <p:txBody>
          <a:bodyPr wrap="square">
            <a:spAutoFit/>
          </a:bodyPr>
          <a:lstStyle/>
          <a:p>
            <a:pPr algn="l">
              <a:defRPr sz="1400" b="0">
                <a:solidFill>
                  <a:srgbClr val="242424"/>
                </a:solidFill>
                <a:latin typeface="Segoe UI"/>
              </a:defRPr>
            </a:pPr>
            <a:r>
              <a:t>Use managed metadata for org-wide controlled vocabulary.</a:t>
            </a:r>
            <a:br/>
            <a:r>
              <a:t>Supports synonyms, hierarchy, and type-ahead picking.</a:t>
            </a:r>
          </a:p>
        </p:txBody>
      </p:sp>
      <p:sp>
        <p:nvSpPr>
          <p:cNvPr id="12" name="Rounded Rectangle 11"/>
          <p:cNvSpPr/>
          <p:nvPr/>
        </p:nvSpPr>
        <p:spPr>
          <a:xfrm>
            <a:off x="548640" y="3291839"/>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383279"/>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14" name="TextBox 13"/>
          <p:cNvSpPr txBox="1"/>
          <p:nvPr/>
        </p:nvSpPr>
        <p:spPr>
          <a:xfrm>
            <a:off x="1371600" y="3383279"/>
            <a:ext cx="2286000" cy="365760"/>
          </a:xfrm>
          <a:prstGeom prst="rect">
            <a:avLst/>
          </a:prstGeom>
          <a:noFill/>
        </p:spPr>
        <p:txBody>
          <a:bodyPr wrap="square">
            <a:spAutoFit/>
          </a:bodyPr>
          <a:lstStyle/>
          <a:p>
            <a:pPr algn="l">
              <a:defRPr sz="1700" b="1">
                <a:solidFill>
                  <a:srgbClr val="0078D4"/>
                </a:solidFill>
                <a:latin typeface="Segoe UI"/>
              </a:defRPr>
            </a:pPr>
            <a:r>
              <a:t>Term Store Hierarchy</a:t>
            </a:r>
          </a:p>
        </p:txBody>
      </p:sp>
      <p:sp>
        <p:nvSpPr>
          <p:cNvPr id="15" name="TextBox 14"/>
          <p:cNvSpPr txBox="1"/>
          <p:nvPr/>
        </p:nvSpPr>
        <p:spPr>
          <a:xfrm>
            <a:off x="3840480" y="3383279"/>
            <a:ext cx="7589520" cy="731520"/>
          </a:xfrm>
          <a:prstGeom prst="rect">
            <a:avLst/>
          </a:prstGeom>
          <a:noFill/>
        </p:spPr>
        <p:txBody>
          <a:bodyPr wrap="square">
            <a:spAutoFit/>
          </a:bodyPr>
          <a:lstStyle/>
          <a:p>
            <a:pPr algn="l">
              <a:defRPr sz="1400" b="0">
                <a:solidFill>
                  <a:srgbClr val="242424"/>
                </a:solidFill>
                <a:latin typeface="Segoe UI"/>
              </a:defRPr>
            </a:pPr>
            <a:r>
              <a:t>Term Group → Term Set → Terms. Groups = security boundaries.</a:t>
            </a:r>
            <a:br/>
            <a:r>
              <a:t>Global sets for tenant-wide use, local for site-scoped.</a:t>
            </a:r>
          </a:p>
        </p:txBody>
      </p:sp>
      <p:sp>
        <p:nvSpPr>
          <p:cNvPr id="16" name="Rounded Rectangle 15"/>
          <p:cNvSpPr/>
          <p:nvPr/>
        </p:nvSpPr>
        <p:spPr>
          <a:xfrm>
            <a:off x="548640" y="434340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4434840"/>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18" name="TextBox 17"/>
          <p:cNvSpPr txBox="1"/>
          <p:nvPr/>
        </p:nvSpPr>
        <p:spPr>
          <a:xfrm>
            <a:off x="1371600" y="4434840"/>
            <a:ext cx="2286000" cy="365760"/>
          </a:xfrm>
          <a:prstGeom prst="rect">
            <a:avLst/>
          </a:prstGeom>
          <a:noFill/>
        </p:spPr>
        <p:txBody>
          <a:bodyPr wrap="square">
            <a:spAutoFit/>
          </a:bodyPr>
          <a:lstStyle/>
          <a:p>
            <a:pPr algn="l">
              <a:defRPr sz="1700" b="1">
                <a:solidFill>
                  <a:srgbClr val="0078D4"/>
                </a:solidFill>
                <a:latin typeface="Segoe UI"/>
              </a:defRPr>
            </a:pPr>
            <a:r>
              <a:t>Delegated Roles</a:t>
            </a:r>
          </a:p>
        </p:txBody>
      </p:sp>
      <p:sp>
        <p:nvSpPr>
          <p:cNvPr id="19" name="TextBox 18"/>
          <p:cNvSpPr txBox="1"/>
          <p:nvPr/>
        </p:nvSpPr>
        <p:spPr>
          <a:xfrm>
            <a:off x="3840480" y="4434840"/>
            <a:ext cx="7589520" cy="731520"/>
          </a:xfrm>
          <a:prstGeom prst="rect">
            <a:avLst/>
          </a:prstGeom>
          <a:noFill/>
        </p:spPr>
        <p:txBody>
          <a:bodyPr wrap="square">
            <a:spAutoFit/>
          </a:bodyPr>
          <a:lstStyle/>
          <a:p>
            <a:pPr algn="l">
              <a:defRPr sz="1400" b="0">
                <a:solidFill>
                  <a:srgbClr val="242424"/>
                </a:solidFill>
                <a:latin typeface="Segoe UI"/>
              </a:defRPr>
            </a:pPr>
            <a:r>
              <a:t>Term Store Admin &gt; Group Manager &gt; Contributor.</a:t>
            </a:r>
            <a:br/>
            <a:r>
              <a:t>Owner/Contact/Stakeholders are labels, not permissions.</a:t>
            </a:r>
          </a:p>
        </p:txBody>
      </p:sp>
      <p:sp>
        <p:nvSpPr>
          <p:cNvPr id="20" name="Rounded Rectangle 19"/>
          <p:cNvSpPr/>
          <p:nvPr/>
        </p:nvSpPr>
        <p:spPr>
          <a:xfrm>
            <a:off x="548640" y="5394959"/>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5486399"/>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22" name="TextBox 21"/>
          <p:cNvSpPr txBox="1"/>
          <p:nvPr/>
        </p:nvSpPr>
        <p:spPr>
          <a:xfrm>
            <a:off x="1371600" y="5486399"/>
            <a:ext cx="2286000" cy="365760"/>
          </a:xfrm>
          <a:prstGeom prst="rect">
            <a:avLst/>
          </a:prstGeom>
          <a:noFill/>
        </p:spPr>
        <p:txBody>
          <a:bodyPr wrap="square">
            <a:spAutoFit/>
          </a:bodyPr>
          <a:lstStyle/>
          <a:p>
            <a:pPr algn="l">
              <a:defRPr sz="1700" b="1">
                <a:solidFill>
                  <a:srgbClr val="0078D4"/>
                </a:solidFill>
                <a:latin typeface="Segoe UI"/>
              </a:defRPr>
            </a:pPr>
            <a:r>
              <a:t>Practical Application</a:t>
            </a:r>
          </a:p>
        </p:txBody>
      </p:sp>
      <p:sp>
        <p:nvSpPr>
          <p:cNvPr id="23" name="TextBox 22"/>
          <p:cNvSpPr txBox="1"/>
          <p:nvPr/>
        </p:nvSpPr>
        <p:spPr>
          <a:xfrm>
            <a:off x="3840480" y="5486399"/>
            <a:ext cx="7589520" cy="731520"/>
          </a:xfrm>
          <a:prstGeom prst="rect">
            <a:avLst/>
          </a:prstGeom>
          <a:noFill/>
        </p:spPr>
        <p:txBody>
          <a:bodyPr wrap="square">
            <a:spAutoFit/>
          </a:bodyPr>
          <a:lstStyle/>
          <a:p>
            <a:pPr algn="l">
              <a:defRPr sz="1400" b="0">
                <a:solidFill>
                  <a:srgbClr val="242424"/>
                </a:solidFill>
                <a:latin typeface="Segoe UI"/>
              </a:defRPr>
            </a:pPr>
            <a:r>
              <a:t>Add a Managed Metadata column to connect term store to library.</a:t>
            </a:r>
            <a:br/>
            <a:r>
              <a:t>Users tag documents via type-ahead; views and search benefit.</a:t>
            </a:r>
          </a:p>
        </p:txBody>
      </p:sp>
      <p:sp>
        <p:nvSpPr>
          <p:cNvPr id="24" name="Rectangle 23"/>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26" name="TextBox 25"/>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26 / 28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Knowledge Check</a:t>
            </a:r>
          </a:p>
        </p:txBody>
      </p:sp>
      <p:sp>
        <p:nvSpPr>
          <p:cNvPr id="4" name="Rounded Rectangle 3"/>
          <p:cNvSpPr/>
          <p:nvPr/>
        </p:nvSpPr>
        <p:spPr>
          <a:xfrm>
            <a:off x="548640" y="128016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1800" b="1">
                <a:solidFill>
                  <a:srgbClr val="FFFFFF"/>
                </a:solidFill>
                <a:latin typeface="Segoe UI"/>
              </a:defRPr>
            </a:pPr>
            <a:r>
              <a:t>1</a:t>
            </a:r>
          </a:p>
        </p:txBody>
      </p:sp>
      <p:sp>
        <p:nvSpPr>
          <p:cNvPr id="6" name="TextBox 5"/>
          <p:cNvSpPr txBox="1"/>
          <p:nvPr/>
        </p:nvSpPr>
        <p:spPr>
          <a:xfrm>
            <a:off x="1463040" y="1417320"/>
            <a:ext cx="9875520" cy="548640"/>
          </a:xfrm>
          <a:prstGeom prst="rect">
            <a:avLst/>
          </a:prstGeom>
          <a:noFill/>
        </p:spPr>
        <p:txBody>
          <a:bodyPr wrap="square">
            <a:spAutoFit/>
          </a:bodyPr>
          <a:lstStyle/>
          <a:p>
            <a:pPr algn="l">
              <a:defRPr sz="1600" b="0">
                <a:solidFill>
                  <a:srgbClr val="242424"/>
                </a:solidFill>
                <a:latin typeface="Segoe UI"/>
              </a:defRPr>
            </a:pPr>
            <a:r>
              <a:t>What is the difference between a "term set" and a "term group"?</a:t>
            </a:r>
          </a:p>
        </p:txBody>
      </p:sp>
      <p:sp>
        <p:nvSpPr>
          <p:cNvPr id="7" name="Rounded Rectangle 6"/>
          <p:cNvSpPr/>
          <p:nvPr/>
        </p:nvSpPr>
        <p:spPr>
          <a:xfrm>
            <a:off x="548640" y="228600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31520" y="242316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1800" b="1">
                <a:solidFill>
                  <a:srgbClr val="FFFFFF"/>
                </a:solidFill>
                <a:latin typeface="Segoe UI"/>
              </a:defRPr>
            </a:pPr>
            <a:r>
              <a:t>2</a:t>
            </a:r>
          </a:p>
        </p:txBody>
      </p:sp>
      <p:sp>
        <p:nvSpPr>
          <p:cNvPr id="9" name="TextBox 8"/>
          <p:cNvSpPr txBox="1"/>
          <p:nvPr/>
        </p:nvSpPr>
        <p:spPr>
          <a:xfrm>
            <a:off x="1463040" y="2423160"/>
            <a:ext cx="9875520" cy="548640"/>
          </a:xfrm>
          <a:prstGeom prst="rect">
            <a:avLst/>
          </a:prstGeom>
          <a:noFill/>
        </p:spPr>
        <p:txBody>
          <a:bodyPr wrap="square">
            <a:spAutoFit/>
          </a:bodyPr>
          <a:lstStyle/>
          <a:p>
            <a:pPr algn="l">
              <a:defRPr sz="1600" b="0">
                <a:solidFill>
                  <a:srgbClr val="242424"/>
                </a:solidFill>
                <a:latin typeface="Segoe UI"/>
              </a:defRPr>
            </a:pPr>
            <a:r>
              <a:t>When would you prefer a managed metadata column over a standard Choice column?</a:t>
            </a:r>
          </a:p>
        </p:txBody>
      </p:sp>
      <p:sp>
        <p:nvSpPr>
          <p:cNvPr id="10" name="Rounded Rectangle 9"/>
          <p:cNvSpPr/>
          <p:nvPr/>
        </p:nvSpPr>
        <p:spPr>
          <a:xfrm>
            <a:off x="548640" y="329184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342900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1800" b="1">
                <a:solidFill>
                  <a:srgbClr val="FFFFFF"/>
                </a:solidFill>
                <a:latin typeface="Segoe UI"/>
              </a:defRPr>
            </a:pPr>
            <a:r>
              <a:t>3</a:t>
            </a:r>
          </a:p>
        </p:txBody>
      </p:sp>
      <p:sp>
        <p:nvSpPr>
          <p:cNvPr id="12" name="TextBox 11"/>
          <p:cNvSpPr txBox="1"/>
          <p:nvPr/>
        </p:nvSpPr>
        <p:spPr>
          <a:xfrm>
            <a:off x="1463040" y="3429000"/>
            <a:ext cx="9875520" cy="548640"/>
          </a:xfrm>
          <a:prstGeom prst="rect">
            <a:avLst/>
          </a:prstGeom>
          <a:noFill/>
        </p:spPr>
        <p:txBody>
          <a:bodyPr wrap="square">
            <a:spAutoFit/>
          </a:bodyPr>
          <a:lstStyle/>
          <a:p>
            <a:pPr algn="l">
              <a:defRPr sz="1600" b="0">
                <a:solidFill>
                  <a:srgbClr val="242424"/>
                </a:solidFill>
                <a:latin typeface="Segoe UI"/>
              </a:defRPr>
            </a:pPr>
            <a:r>
              <a:t>Who can create a new term group in the term store?</a:t>
            </a:r>
          </a:p>
        </p:txBody>
      </p:sp>
      <p:sp>
        <p:nvSpPr>
          <p:cNvPr id="13" name="Rounded Rectangle 12"/>
          <p:cNvSpPr/>
          <p:nvPr/>
        </p:nvSpPr>
        <p:spPr>
          <a:xfrm>
            <a:off x="548640" y="429768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1520" y="443484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1800" b="1">
                <a:solidFill>
                  <a:srgbClr val="FFFFFF"/>
                </a:solidFill>
                <a:latin typeface="Segoe UI"/>
              </a:defRPr>
            </a:pPr>
            <a:r>
              <a:t>4</a:t>
            </a:r>
          </a:p>
        </p:txBody>
      </p:sp>
      <p:sp>
        <p:nvSpPr>
          <p:cNvPr id="15" name="TextBox 14"/>
          <p:cNvSpPr txBox="1"/>
          <p:nvPr/>
        </p:nvSpPr>
        <p:spPr>
          <a:xfrm>
            <a:off x="1463040" y="4434840"/>
            <a:ext cx="9875520" cy="548640"/>
          </a:xfrm>
          <a:prstGeom prst="rect">
            <a:avLst/>
          </a:prstGeom>
          <a:noFill/>
        </p:spPr>
        <p:txBody>
          <a:bodyPr wrap="square">
            <a:spAutoFit/>
          </a:bodyPr>
          <a:lstStyle/>
          <a:p>
            <a:pPr algn="l">
              <a:defRPr sz="1600" b="0">
                <a:solidFill>
                  <a:srgbClr val="242424"/>
                </a:solidFill>
                <a:latin typeface="Segoe UI"/>
              </a:defRPr>
            </a:pPr>
            <a:r>
              <a:t>What does 'delegated term management' mean in practice?</a:t>
            </a:r>
          </a:p>
        </p:txBody>
      </p:sp>
      <p:sp>
        <p:nvSpPr>
          <p:cNvPr id="16" name="Rounded Rectangle 15"/>
          <p:cNvSpPr/>
          <p:nvPr/>
        </p:nvSpPr>
        <p:spPr>
          <a:xfrm>
            <a:off x="548640" y="530352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1520" y="544068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1800" b="1">
                <a:solidFill>
                  <a:srgbClr val="FFFFFF"/>
                </a:solidFill>
                <a:latin typeface="Segoe UI"/>
              </a:defRPr>
            </a:pPr>
            <a:r>
              <a:t>5</a:t>
            </a:r>
          </a:p>
        </p:txBody>
      </p:sp>
      <p:sp>
        <p:nvSpPr>
          <p:cNvPr id="18" name="TextBox 17"/>
          <p:cNvSpPr txBox="1"/>
          <p:nvPr/>
        </p:nvSpPr>
        <p:spPr>
          <a:xfrm>
            <a:off x="1463040" y="5440680"/>
            <a:ext cx="9875520" cy="548640"/>
          </a:xfrm>
          <a:prstGeom prst="rect">
            <a:avLst/>
          </a:prstGeom>
          <a:noFill/>
        </p:spPr>
        <p:txBody>
          <a:bodyPr wrap="square">
            <a:spAutoFit/>
          </a:bodyPr>
          <a:lstStyle/>
          <a:p>
            <a:pPr algn="l">
              <a:defRPr sz="1600" b="0">
                <a:solidFill>
                  <a:srgbClr val="242424"/>
                </a:solidFill>
                <a:latin typeface="Segoe UI"/>
              </a:defRPr>
            </a:pPr>
            <a:r>
              <a:t>What shared-tenant behaviors should you avoid when working with the term store?</a:t>
            </a:r>
          </a:p>
        </p:txBody>
      </p:sp>
      <p:sp>
        <p:nvSpPr>
          <p:cNvPr id="19" name="Rectangle 1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5  |  Managing Metadata and the Term Store</a:t>
            </a:r>
          </a:p>
        </p:txBody>
      </p:sp>
      <p:sp>
        <p:nvSpPr>
          <p:cNvPr id="21" name="TextBox 2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27 / 28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
            <a:ext cx="12191695"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828800"/>
            <a:ext cx="10058400" cy="914400"/>
          </a:xfrm>
          <a:prstGeom prst="rect">
            <a:avLst/>
          </a:prstGeom>
          <a:noFill/>
        </p:spPr>
        <p:txBody>
          <a:bodyPr wrap="square">
            <a:spAutoFit/>
          </a:bodyPr>
          <a:lstStyle/>
          <a:p>
            <a:pPr algn="ctr">
              <a:defRPr sz="4400" b="1">
                <a:solidFill>
                  <a:srgbClr val="FFFFFF"/>
                </a:solidFill>
                <a:latin typeface="Segoe UI"/>
              </a:defRPr>
            </a:pPr>
            <a:r>
              <a:t>✅  Module 5 Complete!</a:t>
            </a:r>
          </a:p>
        </p:txBody>
      </p:sp>
      <p:sp>
        <p:nvSpPr>
          <p:cNvPr id="5" name="TextBox 4"/>
          <p:cNvSpPr txBox="1"/>
          <p:nvPr/>
        </p:nvSpPr>
        <p:spPr>
          <a:xfrm>
            <a:off x="914400" y="3017520"/>
            <a:ext cx="10058400" cy="731520"/>
          </a:xfrm>
          <a:prstGeom prst="rect">
            <a:avLst/>
          </a:prstGeom>
          <a:noFill/>
        </p:spPr>
        <p:txBody>
          <a:bodyPr wrap="square">
            <a:spAutoFit/>
          </a:bodyPr>
          <a:lstStyle/>
          <a:p>
            <a:pPr algn="ctr">
              <a:defRPr sz="2400" b="0">
                <a:solidFill>
                  <a:srgbClr val="00B294"/>
                </a:solidFill>
                <a:latin typeface="Segoe UI"/>
              </a:defRPr>
            </a:pPr>
            <a:r>
              <a:t>Managing Metadata and the Term Store</a:t>
            </a:r>
          </a:p>
        </p:txBody>
      </p:sp>
      <p:sp>
        <p:nvSpPr>
          <p:cNvPr id="6" name="Rectangle 5"/>
          <p:cNvSpPr/>
          <p:nvPr/>
        </p:nvSpPr>
        <p:spPr>
          <a:xfrm>
            <a:off x="5029200" y="4023360"/>
            <a:ext cx="2103120" cy="36576"/>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4389120"/>
            <a:ext cx="10058400" cy="731520"/>
          </a:xfrm>
          <a:prstGeom prst="rect">
            <a:avLst/>
          </a:prstGeom>
          <a:noFill/>
        </p:spPr>
        <p:txBody>
          <a:bodyPr wrap="square">
            <a:spAutoFit/>
          </a:bodyPr>
          <a:lstStyle/>
          <a:p>
            <a:pPr algn="ctr">
              <a:defRPr sz="2000" b="0">
                <a:solidFill>
                  <a:srgbClr val="AAAAAA"/>
                </a:solidFill>
                <a:latin typeface="Segoe UI"/>
              </a:defRPr>
            </a:pPr>
            <a:r>
              <a:t>Up Next  →  Module 6: Configuring the Search Experience</a:t>
            </a:r>
          </a:p>
        </p:txBody>
      </p:sp>
      <p:sp>
        <p:nvSpPr>
          <p:cNvPr id="8" name="TextBox 7"/>
          <p:cNvSpPr txBox="1"/>
          <p:nvPr/>
        </p:nvSpPr>
        <p:spPr>
          <a:xfrm>
            <a:off x="1828800" y="5303520"/>
            <a:ext cx="8229600" cy="548640"/>
          </a:xfrm>
          <a:prstGeom prst="rect">
            <a:avLst/>
          </a:prstGeom>
          <a:noFill/>
        </p:spPr>
        <p:txBody>
          <a:bodyPr wrap="square">
            <a:spAutoFit/>
          </a:bodyPr>
          <a:lstStyle/>
          <a:p>
            <a:pPr algn="ctr">
              <a:defRPr sz="1600" b="0">
                <a:solidFill>
                  <a:srgbClr val="888888"/>
                </a:solidFill>
                <a:latin typeface="Segoe UI"/>
              </a:defRPr>
            </a:pPr>
            <a:r>
              <a:t>🔍 Discover how metadata powers search refiners and discovery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1574</TotalTime>
  <Words>3235</Words>
  <Application>Microsoft Office PowerPoint</Application>
  <PresentationFormat>Widescreen</PresentationFormat>
  <Paragraphs>405</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Albert Jeremy</cp:lastModifiedBy>
  <cp:revision>2</cp:revision>
  <dcterms:created xsi:type="dcterms:W3CDTF">2013-01-27T09:14:16Z</dcterms:created>
  <dcterms:modified xsi:type="dcterms:W3CDTF">2026-02-11T05:30:38Z</dcterms:modified>
  <cp:category/>
</cp:coreProperties>
</file>