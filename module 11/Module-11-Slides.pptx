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11 — Operations at Scale. This module is about the operational discipline of a SharePoint admin: monitoring incidents, triaging access issues, managing site lifecycles, and governing external sharing. The mantra: observe → document → request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 the operations mindset for a SharePoint admin. Observe first, document what you find, then request changes through proper channels. In a shared tenant, tenant-wide changes are always trainer-led.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learning outcomes covering monitoring, troubleshooting, lifecycle, and sharing.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first topic is monitoring and incident readiness.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health is your first stop during any incident. Check whether Microsoft already has an active advisory or incident before spending time troubleshooting locally. Ref: https://learn.microsoft.com/en-us/microsoft-365/enterprise/view-service-health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center tells you about planned changes, new features, and maintenance. 'Plan for change' items are critical for operational planning. Ref: https://learn.microsoft.com/en-us/microsoft-365/admin/manage/message-center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users report an issue, follow this 3-step triage in the first 5 minutes. This prevents wasted effort on Microsoft-side incidents.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most common support ticket — access denied.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denied is the most common ticket. The three main causes are: wrong identity (user signed in with a different account), permission not granted, and wrong link type. Use Check Permissions to diagnose. Ref: https://learn.microsoft.com/en-us/troubleshoot/sharepoint/administration/access-denied-or-need-permission-error-sharepoint-online-or-onedrive-for-business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Permissions is your primary diagnostic tool for site-level access issues.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Read-only or locked sites can be caused by admin lock state, maintenance, or storage quota exceeded. Check Service health + Message center first. Ref: https://learn.microsoft.com/en-us/troubleshoot/sharepoint/sites/site-is-read-only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next topic is site lifecycle governance — delete and restore.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Deleted sites go to the recycle bin and are retained for a limited time. Admins can restore them from the SharePoint admin center. Ref: https://learn.microsoft.com/en-us/sharepoint/restore-deleted-site-collection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guardrail: deleting or replacing the root site can break access to all sites under it. This is a high-impact, tenant-wide action. Ref: https://learn.microsoft.com/en-us/troubleshoot/sharepoint/sites/url-that-resides-under-root-site-collection-is-broken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last major topic is external sharing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org-level sharing setting is the ceiling. Sites can be more restrictive but never more permissive than the org level. Ref: https://learn.microsoft.com/en-us/sharepoint/turn-external-sharing-on-or-off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main link types: Anyone (anonymous), People in your organisation, and Specific people. Each has different security implications. Ref: https://learn.microsoft.com/en-us/sharepoint/shareable-links-anyone-specific-people-organization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link type determines what users see when they click Share. Admins can also control Anyone-link expiration and permission restrictions.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even when you don't change settings, reporting creates value.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every finding into a structured change request: what you want to change, why, what the risk is, and how to roll back if needed.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time for the hands-on lab.</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11 preview: five exercises covering incident awareness, access triage, site lifecycle, external sharing review, and safe PowerShell reporting. Estimated time: 75–105 minutes.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deliverables: four completed worksheets and optional PowerShell exports.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four key takeaways from Module 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knowledge check questions covering all four topics.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11 complete. Next: Module 12 — Workflow Automation (optional).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457200"/>
          </a:xfrm>
          <a:prstGeom prst="rect">
            <a:avLst/>
          </a:prstGeom>
          <a:noFill/>
        </p:spPr>
        <p:txBody>
          <a:bodyPr wrap="square">
            <a:spAutoFit/>
          </a:bodyPr>
          <a:lstStyle/>
          <a:p>
            <a:pPr algn="ctr">
              <a:defRPr sz="1400" b="1">
                <a:solidFill>
                  <a:srgbClr val="00B294"/>
                </a:solidFill>
                <a:latin typeface="Segoe UI"/>
              </a:defRPr>
            </a:pPr>
            <a:r>
              <a:t>MODERN SHAREPOINT ONLINE FOR ADMINISTRATORS  ·  DAY 4</a:t>
            </a:r>
          </a:p>
        </p:txBody>
      </p:sp>
      <p:sp>
        <p:nvSpPr>
          <p:cNvPr id="5" name="TextBox 4"/>
          <p:cNvSpPr txBox="1"/>
          <p:nvPr/>
        </p:nvSpPr>
        <p:spPr>
          <a:xfrm>
            <a:off x="914400" y="2103120"/>
            <a:ext cx="10058400" cy="1371600"/>
          </a:xfrm>
          <a:prstGeom prst="rect">
            <a:avLst/>
          </a:prstGeom>
          <a:noFill/>
        </p:spPr>
        <p:txBody>
          <a:bodyPr wrap="square">
            <a:spAutoFit/>
          </a:bodyPr>
          <a:lstStyle/>
          <a:p>
            <a:pPr algn="ctr">
              <a:defRPr sz="6000" b="1">
                <a:solidFill>
                  <a:srgbClr val="FFFFFF"/>
                </a:solidFill>
                <a:latin typeface="Segoe UI"/>
              </a:defRPr>
            </a:pPr>
            <a:r>
              <a:t>Module 11</a:t>
            </a:r>
          </a:p>
        </p:txBody>
      </p:sp>
      <p:sp>
        <p:nvSpPr>
          <p:cNvPr id="6" name="TextBox 5"/>
          <p:cNvSpPr txBox="1"/>
          <p:nvPr/>
        </p:nvSpPr>
        <p:spPr>
          <a:xfrm>
            <a:off x="457200" y="3474720"/>
            <a:ext cx="10972800" cy="914400"/>
          </a:xfrm>
          <a:prstGeom prst="rect">
            <a:avLst/>
          </a:prstGeom>
          <a:noFill/>
        </p:spPr>
        <p:txBody>
          <a:bodyPr wrap="square">
            <a:spAutoFit/>
          </a:bodyPr>
          <a:lstStyle/>
          <a:p>
            <a:pPr algn="ctr">
              <a:defRPr sz="2800" b="0">
                <a:solidFill>
                  <a:srgbClr val="00B294"/>
                </a:solidFill>
                <a:latin typeface="Segoe UI"/>
              </a:defRPr>
            </a:pPr>
            <a:r>
              <a:t>Operations at Scale: Monitoring, Lifecycle</a:t>
            </a:r>
            <a:br/>
            <a:r>
              <a:t>&amp; External Sharing Governance</a:t>
            </a:r>
          </a:p>
        </p:txBody>
      </p:sp>
      <p:sp>
        <p:nvSpPr>
          <p:cNvPr id="7" name="TextBox 6"/>
          <p:cNvSpPr txBox="1"/>
          <p:nvPr/>
        </p:nvSpPr>
        <p:spPr>
          <a:xfrm>
            <a:off x="1828800" y="4754880"/>
            <a:ext cx="8229600" cy="548640"/>
          </a:xfrm>
          <a:prstGeom prst="rect">
            <a:avLst/>
          </a:prstGeom>
          <a:noFill/>
        </p:spPr>
        <p:txBody>
          <a:bodyPr wrap="square">
            <a:spAutoFit/>
          </a:bodyPr>
          <a:lstStyle/>
          <a:p>
            <a:pPr algn="ctr">
              <a:defRPr sz="1600" b="0">
                <a:solidFill>
                  <a:srgbClr val="AAAAAA"/>
                </a:solidFill>
                <a:latin typeface="Segoe UI"/>
              </a:defRPr>
            </a:pPr>
            <a:r>
              <a:t>Observe  ·  Document  ·  Request changes safely</a:t>
            </a:r>
          </a:p>
        </p:txBody>
      </p:sp>
      <p:sp>
        <p:nvSpPr>
          <p:cNvPr id="8" name="Rectangle 7"/>
          <p:cNvSpPr/>
          <p:nvPr/>
        </p:nvSpPr>
        <p:spPr>
          <a:xfrm>
            <a:off x="5029200" y="557784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1B1B2F"/>
                </a:solidFill>
                <a:latin typeface="Segoe UI"/>
              </a:defRPr>
            </a:pPr>
            <a:r>
              <a:t>The Operations Mindset</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Observe → Document → Request changes — the admin's operational loop</a:t>
            </a:r>
          </a:p>
        </p:txBody>
      </p:sp>
      <p:sp>
        <p:nvSpPr>
          <p:cNvPr id="5" name="Rounded Rectangle 4"/>
          <p:cNvSpPr/>
          <p:nvPr/>
        </p:nvSpPr>
        <p:spPr>
          <a:xfrm>
            <a:off x="54864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19"/>
            <a:ext cx="3154680" cy="548640"/>
          </a:xfrm>
          <a:prstGeom prst="rect">
            <a:avLst/>
          </a:prstGeom>
          <a:noFill/>
        </p:spPr>
        <p:txBody>
          <a:bodyPr wrap="square">
            <a:spAutoFit/>
          </a:bodyPr>
          <a:lstStyle/>
          <a:p>
            <a:pPr algn="ctr">
              <a:defRPr sz="4800" b="0">
                <a:solidFill>
                  <a:srgbClr val="242424"/>
                </a:solidFill>
                <a:latin typeface="Segoe UI"/>
              </a:defRPr>
            </a:pPr>
            <a:r>
              <a:t>🔍</a:t>
            </a:r>
          </a:p>
        </p:txBody>
      </p:sp>
      <p:sp>
        <p:nvSpPr>
          <p:cNvPr id="8" name="TextBox 7"/>
          <p:cNvSpPr txBox="1"/>
          <p:nvPr/>
        </p:nvSpPr>
        <p:spPr>
          <a:xfrm>
            <a:off x="731520" y="2468880"/>
            <a:ext cx="3154680" cy="457200"/>
          </a:xfrm>
          <a:prstGeom prst="rect">
            <a:avLst/>
          </a:prstGeom>
          <a:noFill/>
        </p:spPr>
        <p:txBody>
          <a:bodyPr wrap="square">
            <a:spAutoFit/>
          </a:bodyPr>
          <a:lstStyle/>
          <a:p>
            <a:pPr algn="ctr">
              <a:defRPr sz="2800" b="1">
                <a:solidFill>
                  <a:srgbClr val="0078D4"/>
                </a:solidFill>
                <a:latin typeface="Segoe UI"/>
              </a:defRPr>
            </a:pPr>
            <a:r>
              <a:t>Observe</a:t>
            </a:r>
          </a:p>
        </p:txBody>
      </p:sp>
      <p:sp>
        <p:nvSpPr>
          <p:cNvPr id="9" name="Rectangle 8"/>
          <p:cNvSpPr/>
          <p:nvPr/>
        </p:nvSpPr>
        <p:spPr>
          <a:xfrm>
            <a:off x="1005840" y="3017520"/>
            <a:ext cx="2606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00400"/>
            <a:ext cx="2971800" cy="1097280"/>
          </a:xfrm>
          <a:prstGeom prst="rect">
            <a:avLst/>
          </a:prstGeom>
          <a:noFill/>
        </p:spPr>
        <p:txBody>
          <a:bodyPr wrap="square">
            <a:spAutoFit/>
          </a:bodyPr>
          <a:lstStyle/>
          <a:p>
            <a:pPr algn="ctr">
              <a:defRPr sz="1400" b="0">
                <a:solidFill>
                  <a:srgbClr val="242424"/>
                </a:solidFill>
                <a:latin typeface="Segoe UI"/>
              </a:defRPr>
            </a:pPr>
            <a:r>
              <a:t>Check Service health, admin</a:t>
            </a:r>
            <a:br/>
            <a:r>
              <a:t>centers, and diagnostics</a:t>
            </a:r>
            <a:br/>
            <a:r>
              <a:t>before making changes</a:t>
            </a:r>
          </a:p>
        </p:txBody>
      </p:sp>
      <p:sp>
        <p:nvSpPr>
          <p:cNvPr id="11" name="TextBox 10"/>
          <p:cNvSpPr txBox="1"/>
          <p:nvPr/>
        </p:nvSpPr>
        <p:spPr>
          <a:xfrm>
            <a:off x="822960" y="4480560"/>
            <a:ext cx="2971800" cy="731520"/>
          </a:xfrm>
          <a:prstGeom prst="rect">
            <a:avLst/>
          </a:prstGeom>
          <a:noFill/>
        </p:spPr>
        <p:txBody>
          <a:bodyPr wrap="square">
            <a:spAutoFit/>
          </a:bodyPr>
          <a:lstStyle/>
          <a:p>
            <a:pPr algn="ctr">
              <a:defRPr sz="1200" b="0">
                <a:solidFill>
                  <a:srgbClr val="606060"/>
                </a:solidFill>
                <a:latin typeface="Segoe UI"/>
              </a:defRPr>
            </a:pPr>
            <a:r>
              <a:t>Don't troubleshoot what Microsoft already knows about</a:t>
            </a:r>
          </a:p>
        </p:txBody>
      </p:sp>
      <p:sp>
        <p:nvSpPr>
          <p:cNvPr id="12" name="Rounded Rectangle 11"/>
          <p:cNvSpPr/>
          <p:nvPr/>
        </p:nvSpPr>
        <p:spPr>
          <a:xfrm>
            <a:off x="434340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874519"/>
            <a:ext cx="3154680" cy="548640"/>
          </a:xfrm>
          <a:prstGeom prst="rect">
            <a:avLst/>
          </a:prstGeom>
          <a:noFill/>
        </p:spPr>
        <p:txBody>
          <a:bodyPr wrap="square">
            <a:spAutoFit/>
          </a:bodyPr>
          <a:lstStyle/>
          <a:p>
            <a:pPr algn="ctr">
              <a:defRPr sz="4800" b="0">
                <a:solidFill>
                  <a:srgbClr val="242424"/>
                </a:solidFill>
                <a:latin typeface="Segoe UI"/>
              </a:defRPr>
            </a:pPr>
            <a:r>
              <a:t>📝</a:t>
            </a:r>
          </a:p>
        </p:txBody>
      </p:sp>
      <p:sp>
        <p:nvSpPr>
          <p:cNvPr id="15" name="TextBox 14"/>
          <p:cNvSpPr txBox="1"/>
          <p:nvPr/>
        </p:nvSpPr>
        <p:spPr>
          <a:xfrm>
            <a:off x="4526280" y="2468880"/>
            <a:ext cx="3154680" cy="457200"/>
          </a:xfrm>
          <a:prstGeom prst="rect">
            <a:avLst/>
          </a:prstGeom>
          <a:noFill/>
        </p:spPr>
        <p:txBody>
          <a:bodyPr wrap="square">
            <a:spAutoFit/>
          </a:bodyPr>
          <a:lstStyle/>
          <a:p>
            <a:pPr algn="ctr">
              <a:defRPr sz="2800" b="1">
                <a:solidFill>
                  <a:srgbClr val="0078D4"/>
                </a:solidFill>
                <a:latin typeface="Segoe UI"/>
              </a:defRPr>
            </a:pPr>
            <a:r>
              <a:t>Document</a:t>
            </a:r>
          </a:p>
        </p:txBody>
      </p:sp>
      <p:sp>
        <p:nvSpPr>
          <p:cNvPr id="16" name="Rectangle 15"/>
          <p:cNvSpPr/>
          <p:nvPr/>
        </p:nvSpPr>
        <p:spPr>
          <a:xfrm>
            <a:off x="4800600" y="3017520"/>
            <a:ext cx="2606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200400"/>
            <a:ext cx="2971800" cy="1097280"/>
          </a:xfrm>
          <a:prstGeom prst="rect">
            <a:avLst/>
          </a:prstGeom>
          <a:noFill/>
        </p:spPr>
        <p:txBody>
          <a:bodyPr wrap="square">
            <a:spAutoFit/>
          </a:bodyPr>
          <a:lstStyle/>
          <a:p>
            <a:pPr algn="ctr">
              <a:defRPr sz="1400" b="0">
                <a:solidFill>
                  <a:srgbClr val="242424"/>
                </a:solidFill>
                <a:latin typeface="Segoe UI"/>
              </a:defRPr>
            </a:pPr>
            <a:r>
              <a:t>Record what you checked,</a:t>
            </a:r>
            <a:br/>
            <a:r>
              <a:t>what you found, and the</a:t>
            </a:r>
            <a:br/>
            <a:r>
              <a:t>current state</a:t>
            </a:r>
          </a:p>
        </p:txBody>
      </p:sp>
      <p:sp>
        <p:nvSpPr>
          <p:cNvPr id="18" name="TextBox 17"/>
          <p:cNvSpPr txBox="1"/>
          <p:nvPr/>
        </p:nvSpPr>
        <p:spPr>
          <a:xfrm>
            <a:off x="4617720" y="4480560"/>
            <a:ext cx="2971800" cy="731520"/>
          </a:xfrm>
          <a:prstGeom prst="rect">
            <a:avLst/>
          </a:prstGeom>
          <a:noFill/>
        </p:spPr>
        <p:txBody>
          <a:bodyPr wrap="square">
            <a:spAutoFit/>
          </a:bodyPr>
          <a:lstStyle/>
          <a:p>
            <a:pPr algn="ctr">
              <a:defRPr sz="1200" b="0">
                <a:solidFill>
                  <a:srgbClr val="606060"/>
                </a:solidFill>
                <a:latin typeface="Segoe UI"/>
              </a:defRPr>
            </a:pPr>
            <a:r>
              <a:t>Use worksheets: incident, lifecycle, sharing, change request</a:t>
            </a:r>
          </a:p>
        </p:txBody>
      </p:sp>
      <p:sp>
        <p:nvSpPr>
          <p:cNvPr id="19" name="Rounded Rectangle 18"/>
          <p:cNvSpPr/>
          <p:nvPr/>
        </p:nvSpPr>
        <p:spPr>
          <a:xfrm>
            <a:off x="813816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874519"/>
            <a:ext cx="3154680" cy="548640"/>
          </a:xfrm>
          <a:prstGeom prst="rect">
            <a:avLst/>
          </a:prstGeom>
          <a:noFill/>
        </p:spPr>
        <p:txBody>
          <a:bodyPr wrap="square">
            <a:spAutoFit/>
          </a:bodyPr>
          <a:lstStyle/>
          <a:p>
            <a:pPr algn="ctr">
              <a:defRPr sz="4800" b="0">
                <a:solidFill>
                  <a:srgbClr val="242424"/>
                </a:solidFill>
                <a:latin typeface="Segoe UI"/>
              </a:defRPr>
            </a:pPr>
            <a:r>
              <a:t>📋</a:t>
            </a:r>
          </a:p>
        </p:txBody>
      </p:sp>
      <p:sp>
        <p:nvSpPr>
          <p:cNvPr id="22" name="TextBox 21"/>
          <p:cNvSpPr txBox="1"/>
          <p:nvPr/>
        </p:nvSpPr>
        <p:spPr>
          <a:xfrm>
            <a:off x="8321040" y="2468880"/>
            <a:ext cx="3154680" cy="457200"/>
          </a:xfrm>
          <a:prstGeom prst="rect">
            <a:avLst/>
          </a:prstGeom>
          <a:noFill/>
        </p:spPr>
        <p:txBody>
          <a:bodyPr wrap="square">
            <a:spAutoFit/>
          </a:bodyPr>
          <a:lstStyle/>
          <a:p>
            <a:pPr algn="ctr">
              <a:defRPr sz="2800" b="1">
                <a:solidFill>
                  <a:srgbClr val="0078D4"/>
                </a:solidFill>
                <a:latin typeface="Segoe UI"/>
              </a:defRPr>
            </a:pPr>
            <a:r>
              <a:t>Request</a:t>
            </a:r>
          </a:p>
        </p:txBody>
      </p:sp>
      <p:sp>
        <p:nvSpPr>
          <p:cNvPr id="23" name="Rectangle 22"/>
          <p:cNvSpPr/>
          <p:nvPr/>
        </p:nvSpPr>
        <p:spPr>
          <a:xfrm>
            <a:off x="8595360" y="3017520"/>
            <a:ext cx="2606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3200400"/>
            <a:ext cx="2971800" cy="1097280"/>
          </a:xfrm>
          <a:prstGeom prst="rect">
            <a:avLst/>
          </a:prstGeom>
          <a:noFill/>
        </p:spPr>
        <p:txBody>
          <a:bodyPr wrap="square">
            <a:spAutoFit/>
          </a:bodyPr>
          <a:lstStyle/>
          <a:p>
            <a:pPr algn="ctr">
              <a:defRPr sz="1400" b="0">
                <a:solidFill>
                  <a:srgbClr val="242424"/>
                </a:solidFill>
                <a:latin typeface="Segoe UI"/>
              </a:defRPr>
            </a:pPr>
            <a:r>
              <a:t>Turn findings into a change</a:t>
            </a:r>
            <a:br/>
            <a:r>
              <a:t>request: what / why / risk /</a:t>
            </a:r>
            <a:br/>
            <a:r>
              <a:t>rollback plan</a:t>
            </a:r>
          </a:p>
        </p:txBody>
      </p:sp>
      <p:sp>
        <p:nvSpPr>
          <p:cNvPr id="25" name="TextBox 24"/>
          <p:cNvSpPr txBox="1"/>
          <p:nvPr/>
        </p:nvSpPr>
        <p:spPr>
          <a:xfrm>
            <a:off x="8412480" y="4480560"/>
            <a:ext cx="2971800" cy="731520"/>
          </a:xfrm>
          <a:prstGeom prst="rect">
            <a:avLst/>
          </a:prstGeom>
          <a:noFill/>
        </p:spPr>
        <p:txBody>
          <a:bodyPr wrap="square">
            <a:spAutoFit/>
          </a:bodyPr>
          <a:lstStyle/>
          <a:p>
            <a:pPr algn="ctr">
              <a:defRPr sz="1200" b="0">
                <a:solidFill>
                  <a:srgbClr val="606060"/>
                </a:solidFill>
                <a:latin typeface="Segoe UI"/>
              </a:defRPr>
            </a:pPr>
            <a:r>
              <a:t>In training: trainer approves tenant-wide changes</a:t>
            </a:r>
          </a:p>
        </p:txBody>
      </p:sp>
      <p:sp>
        <p:nvSpPr>
          <p:cNvPr id="26" name="Rectangle 2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8" name="TextBox 2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Learning Outcomes</a:t>
            </a:r>
          </a:p>
        </p:txBody>
      </p:sp>
      <p:sp>
        <p:nvSpPr>
          <p:cNvPr id="4" name="Rounded Rectangle 3"/>
          <p:cNvSpPr/>
          <p:nvPr/>
        </p:nvSpPr>
        <p:spPr>
          <a:xfrm>
            <a:off x="731520" y="146304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1</a:t>
            </a:r>
          </a:p>
        </p:txBody>
      </p:sp>
      <p:sp>
        <p:nvSpPr>
          <p:cNvPr id="5" name="TextBox 4"/>
          <p:cNvSpPr txBox="1"/>
          <p:nvPr/>
        </p:nvSpPr>
        <p:spPr>
          <a:xfrm>
            <a:off x="1463040" y="1508760"/>
            <a:ext cx="9601200" cy="457200"/>
          </a:xfrm>
          <a:prstGeom prst="rect">
            <a:avLst/>
          </a:prstGeom>
          <a:noFill/>
        </p:spPr>
        <p:txBody>
          <a:bodyPr wrap="square">
            <a:spAutoFit/>
          </a:bodyPr>
          <a:lstStyle/>
          <a:p>
            <a:pPr algn="l">
              <a:defRPr sz="1800" b="0">
                <a:solidFill>
                  <a:srgbClr val="242424"/>
                </a:solidFill>
                <a:latin typeface="Segoe UI"/>
              </a:defRPr>
            </a:pPr>
            <a:r>
              <a:t>Use Microsoft 365 Service health and Message center for incident awareness</a:t>
            </a:r>
          </a:p>
        </p:txBody>
      </p:sp>
      <p:sp>
        <p:nvSpPr>
          <p:cNvPr id="6" name="Rounded Rectangle 5"/>
          <p:cNvSpPr/>
          <p:nvPr/>
        </p:nvSpPr>
        <p:spPr>
          <a:xfrm>
            <a:off x="731520" y="251460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2</a:t>
            </a:r>
          </a:p>
        </p:txBody>
      </p:sp>
      <p:sp>
        <p:nvSpPr>
          <p:cNvPr id="7" name="TextBox 6"/>
          <p:cNvSpPr txBox="1"/>
          <p:nvPr/>
        </p:nvSpPr>
        <p:spPr>
          <a:xfrm>
            <a:off x="1463040" y="2560320"/>
            <a:ext cx="9601200" cy="457200"/>
          </a:xfrm>
          <a:prstGeom prst="rect">
            <a:avLst/>
          </a:prstGeom>
          <a:noFill/>
        </p:spPr>
        <p:txBody>
          <a:bodyPr wrap="square">
            <a:spAutoFit/>
          </a:bodyPr>
          <a:lstStyle/>
          <a:p>
            <a:pPr algn="l">
              <a:defRPr sz="1800" b="0">
                <a:solidFill>
                  <a:srgbClr val="242424"/>
                </a:solidFill>
                <a:latin typeface="Segoe UI"/>
              </a:defRPr>
            </a:pPr>
            <a:r>
              <a:t>Triage common SharePoint/OneDrive access failures and apply safe fixes</a:t>
            </a:r>
          </a:p>
        </p:txBody>
      </p:sp>
      <p:sp>
        <p:nvSpPr>
          <p:cNvPr id="8" name="Rounded Rectangle 7"/>
          <p:cNvSpPr/>
          <p:nvPr/>
        </p:nvSpPr>
        <p:spPr>
          <a:xfrm>
            <a:off x="731520" y="356616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3</a:t>
            </a:r>
          </a:p>
        </p:txBody>
      </p:sp>
      <p:sp>
        <p:nvSpPr>
          <p:cNvPr id="9" name="TextBox 8"/>
          <p:cNvSpPr txBox="1"/>
          <p:nvPr/>
        </p:nvSpPr>
        <p:spPr>
          <a:xfrm>
            <a:off x="1463040" y="3611880"/>
            <a:ext cx="9601200" cy="457200"/>
          </a:xfrm>
          <a:prstGeom prst="rect">
            <a:avLst/>
          </a:prstGeom>
          <a:noFill/>
        </p:spPr>
        <p:txBody>
          <a:bodyPr wrap="square">
            <a:spAutoFit/>
          </a:bodyPr>
          <a:lstStyle/>
          <a:p>
            <a:pPr algn="l">
              <a:defRPr sz="1800" b="0">
                <a:solidFill>
                  <a:srgbClr val="242424"/>
                </a:solidFill>
                <a:latin typeface="Segoe UI"/>
              </a:defRPr>
            </a:pPr>
            <a:r>
              <a:t>Explain site lifecycle controls (delete/restore) and operational guardrails</a:t>
            </a:r>
          </a:p>
        </p:txBody>
      </p:sp>
      <p:sp>
        <p:nvSpPr>
          <p:cNvPr id="10" name="Rounded Rectangle 9"/>
          <p:cNvSpPr/>
          <p:nvPr/>
        </p:nvSpPr>
        <p:spPr>
          <a:xfrm>
            <a:off x="731520" y="461772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4</a:t>
            </a:r>
          </a:p>
        </p:txBody>
      </p:sp>
      <p:sp>
        <p:nvSpPr>
          <p:cNvPr id="11" name="TextBox 10"/>
          <p:cNvSpPr txBox="1"/>
          <p:nvPr/>
        </p:nvSpPr>
        <p:spPr>
          <a:xfrm>
            <a:off x="1463040" y="4663440"/>
            <a:ext cx="9601200" cy="457200"/>
          </a:xfrm>
          <a:prstGeom prst="rect">
            <a:avLst/>
          </a:prstGeom>
          <a:noFill/>
        </p:spPr>
        <p:txBody>
          <a:bodyPr wrap="square">
            <a:spAutoFit/>
          </a:bodyPr>
          <a:lstStyle/>
          <a:p>
            <a:pPr algn="l">
              <a:defRPr sz="1800" b="0">
                <a:solidFill>
                  <a:srgbClr val="242424"/>
                </a:solidFill>
                <a:latin typeface="Segoe UI"/>
              </a:defRPr>
            </a:pPr>
            <a:r>
              <a:t>Understand external sharing link types and governance options</a:t>
            </a:r>
          </a:p>
        </p:txBody>
      </p:sp>
      <p:sp>
        <p:nvSpPr>
          <p:cNvPr id="12" name="Rectangle 1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14" name="TextBox 1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Monitoring &amp; Incidents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Know before your users tell you — or at least at the same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Service Health Dashboard</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Microsoft 365 admin center → Health → Service health</a:t>
            </a:r>
          </a:p>
        </p:txBody>
      </p:sp>
      <p:sp>
        <p:nvSpPr>
          <p:cNvPr id="5" name="Rounded Rectangle 4"/>
          <p:cNvSpPr/>
          <p:nvPr/>
        </p:nvSpPr>
        <p:spPr>
          <a:xfrm>
            <a:off x="548640" y="1645920"/>
            <a:ext cx="3520440" cy="2560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5204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154680" cy="457200"/>
          </a:xfrm>
          <a:prstGeom prst="rect">
            <a:avLst/>
          </a:prstGeom>
          <a:noFill/>
        </p:spPr>
        <p:txBody>
          <a:bodyPr wrap="square">
            <a:spAutoFit/>
          </a:bodyPr>
          <a:lstStyle/>
          <a:p>
            <a:pPr algn="ctr">
              <a:defRPr sz="2000" b="1">
                <a:solidFill>
                  <a:srgbClr val="107C10"/>
                </a:solidFill>
                <a:latin typeface="Segoe UI"/>
              </a:defRPr>
            </a:pPr>
            <a:r>
              <a:t>🟢  All Services Healthy</a:t>
            </a:r>
          </a:p>
        </p:txBody>
      </p:sp>
      <p:sp>
        <p:nvSpPr>
          <p:cNvPr id="8" name="TextBox 7"/>
          <p:cNvSpPr txBox="1"/>
          <p:nvPr/>
        </p:nvSpPr>
        <p:spPr>
          <a:xfrm>
            <a:off x="822960" y="2377440"/>
            <a:ext cx="2971800" cy="1371600"/>
          </a:xfrm>
          <a:prstGeom prst="rect">
            <a:avLst/>
          </a:prstGeom>
          <a:noFill/>
        </p:spPr>
        <p:txBody>
          <a:bodyPr wrap="square">
            <a:spAutoFit/>
          </a:bodyPr>
          <a:lstStyle/>
          <a:p>
            <a:pPr algn="ctr">
              <a:defRPr sz="1400" b="0">
                <a:solidFill>
                  <a:srgbClr val="242424"/>
                </a:solidFill>
                <a:latin typeface="Segoe UI"/>
              </a:defRPr>
            </a:pPr>
            <a:r>
              <a:t>No active issues — safe to</a:t>
            </a:r>
            <a:br/>
            <a:r>
              <a:t>troubleshoot locally if users report problems</a:t>
            </a:r>
          </a:p>
        </p:txBody>
      </p:sp>
      <p:sp>
        <p:nvSpPr>
          <p:cNvPr id="9" name="Rounded Rectangle 8"/>
          <p:cNvSpPr/>
          <p:nvPr/>
        </p:nvSpPr>
        <p:spPr>
          <a:xfrm>
            <a:off x="4343400" y="1645920"/>
            <a:ext cx="3520440" cy="2560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645920"/>
            <a:ext cx="35204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828800"/>
            <a:ext cx="3154680" cy="457200"/>
          </a:xfrm>
          <a:prstGeom prst="rect">
            <a:avLst/>
          </a:prstGeom>
          <a:noFill/>
        </p:spPr>
        <p:txBody>
          <a:bodyPr wrap="square">
            <a:spAutoFit/>
          </a:bodyPr>
          <a:lstStyle/>
          <a:p>
            <a:pPr algn="ctr">
              <a:defRPr sz="2000" b="1">
                <a:solidFill>
                  <a:srgbClr val="FF8C00"/>
                </a:solidFill>
                <a:latin typeface="Segoe UI"/>
              </a:defRPr>
            </a:pPr>
            <a:r>
              <a:t>🟡  Advisory</a:t>
            </a:r>
          </a:p>
        </p:txBody>
      </p:sp>
      <p:sp>
        <p:nvSpPr>
          <p:cNvPr id="12" name="TextBox 11"/>
          <p:cNvSpPr txBox="1"/>
          <p:nvPr/>
        </p:nvSpPr>
        <p:spPr>
          <a:xfrm>
            <a:off x="4617720" y="2377440"/>
            <a:ext cx="2971800" cy="1371600"/>
          </a:xfrm>
          <a:prstGeom prst="rect">
            <a:avLst/>
          </a:prstGeom>
          <a:noFill/>
        </p:spPr>
        <p:txBody>
          <a:bodyPr wrap="square">
            <a:spAutoFit/>
          </a:bodyPr>
          <a:lstStyle/>
          <a:p>
            <a:pPr algn="ctr">
              <a:defRPr sz="1400" b="0">
                <a:solidFill>
                  <a:srgbClr val="242424"/>
                </a:solidFill>
                <a:latin typeface="Segoe UI"/>
              </a:defRPr>
            </a:pPr>
            <a:r>
              <a:t>Minor issue or planned maintenance.</a:t>
            </a:r>
            <a:br/>
            <a:r>
              <a:t>Limited user impact. Monitor for updates.</a:t>
            </a:r>
          </a:p>
        </p:txBody>
      </p:sp>
      <p:sp>
        <p:nvSpPr>
          <p:cNvPr id="13" name="Rounded Rectangle 12"/>
          <p:cNvSpPr/>
          <p:nvPr/>
        </p:nvSpPr>
        <p:spPr>
          <a:xfrm>
            <a:off x="8138160" y="1645920"/>
            <a:ext cx="3520440" cy="25603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645920"/>
            <a:ext cx="35204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28800"/>
            <a:ext cx="3154680" cy="457200"/>
          </a:xfrm>
          <a:prstGeom prst="rect">
            <a:avLst/>
          </a:prstGeom>
          <a:noFill/>
        </p:spPr>
        <p:txBody>
          <a:bodyPr wrap="square">
            <a:spAutoFit/>
          </a:bodyPr>
          <a:lstStyle/>
          <a:p>
            <a:pPr algn="ctr">
              <a:defRPr sz="2000" b="1">
                <a:solidFill>
                  <a:srgbClr val="D13438"/>
                </a:solidFill>
                <a:latin typeface="Segoe UI"/>
              </a:defRPr>
            </a:pPr>
            <a:r>
              <a:t>🔴  Incident</a:t>
            </a:r>
          </a:p>
        </p:txBody>
      </p:sp>
      <p:sp>
        <p:nvSpPr>
          <p:cNvPr id="16" name="TextBox 15"/>
          <p:cNvSpPr txBox="1"/>
          <p:nvPr/>
        </p:nvSpPr>
        <p:spPr>
          <a:xfrm>
            <a:off x="8412480" y="2377440"/>
            <a:ext cx="2971800" cy="1371600"/>
          </a:xfrm>
          <a:prstGeom prst="rect">
            <a:avLst/>
          </a:prstGeom>
          <a:noFill/>
        </p:spPr>
        <p:txBody>
          <a:bodyPr wrap="square">
            <a:spAutoFit/>
          </a:bodyPr>
          <a:lstStyle/>
          <a:p>
            <a:pPr algn="ctr">
              <a:defRPr sz="1400" b="0">
                <a:solidFill>
                  <a:srgbClr val="242424"/>
                </a:solidFill>
                <a:latin typeface="Segoe UI"/>
              </a:defRPr>
            </a:pPr>
            <a:r>
              <a:t>Active service disruption.</a:t>
            </a:r>
            <a:br/>
            <a:r>
              <a:t>Track updates — don't duplicate troubleshooting.</a:t>
            </a:r>
          </a:p>
        </p:txBody>
      </p:sp>
      <p:sp>
        <p:nvSpPr>
          <p:cNvPr id="17" name="Rounded Rectangle 16"/>
          <p:cNvSpPr/>
          <p:nvPr/>
        </p:nvSpPr>
        <p:spPr>
          <a:xfrm>
            <a:off x="731520" y="4572000"/>
            <a:ext cx="10698480" cy="10972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63440"/>
            <a:ext cx="10149840" cy="365760"/>
          </a:xfrm>
          <a:prstGeom prst="rect">
            <a:avLst/>
          </a:prstGeom>
          <a:noFill/>
        </p:spPr>
        <p:txBody>
          <a:bodyPr wrap="square">
            <a:spAutoFit/>
          </a:bodyPr>
          <a:lstStyle/>
          <a:p>
            <a:pPr algn="l">
              <a:defRPr sz="1600" b="1">
                <a:solidFill>
                  <a:srgbClr val="242424"/>
                </a:solidFill>
                <a:latin typeface="Segoe UI"/>
              </a:defRPr>
            </a:pPr>
            <a:r>
              <a:t>📋  What to record in your incident worksheet:</a:t>
            </a:r>
          </a:p>
        </p:txBody>
      </p:sp>
      <p:sp>
        <p:nvSpPr>
          <p:cNvPr id="19" name="TextBox 18"/>
          <p:cNvSpPr txBox="1"/>
          <p:nvPr/>
        </p:nvSpPr>
        <p:spPr>
          <a:xfrm>
            <a:off x="1188720" y="5029200"/>
            <a:ext cx="9601200" cy="548640"/>
          </a:xfrm>
          <a:prstGeom prst="rect">
            <a:avLst/>
          </a:prstGeom>
          <a:noFill/>
        </p:spPr>
        <p:txBody>
          <a:bodyPr wrap="square">
            <a:spAutoFit/>
          </a:bodyPr>
          <a:lstStyle/>
          <a:p>
            <a:pPr>
              <a:spcAft>
                <a:spcPts val="600"/>
              </a:spcAft>
              <a:defRPr sz="1400">
                <a:solidFill>
                  <a:srgbClr val="242424"/>
                </a:solidFill>
                <a:latin typeface="Segoe UI"/>
              </a:defRPr>
            </a:pPr>
            <a:r>
              <a:t> Affected service  ·  User impact summary  ·  Last updated time  ·  Incident ID (if any)</a:t>
            </a:r>
          </a:p>
        </p:txBody>
      </p:sp>
      <p:sp>
        <p:nvSpPr>
          <p:cNvPr id="20" name="Rectangle 1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2" name="TextBox 2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Message Center</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Microsoft 365 admin center → Health → Message center</a:t>
            </a:r>
          </a:p>
        </p:txBody>
      </p:sp>
      <p:sp>
        <p:nvSpPr>
          <p:cNvPr id="5" name="Rounded Rectangle 4"/>
          <p:cNvSpPr/>
          <p:nvPr/>
        </p:nvSpPr>
        <p:spPr>
          <a:xfrm>
            <a:off x="731520" y="155448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18288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8" name="TextBox 7"/>
          <p:cNvSpPr txBox="1"/>
          <p:nvPr/>
        </p:nvSpPr>
        <p:spPr>
          <a:xfrm>
            <a:off x="1554480" y="1691640"/>
            <a:ext cx="4206240" cy="365760"/>
          </a:xfrm>
          <a:prstGeom prst="rect">
            <a:avLst/>
          </a:prstGeom>
          <a:noFill/>
        </p:spPr>
        <p:txBody>
          <a:bodyPr wrap="square">
            <a:spAutoFit/>
          </a:bodyPr>
          <a:lstStyle/>
          <a:p>
            <a:pPr algn="l">
              <a:defRPr sz="1800" b="1">
                <a:solidFill>
                  <a:srgbClr val="D13438"/>
                </a:solidFill>
                <a:latin typeface="Segoe UI"/>
              </a:defRPr>
            </a:pPr>
            <a:r>
              <a:t>Plan for Change</a:t>
            </a:r>
          </a:p>
        </p:txBody>
      </p:sp>
      <p:sp>
        <p:nvSpPr>
          <p:cNvPr id="9" name="TextBox 8"/>
          <p:cNvSpPr txBox="1"/>
          <p:nvPr/>
        </p:nvSpPr>
        <p:spPr>
          <a:xfrm>
            <a:off x="1554480" y="2103120"/>
            <a:ext cx="4206240" cy="640080"/>
          </a:xfrm>
          <a:prstGeom prst="rect">
            <a:avLst/>
          </a:prstGeom>
          <a:noFill/>
        </p:spPr>
        <p:txBody>
          <a:bodyPr wrap="square">
            <a:spAutoFit/>
          </a:bodyPr>
          <a:lstStyle/>
          <a:p>
            <a:pPr algn="l">
              <a:defRPr sz="1300" b="0">
                <a:solidFill>
                  <a:srgbClr val="242424"/>
                </a:solidFill>
                <a:latin typeface="Segoe UI"/>
              </a:defRPr>
            </a:pPr>
            <a:r>
              <a:t>Feature retirement or change</a:t>
            </a:r>
            <a:br/>
            <a:r>
              <a:t>that requires admin action.</a:t>
            </a:r>
            <a:br/>
            <a:r>
              <a:t>Usually has a deadline.</a:t>
            </a:r>
          </a:p>
        </p:txBody>
      </p:sp>
      <p:sp>
        <p:nvSpPr>
          <p:cNvPr id="10" name="TextBox 9"/>
          <p:cNvSpPr txBox="1"/>
          <p:nvPr/>
        </p:nvSpPr>
        <p:spPr>
          <a:xfrm>
            <a:off x="1554480" y="2834640"/>
            <a:ext cx="4206240" cy="365760"/>
          </a:xfrm>
          <a:prstGeom prst="rect">
            <a:avLst/>
          </a:prstGeom>
          <a:noFill/>
        </p:spPr>
        <p:txBody>
          <a:bodyPr wrap="square">
            <a:spAutoFit/>
          </a:bodyPr>
          <a:lstStyle/>
          <a:p>
            <a:pPr algn="l">
              <a:defRPr sz="1200" b="0">
                <a:solidFill>
                  <a:srgbClr val="606060"/>
                </a:solidFill>
                <a:latin typeface="Segoe UI"/>
              </a:defRPr>
            </a:pPr>
            <a:r>
              <a:t>Action required — plan ahead</a:t>
            </a:r>
          </a:p>
        </p:txBody>
      </p:sp>
      <p:sp>
        <p:nvSpPr>
          <p:cNvPr id="11" name="Rounded Rectangle 10"/>
          <p:cNvSpPr/>
          <p:nvPr/>
        </p:nvSpPr>
        <p:spPr>
          <a:xfrm>
            <a:off x="6400800" y="155448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554480"/>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91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4" name="TextBox 13"/>
          <p:cNvSpPr txBox="1"/>
          <p:nvPr/>
        </p:nvSpPr>
        <p:spPr>
          <a:xfrm>
            <a:off x="7223760" y="1691640"/>
            <a:ext cx="4206240" cy="365760"/>
          </a:xfrm>
          <a:prstGeom prst="rect">
            <a:avLst/>
          </a:prstGeom>
          <a:noFill/>
        </p:spPr>
        <p:txBody>
          <a:bodyPr wrap="square">
            <a:spAutoFit/>
          </a:bodyPr>
          <a:lstStyle/>
          <a:p>
            <a:pPr algn="l">
              <a:defRPr sz="1800" b="1">
                <a:solidFill>
                  <a:srgbClr val="0078D4"/>
                </a:solidFill>
                <a:latin typeface="Segoe UI"/>
              </a:defRPr>
            </a:pPr>
            <a:r>
              <a:t>New Feature</a:t>
            </a:r>
          </a:p>
        </p:txBody>
      </p:sp>
      <p:sp>
        <p:nvSpPr>
          <p:cNvPr id="15" name="TextBox 14"/>
          <p:cNvSpPr txBox="1"/>
          <p:nvPr/>
        </p:nvSpPr>
        <p:spPr>
          <a:xfrm>
            <a:off x="7223760" y="2103120"/>
            <a:ext cx="4206240" cy="640080"/>
          </a:xfrm>
          <a:prstGeom prst="rect">
            <a:avLst/>
          </a:prstGeom>
          <a:noFill/>
        </p:spPr>
        <p:txBody>
          <a:bodyPr wrap="square">
            <a:spAutoFit/>
          </a:bodyPr>
          <a:lstStyle/>
          <a:p>
            <a:pPr algn="l">
              <a:defRPr sz="1300" b="0">
                <a:solidFill>
                  <a:srgbClr val="242424"/>
                </a:solidFill>
                <a:latin typeface="Segoe UI"/>
              </a:defRPr>
            </a:pPr>
            <a:r>
              <a:t>New capabilities rolling out.</a:t>
            </a:r>
            <a:br/>
            <a:r>
              <a:t>Typically informational.</a:t>
            </a:r>
            <a:br/>
            <a:r>
              <a:t>Optional adoption.</a:t>
            </a:r>
          </a:p>
        </p:txBody>
      </p:sp>
      <p:sp>
        <p:nvSpPr>
          <p:cNvPr id="16" name="TextBox 15"/>
          <p:cNvSpPr txBox="1"/>
          <p:nvPr/>
        </p:nvSpPr>
        <p:spPr>
          <a:xfrm>
            <a:off x="7223760" y="2834640"/>
            <a:ext cx="4206240" cy="365760"/>
          </a:xfrm>
          <a:prstGeom prst="rect">
            <a:avLst/>
          </a:prstGeom>
          <a:noFill/>
        </p:spPr>
        <p:txBody>
          <a:bodyPr wrap="square">
            <a:spAutoFit/>
          </a:bodyPr>
          <a:lstStyle/>
          <a:p>
            <a:pPr algn="l">
              <a:defRPr sz="1200" b="0">
                <a:solidFill>
                  <a:srgbClr val="606060"/>
                </a:solidFill>
                <a:latin typeface="Segoe UI"/>
              </a:defRPr>
            </a:pPr>
            <a:r>
              <a:t>Stay informed — evaluate for your tenant</a:t>
            </a:r>
          </a:p>
        </p:txBody>
      </p:sp>
      <p:sp>
        <p:nvSpPr>
          <p:cNvPr id="17" name="Rounded Rectangle 16"/>
          <p:cNvSpPr/>
          <p:nvPr/>
        </p:nvSpPr>
        <p:spPr>
          <a:xfrm>
            <a:off x="731520" y="3749039"/>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749039"/>
            <a:ext cx="73152" cy="1828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886199"/>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0" name="TextBox 19"/>
          <p:cNvSpPr txBox="1"/>
          <p:nvPr/>
        </p:nvSpPr>
        <p:spPr>
          <a:xfrm>
            <a:off x="1554480" y="3886199"/>
            <a:ext cx="4206240" cy="365760"/>
          </a:xfrm>
          <a:prstGeom prst="rect">
            <a:avLst/>
          </a:prstGeom>
          <a:noFill/>
        </p:spPr>
        <p:txBody>
          <a:bodyPr wrap="square">
            <a:spAutoFit/>
          </a:bodyPr>
          <a:lstStyle/>
          <a:p>
            <a:pPr algn="l">
              <a:defRPr sz="1800" b="1">
                <a:solidFill>
                  <a:srgbClr val="FF8C00"/>
                </a:solidFill>
                <a:latin typeface="Segoe UI"/>
              </a:defRPr>
            </a:pPr>
            <a:r>
              <a:t>Prevent / Fix Issues</a:t>
            </a:r>
          </a:p>
        </p:txBody>
      </p:sp>
      <p:sp>
        <p:nvSpPr>
          <p:cNvPr id="21" name="TextBox 20"/>
          <p:cNvSpPr txBox="1"/>
          <p:nvPr/>
        </p:nvSpPr>
        <p:spPr>
          <a:xfrm>
            <a:off x="1554480" y="4297679"/>
            <a:ext cx="4206240" cy="640080"/>
          </a:xfrm>
          <a:prstGeom prst="rect">
            <a:avLst/>
          </a:prstGeom>
          <a:noFill/>
        </p:spPr>
        <p:txBody>
          <a:bodyPr wrap="square">
            <a:spAutoFit/>
          </a:bodyPr>
          <a:lstStyle/>
          <a:p>
            <a:pPr algn="l">
              <a:defRPr sz="1300" b="0">
                <a:solidFill>
                  <a:srgbClr val="242424"/>
                </a:solidFill>
                <a:latin typeface="Segoe UI"/>
              </a:defRPr>
            </a:pPr>
            <a:r>
              <a:t>Known issues with workarounds</a:t>
            </a:r>
            <a:br/>
            <a:r>
              <a:t>or upcoming fixes.</a:t>
            </a:r>
            <a:br/>
            <a:r>
              <a:t>May require interim action.</a:t>
            </a:r>
          </a:p>
        </p:txBody>
      </p:sp>
      <p:sp>
        <p:nvSpPr>
          <p:cNvPr id="22" name="TextBox 21"/>
          <p:cNvSpPr txBox="1"/>
          <p:nvPr/>
        </p:nvSpPr>
        <p:spPr>
          <a:xfrm>
            <a:off x="1554480" y="5029199"/>
            <a:ext cx="4206240" cy="365760"/>
          </a:xfrm>
          <a:prstGeom prst="rect">
            <a:avLst/>
          </a:prstGeom>
          <a:noFill/>
        </p:spPr>
        <p:txBody>
          <a:bodyPr wrap="square">
            <a:spAutoFit/>
          </a:bodyPr>
          <a:lstStyle/>
          <a:p>
            <a:pPr algn="l">
              <a:defRPr sz="1200" b="0">
                <a:solidFill>
                  <a:srgbClr val="606060"/>
                </a:solidFill>
                <a:latin typeface="Segoe UI"/>
              </a:defRPr>
            </a:pPr>
            <a:r>
              <a:t>Monitor — apply workaround if needed</a:t>
            </a:r>
          </a:p>
        </p:txBody>
      </p:sp>
      <p:sp>
        <p:nvSpPr>
          <p:cNvPr id="23" name="Rounded Rectangle 22"/>
          <p:cNvSpPr/>
          <p:nvPr/>
        </p:nvSpPr>
        <p:spPr>
          <a:xfrm>
            <a:off x="6400800" y="3749039"/>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749039"/>
            <a:ext cx="73152" cy="1828800"/>
          </a:xfrm>
          <a:prstGeom prst="rect">
            <a:avLst/>
          </a:prstGeom>
          <a:solidFill>
            <a:srgbClr val="6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3886199"/>
            <a:ext cx="457200" cy="365760"/>
          </a:xfrm>
          <a:prstGeom prst="rect">
            <a:avLst/>
          </a:prstGeom>
          <a:noFill/>
        </p:spPr>
        <p:txBody>
          <a:bodyPr wrap="square">
            <a:spAutoFit/>
          </a:bodyPr>
          <a:lstStyle/>
          <a:p>
            <a:pPr algn="ctr">
              <a:defRPr sz="2400" b="0">
                <a:solidFill>
                  <a:srgbClr val="242424"/>
                </a:solidFill>
                <a:latin typeface="Segoe UI"/>
              </a:defRPr>
            </a:pPr>
            <a:r>
              <a:t>ℹ️</a:t>
            </a:r>
          </a:p>
        </p:txBody>
      </p:sp>
      <p:sp>
        <p:nvSpPr>
          <p:cNvPr id="26" name="TextBox 25"/>
          <p:cNvSpPr txBox="1"/>
          <p:nvPr/>
        </p:nvSpPr>
        <p:spPr>
          <a:xfrm>
            <a:off x="7223760" y="3886199"/>
            <a:ext cx="4206240" cy="365760"/>
          </a:xfrm>
          <a:prstGeom prst="rect">
            <a:avLst/>
          </a:prstGeom>
          <a:noFill/>
        </p:spPr>
        <p:txBody>
          <a:bodyPr wrap="square">
            <a:spAutoFit/>
          </a:bodyPr>
          <a:lstStyle/>
          <a:p>
            <a:pPr algn="l">
              <a:defRPr sz="1800" b="1">
                <a:solidFill>
                  <a:srgbClr val="606060"/>
                </a:solidFill>
                <a:latin typeface="Segoe UI"/>
              </a:defRPr>
            </a:pPr>
            <a:r>
              <a:t>Stay Informed</a:t>
            </a:r>
          </a:p>
        </p:txBody>
      </p:sp>
      <p:sp>
        <p:nvSpPr>
          <p:cNvPr id="27" name="TextBox 26"/>
          <p:cNvSpPr txBox="1"/>
          <p:nvPr/>
        </p:nvSpPr>
        <p:spPr>
          <a:xfrm>
            <a:off x="7223760" y="4297679"/>
            <a:ext cx="4206240" cy="640080"/>
          </a:xfrm>
          <a:prstGeom prst="rect">
            <a:avLst/>
          </a:prstGeom>
          <a:noFill/>
        </p:spPr>
        <p:txBody>
          <a:bodyPr wrap="square">
            <a:spAutoFit/>
          </a:bodyPr>
          <a:lstStyle/>
          <a:p>
            <a:pPr algn="l">
              <a:defRPr sz="1300" b="0">
                <a:solidFill>
                  <a:srgbClr val="242424"/>
                </a:solidFill>
                <a:latin typeface="Segoe UI"/>
              </a:defRPr>
            </a:pPr>
            <a:r>
              <a:t>General announcements and</a:t>
            </a:r>
            <a:br/>
            <a:r>
              <a:t>updates. No action required.</a:t>
            </a:r>
            <a:br/>
            <a:r>
              <a:t>Good for awareness.</a:t>
            </a:r>
          </a:p>
        </p:txBody>
      </p:sp>
      <p:sp>
        <p:nvSpPr>
          <p:cNvPr id="28" name="TextBox 27"/>
          <p:cNvSpPr txBox="1"/>
          <p:nvPr/>
        </p:nvSpPr>
        <p:spPr>
          <a:xfrm>
            <a:off x="7223760" y="5029199"/>
            <a:ext cx="4206240" cy="365760"/>
          </a:xfrm>
          <a:prstGeom prst="rect">
            <a:avLst/>
          </a:prstGeom>
          <a:noFill/>
        </p:spPr>
        <p:txBody>
          <a:bodyPr wrap="square">
            <a:spAutoFit/>
          </a:bodyPr>
          <a:lstStyle/>
          <a:p>
            <a:pPr algn="l">
              <a:defRPr sz="1200" b="0">
                <a:solidFill>
                  <a:srgbClr val="606060"/>
                </a:solidFill>
                <a:latin typeface="Segoe UI"/>
              </a:defRPr>
            </a:pPr>
            <a:r>
              <a:t>Low priority — review periodically</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Incident Workflow: The First 5 Minutes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Three checks before you troubleshoot anything</a:t>
            </a:r>
          </a:p>
        </p:txBody>
      </p:sp>
      <p:sp>
        <p:nvSpPr>
          <p:cNvPr id="5" name="Rounded Rectangle 4"/>
          <p:cNvSpPr/>
          <p:nvPr/>
        </p:nvSpPr>
        <p:spPr>
          <a:xfrm>
            <a:off x="548640" y="1645920"/>
            <a:ext cx="352044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9659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3154680" cy="457200"/>
          </a:xfrm>
          <a:prstGeom prst="rect">
            <a:avLst/>
          </a:prstGeom>
          <a:noFill/>
        </p:spPr>
        <p:txBody>
          <a:bodyPr wrap="square">
            <a:spAutoFit/>
          </a:bodyPr>
          <a:lstStyle/>
          <a:p>
            <a:pPr algn="ctr">
              <a:defRPr sz="2000" b="1">
                <a:solidFill>
                  <a:srgbClr val="0078D4"/>
                </a:solidFill>
                <a:latin typeface="Segoe UI"/>
              </a:defRPr>
            </a:pPr>
            <a:r>
              <a:t>Service Health</a:t>
            </a:r>
          </a:p>
        </p:txBody>
      </p:sp>
      <p:sp>
        <p:nvSpPr>
          <p:cNvPr id="9" name="TextBox 8"/>
          <p:cNvSpPr txBox="1"/>
          <p:nvPr/>
        </p:nvSpPr>
        <p:spPr>
          <a:xfrm>
            <a:off x="822960" y="3200400"/>
            <a:ext cx="2971800" cy="914400"/>
          </a:xfrm>
          <a:prstGeom prst="rect">
            <a:avLst/>
          </a:prstGeom>
          <a:noFill/>
        </p:spPr>
        <p:txBody>
          <a:bodyPr wrap="square">
            <a:spAutoFit/>
          </a:bodyPr>
          <a:lstStyle/>
          <a:p>
            <a:pPr algn="ctr">
              <a:defRPr sz="1400" b="0">
                <a:solidFill>
                  <a:srgbClr val="242424"/>
                </a:solidFill>
                <a:latin typeface="Segoe UI"/>
              </a:defRPr>
            </a:pPr>
            <a:r>
              <a:t>Check for active incidents</a:t>
            </a:r>
            <a:br/>
            <a:r>
              <a:t>or advisories affecting</a:t>
            </a:r>
            <a:br/>
            <a:r>
              <a:t>SharePoint / OneDrive</a:t>
            </a:r>
          </a:p>
        </p:txBody>
      </p:sp>
      <p:sp>
        <p:nvSpPr>
          <p:cNvPr id="10" name="TextBox 9"/>
          <p:cNvSpPr txBox="1"/>
          <p:nvPr/>
        </p:nvSpPr>
        <p:spPr>
          <a:xfrm>
            <a:off x="4114800" y="2834640"/>
            <a:ext cx="36576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1" name="Rounded Rectangle 10"/>
          <p:cNvSpPr/>
          <p:nvPr/>
        </p:nvSpPr>
        <p:spPr>
          <a:xfrm>
            <a:off x="4343400" y="1645920"/>
            <a:ext cx="352044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645920"/>
            <a:ext cx="35204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4" name="TextBox 13"/>
          <p:cNvSpPr txBox="1"/>
          <p:nvPr/>
        </p:nvSpPr>
        <p:spPr>
          <a:xfrm>
            <a:off x="4526280" y="2651760"/>
            <a:ext cx="3154680" cy="457200"/>
          </a:xfrm>
          <a:prstGeom prst="rect">
            <a:avLst/>
          </a:prstGeom>
          <a:noFill/>
        </p:spPr>
        <p:txBody>
          <a:bodyPr wrap="square">
            <a:spAutoFit/>
          </a:bodyPr>
          <a:lstStyle/>
          <a:p>
            <a:pPr algn="ctr">
              <a:defRPr sz="2000" b="1">
                <a:solidFill>
                  <a:srgbClr val="00B294"/>
                </a:solidFill>
                <a:latin typeface="Segoe UI"/>
              </a:defRPr>
            </a:pPr>
            <a:r>
              <a:t>Message Center</a:t>
            </a:r>
          </a:p>
        </p:txBody>
      </p:sp>
      <p:sp>
        <p:nvSpPr>
          <p:cNvPr id="15" name="TextBox 14"/>
          <p:cNvSpPr txBox="1"/>
          <p:nvPr/>
        </p:nvSpPr>
        <p:spPr>
          <a:xfrm>
            <a:off x="4617720" y="3200400"/>
            <a:ext cx="2971800" cy="914400"/>
          </a:xfrm>
          <a:prstGeom prst="rect">
            <a:avLst/>
          </a:prstGeom>
          <a:noFill/>
        </p:spPr>
        <p:txBody>
          <a:bodyPr wrap="square">
            <a:spAutoFit/>
          </a:bodyPr>
          <a:lstStyle/>
          <a:p>
            <a:pPr algn="ctr">
              <a:defRPr sz="1400" b="0">
                <a:solidFill>
                  <a:srgbClr val="242424"/>
                </a:solidFill>
                <a:latin typeface="Segoe UI"/>
              </a:defRPr>
            </a:pPr>
            <a:r>
              <a:t>Check for 'Plan for change'</a:t>
            </a:r>
            <a:br/>
            <a:r>
              <a:t>or 'Prevent/fix issues'</a:t>
            </a:r>
            <a:br/>
            <a:r>
              <a:t>messages</a:t>
            </a:r>
          </a:p>
        </p:txBody>
      </p:sp>
      <p:sp>
        <p:nvSpPr>
          <p:cNvPr id="16" name="TextBox 15"/>
          <p:cNvSpPr txBox="1"/>
          <p:nvPr/>
        </p:nvSpPr>
        <p:spPr>
          <a:xfrm>
            <a:off x="7909560" y="2834640"/>
            <a:ext cx="36576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7" name="Rounded Rectangle 16"/>
          <p:cNvSpPr/>
          <p:nvPr/>
        </p:nvSpPr>
        <p:spPr>
          <a:xfrm>
            <a:off x="8138160" y="1645920"/>
            <a:ext cx="352044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645920"/>
            <a:ext cx="352044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55480"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20" name="TextBox 19"/>
          <p:cNvSpPr txBox="1"/>
          <p:nvPr/>
        </p:nvSpPr>
        <p:spPr>
          <a:xfrm>
            <a:off x="8321040" y="2651760"/>
            <a:ext cx="3154680" cy="457200"/>
          </a:xfrm>
          <a:prstGeom prst="rect">
            <a:avLst/>
          </a:prstGeom>
          <a:noFill/>
        </p:spPr>
        <p:txBody>
          <a:bodyPr wrap="square">
            <a:spAutoFit/>
          </a:bodyPr>
          <a:lstStyle/>
          <a:p>
            <a:pPr algn="ctr">
              <a:defRPr sz="2000" b="1">
                <a:solidFill>
                  <a:srgbClr val="6B69D6"/>
                </a:solidFill>
                <a:latin typeface="Segoe UI"/>
              </a:defRPr>
            </a:pPr>
            <a:r>
              <a:t>Decide</a:t>
            </a:r>
          </a:p>
        </p:txBody>
      </p:sp>
      <p:sp>
        <p:nvSpPr>
          <p:cNvPr id="21" name="TextBox 20"/>
          <p:cNvSpPr txBox="1"/>
          <p:nvPr/>
        </p:nvSpPr>
        <p:spPr>
          <a:xfrm>
            <a:off x="8412480" y="3200400"/>
            <a:ext cx="2971800" cy="914400"/>
          </a:xfrm>
          <a:prstGeom prst="rect">
            <a:avLst/>
          </a:prstGeom>
          <a:noFill/>
        </p:spPr>
        <p:txBody>
          <a:bodyPr wrap="square">
            <a:spAutoFit/>
          </a:bodyPr>
          <a:lstStyle/>
          <a:p>
            <a:pPr algn="ctr">
              <a:defRPr sz="1400" b="0">
                <a:solidFill>
                  <a:srgbClr val="242424"/>
                </a:solidFill>
                <a:latin typeface="Segoe UI"/>
              </a:defRPr>
            </a:pPr>
            <a:r>
              <a:t>Known incident? → Track it</a:t>
            </a:r>
            <a:br/>
            <a:r>
              <a:t>Not known? → Troubleshoot</a:t>
            </a:r>
            <a:br/>
            <a:r>
              <a:t>locally + report if needed</a:t>
            </a:r>
          </a:p>
        </p:txBody>
      </p:sp>
      <p:sp>
        <p:nvSpPr>
          <p:cNvPr id="22" name="Rounded Rectangle 21"/>
          <p:cNvSpPr/>
          <p:nvPr/>
        </p:nvSpPr>
        <p:spPr>
          <a:xfrm>
            <a:off x="1371600" y="475488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45920" y="4800600"/>
            <a:ext cx="8869680" cy="640080"/>
          </a:xfrm>
          <a:prstGeom prst="rect">
            <a:avLst/>
          </a:prstGeom>
          <a:noFill/>
        </p:spPr>
        <p:txBody>
          <a:bodyPr wrap="square">
            <a:spAutoFit/>
          </a:bodyPr>
          <a:lstStyle/>
          <a:p>
            <a:pPr algn="l">
              <a:defRPr sz="1400" b="0">
                <a:solidFill>
                  <a:srgbClr val="242424"/>
                </a:solidFill>
                <a:latin typeface="Segoe UI"/>
              </a:defRPr>
            </a:pPr>
            <a:r>
              <a:t>💡 If Service health shows an active incident for SharePoint, stop local troubleshooting. Track Microsoft updates, communicate to stakeholders, and document the timeline.</a:t>
            </a:r>
          </a:p>
        </p:txBody>
      </p:sp>
      <p:sp>
        <p:nvSpPr>
          <p:cNvPr id="24" name="Rectangle 2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6" name="TextBox 2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Troubleshooting Access Issues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Access denied, need permission, and identity mismatches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Access Denied: Common Causes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Three root causes cover 90%+ of access denied tickets</a:t>
            </a:r>
          </a:p>
        </p:txBody>
      </p:sp>
      <p:sp>
        <p:nvSpPr>
          <p:cNvPr id="5" name="Rounded Rectangle 4"/>
          <p:cNvSpPr/>
          <p:nvPr/>
        </p:nvSpPr>
        <p:spPr>
          <a:xfrm>
            <a:off x="54864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154680" cy="548640"/>
          </a:xfrm>
          <a:prstGeom prst="rect">
            <a:avLst/>
          </a:prstGeom>
          <a:noFill/>
        </p:spPr>
        <p:txBody>
          <a:bodyPr wrap="square">
            <a:spAutoFit/>
          </a:bodyPr>
          <a:lstStyle/>
          <a:p>
            <a:pPr algn="ctr">
              <a:defRPr sz="2000" b="1">
                <a:solidFill>
                  <a:srgbClr val="0078D4"/>
                </a:solidFill>
                <a:latin typeface="Segoe UI"/>
              </a:defRPr>
            </a:pPr>
            <a:r>
              <a:t>🔑  Identity Mismatch</a:t>
            </a:r>
          </a:p>
        </p:txBody>
      </p:sp>
      <p:sp>
        <p:nvSpPr>
          <p:cNvPr id="8" name="TextBox 7"/>
          <p:cNvSpPr txBox="1"/>
          <p:nvPr/>
        </p:nvSpPr>
        <p:spPr>
          <a:xfrm>
            <a:off x="822960" y="2468880"/>
            <a:ext cx="2971800" cy="2743200"/>
          </a:xfrm>
          <a:prstGeom prst="rect">
            <a:avLst/>
          </a:prstGeom>
          <a:noFill/>
        </p:spPr>
        <p:txBody>
          <a:bodyPr wrap="square">
            <a:spAutoFit/>
          </a:bodyPr>
          <a:lstStyle/>
          <a:p>
            <a:pPr>
              <a:spcAft>
                <a:spcPts val="600"/>
              </a:spcAft>
              <a:defRPr sz="1300">
                <a:solidFill>
                  <a:srgbClr val="242424"/>
                </a:solidFill>
                <a:latin typeface="Segoe UI"/>
              </a:defRPr>
            </a:pPr>
            <a:r>
              <a:t>• User signed in with a different account</a:t>
            </a:r>
          </a:p>
          <a:p>
            <a:pPr>
              <a:spcAft>
                <a:spcPts val="600"/>
              </a:spcAft>
              <a:defRPr sz="1300">
                <a:solidFill>
                  <a:srgbClr val="242424"/>
                </a:solidFill>
                <a:latin typeface="Segoe UI"/>
              </a:defRPr>
            </a:pPr>
            <a:r>
              <a:t>• Guest user accessing via personal account</a:t>
            </a:r>
          </a:p>
          <a:p>
            <a:pPr>
              <a:spcAft>
                <a:spcPts val="600"/>
              </a:spcAft>
              <a:defRPr sz="1300">
                <a:solidFill>
                  <a:srgbClr val="242424"/>
                </a:solidFill>
                <a:latin typeface="Segoe UI"/>
              </a:defRPr>
            </a:pPr>
            <a:r>
              <a:t>• Browser cached wrong identity</a:t>
            </a:r>
          </a:p>
          <a:p>
            <a:pPr>
              <a:spcAft>
                <a:spcPts val="600"/>
              </a:spcAft>
              <a:defRPr sz="1300">
                <a:solidFill>
                  <a:srgbClr val="242424"/>
                </a:solidFill>
                <a:latin typeface="Segoe UI"/>
              </a:defRPr>
            </a:pPr>
            <a:r>
              <a:t>• Fix: sign out, clear cache, sign in with correct identity</a:t>
            </a:r>
          </a:p>
        </p:txBody>
      </p:sp>
      <p:sp>
        <p:nvSpPr>
          <p:cNvPr id="9" name="Rounded Rectangle 8"/>
          <p:cNvSpPr/>
          <p:nvPr/>
        </p:nvSpPr>
        <p:spPr>
          <a:xfrm>
            <a:off x="434340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645920"/>
            <a:ext cx="35204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828800"/>
            <a:ext cx="3154680" cy="548640"/>
          </a:xfrm>
          <a:prstGeom prst="rect">
            <a:avLst/>
          </a:prstGeom>
          <a:noFill/>
        </p:spPr>
        <p:txBody>
          <a:bodyPr wrap="square">
            <a:spAutoFit/>
          </a:bodyPr>
          <a:lstStyle/>
          <a:p>
            <a:pPr algn="ctr">
              <a:defRPr sz="2000" b="1">
                <a:solidFill>
                  <a:srgbClr val="00B294"/>
                </a:solidFill>
                <a:latin typeface="Segoe UI"/>
              </a:defRPr>
            </a:pPr>
            <a:r>
              <a:t>🚫  Permission Not Granted</a:t>
            </a:r>
          </a:p>
        </p:txBody>
      </p:sp>
      <p:sp>
        <p:nvSpPr>
          <p:cNvPr id="12" name="TextBox 11"/>
          <p:cNvSpPr txBox="1"/>
          <p:nvPr/>
        </p:nvSpPr>
        <p:spPr>
          <a:xfrm>
            <a:off x="4617720" y="2468880"/>
            <a:ext cx="2971800" cy="2743200"/>
          </a:xfrm>
          <a:prstGeom prst="rect">
            <a:avLst/>
          </a:prstGeom>
          <a:noFill/>
        </p:spPr>
        <p:txBody>
          <a:bodyPr wrap="square">
            <a:spAutoFit/>
          </a:bodyPr>
          <a:lstStyle/>
          <a:p>
            <a:pPr>
              <a:spcAft>
                <a:spcPts val="600"/>
              </a:spcAft>
              <a:defRPr sz="1300">
                <a:solidFill>
                  <a:srgbClr val="242424"/>
                </a:solidFill>
                <a:latin typeface="Segoe UI"/>
              </a:defRPr>
            </a:pPr>
            <a:r>
              <a:t>• User was never added to the site/library</a:t>
            </a:r>
          </a:p>
          <a:p>
            <a:pPr>
              <a:spcAft>
                <a:spcPts val="600"/>
              </a:spcAft>
              <a:defRPr sz="1300">
                <a:solidFill>
                  <a:srgbClr val="242424"/>
                </a:solidFill>
                <a:latin typeface="Segoe UI"/>
              </a:defRPr>
            </a:pPr>
            <a:r>
              <a:t>• Inherited permissions broken</a:t>
            </a:r>
          </a:p>
          <a:p>
            <a:pPr>
              <a:spcAft>
                <a:spcPts val="600"/>
              </a:spcAft>
              <a:defRPr sz="1300">
                <a:solidFill>
                  <a:srgbClr val="242424"/>
                </a:solidFill>
                <a:latin typeface="Segoe UI"/>
              </a:defRPr>
            </a:pPr>
            <a:r>
              <a:t>• Unique permissions on item restrict access</a:t>
            </a:r>
          </a:p>
          <a:p>
            <a:pPr>
              <a:spcAft>
                <a:spcPts val="600"/>
              </a:spcAft>
              <a:defRPr sz="1300">
                <a:solidFill>
                  <a:srgbClr val="242424"/>
                </a:solidFill>
                <a:latin typeface="Segoe UI"/>
              </a:defRPr>
            </a:pPr>
            <a:r>
              <a:t>• Fix: use Check Permissions, grant access if appropriate</a:t>
            </a:r>
          </a:p>
        </p:txBody>
      </p:sp>
      <p:sp>
        <p:nvSpPr>
          <p:cNvPr id="13" name="Rounded Rectangle 12"/>
          <p:cNvSpPr/>
          <p:nvPr/>
        </p:nvSpPr>
        <p:spPr>
          <a:xfrm>
            <a:off x="8138160" y="1645920"/>
            <a:ext cx="35204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645920"/>
            <a:ext cx="352044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828800"/>
            <a:ext cx="3154680" cy="548640"/>
          </a:xfrm>
          <a:prstGeom prst="rect">
            <a:avLst/>
          </a:prstGeom>
          <a:noFill/>
        </p:spPr>
        <p:txBody>
          <a:bodyPr wrap="square">
            <a:spAutoFit/>
          </a:bodyPr>
          <a:lstStyle/>
          <a:p>
            <a:pPr algn="ctr">
              <a:defRPr sz="2000" b="1">
                <a:solidFill>
                  <a:srgbClr val="6B69D6"/>
                </a:solidFill>
                <a:latin typeface="Segoe UI"/>
              </a:defRPr>
            </a:pPr>
            <a:r>
              <a:t>🔗  Wrong Link Type</a:t>
            </a:r>
          </a:p>
        </p:txBody>
      </p:sp>
      <p:sp>
        <p:nvSpPr>
          <p:cNvPr id="16" name="TextBox 15"/>
          <p:cNvSpPr txBox="1"/>
          <p:nvPr/>
        </p:nvSpPr>
        <p:spPr>
          <a:xfrm>
            <a:off x="8412480" y="2468880"/>
            <a:ext cx="2971800" cy="2743200"/>
          </a:xfrm>
          <a:prstGeom prst="rect">
            <a:avLst/>
          </a:prstGeom>
          <a:noFill/>
        </p:spPr>
        <p:txBody>
          <a:bodyPr wrap="square">
            <a:spAutoFit/>
          </a:bodyPr>
          <a:lstStyle/>
          <a:p>
            <a:pPr>
              <a:spcAft>
                <a:spcPts val="600"/>
              </a:spcAft>
              <a:defRPr sz="1300">
                <a:solidFill>
                  <a:srgbClr val="242424"/>
                </a:solidFill>
                <a:latin typeface="Segoe UI"/>
              </a:defRPr>
            </a:pPr>
            <a:r>
              <a:t>• Link was 'Specific people' — user not included</a:t>
            </a:r>
          </a:p>
          <a:p>
            <a:pPr>
              <a:spcAft>
                <a:spcPts val="600"/>
              </a:spcAft>
              <a:defRPr sz="1300">
                <a:solidFill>
                  <a:srgbClr val="242424"/>
                </a:solidFill>
                <a:latin typeface="Segoe UI"/>
              </a:defRPr>
            </a:pPr>
            <a:r>
              <a:t>• Link was 'People in org' — accessing externally</a:t>
            </a:r>
          </a:p>
          <a:p>
            <a:pPr>
              <a:spcAft>
                <a:spcPts val="600"/>
              </a:spcAft>
              <a:defRPr sz="1300">
                <a:solidFill>
                  <a:srgbClr val="242424"/>
                </a:solidFill>
                <a:latin typeface="Segoe UI"/>
              </a:defRPr>
            </a:pPr>
            <a:r>
              <a:t>• Anyone link expired or permissions restricted</a:t>
            </a:r>
          </a:p>
          <a:p>
            <a:pPr>
              <a:spcAft>
                <a:spcPts val="600"/>
              </a:spcAft>
              <a:defRPr sz="1300">
                <a:solidFill>
                  <a:srgbClr val="242424"/>
                </a:solidFill>
                <a:latin typeface="Segoe UI"/>
              </a:defRPr>
            </a:pPr>
            <a:r>
              <a:t>• Fix: verify link scope matches intended audience</a:t>
            </a:r>
          </a:p>
        </p:txBody>
      </p:sp>
      <p:sp>
        <p:nvSpPr>
          <p:cNvPr id="17" name="Rounded Rectangle 16"/>
          <p:cNvSpPr/>
          <p:nvPr/>
        </p:nvSpPr>
        <p:spPr>
          <a:xfrm>
            <a:off x="1371600" y="576072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5806440"/>
            <a:ext cx="8869680" cy="365760"/>
          </a:xfrm>
          <a:prstGeom prst="rect">
            <a:avLst/>
          </a:prstGeom>
          <a:noFill/>
        </p:spPr>
        <p:txBody>
          <a:bodyPr wrap="square">
            <a:spAutoFit/>
          </a:bodyPr>
          <a:lstStyle/>
          <a:p>
            <a:pPr algn="l">
              <a:defRPr sz="1300" b="0">
                <a:solidFill>
                  <a:srgbClr val="242424"/>
                </a:solidFill>
                <a:latin typeface="Segoe UI"/>
              </a:defRPr>
            </a:pPr>
            <a:r>
              <a:t>🔧  Use SharePoint/OneDrive self-help diagnostics: Check User Access (M365 admin center → Support → Run diagnostics)</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Using Check Permissions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Verify exactly what access a user has — before making changes</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Navigate</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Go to the site, library, or</a:t>
            </a:r>
            <a:br/>
            <a:r>
              <a:t>item where the issue</a:t>
            </a:r>
            <a:br/>
            <a:r>
              <a:t>is reported</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Permissions</a:t>
            </a:r>
          </a:p>
        </p:txBody>
      </p:sp>
      <p:sp>
        <p:nvSpPr>
          <p:cNvPr id="14" name="TextBox 13"/>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Site settings → Permissions</a:t>
            </a:r>
            <a:br/>
            <a:r>
              <a:t>(or library → Manage access</a:t>
            </a:r>
            <a:br/>
            <a:r>
              <a:t>→ Advanced)</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Check</a:t>
            </a:r>
          </a:p>
        </p:txBody>
      </p:sp>
      <p:sp>
        <p:nvSpPr>
          <p:cNvPr id="19" name="TextBox 18"/>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Click 'Check Permissions'</a:t>
            </a:r>
            <a:br/>
            <a:r>
              <a:t>Enter the user's name</a:t>
            </a:r>
            <a:br/>
            <a:r>
              <a:t>or email address</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Review</a:t>
            </a:r>
          </a:p>
        </p:txBody>
      </p:sp>
      <p:sp>
        <p:nvSpPr>
          <p:cNvPr id="24" name="TextBox 23"/>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Read the result: what</a:t>
            </a:r>
            <a:br/>
            <a:r>
              <a:t>permission level they have</a:t>
            </a:r>
            <a:br/>
            <a:r>
              <a:t>and through which group</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Read-Only / Locked Site Messages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Why can't users edit? Three common explanations</a:t>
            </a:r>
          </a:p>
        </p:txBody>
      </p:sp>
      <p:sp>
        <p:nvSpPr>
          <p:cNvPr id="5" name="Rounded Rectangle 4"/>
          <p:cNvSpPr/>
          <p:nvPr/>
        </p:nvSpPr>
        <p:spPr>
          <a:xfrm>
            <a:off x="548640" y="1645920"/>
            <a:ext cx="352044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154680" cy="457200"/>
          </a:xfrm>
          <a:prstGeom prst="rect">
            <a:avLst/>
          </a:prstGeom>
          <a:noFill/>
        </p:spPr>
        <p:txBody>
          <a:bodyPr wrap="square">
            <a:spAutoFit/>
          </a:bodyPr>
          <a:lstStyle/>
          <a:p>
            <a:pPr algn="ctr">
              <a:defRPr sz="2000" b="1">
                <a:solidFill>
                  <a:srgbClr val="0078D4"/>
                </a:solidFill>
                <a:latin typeface="Segoe UI"/>
              </a:defRPr>
            </a:pPr>
            <a:r>
              <a:t>🔒  Admin Lock</a:t>
            </a:r>
          </a:p>
        </p:txBody>
      </p:sp>
      <p:sp>
        <p:nvSpPr>
          <p:cNvPr id="8" name="TextBox 7"/>
          <p:cNvSpPr txBox="1"/>
          <p:nvPr/>
        </p:nvSpPr>
        <p:spPr>
          <a:xfrm>
            <a:off x="822960" y="2377440"/>
            <a:ext cx="2971800" cy="1371600"/>
          </a:xfrm>
          <a:prstGeom prst="rect">
            <a:avLst/>
          </a:prstGeom>
          <a:noFill/>
        </p:spPr>
        <p:txBody>
          <a:bodyPr wrap="square">
            <a:spAutoFit/>
          </a:bodyPr>
          <a:lstStyle/>
          <a:p>
            <a:pPr algn="ctr">
              <a:defRPr sz="1400" b="0">
                <a:solidFill>
                  <a:srgbClr val="242424"/>
                </a:solidFill>
                <a:latin typeface="Segoe UI"/>
              </a:defRPr>
            </a:pPr>
            <a:r>
              <a:t>Site explicitly locked by an admin</a:t>
            </a:r>
            <a:br/>
            <a:r>
              <a:t>(ReadOnly or NoAccess state).</a:t>
            </a:r>
            <a:br/>
            <a:r>
              <a:t>Check site properties in admin center.</a:t>
            </a:r>
          </a:p>
        </p:txBody>
      </p:sp>
      <p:sp>
        <p:nvSpPr>
          <p:cNvPr id="9" name="Rounded Rectangle 8"/>
          <p:cNvSpPr/>
          <p:nvPr/>
        </p:nvSpPr>
        <p:spPr>
          <a:xfrm>
            <a:off x="731520" y="3931920"/>
            <a:ext cx="315468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39"/>
            <a:ext cx="2788920" cy="457200"/>
          </a:xfrm>
          <a:prstGeom prst="rect">
            <a:avLst/>
          </a:prstGeom>
          <a:noFill/>
        </p:spPr>
        <p:txBody>
          <a:bodyPr wrap="square">
            <a:spAutoFit/>
          </a:bodyPr>
          <a:lstStyle/>
          <a:p>
            <a:pPr algn="l">
              <a:defRPr sz="1200" b="0">
                <a:solidFill>
                  <a:srgbClr val="242424"/>
                </a:solidFill>
                <a:latin typeface="Segoe UI"/>
              </a:defRPr>
            </a:pPr>
            <a:r>
              <a:t>Fix: Unlock in SharePoint admin center (admin only)</a:t>
            </a:r>
          </a:p>
        </p:txBody>
      </p:sp>
      <p:sp>
        <p:nvSpPr>
          <p:cNvPr id="11" name="Rounded Rectangle 10"/>
          <p:cNvSpPr/>
          <p:nvPr/>
        </p:nvSpPr>
        <p:spPr>
          <a:xfrm>
            <a:off x="4343400" y="1645920"/>
            <a:ext cx="352044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645920"/>
            <a:ext cx="35204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828800"/>
            <a:ext cx="3154680" cy="457200"/>
          </a:xfrm>
          <a:prstGeom prst="rect">
            <a:avLst/>
          </a:prstGeom>
          <a:noFill/>
        </p:spPr>
        <p:txBody>
          <a:bodyPr wrap="square">
            <a:spAutoFit/>
          </a:bodyPr>
          <a:lstStyle/>
          <a:p>
            <a:pPr algn="ctr">
              <a:defRPr sz="2000" b="1">
                <a:solidFill>
                  <a:srgbClr val="FF8C00"/>
                </a:solidFill>
                <a:latin typeface="Segoe UI"/>
              </a:defRPr>
            </a:pPr>
            <a:r>
              <a:t>🔧  Maintenance</a:t>
            </a:r>
          </a:p>
        </p:txBody>
      </p:sp>
      <p:sp>
        <p:nvSpPr>
          <p:cNvPr id="14" name="TextBox 13"/>
          <p:cNvSpPr txBox="1"/>
          <p:nvPr/>
        </p:nvSpPr>
        <p:spPr>
          <a:xfrm>
            <a:off x="4617720" y="2377440"/>
            <a:ext cx="2971800" cy="1371600"/>
          </a:xfrm>
          <a:prstGeom prst="rect">
            <a:avLst/>
          </a:prstGeom>
          <a:noFill/>
        </p:spPr>
        <p:txBody>
          <a:bodyPr wrap="square">
            <a:spAutoFit/>
          </a:bodyPr>
          <a:lstStyle/>
          <a:p>
            <a:pPr algn="ctr">
              <a:defRPr sz="1400" b="0">
                <a:solidFill>
                  <a:srgbClr val="242424"/>
                </a:solidFill>
                <a:latin typeface="Segoe UI"/>
              </a:defRPr>
            </a:pPr>
            <a:r>
              <a:t>Microsoft performing planned or</a:t>
            </a:r>
            <a:br/>
            <a:r>
              <a:t>unplanned maintenance.</a:t>
            </a:r>
            <a:br/>
            <a:r>
              <a:t>Check Service health / Message center.</a:t>
            </a:r>
          </a:p>
        </p:txBody>
      </p:sp>
      <p:sp>
        <p:nvSpPr>
          <p:cNvPr id="15" name="Rounded Rectangle 14"/>
          <p:cNvSpPr/>
          <p:nvPr/>
        </p:nvSpPr>
        <p:spPr>
          <a:xfrm>
            <a:off x="4526280" y="3931920"/>
            <a:ext cx="315468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3977639"/>
            <a:ext cx="2788920" cy="457200"/>
          </a:xfrm>
          <a:prstGeom prst="rect">
            <a:avLst/>
          </a:prstGeom>
          <a:noFill/>
        </p:spPr>
        <p:txBody>
          <a:bodyPr wrap="square">
            <a:spAutoFit/>
          </a:bodyPr>
          <a:lstStyle/>
          <a:p>
            <a:pPr algn="l">
              <a:defRPr sz="1200" b="0">
                <a:solidFill>
                  <a:srgbClr val="242424"/>
                </a:solidFill>
                <a:latin typeface="Segoe UI"/>
              </a:defRPr>
            </a:pPr>
            <a:r>
              <a:t>Wait: Track updates, communicate to users</a:t>
            </a:r>
          </a:p>
        </p:txBody>
      </p:sp>
      <p:sp>
        <p:nvSpPr>
          <p:cNvPr id="17" name="Rounded Rectangle 16"/>
          <p:cNvSpPr/>
          <p:nvPr/>
        </p:nvSpPr>
        <p:spPr>
          <a:xfrm>
            <a:off x="8138160" y="1645920"/>
            <a:ext cx="3520440" cy="3474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645920"/>
            <a:ext cx="35204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828800"/>
            <a:ext cx="3154680" cy="457200"/>
          </a:xfrm>
          <a:prstGeom prst="rect">
            <a:avLst/>
          </a:prstGeom>
          <a:noFill/>
        </p:spPr>
        <p:txBody>
          <a:bodyPr wrap="square">
            <a:spAutoFit/>
          </a:bodyPr>
          <a:lstStyle/>
          <a:p>
            <a:pPr algn="ctr">
              <a:defRPr sz="2000" b="1">
                <a:solidFill>
                  <a:srgbClr val="D13438"/>
                </a:solidFill>
                <a:latin typeface="Segoe UI"/>
              </a:defRPr>
            </a:pPr>
            <a:r>
              <a:t>💾  Storage Quota</a:t>
            </a:r>
          </a:p>
        </p:txBody>
      </p:sp>
      <p:sp>
        <p:nvSpPr>
          <p:cNvPr id="20" name="TextBox 19"/>
          <p:cNvSpPr txBox="1"/>
          <p:nvPr/>
        </p:nvSpPr>
        <p:spPr>
          <a:xfrm>
            <a:off x="8412480" y="2377440"/>
            <a:ext cx="2971800" cy="1371600"/>
          </a:xfrm>
          <a:prstGeom prst="rect">
            <a:avLst/>
          </a:prstGeom>
          <a:noFill/>
        </p:spPr>
        <p:txBody>
          <a:bodyPr wrap="square">
            <a:spAutoFit/>
          </a:bodyPr>
          <a:lstStyle/>
          <a:p>
            <a:pPr algn="ctr">
              <a:defRPr sz="1400" b="0">
                <a:solidFill>
                  <a:srgbClr val="242424"/>
                </a:solidFill>
                <a:latin typeface="Segoe UI"/>
              </a:defRPr>
            </a:pPr>
            <a:r>
              <a:t>Site exceeded its allocated storage</a:t>
            </a:r>
            <a:br/>
            <a:r>
              <a:t>quota. Read-only until space freed</a:t>
            </a:r>
            <a:br/>
            <a:r>
              <a:t>or quota increased.</a:t>
            </a:r>
          </a:p>
        </p:txBody>
      </p:sp>
      <p:sp>
        <p:nvSpPr>
          <p:cNvPr id="21" name="Rounded Rectangle 20"/>
          <p:cNvSpPr/>
          <p:nvPr/>
        </p:nvSpPr>
        <p:spPr>
          <a:xfrm>
            <a:off x="8321040" y="3931920"/>
            <a:ext cx="315468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977639"/>
            <a:ext cx="2788920" cy="457200"/>
          </a:xfrm>
          <a:prstGeom prst="rect">
            <a:avLst/>
          </a:prstGeom>
          <a:noFill/>
        </p:spPr>
        <p:txBody>
          <a:bodyPr wrap="square">
            <a:spAutoFit/>
          </a:bodyPr>
          <a:lstStyle/>
          <a:p>
            <a:pPr algn="l">
              <a:defRPr sz="1200" b="0">
                <a:solidFill>
                  <a:srgbClr val="242424"/>
                </a:solidFill>
                <a:latin typeface="Segoe UI"/>
              </a:defRPr>
            </a:pPr>
            <a:r>
              <a:t>Fix: Delete old content or increase quota</a:t>
            </a:r>
          </a:p>
        </p:txBody>
      </p:sp>
      <p:sp>
        <p:nvSpPr>
          <p:cNvPr id="23" name="Rectangle 22"/>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5" name="TextBox 24"/>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Site Lifecycle Governance</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Delete, restore, and the risks of the root site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Site Delete / Restore Model</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Deleted sites are recoverable — but only for a limited time</a:t>
            </a:r>
          </a:p>
        </p:txBody>
      </p:sp>
      <p:sp>
        <p:nvSpPr>
          <p:cNvPr id="5" name="Rounded Rectangle 4"/>
          <p:cNvSpPr/>
          <p:nvPr/>
        </p:nvSpPr>
        <p:spPr>
          <a:xfrm>
            <a:off x="548640" y="1645920"/>
            <a:ext cx="352044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35204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154680" cy="457200"/>
          </a:xfrm>
          <a:prstGeom prst="rect">
            <a:avLst/>
          </a:prstGeom>
          <a:noFill/>
        </p:spPr>
        <p:txBody>
          <a:bodyPr wrap="square">
            <a:spAutoFit/>
          </a:bodyPr>
          <a:lstStyle/>
          <a:p>
            <a:pPr algn="ctr">
              <a:defRPr sz="2200" b="1">
                <a:solidFill>
                  <a:srgbClr val="107C10"/>
                </a:solidFill>
                <a:latin typeface="Segoe UI"/>
              </a:defRPr>
            </a:pPr>
            <a:r>
              <a:t>Active Site</a:t>
            </a:r>
          </a:p>
        </p:txBody>
      </p:sp>
      <p:sp>
        <p:nvSpPr>
          <p:cNvPr id="8" name="TextBox 7"/>
          <p:cNvSpPr txBox="1"/>
          <p:nvPr/>
        </p:nvSpPr>
        <p:spPr>
          <a:xfrm>
            <a:off x="822960" y="2377440"/>
            <a:ext cx="2971800" cy="1371600"/>
          </a:xfrm>
          <a:prstGeom prst="rect">
            <a:avLst/>
          </a:prstGeom>
          <a:noFill/>
        </p:spPr>
        <p:txBody>
          <a:bodyPr wrap="square">
            <a:spAutoFit/>
          </a:bodyPr>
          <a:lstStyle/>
          <a:p>
            <a:pPr algn="ctr">
              <a:defRPr sz="1400" b="0">
                <a:solidFill>
                  <a:srgbClr val="242424"/>
                </a:solidFill>
                <a:latin typeface="Segoe UI"/>
              </a:defRPr>
            </a:pPr>
            <a:r>
              <a:t>Site in normal use.</a:t>
            </a:r>
            <a:br/>
            <a:r>
              <a:t>Fully accessible to</a:t>
            </a:r>
            <a:br/>
            <a:r>
              <a:t>all permitted users.</a:t>
            </a:r>
          </a:p>
        </p:txBody>
      </p:sp>
      <p:sp>
        <p:nvSpPr>
          <p:cNvPr id="9" name="TextBox 8"/>
          <p:cNvSpPr txBox="1"/>
          <p:nvPr/>
        </p:nvSpPr>
        <p:spPr>
          <a:xfrm>
            <a:off x="822960" y="3840480"/>
            <a:ext cx="2971800" cy="365760"/>
          </a:xfrm>
          <a:prstGeom prst="rect">
            <a:avLst/>
          </a:prstGeom>
          <a:noFill/>
        </p:spPr>
        <p:txBody>
          <a:bodyPr wrap="square">
            <a:spAutoFit/>
          </a:bodyPr>
          <a:lstStyle/>
          <a:p>
            <a:pPr algn="ctr">
              <a:defRPr sz="1200" b="0">
                <a:solidFill>
                  <a:srgbClr val="606060"/>
                </a:solidFill>
                <a:latin typeface="Segoe UI"/>
              </a:defRPr>
            </a:pPr>
            <a:r>
              <a:t>Normal operations</a:t>
            </a:r>
          </a:p>
        </p:txBody>
      </p:sp>
      <p:sp>
        <p:nvSpPr>
          <p:cNvPr id="10" name="TextBox 9"/>
          <p:cNvSpPr txBox="1"/>
          <p:nvPr/>
        </p:nvSpPr>
        <p:spPr>
          <a:xfrm>
            <a:off x="4114800" y="2834640"/>
            <a:ext cx="36576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1" name="Rounded Rectangle 10"/>
          <p:cNvSpPr/>
          <p:nvPr/>
        </p:nvSpPr>
        <p:spPr>
          <a:xfrm>
            <a:off x="4343400" y="1645920"/>
            <a:ext cx="352044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645920"/>
            <a:ext cx="35204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828800"/>
            <a:ext cx="3154680" cy="457200"/>
          </a:xfrm>
          <a:prstGeom prst="rect">
            <a:avLst/>
          </a:prstGeom>
          <a:noFill/>
        </p:spPr>
        <p:txBody>
          <a:bodyPr wrap="square">
            <a:spAutoFit/>
          </a:bodyPr>
          <a:lstStyle/>
          <a:p>
            <a:pPr algn="ctr">
              <a:defRPr sz="2200" b="1">
                <a:solidFill>
                  <a:srgbClr val="FF8C00"/>
                </a:solidFill>
                <a:latin typeface="Segoe UI"/>
              </a:defRPr>
            </a:pPr>
            <a:r>
              <a:t>Soft Delete</a:t>
            </a:r>
          </a:p>
        </p:txBody>
      </p:sp>
      <p:sp>
        <p:nvSpPr>
          <p:cNvPr id="14" name="TextBox 13"/>
          <p:cNvSpPr txBox="1"/>
          <p:nvPr/>
        </p:nvSpPr>
        <p:spPr>
          <a:xfrm>
            <a:off x="4617720" y="2377440"/>
            <a:ext cx="2971800" cy="1371600"/>
          </a:xfrm>
          <a:prstGeom prst="rect">
            <a:avLst/>
          </a:prstGeom>
          <a:noFill/>
        </p:spPr>
        <p:txBody>
          <a:bodyPr wrap="square">
            <a:spAutoFit/>
          </a:bodyPr>
          <a:lstStyle/>
          <a:p>
            <a:pPr algn="ctr">
              <a:defRPr sz="1400" b="0">
                <a:solidFill>
                  <a:srgbClr val="242424"/>
                </a:solidFill>
                <a:latin typeface="Segoe UI"/>
              </a:defRPr>
            </a:pPr>
            <a:r>
              <a:t>Site moved to recycle bin.</a:t>
            </a:r>
            <a:br/>
            <a:r>
              <a:t>Retained for ~93 days.</a:t>
            </a:r>
            <a:br/>
            <a:r>
              <a:t>Admin can restore.</a:t>
            </a:r>
          </a:p>
        </p:txBody>
      </p:sp>
      <p:sp>
        <p:nvSpPr>
          <p:cNvPr id="15" name="TextBox 14"/>
          <p:cNvSpPr txBox="1"/>
          <p:nvPr/>
        </p:nvSpPr>
        <p:spPr>
          <a:xfrm>
            <a:off x="4617720" y="3840480"/>
            <a:ext cx="2971800" cy="365760"/>
          </a:xfrm>
          <a:prstGeom prst="rect">
            <a:avLst/>
          </a:prstGeom>
          <a:noFill/>
        </p:spPr>
        <p:txBody>
          <a:bodyPr wrap="square">
            <a:spAutoFit/>
          </a:bodyPr>
          <a:lstStyle/>
          <a:p>
            <a:pPr algn="ctr">
              <a:defRPr sz="1200" b="0">
                <a:solidFill>
                  <a:srgbClr val="606060"/>
                </a:solidFill>
                <a:latin typeface="Segoe UI"/>
              </a:defRPr>
            </a:pPr>
            <a:r>
              <a:t>Recoverable window</a:t>
            </a:r>
          </a:p>
        </p:txBody>
      </p:sp>
      <p:sp>
        <p:nvSpPr>
          <p:cNvPr id="16" name="TextBox 15"/>
          <p:cNvSpPr txBox="1"/>
          <p:nvPr/>
        </p:nvSpPr>
        <p:spPr>
          <a:xfrm>
            <a:off x="7909560" y="2834640"/>
            <a:ext cx="36576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7" name="Rounded Rectangle 16"/>
          <p:cNvSpPr/>
          <p:nvPr/>
        </p:nvSpPr>
        <p:spPr>
          <a:xfrm>
            <a:off x="8138160" y="1645920"/>
            <a:ext cx="3520440" cy="27432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8160" y="1645920"/>
            <a:ext cx="35204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1828800"/>
            <a:ext cx="3154680" cy="457200"/>
          </a:xfrm>
          <a:prstGeom prst="rect">
            <a:avLst/>
          </a:prstGeom>
          <a:noFill/>
        </p:spPr>
        <p:txBody>
          <a:bodyPr wrap="square">
            <a:spAutoFit/>
          </a:bodyPr>
          <a:lstStyle/>
          <a:p>
            <a:pPr algn="ctr">
              <a:defRPr sz="2200" b="1">
                <a:solidFill>
                  <a:srgbClr val="D13438"/>
                </a:solidFill>
                <a:latin typeface="Segoe UI"/>
              </a:defRPr>
            </a:pPr>
            <a:r>
              <a:t>Permanent Delete</a:t>
            </a:r>
          </a:p>
        </p:txBody>
      </p:sp>
      <p:sp>
        <p:nvSpPr>
          <p:cNvPr id="20" name="TextBox 19"/>
          <p:cNvSpPr txBox="1"/>
          <p:nvPr/>
        </p:nvSpPr>
        <p:spPr>
          <a:xfrm>
            <a:off x="8412480" y="2377440"/>
            <a:ext cx="2971800" cy="1371600"/>
          </a:xfrm>
          <a:prstGeom prst="rect">
            <a:avLst/>
          </a:prstGeom>
          <a:noFill/>
        </p:spPr>
        <p:txBody>
          <a:bodyPr wrap="square">
            <a:spAutoFit/>
          </a:bodyPr>
          <a:lstStyle/>
          <a:p>
            <a:pPr algn="ctr">
              <a:defRPr sz="1400" b="0">
                <a:solidFill>
                  <a:srgbClr val="242424"/>
                </a:solidFill>
                <a:latin typeface="Segoe UI"/>
              </a:defRPr>
            </a:pPr>
            <a:r>
              <a:t>After retention expires,</a:t>
            </a:r>
            <a:br/>
            <a:r>
              <a:t>site is permanently</a:t>
            </a:r>
            <a:br/>
            <a:r>
              <a:t>deleted. No recovery.</a:t>
            </a:r>
          </a:p>
        </p:txBody>
      </p:sp>
      <p:sp>
        <p:nvSpPr>
          <p:cNvPr id="21" name="TextBox 20"/>
          <p:cNvSpPr txBox="1"/>
          <p:nvPr/>
        </p:nvSpPr>
        <p:spPr>
          <a:xfrm>
            <a:off x="8412480" y="3840480"/>
            <a:ext cx="2971800" cy="365760"/>
          </a:xfrm>
          <a:prstGeom prst="rect">
            <a:avLst/>
          </a:prstGeom>
          <a:noFill/>
        </p:spPr>
        <p:txBody>
          <a:bodyPr wrap="square">
            <a:spAutoFit/>
          </a:bodyPr>
          <a:lstStyle/>
          <a:p>
            <a:pPr algn="ctr">
              <a:defRPr sz="1200" b="0">
                <a:solidFill>
                  <a:srgbClr val="606060"/>
                </a:solidFill>
                <a:latin typeface="Segoe UI"/>
              </a:defRPr>
            </a:pPr>
            <a:r>
              <a:t>Irreversible</a:t>
            </a:r>
          </a:p>
        </p:txBody>
      </p:sp>
      <p:sp>
        <p:nvSpPr>
          <p:cNvPr id="22" name="Rounded Rectangle 21"/>
          <p:cNvSpPr/>
          <p:nvPr/>
        </p:nvSpPr>
        <p:spPr>
          <a:xfrm>
            <a:off x="731520" y="4754880"/>
            <a:ext cx="1069848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800600"/>
            <a:ext cx="10149840" cy="365760"/>
          </a:xfrm>
          <a:prstGeom prst="rect">
            <a:avLst/>
          </a:prstGeom>
          <a:noFill/>
        </p:spPr>
        <p:txBody>
          <a:bodyPr wrap="square">
            <a:spAutoFit/>
          </a:bodyPr>
          <a:lstStyle/>
          <a:p>
            <a:pPr algn="l">
              <a:defRPr sz="1400" b="0">
                <a:solidFill>
                  <a:srgbClr val="242424"/>
                </a:solidFill>
                <a:latin typeface="Segoe UI"/>
              </a:defRPr>
            </a:pPr>
            <a:r>
              <a:t>📍  Restore path:  SharePoint admin center → Deleted sites → select site → Restore</a:t>
            </a:r>
          </a:p>
        </p:txBody>
      </p:sp>
      <p:sp>
        <p:nvSpPr>
          <p:cNvPr id="24" name="Rectangle 2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6" name="TextBox 2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Critical Guardrail: The Root Site</a:t>
            </a:r>
          </a:p>
        </p:txBody>
      </p:sp>
      <p:sp>
        <p:nvSpPr>
          <p:cNvPr id="4" name="Rounded Rectangle 3"/>
          <p:cNvSpPr/>
          <p:nvPr/>
        </p:nvSpPr>
        <p:spPr>
          <a:xfrm>
            <a:off x="731520" y="1371600"/>
            <a:ext cx="10698480" cy="228600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10058400" cy="457200"/>
          </a:xfrm>
          <a:prstGeom prst="rect">
            <a:avLst/>
          </a:prstGeom>
          <a:noFill/>
        </p:spPr>
        <p:txBody>
          <a:bodyPr wrap="square">
            <a:spAutoFit/>
          </a:bodyPr>
          <a:lstStyle/>
          <a:p>
            <a:pPr algn="ctr">
              <a:defRPr sz="2200" b="1">
                <a:solidFill>
                  <a:srgbClr val="D13438"/>
                </a:solidFill>
                <a:latin typeface="Segoe UI"/>
              </a:defRPr>
            </a:pPr>
            <a:r>
              <a:t>🚨  Deleting or replacing the root site collection can make ALL other sites inaccessible</a:t>
            </a:r>
          </a:p>
        </p:txBody>
      </p:sp>
      <p:sp>
        <p:nvSpPr>
          <p:cNvPr id="6" name="TextBox 5"/>
          <p:cNvSpPr txBox="1"/>
          <p:nvPr/>
        </p:nvSpPr>
        <p:spPr>
          <a:xfrm>
            <a:off x="1371600" y="2194560"/>
            <a:ext cx="9509760" cy="1097280"/>
          </a:xfrm>
          <a:prstGeom prst="rect">
            <a:avLst/>
          </a:prstGeom>
          <a:noFill/>
        </p:spPr>
        <p:txBody>
          <a:bodyPr wrap="square">
            <a:spAutoFit/>
          </a:bodyPr>
          <a:lstStyle/>
          <a:p>
            <a:pPr algn="ctr">
              <a:defRPr sz="1600" b="0">
                <a:solidFill>
                  <a:srgbClr val="242424"/>
                </a:solidFill>
                <a:latin typeface="Segoe UI"/>
              </a:defRPr>
            </a:pPr>
            <a:r>
              <a:t>The root site (https://&lt;tenant&gt;.sharepoint.com) is the foundation of your tenant's SharePoint URL structure. Deleting, swapping, or misconfiguring it impacts every site under the tenant URL. Recovery requires admin intervention and may cause significant downtime for all users.</a:t>
            </a:r>
          </a:p>
        </p:txBody>
      </p:sp>
      <p:sp>
        <p:nvSpPr>
          <p:cNvPr id="7" name="Rounded Rectangle 6"/>
          <p:cNvSpPr/>
          <p:nvPr/>
        </p:nvSpPr>
        <p:spPr>
          <a:xfrm>
            <a:off x="731520" y="4023360"/>
            <a:ext cx="512064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023360"/>
            <a:ext cx="51206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06240"/>
            <a:ext cx="4754880" cy="365760"/>
          </a:xfrm>
          <a:prstGeom prst="rect">
            <a:avLst/>
          </a:prstGeom>
          <a:noFill/>
        </p:spPr>
        <p:txBody>
          <a:bodyPr wrap="square">
            <a:spAutoFit/>
          </a:bodyPr>
          <a:lstStyle/>
          <a:p>
            <a:pPr algn="ctr">
              <a:defRPr sz="2000" b="1">
                <a:solidFill>
                  <a:srgbClr val="107C10"/>
                </a:solidFill>
                <a:latin typeface="Segoe UI"/>
              </a:defRPr>
            </a:pPr>
            <a:r>
              <a:t>✅  DO</a:t>
            </a:r>
          </a:p>
        </p:txBody>
      </p:sp>
      <p:sp>
        <p:nvSpPr>
          <p:cNvPr id="10" name="TextBox 9"/>
          <p:cNvSpPr txBox="1"/>
          <p:nvPr/>
        </p:nvSpPr>
        <p:spPr>
          <a:xfrm>
            <a:off x="1097280" y="4663440"/>
            <a:ext cx="4572000" cy="1188720"/>
          </a:xfrm>
          <a:prstGeom prst="rect">
            <a:avLst/>
          </a:prstGeom>
          <a:noFill/>
        </p:spPr>
        <p:txBody>
          <a:bodyPr wrap="square">
            <a:spAutoFit/>
          </a:bodyPr>
          <a:lstStyle/>
          <a:p>
            <a:pPr>
              <a:spcAft>
                <a:spcPts val="600"/>
              </a:spcAft>
              <a:defRPr sz="1400">
                <a:solidFill>
                  <a:srgbClr val="242424"/>
                </a:solidFill>
                <a:latin typeface="Segoe UI"/>
              </a:defRPr>
            </a:pPr>
            <a:r>
              <a:t>• Keep root site intact at all times</a:t>
            </a:r>
          </a:p>
          <a:p>
            <a:pPr>
              <a:spcAft>
                <a:spcPts val="600"/>
              </a:spcAft>
              <a:defRPr sz="1400">
                <a:solidFill>
                  <a:srgbClr val="242424"/>
                </a:solidFill>
                <a:latin typeface="Segoe UI"/>
              </a:defRPr>
            </a:pPr>
            <a:r>
              <a:t>• Clear guardrail in operations runbook</a:t>
            </a:r>
          </a:p>
          <a:p>
            <a:pPr>
              <a:spcAft>
                <a:spcPts val="600"/>
              </a:spcAft>
              <a:defRPr sz="1400">
                <a:solidFill>
                  <a:srgbClr val="242424"/>
                </a:solidFill>
                <a:latin typeface="Segoe UI"/>
              </a:defRPr>
            </a:pPr>
            <a:r>
              <a:t>• Trainer approval before root site changes</a:t>
            </a:r>
          </a:p>
        </p:txBody>
      </p:sp>
      <p:sp>
        <p:nvSpPr>
          <p:cNvPr id="11" name="Rounded Rectangle 10"/>
          <p:cNvSpPr/>
          <p:nvPr/>
        </p:nvSpPr>
        <p:spPr>
          <a:xfrm>
            <a:off x="6309360" y="4023360"/>
            <a:ext cx="512064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4023360"/>
            <a:ext cx="51206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206240"/>
            <a:ext cx="4754880" cy="365760"/>
          </a:xfrm>
          <a:prstGeom prst="rect">
            <a:avLst/>
          </a:prstGeom>
          <a:noFill/>
        </p:spPr>
        <p:txBody>
          <a:bodyPr wrap="square">
            <a:spAutoFit/>
          </a:bodyPr>
          <a:lstStyle/>
          <a:p>
            <a:pPr algn="ctr">
              <a:defRPr sz="2000" b="1">
                <a:solidFill>
                  <a:srgbClr val="D13438"/>
                </a:solidFill>
                <a:latin typeface="Segoe UI"/>
              </a:defRPr>
            </a:pPr>
            <a:r>
              <a:t>❌  DON'T</a:t>
            </a:r>
          </a:p>
        </p:txBody>
      </p:sp>
      <p:sp>
        <p:nvSpPr>
          <p:cNvPr id="14" name="TextBox 13"/>
          <p:cNvSpPr txBox="1"/>
          <p:nvPr/>
        </p:nvSpPr>
        <p:spPr>
          <a:xfrm>
            <a:off x="6675120" y="4663440"/>
            <a:ext cx="4572000" cy="1188720"/>
          </a:xfrm>
          <a:prstGeom prst="rect">
            <a:avLst/>
          </a:prstGeom>
          <a:noFill/>
        </p:spPr>
        <p:txBody>
          <a:bodyPr wrap="square">
            <a:spAutoFit/>
          </a:bodyPr>
          <a:lstStyle/>
          <a:p>
            <a:pPr>
              <a:spcAft>
                <a:spcPts val="600"/>
              </a:spcAft>
              <a:defRPr sz="1400">
                <a:solidFill>
                  <a:srgbClr val="242424"/>
                </a:solidFill>
                <a:latin typeface="Segoe UI"/>
              </a:defRPr>
            </a:pPr>
            <a:r>
              <a:t>• Delete or swap the root site in a shared tenant</a:t>
            </a:r>
          </a:p>
          <a:p>
            <a:pPr>
              <a:spcAft>
                <a:spcPts val="600"/>
              </a:spcAft>
              <a:defRPr sz="1400">
                <a:solidFill>
                  <a:srgbClr val="242424"/>
                </a:solidFill>
                <a:latin typeface="Segoe UI"/>
              </a:defRPr>
            </a:pPr>
            <a:r>
              <a:t>• Run Remove-SPOSite on the root URL</a:t>
            </a:r>
          </a:p>
          <a:p>
            <a:pPr>
              <a:spcAft>
                <a:spcPts val="600"/>
              </a:spcAft>
              <a:defRPr sz="1400">
                <a:solidFill>
                  <a:srgbClr val="242424"/>
                </a:solidFill>
                <a:latin typeface="Segoe UI"/>
              </a:defRPr>
            </a:pPr>
            <a:r>
              <a:t>• Make root site changes during business hours</a:t>
            </a:r>
          </a:p>
        </p:txBody>
      </p:sp>
      <p:sp>
        <p:nvSpPr>
          <p:cNvPr id="15" name="Rectangle 1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17" name="TextBox 1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External Sharing Governance</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Link types, org-level ceilings, and site-level controls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External Sharing: The Governance Hierarchy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Org-level is the ceiling — sites can only be more restrictive, never more permissive</a:t>
            </a:r>
          </a:p>
        </p:txBody>
      </p:sp>
      <p:sp>
        <p:nvSpPr>
          <p:cNvPr id="5" name="Rounded Rectangle 4"/>
          <p:cNvSpPr/>
          <p:nvPr/>
        </p:nvSpPr>
        <p:spPr>
          <a:xfrm>
            <a:off x="731520" y="1554480"/>
            <a:ext cx="1069848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457200" cy="365760"/>
          </a:xfrm>
          <a:prstGeom prst="rect">
            <a:avLst/>
          </a:prstGeom>
          <a:noFill/>
        </p:spPr>
        <p:txBody>
          <a:bodyPr wrap="square">
            <a:spAutoFit/>
          </a:bodyPr>
          <a:lstStyle/>
          <a:p>
            <a:pPr algn="ctr">
              <a:defRPr sz="2800" b="0">
                <a:solidFill>
                  <a:srgbClr val="242424"/>
                </a:solidFill>
                <a:latin typeface="Segoe UI"/>
              </a:defRPr>
            </a:pPr>
            <a:r>
              <a:t>🏢</a:t>
            </a:r>
          </a:p>
        </p:txBody>
      </p:sp>
      <p:sp>
        <p:nvSpPr>
          <p:cNvPr id="8" name="TextBox 7"/>
          <p:cNvSpPr txBox="1"/>
          <p:nvPr/>
        </p:nvSpPr>
        <p:spPr>
          <a:xfrm>
            <a:off x="1645920" y="1645920"/>
            <a:ext cx="2560320" cy="365760"/>
          </a:xfrm>
          <a:prstGeom prst="rect">
            <a:avLst/>
          </a:prstGeom>
          <a:noFill/>
        </p:spPr>
        <p:txBody>
          <a:bodyPr wrap="square">
            <a:spAutoFit/>
          </a:bodyPr>
          <a:lstStyle/>
          <a:p>
            <a:pPr algn="l">
              <a:defRPr sz="1800" b="1">
                <a:solidFill>
                  <a:srgbClr val="0078D4"/>
                </a:solidFill>
                <a:latin typeface="Segoe UI"/>
              </a:defRPr>
            </a:pPr>
            <a:r>
              <a:t>Organisation Level</a:t>
            </a:r>
          </a:p>
        </p:txBody>
      </p:sp>
      <p:sp>
        <p:nvSpPr>
          <p:cNvPr id="9" name="TextBox 8"/>
          <p:cNvSpPr txBox="1"/>
          <p:nvPr/>
        </p:nvSpPr>
        <p:spPr>
          <a:xfrm>
            <a:off x="4389120" y="1645920"/>
            <a:ext cx="3657600" cy="1097280"/>
          </a:xfrm>
          <a:prstGeom prst="rect">
            <a:avLst/>
          </a:prstGeom>
          <a:noFill/>
        </p:spPr>
        <p:txBody>
          <a:bodyPr wrap="square">
            <a:spAutoFit/>
          </a:bodyPr>
          <a:lstStyle/>
          <a:p>
            <a:pPr algn="l">
              <a:defRPr sz="1400" b="0">
                <a:solidFill>
                  <a:srgbClr val="242424"/>
                </a:solidFill>
                <a:latin typeface="Segoe UI"/>
              </a:defRPr>
            </a:pPr>
            <a:r>
              <a:t>Sets the maximum sharing capability</a:t>
            </a:r>
            <a:br/>
            <a:r>
              <a:t>for the entire tenant.</a:t>
            </a:r>
          </a:p>
        </p:txBody>
      </p:sp>
      <p:sp>
        <p:nvSpPr>
          <p:cNvPr id="10" name="TextBox 9"/>
          <p:cNvSpPr txBox="1"/>
          <p:nvPr/>
        </p:nvSpPr>
        <p:spPr>
          <a:xfrm>
            <a:off x="8229600" y="1645920"/>
            <a:ext cx="3017520" cy="1097280"/>
          </a:xfrm>
          <a:prstGeom prst="rect">
            <a:avLst/>
          </a:prstGeom>
          <a:noFill/>
        </p:spPr>
        <p:txBody>
          <a:bodyPr wrap="square">
            <a:spAutoFit/>
          </a:bodyPr>
          <a:lstStyle/>
          <a:p>
            <a:pPr algn="l">
              <a:defRPr sz="1100" b="0">
                <a:solidFill>
                  <a:srgbClr val="606060"/>
                </a:solidFill>
                <a:latin typeface="Segoe UI"/>
              </a:defRPr>
            </a:pPr>
            <a:r>
              <a:t>SharePoint admin center → Policies → Sharing</a:t>
            </a:r>
          </a:p>
        </p:txBody>
      </p:sp>
      <p:sp>
        <p:nvSpPr>
          <p:cNvPr id="11" name="Rounded Rectangle 10"/>
          <p:cNvSpPr/>
          <p:nvPr/>
        </p:nvSpPr>
        <p:spPr>
          <a:xfrm>
            <a:off x="731520" y="3108960"/>
            <a:ext cx="1069848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108960"/>
            <a:ext cx="73152" cy="13716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200400"/>
            <a:ext cx="457200" cy="365760"/>
          </a:xfrm>
          <a:prstGeom prst="rect">
            <a:avLst/>
          </a:prstGeom>
          <a:noFill/>
        </p:spPr>
        <p:txBody>
          <a:bodyPr wrap="square">
            <a:spAutoFit/>
          </a:bodyPr>
          <a:lstStyle/>
          <a:p>
            <a:pPr algn="ctr">
              <a:defRPr sz="2800" b="0">
                <a:solidFill>
                  <a:srgbClr val="242424"/>
                </a:solidFill>
                <a:latin typeface="Segoe UI"/>
              </a:defRPr>
            </a:pPr>
            <a:r>
              <a:t>🌐</a:t>
            </a:r>
          </a:p>
        </p:txBody>
      </p:sp>
      <p:sp>
        <p:nvSpPr>
          <p:cNvPr id="14" name="TextBox 13"/>
          <p:cNvSpPr txBox="1"/>
          <p:nvPr/>
        </p:nvSpPr>
        <p:spPr>
          <a:xfrm>
            <a:off x="1645920" y="3200400"/>
            <a:ext cx="2560320" cy="365760"/>
          </a:xfrm>
          <a:prstGeom prst="rect">
            <a:avLst/>
          </a:prstGeom>
          <a:noFill/>
        </p:spPr>
        <p:txBody>
          <a:bodyPr wrap="square">
            <a:spAutoFit/>
          </a:bodyPr>
          <a:lstStyle/>
          <a:p>
            <a:pPr algn="l">
              <a:defRPr sz="1800" b="1">
                <a:solidFill>
                  <a:srgbClr val="00B294"/>
                </a:solidFill>
                <a:latin typeface="Segoe UI"/>
              </a:defRPr>
            </a:pPr>
            <a:r>
              <a:t>Site Level</a:t>
            </a:r>
          </a:p>
        </p:txBody>
      </p:sp>
      <p:sp>
        <p:nvSpPr>
          <p:cNvPr id="15" name="TextBox 14"/>
          <p:cNvSpPr txBox="1"/>
          <p:nvPr/>
        </p:nvSpPr>
        <p:spPr>
          <a:xfrm>
            <a:off x="4389120" y="3200400"/>
            <a:ext cx="3657600" cy="1097280"/>
          </a:xfrm>
          <a:prstGeom prst="rect">
            <a:avLst/>
          </a:prstGeom>
          <a:noFill/>
        </p:spPr>
        <p:txBody>
          <a:bodyPr wrap="square">
            <a:spAutoFit/>
          </a:bodyPr>
          <a:lstStyle/>
          <a:p>
            <a:pPr algn="l">
              <a:defRPr sz="1400" b="0">
                <a:solidFill>
                  <a:srgbClr val="242424"/>
                </a:solidFill>
                <a:latin typeface="Segoe UI"/>
              </a:defRPr>
            </a:pPr>
            <a:r>
              <a:t>Each site can be set to the same</a:t>
            </a:r>
            <a:br/>
            <a:r>
              <a:t>or more restrictive than the org level.</a:t>
            </a:r>
          </a:p>
        </p:txBody>
      </p:sp>
      <p:sp>
        <p:nvSpPr>
          <p:cNvPr id="16" name="TextBox 15"/>
          <p:cNvSpPr txBox="1"/>
          <p:nvPr/>
        </p:nvSpPr>
        <p:spPr>
          <a:xfrm>
            <a:off x="8229600" y="3200400"/>
            <a:ext cx="3017520" cy="1097280"/>
          </a:xfrm>
          <a:prstGeom prst="rect">
            <a:avLst/>
          </a:prstGeom>
          <a:noFill/>
        </p:spPr>
        <p:txBody>
          <a:bodyPr wrap="square">
            <a:spAutoFit/>
          </a:bodyPr>
          <a:lstStyle/>
          <a:p>
            <a:pPr algn="l">
              <a:defRPr sz="1100" b="0">
                <a:solidFill>
                  <a:srgbClr val="606060"/>
                </a:solidFill>
                <a:latin typeface="Segoe UI"/>
              </a:defRPr>
            </a:pPr>
            <a:r>
              <a:t>SharePoint admin center → Sites → Active sites → site → Sharing</a:t>
            </a:r>
          </a:p>
        </p:txBody>
      </p:sp>
      <p:sp>
        <p:nvSpPr>
          <p:cNvPr id="17" name="Rounded Rectangle 16"/>
          <p:cNvSpPr/>
          <p:nvPr/>
        </p:nvSpPr>
        <p:spPr>
          <a:xfrm>
            <a:off x="731520" y="4663440"/>
            <a:ext cx="10698480" cy="1371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663440"/>
            <a:ext cx="73152" cy="13716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54880"/>
            <a:ext cx="457200" cy="365760"/>
          </a:xfrm>
          <a:prstGeom prst="rect">
            <a:avLst/>
          </a:prstGeom>
          <a:noFill/>
        </p:spPr>
        <p:txBody>
          <a:bodyPr wrap="square">
            <a:spAutoFit/>
          </a:bodyPr>
          <a:lstStyle/>
          <a:p>
            <a:pPr algn="ctr">
              <a:defRPr sz="2800" b="0">
                <a:solidFill>
                  <a:srgbClr val="242424"/>
                </a:solidFill>
                <a:latin typeface="Segoe UI"/>
              </a:defRPr>
            </a:pPr>
            <a:r>
              <a:t>📄</a:t>
            </a:r>
          </a:p>
        </p:txBody>
      </p:sp>
      <p:sp>
        <p:nvSpPr>
          <p:cNvPr id="20" name="TextBox 19"/>
          <p:cNvSpPr txBox="1"/>
          <p:nvPr/>
        </p:nvSpPr>
        <p:spPr>
          <a:xfrm>
            <a:off x="1645920" y="4754880"/>
            <a:ext cx="2560320" cy="365760"/>
          </a:xfrm>
          <a:prstGeom prst="rect">
            <a:avLst/>
          </a:prstGeom>
          <a:noFill/>
        </p:spPr>
        <p:txBody>
          <a:bodyPr wrap="square">
            <a:spAutoFit/>
          </a:bodyPr>
          <a:lstStyle/>
          <a:p>
            <a:pPr algn="l">
              <a:defRPr sz="1800" b="1">
                <a:solidFill>
                  <a:srgbClr val="6B69D6"/>
                </a:solidFill>
                <a:latin typeface="Segoe UI"/>
              </a:defRPr>
            </a:pPr>
            <a:r>
              <a:t>Item Level</a:t>
            </a:r>
          </a:p>
        </p:txBody>
      </p:sp>
      <p:sp>
        <p:nvSpPr>
          <p:cNvPr id="21" name="TextBox 20"/>
          <p:cNvSpPr txBox="1"/>
          <p:nvPr/>
        </p:nvSpPr>
        <p:spPr>
          <a:xfrm>
            <a:off x="4389120" y="4754880"/>
            <a:ext cx="3657600" cy="1097280"/>
          </a:xfrm>
          <a:prstGeom prst="rect">
            <a:avLst/>
          </a:prstGeom>
          <a:noFill/>
        </p:spPr>
        <p:txBody>
          <a:bodyPr wrap="square">
            <a:spAutoFit/>
          </a:bodyPr>
          <a:lstStyle/>
          <a:p>
            <a:pPr algn="l">
              <a:defRPr sz="1400" b="0">
                <a:solidFill>
                  <a:srgbClr val="242424"/>
                </a:solidFill>
                <a:latin typeface="Segoe UI"/>
              </a:defRPr>
            </a:pPr>
            <a:r>
              <a:t>Individual files/folders can be shared</a:t>
            </a:r>
            <a:br/>
            <a:r>
              <a:t>within the limits set above.</a:t>
            </a:r>
          </a:p>
        </p:txBody>
      </p:sp>
      <p:sp>
        <p:nvSpPr>
          <p:cNvPr id="22" name="TextBox 21"/>
          <p:cNvSpPr txBox="1"/>
          <p:nvPr/>
        </p:nvSpPr>
        <p:spPr>
          <a:xfrm>
            <a:off x="8229600" y="4754880"/>
            <a:ext cx="3017520" cy="1097280"/>
          </a:xfrm>
          <a:prstGeom prst="rect">
            <a:avLst/>
          </a:prstGeom>
          <a:noFill/>
        </p:spPr>
        <p:txBody>
          <a:bodyPr wrap="square">
            <a:spAutoFit/>
          </a:bodyPr>
          <a:lstStyle/>
          <a:p>
            <a:pPr algn="l">
              <a:defRPr sz="1100" b="0">
                <a:solidFill>
                  <a:srgbClr val="606060"/>
                </a:solidFill>
                <a:latin typeface="Segoe UI"/>
              </a:defRPr>
            </a:pPr>
            <a:r>
              <a:t>Share button on file/folder → choose link type</a:t>
            </a:r>
          </a:p>
        </p:txBody>
      </p:sp>
      <p:sp>
        <p:nvSpPr>
          <p:cNvPr id="23" name="Rounded Rectangle 22"/>
          <p:cNvSpPr/>
          <p:nvPr/>
        </p:nvSpPr>
        <p:spPr>
          <a:xfrm>
            <a:off x="1371600" y="594360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45920" y="5989320"/>
            <a:ext cx="8869680" cy="365760"/>
          </a:xfrm>
          <a:prstGeom prst="rect">
            <a:avLst/>
          </a:prstGeom>
          <a:noFill/>
        </p:spPr>
        <p:txBody>
          <a:bodyPr wrap="square">
            <a:spAutoFit/>
          </a:bodyPr>
          <a:lstStyle/>
          <a:p>
            <a:pPr algn="l">
              <a:defRPr sz="1400" b="0">
                <a:solidFill>
                  <a:srgbClr val="242424"/>
                </a:solidFill>
                <a:latin typeface="Segoe UI"/>
              </a:defRPr>
            </a:pPr>
            <a:r>
              <a:t>🔑  Key rule: If org-level is 'Existing guests only', no site can enable 'Anyone' links</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Sharing Link Types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Each link type has different scope, security, and audit implications</a:t>
            </a:r>
          </a:p>
        </p:txBody>
      </p:sp>
      <p:sp>
        <p:nvSpPr>
          <p:cNvPr id="5" name="Rounded Rectangle 4"/>
          <p:cNvSpPr/>
          <p:nvPr/>
        </p:nvSpPr>
        <p:spPr>
          <a:xfrm>
            <a:off x="548640" y="1554480"/>
            <a:ext cx="35204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5204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315468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8" name="TextBox 7"/>
          <p:cNvSpPr txBox="1"/>
          <p:nvPr/>
        </p:nvSpPr>
        <p:spPr>
          <a:xfrm>
            <a:off x="731520" y="2194560"/>
            <a:ext cx="3154680" cy="640080"/>
          </a:xfrm>
          <a:prstGeom prst="rect">
            <a:avLst/>
          </a:prstGeom>
          <a:noFill/>
        </p:spPr>
        <p:txBody>
          <a:bodyPr wrap="square">
            <a:spAutoFit/>
          </a:bodyPr>
          <a:lstStyle/>
          <a:p>
            <a:pPr algn="ctr">
              <a:defRPr sz="2200" b="1">
                <a:solidFill>
                  <a:srgbClr val="D13438"/>
                </a:solidFill>
                <a:latin typeface="Segoe UI"/>
              </a:defRPr>
            </a:pPr>
            <a:r>
              <a:t>Anyone</a:t>
            </a:r>
          </a:p>
        </p:txBody>
      </p:sp>
      <p:sp>
        <p:nvSpPr>
          <p:cNvPr id="9" name="TextBox 8"/>
          <p:cNvSpPr txBox="1"/>
          <p:nvPr/>
        </p:nvSpPr>
        <p:spPr>
          <a:xfrm>
            <a:off x="822960" y="2926080"/>
            <a:ext cx="2971800" cy="1097280"/>
          </a:xfrm>
          <a:prstGeom prst="rect">
            <a:avLst/>
          </a:prstGeom>
          <a:noFill/>
        </p:spPr>
        <p:txBody>
          <a:bodyPr wrap="square">
            <a:spAutoFit/>
          </a:bodyPr>
          <a:lstStyle/>
          <a:p>
            <a:pPr algn="ctr">
              <a:defRPr sz="1300" b="0">
                <a:solidFill>
                  <a:srgbClr val="242424"/>
                </a:solidFill>
                <a:latin typeface="Segoe UI"/>
              </a:defRPr>
            </a:pPr>
            <a:r>
              <a:t>No authentication required.</a:t>
            </a:r>
            <a:br/>
            <a:r>
              <a:t>Anyone with the link can access.</a:t>
            </a:r>
            <a:br/>
            <a:r>
              <a:t>Most open, least secure.</a:t>
            </a:r>
          </a:p>
        </p:txBody>
      </p:sp>
      <p:sp>
        <p:nvSpPr>
          <p:cNvPr id="10" name="Rectangle 9"/>
          <p:cNvSpPr/>
          <p:nvPr/>
        </p:nvSpPr>
        <p:spPr>
          <a:xfrm>
            <a:off x="1005840" y="4114800"/>
            <a:ext cx="2606040" cy="36576"/>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97680"/>
            <a:ext cx="2971800" cy="1371600"/>
          </a:xfrm>
          <a:prstGeom prst="rect">
            <a:avLst/>
          </a:prstGeom>
          <a:noFill/>
        </p:spPr>
        <p:txBody>
          <a:bodyPr wrap="square">
            <a:spAutoFit/>
          </a:bodyPr>
          <a:lstStyle/>
          <a:p>
            <a:pPr algn="l">
              <a:defRPr sz="1200" b="0">
                <a:solidFill>
                  <a:srgbClr val="606060"/>
                </a:solidFill>
                <a:latin typeface="Segoe UI"/>
              </a:defRPr>
            </a:pPr>
            <a:r>
              <a:t>• Can set expiration date</a:t>
            </a:r>
            <a:br/>
            <a:r>
              <a:t>• Can restrict to View only</a:t>
            </a:r>
            <a:br/>
            <a:r>
              <a:t>• No audit trail of who accessed</a:t>
            </a:r>
          </a:p>
        </p:txBody>
      </p:sp>
      <p:sp>
        <p:nvSpPr>
          <p:cNvPr id="12" name="Rounded Rectangle 11"/>
          <p:cNvSpPr/>
          <p:nvPr/>
        </p:nvSpPr>
        <p:spPr>
          <a:xfrm>
            <a:off x="4343400" y="1554480"/>
            <a:ext cx="35204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554480"/>
            <a:ext cx="35204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737360"/>
            <a:ext cx="315468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15" name="TextBox 14"/>
          <p:cNvSpPr txBox="1"/>
          <p:nvPr/>
        </p:nvSpPr>
        <p:spPr>
          <a:xfrm>
            <a:off x="4526280" y="2194560"/>
            <a:ext cx="3154680" cy="640080"/>
          </a:xfrm>
          <a:prstGeom prst="rect">
            <a:avLst/>
          </a:prstGeom>
          <a:noFill/>
        </p:spPr>
        <p:txBody>
          <a:bodyPr wrap="square">
            <a:spAutoFit/>
          </a:bodyPr>
          <a:lstStyle/>
          <a:p>
            <a:pPr algn="ctr">
              <a:defRPr sz="2200" b="1">
                <a:solidFill>
                  <a:srgbClr val="0078D4"/>
                </a:solidFill>
                <a:latin typeface="Segoe UI"/>
              </a:defRPr>
            </a:pPr>
            <a:r>
              <a:t>People in</a:t>
            </a:r>
            <a:br/>
            <a:r>
              <a:t>Your Org</a:t>
            </a:r>
          </a:p>
        </p:txBody>
      </p:sp>
      <p:sp>
        <p:nvSpPr>
          <p:cNvPr id="16" name="TextBox 15"/>
          <p:cNvSpPr txBox="1"/>
          <p:nvPr/>
        </p:nvSpPr>
        <p:spPr>
          <a:xfrm>
            <a:off x="4617720" y="2926080"/>
            <a:ext cx="2971800" cy="1097280"/>
          </a:xfrm>
          <a:prstGeom prst="rect">
            <a:avLst/>
          </a:prstGeom>
          <a:noFill/>
        </p:spPr>
        <p:txBody>
          <a:bodyPr wrap="square">
            <a:spAutoFit/>
          </a:bodyPr>
          <a:lstStyle/>
          <a:p>
            <a:pPr algn="ctr">
              <a:defRPr sz="1300" b="0">
                <a:solidFill>
                  <a:srgbClr val="242424"/>
                </a:solidFill>
                <a:latin typeface="Segoe UI"/>
              </a:defRPr>
            </a:pPr>
            <a:r>
              <a:t>Requires authentication.</a:t>
            </a:r>
            <a:br/>
            <a:r>
              <a:t>Only works for internal users.</a:t>
            </a:r>
            <a:br/>
            <a:r>
              <a:t>Balanced security.</a:t>
            </a:r>
          </a:p>
        </p:txBody>
      </p:sp>
      <p:sp>
        <p:nvSpPr>
          <p:cNvPr id="17" name="Rectangle 16"/>
          <p:cNvSpPr/>
          <p:nvPr/>
        </p:nvSpPr>
        <p:spPr>
          <a:xfrm>
            <a:off x="4800600" y="4114800"/>
            <a:ext cx="260604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297680"/>
            <a:ext cx="2971800" cy="1371600"/>
          </a:xfrm>
          <a:prstGeom prst="rect">
            <a:avLst/>
          </a:prstGeom>
          <a:noFill/>
        </p:spPr>
        <p:txBody>
          <a:bodyPr wrap="square">
            <a:spAutoFit/>
          </a:bodyPr>
          <a:lstStyle/>
          <a:p>
            <a:pPr algn="l">
              <a:defRPr sz="1200" b="0">
                <a:solidFill>
                  <a:srgbClr val="606060"/>
                </a:solidFill>
                <a:latin typeface="Segoe UI"/>
              </a:defRPr>
            </a:pPr>
            <a:r>
              <a:t>• Must sign in to access</a:t>
            </a:r>
            <a:br/>
            <a:r>
              <a:t>• Can be forwarded internally</a:t>
            </a:r>
            <a:br/>
            <a:r>
              <a:t>• Audit trail available</a:t>
            </a:r>
          </a:p>
        </p:txBody>
      </p:sp>
      <p:sp>
        <p:nvSpPr>
          <p:cNvPr id="19" name="Rounded Rectangle 18"/>
          <p:cNvSpPr/>
          <p:nvPr/>
        </p:nvSpPr>
        <p:spPr>
          <a:xfrm>
            <a:off x="8138160" y="1554480"/>
            <a:ext cx="35204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554480"/>
            <a:ext cx="35204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737360"/>
            <a:ext cx="315468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22" name="TextBox 21"/>
          <p:cNvSpPr txBox="1"/>
          <p:nvPr/>
        </p:nvSpPr>
        <p:spPr>
          <a:xfrm>
            <a:off x="8321040" y="2194560"/>
            <a:ext cx="3154680" cy="640080"/>
          </a:xfrm>
          <a:prstGeom prst="rect">
            <a:avLst/>
          </a:prstGeom>
          <a:noFill/>
        </p:spPr>
        <p:txBody>
          <a:bodyPr wrap="square">
            <a:spAutoFit/>
          </a:bodyPr>
          <a:lstStyle/>
          <a:p>
            <a:pPr algn="ctr">
              <a:defRPr sz="2200" b="1">
                <a:solidFill>
                  <a:srgbClr val="107C10"/>
                </a:solidFill>
                <a:latin typeface="Segoe UI"/>
              </a:defRPr>
            </a:pPr>
            <a:r>
              <a:t>Specific</a:t>
            </a:r>
            <a:br/>
            <a:r>
              <a:t>People</a:t>
            </a:r>
          </a:p>
        </p:txBody>
      </p:sp>
      <p:sp>
        <p:nvSpPr>
          <p:cNvPr id="23" name="TextBox 22"/>
          <p:cNvSpPr txBox="1"/>
          <p:nvPr/>
        </p:nvSpPr>
        <p:spPr>
          <a:xfrm>
            <a:off x="8412480" y="2926080"/>
            <a:ext cx="2971800" cy="1097280"/>
          </a:xfrm>
          <a:prstGeom prst="rect">
            <a:avLst/>
          </a:prstGeom>
          <a:noFill/>
        </p:spPr>
        <p:txBody>
          <a:bodyPr wrap="square">
            <a:spAutoFit/>
          </a:bodyPr>
          <a:lstStyle/>
          <a:p>
            <a:pPr algn="ctr">
              <a:defRPr sz="1300" b="0">
                <a:solidFill>
                  <a:srgbClr val="242424"/>
                </a:solidFill>
                <a:latin typeface="Segoe UI"/>
              </a:defRPr>
            </a:pPr>
            <a:r>
              <a:t>Only named recipients.</a:t>
            </a:r>
            <a:br/>
            <a:r>
              <a:t>Most secure, most controlled.</a:t>
            </a:r>
            <a:br/>
            <a:r>
              <a:t>Requires specifying each user.</a:t>
            </a:r>
          </a:p>
        </p:txBody>
      </p:sp>
      <p:sp>
        <p:nvSpPr>
          <p:cNvPr id="24" name="Rectangle 23"/>
          <p:cNvSpPr/>
          <p:nvPr/>
        </p:nvSpPr>
        <p:spPr>
          <a:xfrm>
            <a:off x="8595360" y="4114800"/>
            <a:ext cx="2606040" cy="36576"/>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4297680"/>
            <a:ext cx="2971800" cy="1371600"/>
          </a:xfrm>
          <a:prstGeom prst="rect">
            <a:avLst/>
          </a:prstGeom>
          <a:noFill/>
        </p:spPr>
        <p:txBody>
          <a:bodyPr wrap="square">
            <a:spAutoFit/>
          </a:bodyPr>
          <a:lstStyle/>
          <a:p>
            <a:pPr algn="l">
              <a:defRPr sz="1200" b="0">
                <a:solidFill>
                  <a:srgbClr val="606060"/>
                </a:solidFill>
                <a:latin typeface="Segoe UI"/>
              </a:defRPr>
            </a:pPr>
            <a:r>
              <a:t>• Must sign in with named account</a:t>
            </a:r>
            <a:br/>
            <a:r>
              <a:t>• Cannot be forwarded usefully</a:t>
            </a:r>
            <a:br/>
            <a:r>
              <a:t>• Full audit trail</a:t>
            </a:r>
          </a:p>
        </p:txBody>
      </p:sp>
      <p:sp>
        <p:nvSpPr>
          <p:cNvPr id="26" name="Rectangle 2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8" name="TextBox 2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Default Link Type &amp; Anyone-Link Controls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Settings that shape the sharing experience for all users</a:t>
            </a:r>
          </a:p>
        </p:txBody>
      </p:sp>
      <p:sp>
        <p:nvSpPr>
          <p:cNvPr id="5" name="Rounded Rectangle 4"/>
          <p:cNvSpPr/>
          <p:nvPr/>
        </p:nvSpPr>
        <p:spPr>
          <a:xfrm>
            <a:off x="731520" y="1554480"/>
            <a:ext cx="5303520" cy="1920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1920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8" name="TextBox 7"/>
          <p:cNvSpPr txBox="1"/>
          <p:nvPr/>
        </p:nvSpPr>
        <p:spPr>
          <a:xfrm>
            <a:off x="1554480" y="1691640"/>
            <a:ext cx="4206240" cy="365760"/>
          </a:xfrm>
          <a:prstGeom prst="rect">
            <a:avLst/>
          </a:prstGeom>
          <a:noFill/>
        </p:spPr>
        <p:txBody>
          <a:bodyPr wrap="square">
            <a:spAutoFit/>
          </a:bodyPr>
          <a:lstStyle/>
          <a:p>
            <a:pPr algn="l">
              <a:defRPr sz="1800" b="1">
                <a:solidFill>
                  <a:srgbClr val="0078D4"/>
                </a:solidFill>
                <a:latin typeface="Segoe UI"/>
              </a:defRPr>
            </a:pPr>
            <a:r>
              <a:t>Default Link Type</a:t>
            </a:r>
          </a:p>
        </p:txBody>
      </p:sp>
      <p:sp>
        <p:nvSpPr>
          <p:cNvPr id="9" name="TextBox 8"/>
          <p:cNvSpPr txBox="1"/>
          <p:nvPr/>
        </p:nvSpPr>
        <p:spPr>
          <a:xfrm>
            <a:off x="1554480" y="2103120"/>
            <a:ext cx="4206240" cy="731520"/>
          </a:xfrm>
          <a:prstGeom prst="rect">
            <a:avLst/>
          </a:prstGeom>
          <a:noFill/>
        </p:spPr>
        <p:txBody>
          <a:bodyPr wrap="square">
            <a:spAutoFit/>
          </a:bodyPr>
          <a:lstStyle/>
          <a:p>
            <a:pPr algn="l">
              <a:defRPr sz="1300" b="0">
                <a:solidFill>
                  <a:srgbClr val="242424"/>
                </a:solidFill>
                <a:latin typeface="Segoe UI"/>
              </a:defRPr>
            </a:pPr>
            <a:r>
              <a:t>What link type users see first</a:t>
            </a:r>
            <a:br/>
            <a:r>
              <a:t>when they click Share.</a:t>
            </a:r>
            <a:br/>
            <a:r>
              <a:t>Set at org or site level.</a:t>
            </a:r>
          </a:p>
        </p:txBody>
      </p:sp>
      <p:sp>
        <p:nvSpPr>
          <p:cNvPr id="10" name="TextBox 9"/>
          <p:cNvSpPr txBox="1"/>
          <p:nvPr/>
        </p:nvSpPr>
        <p:spPr>
          <a:xfrm>
            <a:off x="1554480" y="2926080"/>
            <a:ext cx="4206240" cy="365760"/>
          </a:xfrm>
          <a:prstGeom prst="rect">
            <a:avLst/>
          </a:prstGeom>
          <a:noFill/>
        </p:spPr>
        <p:txBody>
          <a:bodyPr wrap="square">
            <a:spAutoFit/>
          </a:bodyPr>
          <a:lstStyle/>
          <a:p>
            <a:pPr algn="l">
              <a:defRPr sz="1200" b="0">
                <a:solidFill>
                  <a:srgbClr val="606060"/>
                </a:solidFill>
                <a:latin typeface="Segoe UI"/>
              </a:defRPr>
            </a:pPr>
            <a:r>
              <a:t>Recommendation: 'Specific people' for most orgs</a:t>
            </a:r>
          </a:p>
        </p:txBody>
      </p:sp>
      <p:sp>
        <p:nvSpPr>
          <p:cNvPr id="11" name="Rounded Rectangle 10"/>
          <p:cNvSpPr/>
          <p:nvPr/>
        </p:nvSpPr>
        <p:spPr>
          <a:xfrm>
            <a:off x="6400800" y="1554480"/>
            <a:ext cx="5303520" cy="1920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554480"/>
            <a:ext cx="73152" cy="192024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691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4" name="TextBox 13"/>
          <p:cNvSpPr txBox="1"/>
          <p:nvPr/>
        </p:nvSpPr>
        <p:spPr>
          <a:xfrm>
            <a:off x="7223760" y="1691640"/>
            <a:ext cx="4206240" cy="365760"/>
          </a:xfrm>
          <a:prstGeom prst="rect">
            <a:avLst/>
          </a:prstGeom>
          <a:noFill/>
        </p:spPr>
        <p:txBody>
          <a:bodyPr wrap="square">
            <a:spAutoFit/>
          </a:bodyPr>
          <a:lstStyle/>
          <a:p>
            <a:pPr algn="l">
              <a:defRPr sz="1800" b="1">
                <a:solidFill>
                  <a:srgbClr val="00B294"/>
                </a:solidFill>
                <a:latin typeface="Segoe UI"/>
              </a:defRPr>
            </a:pPr>
            <a:r>
              <a:t>Anyone-Link Expiration</a:t>
            </a:r>
          </a:p>
        </p:txBody>
      </p:sp>
      <p:sp>
        <p:nvSpPr>
          <p:cNvPr id="15" name="TextBox 14"/>
          <p:cNvSpPr txBox="1"/>
          <p:nvPr/>
        </p:nvSpPr>
        <p:spPr>
          <a:xfrm>
            <a:off x="7223760" y="2103120"/>
            <a:ext cx="4206240" cy="731520"/>
          </a:xfrm>
          <a:prstGeom prst="rect">
            <a:avLst/>
          </a:prstGeom>
          <a:noFill/>
        </p:spPr>
        <p:txBody>
          <a:bodyPr wrap="square">
            <a:spAutoFit/>
          </a:bodyPr>
          <a:lstStyle/>
          <a:p>
            <a:pPr algn="l">
              <a:defRPr sz="1300" b="0">
                <a:solidFill>
                  <a:srgbClr val="242424"/>
                </a:solidFill>
                <a:latin typeface="Segoe UI"/>
              </a:defRPr>
            </a:pPr>
            <a:r>
              <a:t>Force Anyone links to expire</a:t>
            </a:r>
            <a:br/>
            <a:r>
              <a:t>after a set number of days.</a:t>
            </a:r>
            <a:br/>
            <a:r>
              <a:t>Prevents indefinite access.</a:t>
            </a:r>
          </a:p>
        </p:txBody>
      </p:sp>
      <p:sp>
        <p:nvSpPr>
          <p:cNvPr id="16" name="TextBox 15"/>
          <p:cNvSpPr txBox="1"/>
          <p:nvPr/>
        </p:nvSpPr>
        <p:spPr>
          <a:xfrm>
            <a:off x="7223760" y="2926080"/>
            <a:ext cx="4206240" cy="365760"/>
          </a:xfrm>
          <a:prstGeom prst="rect">
            <a:avLst/>
          </a:prstGeom>
          <a:noFill/>
        </p:spPr>
        <p:txBody>
          <a:bodyPr wrap="square">
            <a:spAutoFit/>
          </a:bodyPr>
          <a:lstStyle/>
          <a:p>
            <a:pPr algn="l">
              <a:defRPr sz="1200" b="0">
                <a:solidFill>
                  <a:srgbClr val="606060"/>
                </a:solidFill>
                <a:latin typeface="Segoe UI"/>
              </a:defRPr>
            </a:pPr>
            <a:r>
              <a:t>Common setting: 30 or 90 days</a:t>
            </a:r>
          </a:p>
        </p:txBody>
      </p:sp>
      <p:sp>
        <p:nvSpPr>
          <p:cNvPr id="17" name="Rounded Rectangle 16"/>
          <p:cNvSpPr/>
          <p:nvPr/>
        </p:nvSpPr>
        <p:spPr>
          <a:xfrm>
            <a:off x="731520" y="3840480"/>
            <a:ext cx="5303520" cy="1920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840480"/>
            <a:ext cx="73152" cy="192024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977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0" name="TextBox 19"/>
          <p:cNvSpPr txBox="1"/>
          <p:nvPr/>
        </p:nvSpPr>
        <p:spPr>
          <a:xfrm>
            <a:off x="1554480" y="3977640"/>
            <a:ext cx="4206240" cy="365760"/>
          </a:xfrm>
          <a:prstGeom prst="rect">
            <a:avLst/>
          </a:prstGeom>
          <a:noFill/>
        </p:spPr>
        <p:txBody>
          <a:bodyPr wrap="square">
            <a:spAutoFit/>
          </a:bodyPr>
          <a:lstStyle/>
          <a:p>
            <a:pPr algn="l">
              <a:defRPr sz="1800" b="1">
                <a:solidFill>
                  <a:srgbClr val="6B69D6"/>
                </a:solidFill>
                <a:latin typeface="Segoe UI"/>
              </a:defRPr>
            </a:pPr>
            <a:r>
              <a:t>Anyone-Link Permissions</a:t>
            </a:r>
          </a:p>
        </p:txBody>
      </p:sp>
      <p:sp>
        <p:nvSpPr>
          <p:cNvPr id="21" name="TextBox 20"/>
          <p:cNvSpPr txBox="1"/>
          <p:nvPr/>
        </p:nvSpPr>
        <p:spPr>
          <a:xfrm>
            <a:off x="1554480" y="4389120"/>
            <a:ext cx="4206240" cy="731520"/>
          </a:xfrm>
          <a:prstGeom prst="rect">
            <a:avLst/>
          </a:prstGeom>
          <a:noFill/>
        </p:spPr>
        <p:txBody>
          <a:bodyPr wrap="square">
            <a:spAutoFit/>
          </a:bodyPr>
          <a:lstStyle/>
          <a:p>
            <a:pPr algn="l">
              <a:defRPr sz="1300" b="0">
                <a:solidFill>
                  <a:srgbClr val="242424"/>
                </a:solidFill>
                <a:latin typeface="Segoe UI"/>
              </a:defRPr>
            </a:pPr>
            <a:r>
              <a:t>Restrict Anyone links to</a:t>
            </a:r>
            <a:br/>
            <a:r>
              <a:t>View only (no edit).</a:t>
            </a:r>
            <a:br/>
            <a:r>
              <a:t>Reduces risk of uncontrolled editing.</a:t>
            </a:r>
          </a:p>
        </p:txBody>
      </p:sp>
      <p:sp>
        <p:nvSpPr>
          <p:cNvPr id="22" name="TextBox 21"/>
          <p:cNvSpPr txBox="1"/>
          <p:nvPr/>
        </p:nvSpPr>
        <p:spPr>
          <a:xfrm>
            <a:off x="1554480" y="5212080"/>
            <a:ext cx="4206240" cy="365760"/>
          </a:xfrm>
          <a:prstGeom prst="rect">
            <a:avLst/>
          </a:prstGeom>
          <a:noFill/>
        </p:spPr>
        <p:txBody>
          <a:bodyPr wrap="square">
            <a:spAutoFit/>
          </a:bodyPr>
          <a:lstStyle/>
          <a:p>
            <a:pPr algn="l">
              <a:defRPr sz="1200" b="0">
                <a:solidFill>
                  <a:srgbClr val="606060"/>
                </a:solidFill>
                <a:latin typeface="Segoe UI"/>
              </a:defRPr>
            </a:pPr>
            <a:r>
              <a:t>Recommended: View only for Anyone links</a:t>
            </a:r>
          </a:p>
        </p:txBody>
      </p:sp>
      <p:sp>
        <p:nvSpPr>
          <p:cNvPr id="23" name="Rounded Rectangle 22"/>
          <p:cNvSpPr/>
          <p:nvPr/>
        </p:nvSpPr>
        <p:spPr>
          <a:xfrm>
            <a:off x="6400800" y="3840480"/>
            <a:ext cx="5303520" cy="1920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3840480"/>
            <a:ext cx="73152" cy="19202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39776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6" name="TextBox 25"/>
          <p:cNvSpPr txBox="1"/>
          <p:nvPr/>
        </p:nvSpPr>
        <p:spPr>
          <a:xfrm>
            <a:off x="7223760" y="3977640"/>
            <a:ext cx="4206240" cy="365760"/>
          </a:xfrm>
          <a:prstGeom prst="rect">
            <a:avLst/>
          </a:prstGeom>
          <a:noFill/>
        </p:spPr>
        <p:txBody>
          <a:bodyPr wrap="square">
            <a:spAutoFit/>
          </a:bodyPr>
          <a:lstStyle/>
          <a:p>
            <a:pPr algn="l">
              <a:defRPr sz="1800" b="1">
                <a:solidFill>
                  <a:srgbClr val="FF8C00"/>
                </a:solidFill>
                <a:latin typeface="Segoe UI"/>
              </a:defRPr>
            </a:pPr>
            <a:r>
              <a:t>Require Verification</a:t>
            </a:r>
          </a:p>
        </p:txBody>
      </p:sp>
      <p:sp>
        <p:nvSpPr>
          <p:cNvPr id="27" name="TextBox 26"/>
          <p:cNvSpPr txBox="1"/>
          <p:nvPr/>
        </p:nvSpPr>
        <p:spPr>
          <a:xfrm>
            <a:off x="7223760" y="4389120"/>
            <a:ext cx="4206240" cy="731520"/>
          </a:xfrm>
          <a:prstGeom prst="rect">
            <a:avLst/>
          </a:prstGeom>
          <a:noFill/>
        </p:spPr>
        <p:txBody>
          <a:bodyPr wrap="square">
            <a:spAutoFit/>
          </a:bodyPr>
          <a:lstStyle/>
          <a:p>
            <a:pPr algn="l">
              <a:defRPr sz="1300" b="0">
                <a:solidFill>
                  <a:srgbClr val="242424"/>
                </a:solidFill>
                <a:latin typeface="Segoe UI"/>
              </a:defRPr>
            </a:pPr>
            <a:r>
              <a:t>Require recipients of Specific</a:t>
            </a:r>
            <a:br/>
            <a:r>
              <a:t>people links to verify via</a:t>
            </a:r>
            <a:br/>
            <a:r>
              <a:t>email (OTP for external users).</a:t>
            </a:r>
          </a:p>
        </p:txBody>
      </p:sp>
      <p:sp>
        <p:nvSpPr>
          <p:cNvPr id="28" name="TextBox 27"/>
          <p:cNvSpPr txBox="1"/>
          <p:nvPr/>
        </p:nvSpPr>
        <p:spPr>
          <a:xfrm>
            <a:off x="7223760" y="5212080"/>
            <a:ext cx="4206240" cy="365760"/>
          </a:xfrm>
          <a:prstGeom prst="rect">
            <a:avLst/>
          </a:prstGeom>
          <a:noFill/>
        </p:spPr>
        <p:txBody>
          <a:bodyPr wrap="square">
            <a:spAutoFit/>
          </a:bodyPr>
          <a:lstStyle/>
          <a:p>
            <a:pPr algn="l">
              <a:defRPr sz="1200" b="0">
                <a:solidFill>
                  <a:srgbClr val="606060"/>
                </a:solidFill>
                <a:latin typeface="Segoe UI"/>
              </a:defRPr>
            </a:pPr>
            <a:r>
              <a:t>Enabled by default for external sharing</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Reporting &amp; Change Control</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The admin habit: document, report, request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The Change Request Habit</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Every finding becomes a structured change request — even if you don't execute it</a:t>
            </a:r>
          </a:p>
        </p:txBody>
      </p:sp>
      <p:sp>
        <p:nvSpPr>
          <p:cNvPr id="5" name="Rounded Rectangle 4"/>
          <p:cNvSpPr/>
          <p:nvPr/>
        </p:nvSpPr>
        <p:spPr>
          <a:xfrm>
            <a:off x="548640" y="1554480"/>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4747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2926080" cy="457200"/>
          </a:xfrm>
          <a:prstGeom prst="rect">
            <a:avLst/>
          </a:prstGeom>
          <a:noFill/>
        </p:spPr>
        <p:txBody>
          <a:bodyPr wrap="square">
            <a:spAutoFit/>
          </a:bodyPr>
          <a:lstStyle/>
          <a:p>
            <a:pPr algn="l">
              <a:defRPr sz="2200" b="1">
                <a:solidFill>
                  <a:srgbClr val="0078D4"/>
                </a:solidFill>
                <a:latin typeface="Segoe UI"/>
              </a:defRPr>
            </a:pPr>
            <a:r>
              <a:t>What</a:t>
            </a:r>
          </a:p>
        </p:txBody>
      </p:sp>
      <p:sp>
        <p:nvSpPr>
          <p:cNvPr id="8" name="TextBox 7"/>
          <p:cNvSpPr txBox="1"/>
          <p:nvPr/>
        </p:nvSpPr>
        <p:spPr>
          <a:xfrm>
            <a:off x="822960" y="2286000"/>
            <a:ext cx="2926080" cy="914400"/>
          </a:xfrm>
          <a:prstGeom prst="rect">
            <a:avLst/>
          </a:prstGeom>
          <a:noFill/>
        </p:spPr>
        <p:txBody>
          <a:bodyPr wrap="square">
            <a:spAutoFit/>
          </a:bodyPr>
          <a:lstStyle/>
          <a:p>
            <a:pPr algn="l">
              <a:defRPr sz="1300" b="0">
                <a:solidFill>
                  <a:srgbClr val="242424"/>
                </a:solidFill>
                <a:latin typeface="Segoe UI"/>
              </a:defRPr>
            </a:pPr>
            <a:r>
              <a:t>Describe the change you want to make.</a:t>
            </a:r>
            <a:br/>
            <a:r>
              <a:t>Be specific: setting, scope, value.</a:t>
            </a:r>
          </a:p>
        </p:txBody>
      </p:sp>
      <p:sp>
        <p:nvSpPr>
          <p:cNvPr id="9" name="Rounded Rectangle 8"/>
          <p:cNvSpPr/>
          <p:nvPr/>
        </p:nvSpPr>
        <p:spPr>
          <a:xfrm>
            <a:off x="4297679" y="1554480"/>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79" y="1554480"/>
            <a:ext cx="34747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1999" y="1737360"/>
            <a:ext cx="2926080" cy="457200"/>
          </a:xfrm>
          <a:prstGeom prst="rect">
            <a:avLst/>
          </a:prstGeom>
          <a:noFill/>
        </p:spPr>
        <p:txBody>
          <a:bodyPr wrap="square">
            <a:spAutoFit/>
          </a:bodyPr>
          <a:lstStyle/>
          <a:p>
            <a:pPr algn="l">
              <a:defRPr sz="2200" b="1">
                <a:solidFill>
                  <a:srgbClr val="00B294"/>
                </a:solidFill>
                <a:latin typeface="Segoe UI"/>
              </a:defRPr>
            </a:pPr>
            <a:r>
              <a:t>Why</a:t>
            </a:r>
          </a:p>
        </p:txBody>
      </p:sp>
      <p:sp>
        <p:nvSpPr>
          <p:cNvPr id="12" name="TextBox 11"/>
          <p:cNvSpPr txBox="1"/>
          <p:nvPr/>
        </p:nvSpPr>
        <p:spPr>
          <a:xfrm>
            <a:off x="4571999" y="2286000"/>
            <a:ext cx="2926080" cy="914400"/>
          </a:xfrm>
          <a:prstGeom prst="rect">
            <a:avLst/>
          </a:prstGeom>
          <a:noFill/>
        </p:spPr>
        <p:txBody>
          <a:bodyPr wrap="square">
            <a:spAutoFit/>
          </a:bodyPr>
          <a:lstStyle/>
          <a:p>
            <a:pPr algn="l">
              <a:defRPr sz="1300" b="0">
                <a:solidFill>
                  <a:srgbClr val="242424"/>
                </a:solidFill>
                <a:latin typeface="Segoe UI"/>
              </a:defRPr>
            </a:pPr>
            <a:r>
              <a:t>Business justification or incident context.</a:t>
            </a:r>
            <a:br/>
            <a:r>
              <a:t>Link to the observation that triggered it.</a:t>
            </a:r>
          </a:p>
        </p:txBody>
      </p:sp>
      <p:sp>
        <p:nvSpPr>
          <p:cNvPr id="13" name="Rounded Rectangle 12"/>
          <p:cNvSpPr/>
          <p:nvPr/>
        </p:nvSpPr>
        <p:spPr>
          <a:xfrm>
            <a:off x="8046719" y="1554480"/>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1554480"/>
            <a:ext cx="34747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39" y="1737360"/>
            <a:ext cx="2926080" cy="457200"/>
          </a:xfrm>
          <a:prstGeom prst="rect">
            <a:avLst/>
          </a:prstGeom>
          <a:noFill/>
        </p:spPr>
        <p:txBody>
          <a:bodyPr wrap="square">
            <a:spAutoFit/>
          </a:bodyPr>
          <a:lstStyle/>
          <a:p>
            <a:pPr algn="l">
              <a:defRPr sz="2200" b="1">
                <a:solidFill>
                  <a:srgbClr val="FF8C00"/>
                </a:solidFill>
                <a:latin typeface="Segoe UI"/>
              </a:defRPr>
            </a:pPr>
            <a:r>
              <a:t>Risk</a:t>
            </a:r>
          </a:p>
        </p:txBody>
      </p:sp>
      <p:sp>
        <p:nvSpPr>
          <p:cNvPr id="16" name="TextBox 15"/>
          <p:cNvSpPr txBox="1"/>
          <p:nvPr/>
        </p:nvSpPr>
        <p:spPr>
          <a:xfrm>
            <a:off x="8321039" y="2286000"/>
            <a:ext cx="2926080" cy="914400"/>
          </a:xfrm>
          <a:prstGeom prst="rect">
            <a:avLst/>
          </a:prstGeom>
          <a:noFill/>
        </p:spPr>
        <p:txBody>
          <a:bodyPr wrap="square">
            <a:spAutoFit/>
          </a:bodyPr>
          <a:lstStyle/>
          <a:p>
            <a:pPr algn="l">
              <a:defRPr sz="1300" b="0">
                <a:solidFill>
                  <a:srgbClr val="242424"/>
                </a:solidFill>
                <a:latin typeface="Segoe UI"/>
              </a:defRPr>
            </a:pPr>
            <a:r>
              <a:t>What could go wrong? Impact scope.</a:t>
            </a:r>
            <a:br/>
            <a:r>
              <a:t>Is this tenant-wide or site-scoped?</a:t>
            </a:r>
          </a:p>
        </p:txBody>
      </p:sp>
      <p:sp>
        <p:nvSpPr>
          <p:cNvPr id="17" name="Rounded Rectangle 16"/>
          <p:cNvSpPr/>
          <p:nvPr/>
        </p:nvSpPr>
        <p:spPr>
          <a:xfrm>
            <a:off x="548640" y="3749039"/>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49039"/>
            <a:ext cx="347472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31919"/>
            <a:ext cx="2926080" cy="457200"/>
          </a:xfrm>
          <a:prstGeom prst="rect">
            <a:avLst/>
          </a:prstGeom>
          <a:noFill/>
        </p:spPr>
        <p:txBody>
          <a:bodyPr wrap="square">
            <a:spAutoFit/>
          </a:bodyPr>
          <a:lstStyle/>
          <a:p>
            <a:pPr algn="l">
              <a:defRPr sz="2200" b="1">
                <a:solidFill>
                  <a:srgbClr val="D13438"/>
                </a:solidFill>
                <a:latin typeface="Segoe UI"/>
              </a:defRPr>
            </a:pPr>
            <a:r>
              <a:t>Rollback</a:t>
            </a:r>
          </a:p>
        </p:txBody>
      </p:sp>
      <p:sp>
        <p:nvSpPr>
          <p:cNvPr id="20" name="TextBox 19"/>
          <p:cNvSpPr txBox="1"/>
          <p:nvPr/>
        </p:nvSpPr>
        <p:spPr>
          <a:xfrm>
            <a:off x="822960" y="4480559"/>
            <a:ext cx="2926080" cy="914400"/>
          </a:xfrm>
          <a:prstGeom prst="rect">
            <a:avLst/>
          </a:prstGeom>
          <a:noFill/>
        </p:spPr>
        <p:txBody>
          <a:bodyPr wrap="square">
            <a:spAutoFit/>
          </a:bodyPr>
          <a:lstStyle/>
          <a:p>
            <a:pPr algn="l">
              <a:defRPr sz="1300" b="0">
                <a:solidFill>
                  <a:srgbClr val="242424"/>
                </a:solidFill>
                <a:latin typeface="Segoe UI"/>
              </a:defRPr>
            </a:pPr>
            <a:r>
              <a:t>How to undo the change.</a:t>
            </a:r>
            <a:br/>
            <a:r>
              <a:t>Export baseline first = rollback reference.</a:t>
            </a:r>
          </a:p>
        </p:txBody>
      </p:sp>
      <p:sp>
        <p:nvSpPr>
          <p:cNvPr id="21" name="Rounded Rectangle 20"/>
          <p:cNvSpPr/>
          <p:nvPr/>
        </p:nvSpPr>
        <p:spPr>
          <a:xfrm>
            <a:off x="4297679" y="3749039"/>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79" y="3749039"/>
            <a:ext cx="347472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1999" y="3931919"/>
            <a:ext cx="2926080" cy="457200"/>
          </a:xfrm>
          <a:prstGeom prst="rect">
            <a:avLst/>
          </a:prstGeom>
          <a:noFill/>
        </p:spPr>
        <p:txBody>
          <a:bodyPr wrap="square">
            <a:spAutoFit/>
          </a:bodyPr>
          <a:lstStyle/>
          <a:p>
            <a:pPr algn="l">
              <a:defRPr sz="2200" b="1">
                <a:solidFill>
                  <a:srgbClr val="6B69D6"/>
                </a:solidFill>
                <a:latin typeface="Segoe UI"/>
              </a:defRPr>
            </a:pPr>
            <a:r>
              <a:t>Approval</a:t>
            </a:r>
          </a:p>
        </p:txBody>
      </p:sp>
      <p:sp>
        <p:nvSpPr>
          <p:cNvPr id="24" name="TextBox 23"/>
          <p:cNvSpPr txBox="1"/>
          <p:nvPr/>
        </p:nvSpPr>
        <p:spPr>
          <a:xfrm>
            <a:off x="4571999" y="4480559"/>
            <a:ext cx="2926080" cy="914400"/>
          </a:xfrm>
          <a:prstGeom prst="rect">
            <a:avLst/>
          </a:prstGeom>
          <a:noFill/>
        </p:spPr>
        <p:txBody>
          <a:bodyPr wrap="square">
            <a:spAutoFit/>
          </a:bodyPr>
          <a:lstStyle/>
          <a:p>
            <a:pPr algn="l">
              <a:defRPr sz="1300" b="0">
                <a:solidFill>
                  <a:srgbClr val="242424"/>
                </a:solidFill>
                <a:latin typeface="Segoe UI"/>
              </a:defRPr>
            </a:pPr>
            <a:r>
              <a:t>Who needs to approve?</a:t>
            </a:r>
            <a:br/>
            <a:r>
              <a:t>In training: trainer. In production: change board.</a:t>
            </a:r>
          </a:p>
        </p:txBody>
      </p:sp>
      <p:sp>
        <p:nvSpPr>
          <p:cNvPr id="25" name="Rounded Rectangle 24"/>
          <p:cNvSpPr/>
          <p:nvPr/>
        </p:nvSpPr>
        <p:spPr>
          <a:xfrm>
            <a:off x="8046719" y="3749039"/>
            <a:ext cx="34747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19" y="3749039"/>
            <a:ext cx="347472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39" y="3931919"/>
            <a:ext cx="2926080" cy="457200"/>
          </a:xfrm>
          <a:prstGeom prst="rect">
            <a:avLst/>
          </a:prstGeom>
          <a:noFill/>
        </p:spPr>
        <p:txBody>
          <a:bodyPr wrap="square">
            <a:spAutoFit/>
          </a:bodyPr>
          <a:lstStyle/>
          <a:p>
            <a:pPr algn="l">
              <a:defRPr sz="2200" b="1">
                <a:solidFill>
                  <a:srgbClr val="107C10"/>
                </a:solidFill>
                <a:latin typeface="Segoe UI"/>
              </a:defRPr>
            </a:pPr>
            <a:r>
              <a:t>Verification</a:t>
            </a:r>
          </a:p>
        </p:txBody>
      </p:sp>
      <p:sp>
        <p:nvSpPr>
          <p:cNvPr id="28" name="TextBox 27"/>
          <p:cNvSpPr txBox="1"/>
          <p:nvPr/>
        </p:nvSpPr>
        <p:spPr>
          <a:xfrm>
            <a:off x="8321039" y="4480559"/>
            <a:ext cx="2926080" cy="914400"/>
          </a:xfrm>
          <a:prstGeom prst="rect">
            <a:avLst/>
          </a:prstGeom>
          <a:noFill/>
        </p:spPr>
        <p:txBody>
          <a:bodyPr wrap="square">
            <a:spAutoFit/>
          </a:bodyPr>
          <a:lstStyle/>
          <a:p>
            <a:pPr algn="l">
              <a:defRPr sz="1300" b="0">
                <a:solidFill>
                  <a:srgbClr val="242424"/>
                </a:solidFill>
                <a:latin typeface="Segoe UI"/>
              </a:defRPr>
            </a:pPr>
            <a:r>
              <a:t>How will you confirm the change worked?</a:t>
            </a:r>
            <a:br/>
            <a:r>
              <a:t>What report or test will you run?</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Lab &amp; Validation</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Hands-on practice — observe, triage, document, report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11 Preview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Five exercises: observe, triage, document, report  (75–105 min)</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548640"/>
          </a:xfrm>
          <a:prstGeom prst="rect">
            <a:avLst/>
          </a:prstGeom>
          <a:noFill/>
        </p:spPr>
        <p:txBody>
          <a:bodyPr wrap="square">
            <a:spAutoFit/>
          </a:bodyPr>
          <a:lstStyle/>
          <a:p>
            <a:pPr algn="ctr">
              <a:defRPr sz="1600" b="1">
                <a:solidFill>
                  <a:srgbClr val="0078D4"/>
                </a:solidFill>
                <a:latin typeface="Segoe UI"/>
              </a:defRPr>
            </a:pPr>
            <a:r>
              <a:t>Incident</a:t>
            </a:r>
            <a:br/>
            <a:r>
              <a:t>Awareness</a:t>
            </a:r>
          </a:p>
        </p:txBody>
      </p:sp>
      <p:sp>
        <p:nvSpPr>
          <p:cNvPr id="9" name="TextBox 8"/>
          <p:cNvSpPr txBox="1"/>
          <p:nvPr/>
        </p:nvSpPr>
        <p:spPr>
          <a:xfrm>
            <a:off x="731520" y="3291840"/>
            <a:ext cx="2286000" cy="914400"/>
          </a:xfrm>
          <a:prstGeom prst="rect">
            <a:avLst/>
          </a:prstGeom>
          <a:noFill/>
        </p:spPr>
        <p:txBody>
          <a:bodyPr wrap="square">
            <a:spAutoFit/>
          </a:bodyPr>
          <a:lstStyle/>
          <a:p>
            <a:pPr algn="ctr">
              <a:defRPr sz="1400" b="0">
                <a:solidFill>
                  <a:srgbClr val="242424"/>
                </a:solidFill>
                <a:latin typeface="Segoe UI"/>
              </a:defRPr>
            </a:pPr>
            <a:r>
              <a:t>Check Service health</a:t>
            </a:r>
            <a:br/>
            <a:r>
              <a:t>and Message center.</a:t>
            </a:r>
            <a:br/>
            <a:r>
              <a:t>Record findings.</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548640"/>
          </a:xfrm>
          <a:prstGeom prst="rect">
            <a:avLst/>
          </a:prstGeom>
          <a:noFill/>
        </p:spPr>
        <p:txBody>
          <a:bodyPr wrap="square">
            <a:spAutoFit/>
          </a:bodyPr>
          <a:lstStyle/>
          <a:p>
            <a:pPr algn="ctr">
              <a:defRPr sz="1600" b="1">
                <a:solidFill>
                  <a:srgbClr val="00B294"/>
                </a:solidFill>
                <a:latin typeface="Segoe UI"/>
              </a:defRPr>
            </a:pPr>
            <a:r>
              <a:t>Access</a:t>
            </a:r>
            <a:br/>
            <a:r>
              <a:t>Triage</a:t>
            </a:r>
          </a:p>
        </p:txBody>
      </p:sp>
      <p:sp>
        <p:nvSpPr>
          <p:cNvPr id="14" name="TextBox 13"/>
          <p:cNvSpPr txBox="1"/>
          <p:nvPr/>
        </p:nvSpPr>
        <p:spPr>
          <a:xfrm>
            <a:off x="3611880" y="3291840"/>
            <a:ext cx="2286000" cy="914400"/>
          </a:xfrm>
          <a:prstGeom prst="rect">
            <a:avLst/>
          </a:prstGeom>
          <a:noFill/>
        </p:spPr>
        <p:txBody>
          <a:bodyPr wrap="square">
            <a:spAutoFit/>
          </a:bodyPr>
          <a:lstStyle/>
          <a:p>
            <a:pPr algn="ctr">
              <a:defRPr sz="1400" b="0">
                <a:solidFill>
                  <a:srgbClr val="242424"/>
                </a:solidFill>
                <a:latin typeface="Segoe UI"/>
              </a:defRPr>
            </a:pPr>
            <a:r>
              <a:t>Use Check Permissions</a:t>
            </a:r>
            <a:br/>
            <a:r>
              <a:t>on your NW-Pxx site.</a:t>
            </a:r>
            <a:br/>
            <a:r>
              <a:t>Diagnose a scenario.</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548640"/>
          </a:xfrm>
          <a:prstGeom prst="rect">
            <a:avLst/>
          </a:prstGeom>
          <a:noFill/>
        </p:spPr>
        <p:txBody>
          <a:bodyPr wrap="square">
            <a:spAutoFit/>
          </a:bodyPr>
          <a:lstStyle/>
          <a:p>
            <a:pPr algn="ctr">
              <a:defRPr sz="1600" b="1">
                <a:solidFill>
                  <a:srgbClr val="6B69D6"/>
                </a:solidFill>
                <a:latin typeface="Segoe UI"/>
              </a:defRPr>
            </a:pPr>
            <a:r>
              <a:t>Site</a:t>
            </a:r>
            <a:br/>
            <a:r>
              <a:t>Lifecycle</a:t>
            </a:r>
          </a:p>
        </p:txBody>
      </p:sp>
      <p:sp>
        <p:nvSpPr>
          <p:cNvPr id="19" name="TextBox 18"/>
          <p:cNvSpPr txBox="1"/>
          <p:nvPr/>
        </p:nvSpPr>
        <p:spPr>
          <a:xfrm>
            <a:off x="6492239" y="3291840"/>
            <a:ext cx="2286000" cy="914400"/>
          </a:xfrm>
          <a:prstGeom prst="rect">
            <a:avLst/>
          </a:prstGeom>
          <a:noFill/>
        </p:spPr>
        <p:txBody>
          <a:bodyPr wrap="square">
            <a:spAutoFit/>
          </a:bodyPr>
          <a:lstStyle/>
          <a:p>
            <a:pPr algn="ctr">
              <a:defRPr sz="1400" b="0">
                <a:solidFill>
                  <a:srgbClr val="242424"/>
                </a:solidFill>
                <a:latin typeface="Segoe UI"/>
              </a:defRPr>
            </a:pPr>
            <a:r>
              <a:t>Review delete/restore</a:t>
            </a:r>
            <a:br/>
            <a:r>
              <a:t>model and record</a:t>
            </a:r>
            <a:br/>
            <a:r>
              <a:t>root site guardrails.</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548640"/>
          </a:xfrm>
          <a:prstGeom prst="rect">
            <a:avLst/>
          </a:prstGeom>
          <a:noFill/>
        </p:spPr>
        <p:txBody>
          <a:bodyPr wrap="square">
            <a:spAutoFit/>
          </a:bodyPr>
          <a:lstStyle/>
          <a:p>
            <a:pPr algn="ctr">
              <a:defRPr sz="1600" b="1">
                <a:solidFill>
                  <a:srgbClr val="FF8C00"/>
                </a:solidFill>
                <a:latin typeface="Segoe UI"/>
              </a:defRPr>
            </a:pPr>
            <a:r>
              <a:t>Sharing</a:t>
            </a:r>
            <a:br/>
            <a:r>
              <a:t>Review</a:t>
            </a:r>
          </a:p>
        </p:txBody>
      </p:sp>
      <p:sp>
        <p:nvSpPr>
          <p:cNvPr id="24" name="TextBox 23"/>
          <p:cNvSpPr txBox="1"/>
          <p:nvPr/>
        </p:nvSpPr>
        <p:spPr>
          <a:xfrm>
            <a:off x="9372599" y="3291840"/>
            <a:ext cx="2286000" cy="914400"/>
          </a:xfrm>
          <a:prstGeom prst="rect">
            <a:avLst/>
          </a:prstGeom>
          <a:noFill/>
        </p:spPr>
        <p:txBody>
          <a:bodyPr wrap="square">
            <a:spAutoFit/>
          </a:bodyPr>
          <a:lstStyle/>
          <a:p>
            <a:pPr algn="ctr">
              <a:defRPr sz="1400" b="0">
                <a:solidFill>
                  <a:srgbClr val="242424"/>
                </a:solidFill>
                <a:latin typeface="Segoe UI"/>
              </a:defRPr>
            </a:pPr>
            <a:r>
              <a:t>Review org-level and</a:t>
            </a:r>
            <a:br/>
            <a:r>
              <a:t>site-level sharing</a:t>
            </a:r>
            <a:br/>
            <a:r>
              <a:t>settings (read-only).</a:t>
            </a:r>
          </a:p>
        </p:txBody>
      </p:sp>
      <p:sp>
        <p:nvSpPr>
          <p:cNvPr id="25" name="Rounded Rectangle 24"/>
          <p:cNvSpPr/>
          <p:nvPr/>
        </p:nvSpPr>
        <p:spPr>
          <a:xfrm>
            <a:off x="1371600" y="493776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4983480"/>
            <a:ext cx="8869680" cy="640080"/>
          </a:xfrm>
          <a:prstGeom prst="rect">
            <a:avLst/>
          </a:prstGeom>
          <a:noFill/>
        </p:spPr>
        <p:txBody>
          <a:bodyPr wrap="square">
            <a:spAutoFit/>
          </a:bodyPr>
          <a:lstStyle/>
          <a:p>
            <a:pPr algn="l">
              <a:defRPr sz="1300" b="0">
                <a:solidFill>
                  <a:srgbClr val="242424"/>
                </a:solidFill>
                <a:latin typeface="Segoe UI"/>
              </a:defRPr>
            </a:pPr>
            <a:r>
              <a:t>📝  Exercise 5 (PowerShell):  Connect to SPO PowerShell → export NW-Pxx site inventory and user membership reports (read-only, scoped to your sites only).</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Deliverables</a:t>
            </a:r>
          </a:p>
        </p:txBody>
      </p:sp>
      <p:sp>
        <p:nvSpPr>
          <p:cNvPr id="4" name="Rounded Rectangle 3"/>
          <p:cNvSpPr/>
          <p:nvPr/>
        </p:nvSpPr>
        <p:spPr>
          <a:xfrm>
            <a:off x="731520" y="137160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7" name="TextBox 6"/>
          <p:cNvSpPr txBox="1"/>
          <p:nvPr/>
        </p:nvSpPr>
        <p:spPr>
          <a:xfrm>
            <a:off x="1554480" y="1463040"/>
            <a:ext cx="4206240" cy="457200"/>
          </a:xfrm>
          <a:prstGeom prst="rect">
            <a:avLst/>
          </a:prstGeom>
          <a:noFill/>
        </p:spPr>
        <p:txBody>
          <a:bodyPr wrap="square">
            <a:spAutoFit/>
          </a:bodyPr>
          <a:lstStyle/>
          <a:p>
            <a:pPr algn="l">
              <a:defRPr sz="1600" b="1">
                <a:solidFill>
                  <a:srgbClr val="0078D4"/>
                </a:solidFill>
                <a:latin typeface="Segoe UI"/>
              </a:defRPr>
            </a:pPr>
            <a:r>
              <a:t>Incident Triage</a:t>
            </a:r>
            <a:br/>
            <a:r>
              <a:t>Worksheet</a:t>
            </a:r>
          </a:p>
        </p:txBody>
      </p:sp>
      <p:sp>
        <p:nvSpPr>
          <p:cNvPr id="8" name="TextBox 7"/>
          <p:cNvSpPr txBox="1"/>
          <p:nvPr/>
        </p:nvSpPr>
        <p:spPr>
          <a:xfrm>
            <a:off x="1554480" y="2011680"/>
            <a:ext cx="4206240" cy="457200"/>
          </a:xfrm>
          <a:prstGeom prst="rect">
            <a:avLst/>
          </a:prstGeom>
          <a:noFill/>
        </p:spPr>
        <p:txBody>
          <a:bodyPr wrap="square">
            <a:spAutoFit/>
          </a:bodyPr>
          <a:lstStyle/>
          <a:p>
            <a:pPr algn="l">
              <a:defRPr sz="1300" b="0">
                <a:solidFill>
                  <a:srgbClr val="242424"/>
                </a:solidFill>
                <a:latin typeface="Segoe UI"/>
              </a:defRPr>
            </a:pPr>
            <a:r>
              <a:t>Service health and Message</a:t>
            </a:r>
            <a:br/>
            <a:r>
              <a:t>center observations</a:t>
            </a:r>
          </a:p>
        </p:txBody>
      </p:sp>
      <p:sp>
        <p:nvSpPr>
          <p:cNvPr id="9" name="TextBox 8"/>
          <p:cNvSpPr txBox="1"/>
          <p:nvPr/>
        </p:nvSpPr>
        <p:spPr>
          <a:xfrm>
            <a:off x="1554480" y="2560320"/>
            <a:ext cx="4206240" cy="365760"/>
          </a:xfrm>
          <a:prstGeom prst="rect">
            <a:avLst/>
          </a:prstGeom>
          <a:noFill/>
        </p:spPr>
        <p:txBody>
          <a:bodyPr wrap="square">
            <a:spAutoFit/>
          </a:bodyPr>
          <a:lstStyle/>
          <a:p>
            <a:pPr algn="l">
              <a:defRPr sz="1100" b="0">
                <a:solidFill>
                  <a:srgbClr val="606060"/>
                </a:solidFill>
                <a:latin typeface="Cascadia Code"/>
              </a:defRPr>
            </a:pPr>
            <a:r>
              <a:t>M11-Incident-Triage-Worksheet.txt</a:t>
            </a:r>
          </a:p>
        </p:txBody>
      </p:sp>
      <p:sp>
        <p:nvSpPr>
          <p:cNvPr id="10" name="Rounded Rectangle 9"/>
          <p:cNvSpPr/>
          <p:nvPr/>
        </p:nvSpPr>
        <p:spPr>
          <a:xfrm>
            <a:off x="6400800" y="137160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371600"/>
            <a:ext cx="73152" cy="18288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46304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3" name="TextBox 12"/>
          <p:cNvSpPr txBox="1"/>
          <p:nvPr/>
        </p:nvSpPr>
        <p:spPr>
          <a:xfrm>
            <a:off x="7223760" y="1463040"/>
            <a:ext cx="4206240" cy="457200"/>
          </a:xfrm>
          <a:prstGeom prst="rect">
            <a:avLst/>
          </a:prstGeom>
          <a:noFill/>
        </p:spPr>
        <p:txBody>
          <a:bodyPr wrap="square">
            <a:spAutoFit/>
          </a:bodyPr>
          <a:lstStyle/>
          <a:p>
            <a:pPr algn="l">
              <a:defRPr sz="1600" b="1">
                <a:solidFill>
                  <a:srgbClr val="00B294"/>
                </a:solidFill>
                <a:latin typeface="Segoe UI"/>
              </a:defRPr>
            </a:pPr>
            <a:r>
              <a:t>Site Lifecycle</a:t>
            </a:r>
            <a:br/>
            <a:r>
              <a:t>Checklist</a:t>
            </a:r>
          </a:p>
        </p:txBody>
      </p:sp>
      <p:sp>
        <p:nvSpPr>
          <p:cNvPr id="14" name="TextBox 13"/>
          <p:cNvSpPr txBox="1"/>
          <p:nvPr/>
        </p:nvSpPr>
        <p:spPr>
          <a:xfrm>
            <a:off x="7223760" y="2011680"/>
            <a:ext cx="4206240" cy="457200"/>
          </a:xfrm>
          <a:prstGeom prst="rect">
            <a:avLst/>
          </a:prstGeom>
          <a:noFill/>
        </p:spPr>
        <p:txBody>
          <a:bodyPr wrap="square">
            <a:spAutoFit/>
          </a:bodyPr>
          <a:lstStyle/>
          <a:p>
            <a:pPr algn="l">
              <a:defRPr sz="1300" b="0">
                <a:solidFill>
                  <a:srgbClr val="242424"/>
                </a:solidFill>
                <a:latin typeface="Segoe UI"/>
              </a:defRPr>
            </a:pPr>
            <a:r>
              <a:t>Delete/restore model notes</a:t>
            </a:r>
            <a:br/>
            <a:r>
              <a:t>and root site guardrails</a:t>
            </a:r>
          </a:p>
        </p:txBody>
      </p:sp>
      <p:sp>
        <p:nvSpPr>
          <p:cNvPr id="15" name="TextBox 14"/>
          <p:cNvSpPr txBox="1"/>
          <p:nvPr/>
        </p:nvSpPr>
        <p:spPr>
          <a:xfrm>
            <a:off x="7223760" y="2560320"/>
            <a:ext cx="4206240" cy="365760"/>
          </a:xfrm>
          <a:prstGeom prst="rect">
            <a:avLst/>
          </a:prstGeom>
          <a:noFill/>
        </p:spPr>
        <p:txBody>
          <a:bodyPr wrap="square">
            <a:spAutoFit/>
          </a:bodyPr>
          <a:lstStyle/>
          <a:p>
            <a:pPr algn="l">
              <a:defRPr sz="1100" b="0">
                <a:solidFill>
                  <a:srgbClr val="606060"/>
                </a:solidFill>
                <a:latin typeface="Cascadia Code"/>
              </a:defRPr>
            </a:pPr>
            <a:r>
              <a:t>M11-Site-Lifecycle-Checklist.txt</a:t>
            </a:r>
          </a:p>
        </p:txBody>
      </p:sp>
      <p:sp>
        <p:nvSpPr>
          <p:cNvPr id="16" name="Rounded Rectangle 15"/>
          <p:cNvSpPr/>
          <p:nvPr/>
        </p:nvSpPr>
        <p:spPr>
          <a:xfrm>
            <a:off x="731520" y="356616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66160"/>
            <a:ext cx="73152" cy="18288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65760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19" name="TextBox 18"/>
          <p:cNvSpPr txBox="1"/>
          <p:nvPr/>
        </p:nvSpPr>
        <p:spPr>
          <a:xfrm>
            <a:off x="1554480" y="3657600"/>
            <a:ext cx="4206240" cy="457200"/>
          </a:xfrm>
          <a:prstGeom prst="rect">
            <a:avLst/>
          </a:prstGeom>
          <a:noFill/>
        </p:spPr>
        <p:txBody>
          <a:bodyPr wrap="square">
            <a:spAutoFit/>
          </a:bodyPr>
          <a:lstStyle/>
          <a:p>
            <a:pPr algn="l">
              <a:defRPr sz="1600" b="1">
                <a:solidFill>
                  <a:srgbClr val="6B69D6"/>
                </a:solidFill>
                <a:latin typeface="Segoe UI"/>
              </a:defRPr>
            </a:pPr>
            <a:r>
              <a:t>External Sharing</a:t>
            </a:r>
            <a:br/>
            <a:r>
              <a:t>Governance</a:t>
            </a:r>
          </a:p>
        </p:txBody>
      </p:sp>
      <p:sp>
        <p:nvSpPr>
          <p:cNvPr id="20" name="TextBox 19"/>
          <p:cNvSpPr txBox="1"/>
          <p:nvPr/>
        </p:nvSpPr>
        <p:spPr>
          <a:xfrm>
            <a:off x="1554480" y="4206240"/>
            <a:ext cx="4206240" cy="457200"/>
          </a:xfrm>
          <a:prstGeom prst="rect">
            <a:avLst/>
          </a:prstGeom>
          <a:noFill/>
        </p:spPr>
        <p:txBody>
          <a:bodyPr wrap="square">
            <a:spAutoFit/>
          </a:bodyPr>
          <a:lstStyle/>
          <a:p>
            <a:pPr algn="l">
              <a:defRPr sz="1300" b="0">
                <a:solidFill>
                  <a:srgbClr val="242424"/>
                </a:solidFill>
                <a:latin typeface="Segoe UI"/>
              </a:defRPr>
            </a:pPr>
            <a:r>
              <a:t>Org-level and site-level</a:t>
            </a:r>
            <a:br/>
            <a:r>
              <a:t>sharing settings review</a:t>
            </a:r>
          </a:p>
        </p:txBody>
      </p:sp>
      <p:sp>
        <p:nvSpPr>
          <p:cNvPr id="21" name="TextBox 20"/>
          <p:cNvSpPr txBox="1"/>
          <p:nvPr/>
        </p:nvSpPr>
        <p:spPr>
          <a:xfrm>
            <a:off x="1554480" y="4754880"/>
            <a:ext cx="4206240" cy="365760"/>
          </a:xfrm>
          <a:prstGeom prst="rect">
            <a:avLst/>
          </a:prstGeom>
          <a:noFill/>
        </p:spPr>
        <p:txBody>
          <a:bodyPr wrap="square">
            <a:spAutoFit/>
          </a:bodyPr>
          <a:lstStyle/>
          <a:p>
            <a:pPr algn="l">
              <a:defRPr sz="1100" b="0">
                <a:solidFill>
                  <a:srgbClr val="606060"/>
                </a:solidFill>
                <a:latin typeface="Cascadia Code"/>
              </a:defRPr>
            </a:pPr>
            <a:r>
              <a:t>M11-External-Sharing-Governance-Worksheet.txt</a:t>
            </a:r>
          </a:p>
        </p:txBody>
      </p:sp>
      <p:sp>
        <p:nvSpPr>
          <p:cNvPr id="22" name="Rounded Rectangle 21"/>
          <p:cNvSpPr/>
          <p:nvPr/>
        </p:nvSpPr>
        <p:spPr>
          <a:xfrm>
            <a:off x="6400800" y="356616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3566160"/>
            <a:ext cx="73152" cy="1828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3657600"/>
            <a:ext cx="457200" cy="365760"/>
          </a:xfrm>
          <a:prstGeom prst="rect">
            <a:avLst/>
          </a:prstGeom>
          <a:noFill/>
        </p:spPr>
        <p:txBody>
          <a:bodyPr wrap="square">
            <a:spAutoFit/>
          </a:bodyPr>
          <a:lstStyle/>
          <a:p>
            <a:pPr algn="ctr">
              <a:defRPr sz="2400" b="0">
                <a:solidFill>
                  <a:srgbClr val="242424"/>
                </a:solidFill>
                <a:latin typeface="Segoe UI"/>
              </a:defRPr>
            </a:pPr>
            <a:r>
              <a:t>📝</a:t>
            </a:r>
          </a:p>
        </p:txBody>
      </p:sp>
      <p:sp>
        <p:nvSpPr>
          <p:cNvPr id="25" name="TextBox 24"/>
          <p:cNvSpPr txBox="1"/>
          <p:nvPr/>
        </p:nvSpPr>
        <p:spPr>
          <a:xfrm>
            <a:off x="7223760" y="3657600"/>
            <a:ext cx="4206240" cy="457200"/>
          </a:xfrm>
          <a:prstGeom prst="rect">
            <a:avLst/>
          </a:prstGeom>
          <a:noFill/>
        </p:spPr>
        <p:txBody>
          <a:bodyPr wrap="square">
            <a:spAutoFit/>
          </a:bodyPr>
          <a:lstStyle/>
          <a:p>
            <a:pPr algn="l">
              <a:defRPr sz="1600" b="1">
                <a:solidFill>
                  <a:srgbClr val="FF8C00"/>
                </a:solidFill>
                <a:latin typeface="Segoe UI"/>
              </a:defRPr>
            </a:pPr>
            <a:r>
              <a:t>Change Request</a:t>
            </a:r>
            <a:br/>
            <a:r>
              <a:t>Template</a:t>
            </a:r>
          </a:p>
        </p:txBody>
      </p:sp>
      <p:sp>
        <p:nvSpPr>
          <p:cNvPr id="26" name="TextBox 25"/>
          <p:cNvSpPr txBox="1"/>
          <p:nvPr/>
        </p:nvSpPr>
        <p:spPr>
          <a:xfrm>
            <a:off x="7223760" y="4206240"/>
            <a:ext cx="4206240" cy="457200"/>
          </a:xfrm>
          <a:prstGeom prst="rect">
            <a:avLst/>
          </a:prstGeom>
          <a:noFill/>
        </p:spPr>
        <p:txBody>
          <a:bodyPr wrap="square">
            <a:spAutoFit/>
          </a:bodyPr>
          <a:lstStyle/>
          <a:p>
            <a:pPr algn="l">
              <a:defRPr sz="1300" b="0">
                <a:solidFill>
                  <a:srgbClr val="242424"/>
                </a:solidFill>
                <a:latin typeface="Segoe UI"/>
              </a:defRPr>
            </a:pPr>
            <a:r>
              <a:t>Structured change request</a:t>
            </a:r>
            <a:br/>
            <a:r>
              <a:t>for any proposed change</a:t>
            </a:r>
          </a:p>
        </p:txBody>
      </p:sp>
      <p:sp>
        <p:nvSpPr>
          <p:cNvPr id="27" name="TextBox 26"/>
          <p:cNvSpPr txBox="1"/>
          <p:nvPr/>
        </p:nvSpPr>
        <p:spPr>
          <a:xfrm>
            <a:off x="7223760" y="4754880"/>
            <a:ext cx="4206240" cy="365760"/>
          </a:xfrm>
          <a:prstGeom prst="rect">
            <a:avLst/>
          </a:prstGeom>
          <a:noFill/>
        </p:spPr>
        <p:txBody>
          <a:bodyPr wrap="square">
            <a:spAutoFit/>
          </a:bodyPr>
          <a:lstStyle/>
          <a:p>
            <a:pPr algn="l">
              <a:defRPr sz="1100" b="0">
                <a:solidFill>
                  <a:srgbClr val="606060"/>
                </a:solidFill>
                <a:latin typeface="Cascadia Code"/>
              </a:defRPr>
            </a:pPr>
            <a:r>
              <a:t>M11-Change-Request-Template.txt</a:t>
            </a:r>
          </a:p>
        </p:txBody>
      </p:sp>
      <p:sp>
        <p:nvSpPr>
          <p:cNvPr id="28" name="Rounded Rectangle 27"/>
          <p:cNvSpPr/>
          <p:nvPr/>
        </p:nvSpPr>
        <p:spPr>
          <a:xfrm>
            <a:off x="1371600" y="585216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5897880"/>
            <a:ext cx="8869680" cy="365760"/>
          </a:xfrm>
          <a:prstGeom prst="rect">
            <a:avLst/>
          </a:prstGeom>
          <a:noFill/>
        </p:spPr>
        <p:txBody>
          <a:bodyPr wrap="square">
            <a:spAutoFit/>
          </a:bodyPr>
          <a:lstStyle/>
          <a:p>
            <a:pPr algn="l">
              <a:defRPr sz="1300" b="0">
                <a:solidFill>
                  <a:srgbClr val="242424"/>
                </a:solidFill>
                <a:latin typeface="Segoe UI"/>
              </a:defRPr>
            </a:pPr>
            <a:r>
              <a:t>📄  Optional PowerShell exports:  NW-Pxx-Sites.csv  ·  NW-Pxx-Users.csv</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Key Takeaways</a:t>
            </a:r>
          </a:p>
        </p:txBody>
      </p:sp>
      <p:sp>
        <p:nvSpPr>
          <p:cNvPr id="4" name="Rounded Rectangle 3"/>
          <p:cNvSpPr/>
          <p:nvPr/>
        </p:nvSpPr>
        <p:spPr>
          <a:xfrm>
            <a:off x="548640" y="1188720"/>
            <a:ext cx="1106424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6" name="TextBox 5"/>
          <p:cNvSpPr txBox="1"/>
          <p:nvPr/>
        </p:nvSpPr>
        <p:spPr>
          <a:xfrm>
            <a:off x="1371600" y="1325880"/>
            <a:ext cx="2286000" cy="365760"/>
          </a:xfrm>
          <a:prstGeom prst="rect">
            <a:avLst/>
          </a:prstGeom>
          <a:noFill/>
        </p:spPr>
        <p:txBody>
          <a:bodyPr wrap="square">
            <a:spAutoFit/>
          </a:bodyPr>
          <a:lstStyle/>
          <a:p>
            <a:pPr algn="l">
              <a:defRPr sz="1700" b="1">
                <a:solidFill>
                  <a:srgbClr val="0078D4"/>
                </a:solidFill>
                <a:latin typeface="Segoe UI"/>
              </a:defRPr>
            </a:pPr>
            <a:r>
              <a:t>Monitoring First</a:t>
            </a:r>
          </a:p>
        </p:txBody>
      </p:sp>
      <p:sp>
        <p:nvSpPr>
          <p:cNvPr id="7" name="TextBox 6"/>
          <p:cNvSpPr txBox="1"/>
          <p:nvPr/>
        </p:nvSpPr>
        <p:spPr>
          <a:xfrm>
            <a:off x="3840480" y="1280160"/>
            <a:ext cx="7589520" cy="914400"/>
          </a:xfrm>
          <a:prstGeom prst="rect">
            <a:avLst/>
          </a:prstGeom>
          <a:noFill/>
        </p:spPr>
        <p:txBody>
          <a:bodyPr wrap="square">
            <a:spAutoFit/>
          </a:bodyPr>
          <a:lstStyle/>
          <a:p>
            <a:pPr algn="l">
              <a:defRPr sz="1400" b="0">
                <a:solidFill>
                  <a:srgbClr val="242424"/>
                </a:solidFill>
                <a:latin typeface="Segoe UI"/>
              </a:defRPr>
            </a:pPr>
            <a:r>
              <a:t>Check Service health and Message center before troubleshooting.</a:t>
            </a:r>
            <a:br/>
            <a:r>
              <a:t>If Microsoft knows about it, track don't duplicate.</a:t>
            </a:r>
          </a:p>
        </p:txBody>
      </p:sp>
      <p:sp>
        <p:nvSpPr>
          <p:cNvPr id="8" name="Rounded Rectangle 7"/>
          <p:cNvSpPr/>
          <p:nvPr/>
        </p:nvSpPr>
        <p:spPr>
          <a:xfrm>
            <a:off x="548640" y="2423160"/>
            <a:ext cx="1106424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56032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0" name="TextBox 9"/>
          <p:cNvSpPr txBox="1"/>
          <p:nvPr/>
        </p:nvSpPr>
        <p:spPr>
          <a:xfrm>
            <a:off x="1371600" y="2560320"/>
            <a:ext cx="2286000" cy="365760"/>
          </a:xfrm>
          <a:prstGeom prst="rect">
            <a:avLst/>
          </a:prstGeom>
          <a:noFill/>
        </p:spPr>
        <p:txBody>
          <a:bodyPr wrap="square">
            <a:spAutoFit/>
          </a:bodyPr>
          <a:lstStyle/>
          <a:p>
            <a:pPr algn="l">
              <a:defRPr sz="1700" b="1">
                <a:solidFill>
                  <a:srgbClr val="0078D4"/>
                </a:solidFill>
                <a:latin typeface="Segoe UI"/>
              </a:defRPr>
            </a:pPr>
            <a:r>
              <a:t>Access Triage</a:t>
            </a:r>
          </a:p>
        </p:txBody>
      </p:sp>
      <p:sp>
        <p:nvSpPr>
          <p:cNvPr id="11" name="TextBox 10"/>
          <p:cNvSpPr txBox="1"/>
          <p:nvPr/>
        </p:nvSpPr>
        <p:spPr>
          <a:xfrm>
            <a:off x="3840480" y="2514600"/>
            <a:ext cx="7589520" cy="914400"/>
          </a:xfrm>
          <a:prstGeom prst="rect">
            <a:avLst/>
          </a:prstGeom>
          <a:noFill/>
        </p:spPr>
        <p:txBody>
          <a:bodyPr wrap="square">
            <a:spAutoFit/>
          </a:bodyPr>
          <a:lstStyle/>
          <a:p>
            <a:pPr algn="l">
              <a:defRPr sz="1400" b="0">
                <a:solidFill>
                  <a:srgbClr val="242424"/>
                </a:solidFill>
                <a:latin typeface="Segoe UI"/>
              </a:defRPr>
            </a:pPr>
            <a:r>
              <a:t>Identity mismatch, permission not granted, or wrong link type cover 90%+ of cases.</a:t>
            </a:r>
            <a:br/>
            <a:r>
              <a:t>Use Check Permissions before granting access.</a:t>
            </a:r>
          </a:p>
        </p:txBody>
      </p:sp>
      <p:sp>
        <p:nvSpPr>
          <p:cNvPr id="12" name="Rounded Rectangle 11"/>
          <p:cNvSpPr/>
          <p:nvPr/>
        </p:nvSpPr>
        <p:spPr>
          <a:xfrm>
            <a:off x="548640" y="3657600"/>
            <a:ext cx="1106424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79476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4" name="TextBox 13"/>
          <p:cNvSpPr txBox="1"/>
          <p:nvPr/>
        </p:nvSpPr>
        <p:spPr>
          <a:xfrm>
            <a:off x="1371600" y="3794760"/>
            <a:ext cx="2286000" cy="365760"/>
          </a:xfrm>
          <a:prstGeom prst="rect">
            <a:avLst/>
          </a:prstGeom>
          <a:noFill/>
        </p:spPr>
        <p:txBody>
          <a:bodyPr wrap="square">
            <a:spAutoFit/>
          </a:bodyPr>
          <a:lstStyle/>
          <a:p>
            <a:pPr algn="l">
              <a:defRPr sz="1700" b="1">
                <a:solidFill>
                  <a:srgbClr val="0078D4"/>
                </a:solidFill>
                <a:latin typeface="Segoe UI"/>
              </a:defRPr>
            </a:pPr>
            <a:r>
              <a:t>Site Lifecycle</a:t>
            </a:r>
          </a:p>
        </p:txBody>
      </p:sp>
      <p:sp>
        <p:nvSpPr>
          <p:cNvPr id="15" name="TextBox 14"/>
          <p:cNvSpPr txBox="1"/>
          <p:nvPr/>
        </p:nvSpPr>
        <p:spPr>
          <a:xfrm>
            <a:off x="3840480" y="3749040"/>
            <a:ext cx="7589520" cy="914400"/>
          </a:xfrm>
          <a:prstGeom prst="rect">
            <a:avLst/>
          </a:prstGeom>
          <a:noFill/>
        </p:spPr>
        <p:txBody>
          <a:bodyPr wrap="square">
            <a:spAutoFit/>
          </a:bodyPr>
          <a:lstStyle/>
          <a:p>
            <a:pPr algn="l">
              <a:defRPr sz="1400" b="0">
                <a:solidFill>
                  <a:srgbClr val="242424"/>
                </a:solidFill>
                <a:latin typeface="Segoe UI"/>
              </a:defRPr>
            </a:pPr>
            <a:r>
              <a:t>Deleted sites are recoverable for ~93 days. Root site deletion = high impact.</a:t>
            </a:r>
            <a:br/>
            <a:r>
              <a:t>Always export a baseline before lifecycle changes.</a:t>
            </a:r>
          </a:p>
        </p:txBody>
      </p:sp>
      <p:sp>
        <p:nvSpPr>
          <p:cNvPr id="16" name="Rounded Rectangle 15"/>
          <p:cNvSpPr/>
          <p:nvPr/>
        </p:nvSpPr>
        <p:spPr>
          <a:xfrm>
            <a:off x="548640" y="4892040"/>
            <a:ext cx="11064240" cy="10972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029200"/>
            <a:ext cx="548640" cy="457200"/>
          </a:xfrm>
          <a:prstGeom prst="rect">
            <a:avLst/>
          </a:prstGeom>
          <a:noFill/>
        </p:spPr>
        <p:txBody>
          <a:bodyPr wrap="square">
            <a:spAutoFit/>
          </a:bodyPr>
          <a:lstStyle/>
          <a:p>
            <a:pPr algn="ctr">
              <a:defRPr sz="2600" b="0">
                <a:solidFill>
                  <a:srgbClr val="242424"/>
                </a:solidFill>
                <a:latin typeface="Segoe UI"/>
              </a:defRPr>
            </a:pPr>
            <a:r>
              <a:t>🔗</a:t>
            </a:r>
          </a:p>
        </p:txBody>
      </p:sp>
      <p:sp>
        <p:nvSpPr>
          <p:cNvPr id="18" name="TextBox 17"/>
          <p:cNvSpPr txBox="1"/>
          <p:nvPr/>
        </p:nvSpPr>
        <p:spPr>
          <a:xfrm>
            <a:off x="1371600" y="5029200"/>
            <a:ext cx="2286000" cy="365760"/>
          </a:xfrm>
          <a:prstGeom prst="rect">
            <a:avLst/>
          </a:prstGeom>
          <a:noFill/>
        </p:spPr>
        <p:txBody>
          <a:bodyPr wrap="square">
            <a:spAutoFit/>
          </a:bodyPr>
          <a:lstStyle/>
          <a:p>
            <a:pPr algn="l">
              <a:defRPr sz="1700" b="1">
                <a:solidFill>
                  <a:srgbClr val="0078D4"/>
                </a:solidFill>
                <a:latin typeface="Segoe UI"/>
              </a:defRPr>
            </a:pPr>
            <a:r>
              <a:t>Sharing Governance</a:t>
            </a:r>
          </a:p>
        </p:txBody>
      </p:sp>
      <p:sp>
        <p:nvSpPr>
          <p:cNvPr id="19" name="TextBox 18"/>
          <p:cNvSpPr txBox="1"/>
          <p:nvPr/>
        </p:nvSpPr>
        <p:spPr>
          <a:xfrm>
            <a:off x="3840480" y="4983480"/>
            <a:ext cx="7589520" cy="914400"/>
          </a:xfrm>
          <a:prstGeom prst="rect">
            <a:avLst/>
          </a:prstGeom>
          <a:noFill/>
        </p:spPr>
        <p:txBody>
          <a:bodyPr wrap="square">
            <a:spAutoFit/>
          </a:bodyPr>
          <a:lstStyle/>
          <a:p>
            <a:pPr algn="l">
              <a:defRPr sz="1400" b="0">
                <a:solidFill>
                  <a:srgbClr val="242424"/>
                </a:solidFill>
                <a:latin typeface="Segoe UI"/>
              </a:defRPr>
            </a:pPr>
            <a:r>
              <a:t>Org-level is the ceiling; sites can only be more restrictive.</a:t>
            </a:r>
            <a:br/>
            <a:r>
              <a:t>Control default link type, Anyone-link expiration, and permissions.</a:t>
            </a:r>
          </a:p>
        </p:txBody>
      </p:sp>
      <p:sp>
        <p:nvSpPr>
          <p:cNvPr id="20" name="Rectangle 1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2" name="TextBox 2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Knowledge Check</a:t>
            </a:r>
          </a:p>
        </p:txBody>
      </p:sp>
      <p:sp>
        <p:nvSpPr>
          <p:cNvPr id="4" name="Rounded Rectangle 3"/>
          <p:cNvSpPr/>
          <p:nvPr/>
        </p:nvSpPr>
        <p:spPr>
          <a:xfrm>
            <a:off x="548640" y="128016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1732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1</a:t>
            </a:r>
          </a:p>
        </p:txBody>
      </p:sp>
      <p:sp>
        <p:nvSpPr>
          <p:cNvPr id="6" name="TextBox 5"/>
          <p:cNvSpPr txBox="1"/>
          <p:nvPr/>
        </p:nvSpPr>
        <p:spPr>
          <a:xfrm>
            <a:off x="1463040" y="1417320"/>
            <a:ext cx="9875520" cy="548640"/>
          </a:xfrm>
          <a:prstGeom prst="rect">
            <a:avLst/>
          </a:prstGeom>
          <a:noFill/>
        </p:spPr>
        <p:txBody>
          <a:bodyPr wrap="square">
            <a:spAutoFit/>
          </a:bodyPr>
          <a:lstStyle/>
          <a:p>
            <a:pPr algn="l">
              <a:defRPr sz="1600" b="0">
                <a:solidFill>
                  <a:srgbClr val="242424"/>
                </a:solidFill>
                <a:latin typeface="Segoe UI"/>
              </a:defRPr>
            </a:pPr>
            <a:r>
              <a:t>Where is the first place you should check when users report a SharePoint outage?</a:t>
            </a:r>
          </a:p>
        </p:txBody>
      </p:sp>
      <p:sp>
        <p:nvSpPr>
          <p:cNvPr id="7" name="Rounded Rectangle 6"/>
          <p:cNvSpPr/>
          <p:nvPr/>
        </p:nvSpPr>
        <p:spPr>
          <a:xfrm>
            <a:off x="548640" y="228600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42316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2</a:t>
            </a:r>
          </a:p>
        </p:txBody>
      </p:sp>
      <p:sp>
        <p:nvSpPr>
          <p:cNvPr id="9" name="TextBox 8"/>
          <p:cNvSpPr txBox="1"/>
          <p:nvPr/>
        </p:nvSpPr>
        <p:spPr>
          <a:xfrm>
            <a:off x="1463040" y="2423160"/>
            <a:ext cx="9875520" cy="548640"/>
          </a:xfrm>
          <a:prstGeom prst="rect">
            <a:avLst/>
          </a:prstGeom>
          <a:noFill/>
        </p:spPr>
        <p:txBody>
          <a:bodyPr wrap="square">
            <a:spAutoFit/>
          </a:bodyPr>
          <a:lstStyle/>
          <a:p>
            <a:pPr algn="l">
              <a:defRPr sz="1600" b="0">
                <a:solidFill>
                  <a:srgbClr val="242424"/>
                </a:solidFill>
                <a:latin typeface="Segoe UI"/>
              </a:defRPr>
            </a:pPr>
            <a:r>
              <a:t>Name the three most common causes of 'Access Denied' errors.</a:t>
            </a:r>
          </a:p>
        </p:txBody>
      </p:sp>
      <p:sp>
        <p:nvSpPr>
          <p:cNvPr id="10" name="Rounded Rectangle 9"/>
          <p:cNvSpPr/>
          <p:nvPr/>
        </p:nvSpPr>
        <p:spPr>
          <a:xfrm>
            <a:off x="548640" y="329184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42900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3</a:t>
            </a:r>
          </a:p>
        </p:txBody>
      </p:sp>
      <p:sp>
        <p:nvSpPr>
          <p:cNvPr id="12" name="TextBox 11"/>
          <p:cNvSpPr txBox="1"/>
          <p:nvPr/>
        </p:nvSpPr>
        <p:spPr>
          <a:xfrm>
            <a:off x="1463040" y="3429000"/>
            <a:ext cx="9875520" cy="548640"/>
          </a:xfrm>
          <a:prstGeom prst="rect">
            <a:avLst/>
          </a:prstGeom>
          <a:noFill/>
        </p:spPr>
        <p:txBody>
          <a:bodyPr wrap="square">
            <a:spAutoFit/>
          </a:bodyPr>
          <a:lstStyle/>
          <a:p>
            <a:pPr algn="l">
              <a:defRPr sz="1600" b="0">
                <a:solidFill>
                  <a:srgbClr val="242424"/>
                </a:solidFill>
                <a:latin typeface="Segoe UI"/>
              </a:defRPr>
            </a:pPr>
            <a:r>
              <a:t>How long are deleted sites retained before permanent deletion?</a:t>
            </a:r>
          </a:p>
        </p:txBody>
      </p:sp>
      <p:sp>
        <p:nvSpPr>
          <p:cNvPr id="13" name="Rounded Rectangle 12"/>
          <p:cNvSpPr/>
          <p:nvPr/>
        </p:nvSpPr>
        <p:spPr>
          <a:xfrm>
            <a:off x="548640" y="429768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443484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4</a:t>
            </a:r>
          </a:p>
        </p:txBody>
      </p:sp>
      <p:sp>
        <p:nvSpPr>
          <p:cNvPr id="15" name="TextBox 14"/>
          <p:cNvSpPr txBox="1"/>
          <p:nvPr/>
        </p:nvSpPr>
        <p:spPr>
          <a:xfrm>
            <a:off x="1463040" y="4434840"/>
            <a:ext cx="9875520" cy="548640"/>
          </a:xfrm>
          <a:prstGeom prst="rect">
            <a:avLst/>
          </a:prstGeom>
          <a:noFill/>
        </p:spPr>
        <p:txBody>
          <a:bodyPr wrap="square">
            <a:spAutoFit/>
          </a:bodyPr>
          <a:lstStyle/>
          <a:p>
            <a:pPr algn="l">
              <a:defRPr sz="1600" b="0">
                <a:solidFill>
                  <a:srgbClr val="242424"/>
                </a:solidFill>
                <a:latin typeface="Segoe UI"/>
              </a:defRPr>
            </a:pPr>
            <a:r>
              <a:t>What does it mean that the org-level sharing setting is the 'ceiling'?</a:t>
            </a:r>
          </a:p>
        </p:txBody>
      </p:sp>
      <p:sp>
        <p:nvSpPr>
          <p:cNvPr id="16" name="Rounded Rectangle 15"/>
          <p:cNvSpPr/>
          <p:nvPr/>
        </p:nvSpPr>
        <p:spPr>
          <a:xfrm>
            <a:off x="548640" y="530352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544068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5</a:t>
            </a:r>
          </a:p>
        </p:txBody>
      </p:sp>
      <p:sp>
        <p:nvSpPr>
          <p:cNvPr id="18" name="TextBox 17"/>
          <p:cNvSpPr txBox="1"/>
          <p:nvPr/>
        </p:nvSpPr>
        <p:spPr>
          <a:xfrm>
            <a:off x="1463040" y="5440680"/>
            <a:ext cx="9875520" cy="548640"/>
          </a:xfrm>
          <a:prstGeom prst="rect">
            <a:avLst/>
          </a:prstGeom>
          <a:noFill/>
        </p:spPr>
        <p:txBody>
          <a:bodyPr wrap="square">
            <a:spAutoFit/>
          </a:bodyPr>
          <a:lstStyle/>
          <a:p>
            <a:pPr algn="l">
              <a:defRPr sz="1600" b="0">
                <a:solidFill>
                  <a:srgbClr val="242424"/>
                </a:solidFill>
                <a:latin typeface="Segoe UI"/>
              </a:defRPr>
            </a:pPr>
            <a:r>
              <a:t>What four elements should every change request include?</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7315200" cy="320040"/>
          </a:xfrm>
          <a:prstGeom prst="rect">
            <a:avLst/>
          </a:prstGeom>
          <a:noFill/>
        </p:spPr>
        <p:txBody>
          <a:bodyPr wrap="square">
            <a:spAutoFit/>
          </a:bodyPr>
          <a:lstStyle/>
          <a:p>
            <a:pPr algn="l">
              <a:defRPr sz="1000" b="0">
                <a:solidFill>
                  <a:srgbClr val="AAAAAA"/>
                </a:solidFill>
                <a:latin typeface="Segoe UI"/>
              </a:defRPr>
            </a:pPr>
            <a:r>
              <a:t>Module 11  |  Operations at Scale: Monitoring, Lifecycle &amp; Sharing Governance</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4400" b="1">
                <a:solidFill>
                  <a:srgbClr val="FFFFFF"/>
                </a:solidFill>
                <a:latin typeface="Segoe UI"/>
              </a:defRPr>
            </a:pPr>
            <a:r>
              <a:t>✅  Module 11 Complete!</a:t>
            </a:r>
          </a:p>
        </p:txBody>
      </p:sp>
      <p:sp>
        <p:nvSpPr>
          <p:cNvPr id="5" name="TextBox 4"/>
          <p:cNvSpPr txBox="1"/>
          <p:nvPr/>
        </p:nvSpPr>
        <p:spPr>
          <a:xfrm>
            <a:off x="457200" y="3017520"/>
            <a:ext cx="10972800" cy="731520"/>
          </a:xfrm>
          <a:prstGeom prst="rect">
            <a:avLst/>
          </a:prstGeom>
          <a:noFill/>
        </p:spPr>
        <p:txBody>
          <a:bodyPr wrap="square">
            <a:spAutoFit/>
          </a:bodyPr>
          <a:lstStyle/>
          <a:p>
            <a:pPr algn="ctr">
              <a:defRPr sz="2200" b="0">
                <a:solidFill>
                  <a:srgbClr val="00B294"/>
                </a:solidFill>
                <a:latin typeface="Segoe UI"/>
              </a:defRPr>
            </a:pPr>
            <a:r>
              <a:t>Operations at Scale: Monitoring, Lifecycle &amp; Sharing Governance</a:t>
            </a:r>
          </a:p>
        </p:txBody>
      </p:sp>
      <p:sp>
        <p:nvSpPr>
          <p:cNvPr id="6" name="Rectangle 5"/>
          <p:cNvSpPr/>
          <p:nvPr/>
        </p:nvSpPr>
        <p:spPr>
          <a:xfrm>
            <a:off x="5029200" y="402336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89120"/>
            <a:ext cx="10058400" cy="731520"/>
          </a:xfrm>
          <a:prstGeom prst="rect">
            <a:avLst/>
          </a:prstGeom>
          <a:noFill/>
        </p:spPr>
        <p:txBody>
          <a:bodyPr wrap="square">
            <a:spAutoFit/>
          </a:bodyPr>
          <a:lstStyle/>
          <a:p>
            <a:pPr algn="ctr">
              <a:defRPr sz="2000" b="0">
                <a:solidFill>
                  <a:srgbClr val="AAAAAA"/>
                </a:solidFill>
                <a:latin typeface="Segoe UI"/>
              </a:defRPr>
            </a:pPr>
            <a:r>
              <a:t>Up Next  →  Module 12 (Optional): Workflow Automation with Power Automate</a:t>
            </a:r>
          </a:p>
        </p:txBody>
      </p:sp>
      <p:sp>
        <p:nvSpPr>
          <p:cNvPr id="8" name="TextBox 7"/>
          <p:cNvSpPr txBox="1"/>
          <p:nvPr/>
        </p:nvSpPr>
        <p:spPr>
          <a:xfrm>
            <a:off x="1828800" y="5303520"/>
            <a:ext cx="8229600" cy="548640"/>
          </a:xfrm>
          <a:prstGeom prst="rect">
            <a:avLst/>
          </a:prstGeom>
          <a:noFill/>
        </p:spPr>
        <p:txBody>
          <a:bodyPr wrap="square">
            <a:spAutoFit/>
          </a:bodyPr>
          <a:lstStyle/>
          <a:p>
            <a:pPr algn="ctr">
              <a:defRPr sz="1600" b="0">
                <a:solidFill>
                  <a:srgbClr val="888888"/>
                </a:solidFill>
                <a:latin typeface="Segoe UI"/>
              </a:defRPr>
            </a:pPr>
            <a:r>
              <a:t>⚡ Automate approvals, customise forms, and govern the Power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