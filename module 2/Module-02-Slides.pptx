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Module 2. This module bridges identity fundamentals with SharePoint sharing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topics. Emphasize that many 'SharePoint issues' are identity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learning objectives. These are what participants will be assessed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the background/overview section on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business context. Modern collaboration means internal + external users, multiple devices, and compliance obligations. Identity is the perimeter.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logical flow: user authenticates via Entra ID → policies are evaluated (Conditional Access, MFA, device) → SharePoint checks tenant sharing → site sharing → permissions.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Zero Trust as the guiding security philosophy. Microsoft 365 (and thus SharePoint) operates on these principles.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Entra ID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Entra ID (formerly Azure AD) is the cloud identity service. It handles authentication, directory, and policy enforcement for all M365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Members = internal users with full directory privileges. Guests = external B2B users with limited directory access. Guest behaviour is shaped by both Entra AND SharePoint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the roles vs permissions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 roles grant access to admin centers and tenant-wide config. Being a SP Admin does NOT make you a site owner, and vice versa.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SharePoint permissions control what users can do INSIDE a specific site. Default groups: Owners, Members, Visitors.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external sharing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layers: Entra collaboration settings → Org-level SharePoint sharing → Site-level sharing. Site can NEVER be more permissive than org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4 sharing levels from most to least permissive. Advise against 'Anyone' unless deliberately accepted.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OneDrive sharing can never be more permissive than SharePoint sharing. Both are controlled from the SharePoint admin center.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guest access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Guest lifecycle: invite → redeem → access. Invitation state matters! If a guest hasn't redeemed, they can't access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top 5 causes of 'guest can't access' issues. This is the most common support scenario for SharePoint admins.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Conditional Access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 is NOT a SharePoint feature — it's an Entra ID feature that affects SharePoint. Explain common signals: user risk, device compliance, location, auth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participants about shared-tenant rules for this module's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lab tasks. Participants will observe org-level, configure site-level, verify guest status, and review admin roles vs site permissions.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the key messages before knowledge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as discussion slide. Encourage short answers. Focus on scope and troubleshooting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294"/>
                </a:solidFill>
                <a:latin typeface="Segoe UI Semibold"/>
              </a:defRPr>
            </a:pPr>
            <a:r>
              <a:t>MODERN SHAREPOINT ONLINE FOR ADMINISTRATORS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 Light"/>
              </a:defRPr>
            </a:pPr>
            <a:r>
              <a:t>Identity, Access &amp;</a:t>
            </a:r>
            <a:br/>
            <a:r>
              <a:t>External Sharing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Segoe UI"/>
              </a:defRPr>
            </a:pPr>
            <a:r>
              <a:t>Day 1  ·  Tenant Foundations &amp; Site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97680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43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Segoe UI"/>
              </a:defRPr>
            </a:pPr>
            <a:r>
              <a:t>🔐  Securing collaboration through identity &amp; policy layers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Segoe UI"/>
              </a:defRPr>
            </a:pPr>
            <a:r>
              <a:t>📋  Module 2 Agenda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34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Segoe UI"/>
              </a:defRPr>
            </a:pPr>
            <a:r>
              <a:t>Why Identity Matters — Background for SPO admins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Segoe UI"/>
              </a:defRPr>
            </a:pPr>
            <a:r>
              <a:t>Microsoft Entra ID Fundamentals — The identity backbone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Segoe UI"/>
              </a:defRPr>
            </a:pPr>
            <a:r>
              <a:t>Zero Trust &amp; Least Privilege — Security principles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17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Segoe UI"/>
              </a:defRPr>
            </a:pPr>
            <a:r>
              <a:t>Admin Roles vs SharePoint Permissions — Know the difference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11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Segoe UI"/>
              </a:defRPr>
            </a:pPr>
            <a:r>
              <a:t>External Sharing Model — Org-level &amp; site-level controls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Segoe UI"/>
              </a:defRPr>
            </a:pPr>
            <a:r>
              <a:t>Guest Access (B2B) — Lifecycle &amp; troubleshooting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00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Segoe UI"/>
              </a:defRPr>
            </a:pPr>
            <a:r>
              <a:t>Conditional Access — Overview for SPO admins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349240"/>
            <a:ext cx="457200" cy="45720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94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42424"/>
                </a:solidFill>
                <a:latin typeface="Segoe UI"/>
              </a:defRPr>
            </a:pPr>
            <a:r>
              <a:t>Lab 2 Preview &amp; Knowledge Check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Segoe UI"/>
              </a:defRPr>
            </a:pPr>
            <a:r>
              <a:t>🎯  Module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42424"/>
                </a:solidFill>
                <a:latin typeface="Segoe UI"/>
              </a:defRPr>
            </a:pPr>
            <a:r>
              <a:t>✅ Explain Microsoft Entra ID fundamentals relevant to SharePoint Online</a:t>
            </a:r>
          </a:p>
          <a:p>
            <a:pPr>
              <a:spcAft>
                <a:spcPts val="600"/>
              </a:spcAft>
              <a:defRPr sz="1800">
                <a:solidFill>
                  <a:srgbClr val="242424"/>
                </a:solidFill>
                <a:latin typeface="Segoe UI"/>
              </a:defRPr>
            </a:pPr>
            <a:r>
              <a:t>✅ Distinguish admin roles (tenant) from SharePoint permissions (site)</a:t>
            </a:r>
          </a:p>
          <a:p>
            <a:pPr>
              <a:spcAft>
                <a:spcPts val="600"/>
              </a:spcAft>
              <a:defRPr sz="1800">
                <a:solidFill>
                  <a:srgbClr val="242424"/>
                </a:solidFill>
                <a:latin typeface="Segoe UI"/>
              </a:defRPr>
            </a:pPr>
            <a:r>
              <a:t>✅ Describe guest access (B2B collaboration) and how it interacts with SharePoint sharing</a:t>
            </a:r>
          </a:p>
          <a:p>
            <a:pPr>
              <a:spcAft>
                <a:spcPts val="600"/>
              </a:spcAft>
              <a:defRPr sz="1800">
                <a:solidFill>
                  <a:srgbClr val="242424"/>
                </a:solidFill>
                <a:latin typeface="Segoe UI"/>
              </a:defRPr>
            </a:pPr>
            <a:r>
              <a:t>✅ Identify and apply the correct external sharing control at the correct scope (org vs site)</a:t>
            </a:r>
          </a:p>
          <a:p>
            <a:pPr>
              <a:spcAft>
                <a:spcPts val="600"/>
              </a:spcAft>
              <a:defRPr sz="1800">
                <a:solidFill>
                  <a:srgbClr val="242424"/>
                </a:solidFill>
                <a:latin typeface="Segoe UI"/>
              </a:defRPr>
            </a:pPr>
            <a:r>
              <a:t>✅ Explain Conditional Access at a high level and how it impacts SharePoint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Why Identity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The foundation that every SharePoint admin must understand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The Modern Identity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In today's work environment, collaboration crosses organisational boundaries. Identity management is now the primary security perimeter — not the network firewall.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274320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👤  Internal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Full-time employees, contractors</a:t>
            </a:r>
            <a:br/>
            <a:r>
              <a:t>with corporate accounts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10312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2103120"/>
            <a:ext cx="2743200" cy="73152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294"/>
                </a:solidFill>
                <a:latin typeface="Segoe UI"/>
              </a:defRPr>
            </a:pPr>
            <a:r>
              <a:t>🤝  External Partners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Vendors, clients, consultants</a:t>
            </a:r>
            <a:br/>
            <a:r>
              <a:t>needing project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0312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103120"/>
            <a:ext cx="2743200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9D6"/>
                </a:solidFill>
                <a:latin typeface="Segoe UI"/>
              </a:defRPr>
            </a:pPr>
            <a:r>
              <a:t>📱  Multiple Devices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Corporate laptops, personal phones,</a:t>
            </a:r>
            <a:br/>
            <a:r>
              <a:t>shared kiosks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10312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1160" y="2103120"/>
            <a:ext cx="274320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⚖️ 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Data protection, retention,</a:t>
            </a:r>
            <a:br/>
            <a:r>
              <a:t>regulatory requirements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5488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🔑 Key Insight: Many 'SharePoint access problems' are actually identity &amp; policy problems originating in Microsoft Entra ID, not in SharePoint itself.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How Access Decisions Are Made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When a user tries to access a SharePoint resource, multiple layers are evaluated: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920240" cy="2560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19202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User signs in via</a:t>
            </a:r>
            <a:br/>
            <a:r>
              <a:t>Microsoft Entra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828800"/>
            <a:ext cx="1920240" cy="2560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1828800"/>
            <a:ext cx="1920240" cy="54864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83280" y="2011680"/>
            <a:ext cx="548640" cy="548640"/>
          </a:xfrm>
          <a:prstGeom prst="ellipse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69D6"/>
                </a:solidFill>
                <a:latin typeface="Segoe UI"/>
              </a:defRPr>
            </a:pPr>
            <a:r>
              <a:t>Policy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Conditional Access,</a:t>
            </a:r>
            <a:br/>
            <a:r>
              <a:t>MFA, device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1828800"/>
            <a:ext cx="1920240" cy="2560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0" y="1828800"/>
            <a:ext cx="192024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52160" y="2011680"/>
            <a:ext cx="548640" cy="548640"/>
          </a:xfrm>
          <a:prstGeom prst="ellipse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294"/>
                </a:solidFill>
                <a:latin typeface="Segoe UI"/>
              </a:defRPr>
            </a:pPr>
            <a:r>
              <a:t>Tenant Sharing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Org-level SharePoint</a:t>
            </a:r>
            <a:br/>
            <a:r>
              <a:t>sharing settings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1828800"/>
            <a:ext cx="1920240" cy="2560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80960" y="1828800"/>
            <a:ext cx="192024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40" y="201168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Site Sharing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Site-level sharing</a:t>
            </a:r>
            <a:br/>
            <a:r>
              <a:t>configuration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1828800"/>
            <a:ext cx="1920240" cy="2560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49840" y="1828800"/>
            <a:ext cx="192024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89920" y="2011680"/>
            <a:ext cx="548640" cy="54864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Permissions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SharePoint groups &amp;</a:t>
            </a:r>
            <a:br/>
            <a:r>
              <a:t>permission levels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13438"/>
                </a:solidFill>
                <a:latin typeface="Segoe UI"/>
              </a:defRPr>
            </a:pPr>
            <a:r>
              <a:t>🚫 If ANY layer blocks access, the user is denied — even if SharePoint permissions look correct.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Zero Trust: The Security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Microsoft 365 security is built on Zero Trust principles — never trust, always verify.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56616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42424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Verify Explicitly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Always authenticate and authorize</a:t>
            </a:r>
            <a:br/>
            <a:r>
              <a:t>based on all available data:</a:t>
            </a:r>
            <a:br/>
            <a:r>
              <a:t>identity, location, device, service,</a:t>
            </a:r>
            <a:br/>
            <a:r>
              <a:t>data classification, anomalies.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2880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828800"/>
            <a:ext cx="3566160" cy="914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42424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51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294"/>
                </a:solidFill>
                <a:latin typeface="Segoe UI"/>
              </a:defRPr>
            </a:pPr>
            <a:r>
              <a:t>Least Privilege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004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Limit user access with just-in-time</a:t>
            </a:r>
            <a:br/>
            <a:r>
              <a:t>and just-enough-access (JIT/JEA),</a:t>
            </a:r>
            <a:br/>
            <a:r>
              <a:t>risk-based adaptive policies,</a:t>
            </a:r>
            <a:br/>
            <a:r>
              <a:t>and data protection.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3566160" cy="9144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42424"/>
                </a:solidFill>
                <a:latin typeface="Segoe UI"/>
              </a:defRPr>
            </a:pPr>
            <a:r>
              <a:t>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51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13438"/>
                </a:solidFill>
                <a:latin typeface="Segoe UI"/>
              </a:defRPr>
            </a:pPr>
            <a:r>
              <a:t>Assume Breach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004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Minimize blast radius and segment</a:t>
            </a:r>
            <a:br/>
            <a:r>
              <a:t>access. Verify end-to-end encryption.</a:t>
            </a:r>
            <a:br/>
            <a:r>
              <a:t>Use analytics to detect threats,</a:t>
            </a:r>
            <a:br/>
            <a:r>
              <a:t>improve defenses.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78D4"/>
                </a:solidFill>
                <a:latin typeface="Segoe UI"/>
              </a:defRPr>
            </a:pPr>
            <a:r>
              <a:t>💡 As a SharePoint admin, you operate inside this model — your policies should align with these principles.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Microsoft Entra ID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The identity backbone of Microsoft 365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1B2F"/>
                </a:solidFill>
                <a:latin typeface="Segoe UI"/>
              </a:defRPr>
            </a:pPr>
            <a:r>
              <a:t>Microsoft Entra ID — What SharePoint Admins Need to Know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9601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" cy="960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🔐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Users sign in via Entra ID — MFA, passwordless, 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SPO relevance: Every SharePoint access starts with an Entra ID sign-in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11247120" cy="9601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109728" cy="96012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294"/>
                </a:solidFill>
                <a:latin typeface="Segoe UI"/>
              </a:defRPr>
            </a:pPr>
            <a:r>
              <a:t>📋 Directory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Users, groups, guest accounts, app registrations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SPO relevance: This is where members and guests are managed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11247120" cy="9601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109728" cy="96012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9D6"/>
                </a:solidFill>
                <a:latin typeface="Segoe UI"/>
              </a:defRPr>
            </a:pPr>
            <a:r>
              <a:t>🛡️ Policies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49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Conditional Access, external collaboration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566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SPO relevance: Controls WHO can access WHAT, from WHERE, on WHICH device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80560"/>
            <a:ext cx="11247120" cy="9601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109728" cy="9601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👥 Groups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46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Microsoft 365 Groups, Security Groups, Distribution Lists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663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SPO relevance: M365 Groups power Teams-connected SharePoint sites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Member vs Guest 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38404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👤 Member (Internal)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424"/>
                </a:solidFill>
                <a:latin typeface="Segoe UI"/>
              </a:defRPr>
            </a:pPr>
            <a:r>
              <a:t>• Full user in your directory</a:t>
            </a:r>
          </a:p>
          <a:p>
            <a:pPr>
              <a:spcAft>
                <a:spcPts val="600"/>
              </a:spcAft>
              <a:defRPr sz="1500">
                <a:solidFill>
                  <a:srgbClr val="242424"/>
                </a:solidFill>
                <a:latin typeface="Segoe UI"/>
              </a:defRPr>
            </a:pPr>
            <a:r>
              <a:t>• Corporate email &amp; license</a:t>
            </a:r>
          </a:p>
          <a:p>
            <a:pPr>
              <a:spcAft>
                <a:spcPts val="600"/>
              </a:spcAft>
              <a:defRPr sz="1500">
                <a:solidFill>
                  <a:srgbClr val="242424"/>
                </a:solidFill>
                <a:latin typeface="Segoe UI"/>
              </a:defRPr>
            </a:pPr>
            <a:r>
              <a:t>• Full directory browsing by default</a:t>
            </a:r>
          </a:p>
          <a:p>
            <a:pPr>
              <a:spcAft>
                <a:spcPts val="600"/>
              </a:spcAft>
              <a:defRPr sz="1500">
                <a:solidFill>
                  <a:srgbClr val="242424"/>
                </a:solidFill>
                <a:latin typeface="Segoe UI"/>
              </a:defRPr>
            </a:pPr>
            <a:r>
              <a:t>• Full access to licensed services</a:t>
            </a:r>
          </a:p>
          <a:p>
            <a:pPr>
              <a:spcAft>
                <a:spcPts val="600"/>
              </a:spcAft>
              <a:defRPr sz="1500">
                <a:solidFill>
                  <a:srgbClr val="242424"/>
                </a:solidFill>
                <a:latin typeface="Segoe UI"/>
              </a:defRPr>
            </a:pPr>
            <a:r>
              <a:t>• Managed by HR / IT provisioning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38404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303520" cy="73152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294"/>
                </a:solidFill>
                <a:latin typeface="Segoe UI"/>
              </a:defRPr>
            </a:pPr>
            <a:r>
              <a:t>🤝 Guest (External / B2B)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424"/>
                </a:solidFill>
                <a:latin typeface="Segoe UI"/>
              </a:defRPr>
            </a:pPr>
            <a:r>
              <a:t>• External user invited to your directory</a:t>
            </a:r>
          </a:p>
          <a:p>
            <a:pPr>
              <a:spcAft>
                <a:spcPts val="600"/>
              </a:spcAft>
              <a:defRPr sz="1500">
                <a:solidFill>
                  <a:srgbClr val="242424"/>
                </a:solidFill>
                <a:latin typeface="Segoe UI"/>
              </a:defRPr>
            </a:pPr>
            <a:r>
              <a:t>• Uses their own email / identity</a:t>
            </a:r>
          </a:p>
          <a:p>
            <a:pPr>
              <a:spcAft>
                <a:spcPts val="600"/>
              </a:spcAft>
              <a:defRPr sz="1500">
                <a:solidFill>
                  <a:srgbClr val="242424"/>
                </a:solidFill>
                <a:latin typeface="Segoe UI"/>
              </a:defRPr>
            </a:pPr>
            <a:r>
              <a:t>• Limited directory visibility</a:t>
            </a:r>
          </a:p>
          <a:p>
            <a:pPr>
              <a:spcAft>
                <a:spcPts val="600"/>
              </a:spcAft>
              <a:defRPr sz="1500">
                <a:solidFill>
                  <a:srgbClr val="242424"/>
                </a:solidFill>
                <a:latin typeface="Segoe UI"/>
              </a:defRPr>
            </a:pPr>
            <a:r>
              <a:t>• Access scoped to invited resources</a:t>
            </a:r>
          </a:p>
          <a:p>
            <a:pPr>
              <a:spcAft>
                <a:spcPts val="600"/>
              </a:spcAft>
              <a:defRPr sz="1500">
                <a:solidFill>
                  <a:srgbClr val="242424"/>
                </a:solidFill>
                <a:latin typeface="Segoe UI"/>
              </a:defRPr>
            </a:pPr>
            <a:r>
              <a:t>• Managed via Entra external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⚠️ Guest access depends on: Entra collaboration settings + SharePoint org sharing + Site sharing + Permissions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Admin Roles vs Site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Two different scopes — don't confuse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Tenant Admin Roles (Directory Level)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3152" cy="68580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13438"/>
                </a:solidFill>
                <a:latin typeface="Segoe UI"/>
              </a:defRPr>
            </a:pPr>
            <a:r>
              <a:t>Global Administrator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Full access to all admin centers and settings — use sparingly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73152" cy="685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SharePoint Administrator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Manages SharePoint admin center, all sites, tenant policies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73152" cy="68580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9D6"/>
                </a:solidFill>
                <a:latin typeface="Segoe UI"/>
              </a:defRPr>
            </a:pPr>
            <a:r>
              <a:t>Teams Administrator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Manages Teams settings; affects Teams-connected SP sites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20440"/>
            <a:ext cx="73152" cy="68580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20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294"/>
                </a:solidFill>
                <a:latin typeface="Segoe UI"/>
              </a:defRPr>
            </a:pPr>
            <a:r>
              <a:t>Exchange Administrator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Manages Exchange; relevant for mail-enabled groups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97680"/>
            <a:ext cx="731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Compliance Administrator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17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Manages Purview policies affecting SP 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🔑 Principle: Use least privilege. Avoid Global Admin for day-to-day SharePoint 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SharePoint Permissions (Site-Scoped)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🔑 Site Owners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Full control within the site</a:t>
            </a:r>
            <a:br/>
            <a:r>
              <a:t>Manage permissions, settings, pages</a:t>
            </a:r>
            <a:br/>
            <a:r>
              <a:t>NOT necessarily a tenant 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18872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188720"/>
            <a:ext cx="3566160" cy="914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294"/>
                </a:solidFill>
                <a:latin typeface="Segoe UI"/>
              </a:defRPr>
            </a:pPr>
            <a:r>
              <a:t>✏️ Site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Contribute content (add, edit, delete)</a:t>
            </a:r>
            <a:br/>
            <a:r>
              <a:t>Collaborate on documents</a:t>
            </a:r>
            <a:br/>
            <a:r>
              <a:t>Cannot change site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188720"/>
            <a:ext cx="3566160" cy="9144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69D6"/>
                </a:solidFill>
                <a:latin typeface="Segoe UI"/>
              </a:defRPr>
            </a:pPr>
            <a:r>
              <a:t>👁️ Site Visitors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060"/>
                </a:solidFill>
                <a:latin typeface="Segoe UI"/>
              </a:defRPr>
            </a:pPr>
            <a:r>
              <a:t>View/read content only</a:t>
            </a:r>
            <a:br/>
            <a:r>
              <a:t>Cannot edit or upload</a:t>
            </a:r>
            <a:br/>
            <a:r>
              <a:t>Ideal for stakeholders/readers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⚡ Key Distinction:</a:t>
            </a:r>
            <a:br/>
            <a:r>
              <a:t>   Tenant admin role ≠ Site owner  |  Site owner ≠ Tenant admin  |  Assign only what's needed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External Sharing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The multi-layer control stack for secure collaboration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The External Sharing Control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12344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" cy="1234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441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Layer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Entra External Collaboration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6459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Who can invite guests?</a:t>
            </a:r>
            <a:br/>
            <a:r>
              <a:t>Guest invitation restrictions</a:t>
            </a:r>
            <a:br/>
            <a:r>
              <a:t>Cross-tenant access policies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📌 Broadest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6040"/>
            <a:ext cx="11247120" cy="12344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6040"/>
            <a:ext cx="109728" cy="12344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614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Layer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697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294"/>
                </a:solidFill>
                <a:latin typeface="Segoe UI"/>
              </a:defRPr>
            </a:pPr>
            <a:r>
              <a:t>Org-Level Sharing (SPO Admin Center)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063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Tenant-wide baseline for SharePoint + OneDrive</a:t>
            </a:r>
            <a:br/>
            <a:r>
              <a:t>OneDrive ≤ SharePoint (never more permissive)</a:t>
            </a:r>
            <a:br/>
            <a:r>
              <a:t>Anyone / New+Existing / Existing / Only org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294"/>
                </a:solidFill>
                <a:latin typeface="Segoe UI"/>
              </a:defRPr>
            </a:pPr>
            <a:r>
              <a:t>📌 Tenant 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11247120" cy="12344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109728" cy="123444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16052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788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Layer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9D6"/>
                </a:solidFill>
                <a:latin typeface="Segoe UI"/>
              </a:defRPr>
            </a:pPr>
            <a:r>
              <a:t>Site-Level Sharing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4805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Per-site override (same or MORE restrictive)</a:t>
            </a:r>
            <a:br/>
            <a:r>
              <a:t>Scoped to individual site collections</a:t>
            </a:r>
            <a:br/>
            <a:r>
              <a:t>Ideal for extranet / project sites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69D6"/>
                </a:solidFill>
                <a:latin typeface="Segoe UI"/>
              </a:defRPr>
            </a:pPr>
            <a:r>
              <a:t>📌 Most specific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3212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⚠️ Golden Rule: A site-level sharing setting can NEVER be more permissive than the org-level setting.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Sharing Levels — Most to Least Permissive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686800" cy="9601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" cy="96012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13438"/>
                </a:solidFill>
                <a:latin typeface="Segoe UI"/>
              </a:defRPr>
            </a:pPr>
            <a:r>
              <a:t>🌐 Anyone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Anonymous links — no sign-in required</a:t>
            </a:r>
            <a:br/>
            <a:r>
              <a:t>Riskiest option; use with caution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137160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1389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MOST PERMISSIVE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1720"/>
            <a:ext cx="8686800" cy="9601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09728" cy="9601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🤝 New &amp; Existing Guests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432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Guests must authenticate (sign-in)</a:t>
            </a:r>
            <a:br/>
            <a:r>
              <a:t>New guests can be invited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51460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2532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RECOMMENDED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8686800" cy="9601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109728" cy="96012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294"/>
                </a:solidFill>
                <a:latin typeface="Segoe UI"/>
              </a:defRPr>
            </a:pPr>
            <a:r>
              <a:t>👤 Existing Guests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Only guests already in the directory</a:t>
            </a:r>
            <a:br/>
            <a:r>
              <a:t>No new invitations via sharing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365760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RESTRICTIVE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17720"/>
            <a:ext cx="8686800" cy="9601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17720"/>
            <a:ext cx="109728" cy="960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🏢 Only People in Your Org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292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No external sharing at all</a:t>
            </a:r>
            <a:br/>
            <a:r>
              <a:t>Internal collaboration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480060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4818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MOST RESTRICTIVE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SharePoint ↔ OneDrive Sharing Relationship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457200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📄 SharePoint Online Sharing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• Sets the MAXIMUM permissiveness</a:t>
            </a:r>
            <a:br/>
            <a:r>
              <a:t>• Controls the sharing ceiling</a:t>
            </a:r>
            <a:br/>
            <a:r>
              <a:t>• All 4 levels available</a:t>
            </a:r>
            <a:br/>
            <a:r>
              <a:t>• Configured in: SP admin center → Policies → Sharing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4572000" cy="914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294"/>
                </a:solidFill>
                <a:latin typeface="Segoe UI"/>
              </a:defRPr>
            </a:pPr>
            <a:r>
              <a:t>☁️ OneDrive Sharing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2424"/>
                </a:solidFill>
                <a:latin typeface="Segoe UI"/>
              </a:defRPr>
            </a:pPr>
            <a:r>
              <a:t>• CANNOT exceed SharePoint level</a:t>
            </a:r>
            <a:br/>
            <a:r>
              <a:t>• Same or more restrictive</a:t>
            </a:r>
            <a:br/>
            <a:r>
              <a:t>• Personal file sharing scope</a:t>
            </a:r>
            <a:br/>
            <a:r>
              <a:t>• Configured in: SP admin center → Policies → Sharing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60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8C00"/>
                </a:solidFill>
                <a:latin typeface="Segoe UI"/>
              </a:defRPr>
            </a:pPr>
            <a:r>
              <a:t>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📌 Rule: SharePoint sharing level ≥ OneDrive sharing level ≥ Site-level sharing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Guest Access (B2B Collaboration)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Lifecycle, common pitfalls, and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Guest User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237744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237744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28800"/>
            <a:ext cx="640080" cy="6400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Invite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089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Admin or user invites</a:t>
            </a:r>
            <a:br/>
            <a:r>
              <a:t>an external user via</a:t>
            </a:r>
            <a:br/>
            <a:r>
              <a:t>email or sharing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45920"/>
            <a:ext cx="237744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645920"/>
            <a:ext cx="2377440" cy="73152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60520" y="1828800"/>
            <a:ext cx="640080" cy="640080"/>
          </a:xfrm>
          <a:prstGeom prst="ellipse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294"/>
                </a:solidFill>
                <a:latin typeface="Segoe UI"/>
              </a:defRPr>
            </a:pPr>
            <a:r>
              <a:t>Redeem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1089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Guest clicks the link</a:t>
            </a:r>
            <a:br/>
            <a:r>
              <a:t>and authenticates</a:t>
            </a:r>
            <a:br/>
            <a:r>
              <a:t>with their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45920"/>
            <a:ext cx="237744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645920"/>
            <a:ext cx="2377440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23760" y="1828800"/>
            <a:ext cx="640080" cy="640080"/>
          </a:xfrm>
          <a:prstGeom prst="ellipse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69D6"/>
                </a:solidFill>
                <a:latin typeface="Segoe UI"/>
              </a:defRPr>
            </a:pPr>
            <a:r>
              <a:t>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089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Guest accesses the</a:t>
            </a:r>
            <a:br/>
            <a:r>
              <a:t>shared resource based</a:t>
            </a:r>
            <a:br/>
            <a:r>
              <a:t>on permissions granted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1645920"/>
            <a:ext cx="237744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64040" y="1645920"/>
            <a:ext cx="237744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87000" y="1828800"/>
            <a:ext cx="640080" cy="6400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Review / Remove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31089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Admin reviews guest</a:t>
            </a:r>
            <a:br/>
            <a:r>
              <a:t>access periodically</a:t>
            </a:r>
            <a:br/>
            <a:r>
              <a:t>and removes if needed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🔧 Top 5 Guest Access Failure Causes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13438"/>
                </a:solidFill>
                <a:latin typeface="Segoe UI"/>
              </a:defRPr>
            </a:pPr>
            <a:r>
              <a:t>Org-level sharing is too restrictive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Tenant blocks guests entirely or limits to existing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Site-level sharing is more restrictive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Site overrides org baseline with tighter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54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Guest hasn't redeemed the invitation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20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Invitation pending — guest never clicked the link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6908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294"/>
                </a:solidFill>
                <a:latin typeface="Segoe UI"/>
              </a:defRPr>
            </a:pPr>
            <a:r>
              <a:t>M365 Group / Teams guest settings conflict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80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Group-connected site respects Teams guest policies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02920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5166360"/>
            <a:ext cx="502920" cy="502920"/>
          </a:xfrm>
          <a:prstGeom prst="ellipse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074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9D6"/>
                </a:solidFill>
                <a:latin typeface="Segoe UI"/>
              </a:defRPr>
            </a:pPr>
            <a:r>
              <a:t>Conditional Access blocks the guest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440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Device compliance or location policy prevents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💡 Troubleshooting tip: Check layers from top (Entra) to bottom (site permissions).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Conditional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Identity-driven policy enforcement for SharePoint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1B2F"/>
                </a:solidFill>
                <a:latin typeface="Segoe UI"/>
              </a:defRPr>
            </a:pPr>
            <a:r>
              <a:t>Conditional Access — How It Affects SharePoint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Conditional Access evaluates signals and enforces access decisions in real-time: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74320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👤 User /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Who is signing in?</a:t>
            </a:r>
            <a:br/>
            <a:r>
              <a:t>User risk level</a:t>
            </a:r>
            <a:br/>
            <a:r>
              <a:t>Group membership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2880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828800"/>
            <a:ext cx="2743200" cy="73152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294"/>
                </a:solidFill>
                <a:latin typeface="Segoe UI"/>
              </a:defRPr>
            </a:pPr>
            <a:r>
              <a:t>📱 Device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51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Is the device compliant?</a:t>
            </a:r>
            <a:br/>
            <a:r>
              <a:t>Managed vs unmanaged</a:t>
            </a:r>
            <a:br/>
            <a:r>
              <a:t>OS platform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828800"/>
            <a:ext cx="2743200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69D6"/>
                </a:solidFill>
                <a:latin typeface="Segoe UI"/>
              </a:defRPr>
            </a:pPr>
            <a:r>
              <a:t>📍 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Where is the request from?</a:t>
            </a:r>
            <a:br/>
            <a:r>
              <a:t>Trusted vs unknown network</a:t>
            </a:r>
            <a:br/>
            <a:r>
              <a:t>Country/region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82880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1160" y="1828800"/>
            <a:ext cx="274320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Segoe UI"/>
              </a:defRPr>
            </a:pPr>
            <a:r>
              <a:t>🔐 Auth Strength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651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MFA required?</a:t>
            </a:r>
            <a:br/>
            <a:r>
              <a:t>Passwordless?</a:t>
            </a:r>
            <a:br/>
            <a:r>
              <a:t>Phishing-resistant?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2424"/>
                </a:solidFill>
                <a:latin typeface="Segoe UI"/>
              </a:defRPr>
            </a:pPr>
            <a:r>
              <a:t>Possible outcomes: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2651760" cy="5486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265176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92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✅ Allow access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4846320"/>
            <a:ext cx="2651760" cy="5486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37560" y="4846320"/>
            <a:ext cx="265176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4892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🔐 Require MFA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846320"/>
            <a:ext cx="2651760" cy="5486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846320"/>
            <a:ext cx="265176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892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294"/>
                </a:solidFill>
                <a:latin typeface="Segoe UI"/>
              </a:defRPr>
            </a:pPr>
            <a:r>
              <a:t>📱 Require compliant device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4846320"/>
            <a:ext cx="2651760" cy="5486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4846320"/>
            <a:ext cx="2651760" cy="54864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4892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13438"/>
                </a:solidFill>
                <a:latin typeface="Segoe UI"/>
              </a:defRPr>
            </a:pPr>
            <a:r>
              <a:t>🚫 Block access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🏢 Lab Scenario &amp; Shared Tenant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📋 Scenario: Project Northwind — Fabrikam is the external partner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📋 Tenant-wide policy changes are TRAINER-ONLY in this module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📋 Participant hands-on work is scoped to participant-isolated practice sites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📋 Use your Participant ID (P01–P10) with NW-Pxx-... naming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📋 Trainer has pre-provisioned a test guest user for the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🔒 Shared tenant = be careful. Org-level sharing changes affect ALL participants.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1B2F"/>
                </a:solidFill>
                <a:latin typeface="Segoe UI"/>
              </a:defRPr>
            </a:pPr>
            <a:r>
              <a:t>🔬 Lab 2 Preview — Configuring Secure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2527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Task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42424"/>
                </a:solidFill>
                <a:latin typeface="Segoe UI"/>
              </a:defRPr>
            </a:pPr>
            <a:r>
              <a:t>Review org-level sharing 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5361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Observe (Trainer-only changes) — document current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28600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042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Task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240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42424"/>
                </a:solidFill>
                <a:latin typeface="Segoe UI"/>
              </a:defRPr>
            </a:pPr>
            <a:r>
              <a:t>Configure site-level sharing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5877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Set sharing on your NW-Pxx-ProjectSite to 'Existing guests only'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33756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3558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Task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291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42424"/>
                </a:solidFill>
                <a:latin typeface="Segoe UI"/>
              </a:defRPr>
            </a:pPr>
            <a:r>
              <a:t>Verify guest account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6393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Check the trainer-provisioned guest in Entra ID — Pending vs Accepted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4389120"/>
            <a:ext cx="1097280" cy="36576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4074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Task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343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42424"/>
                </a:solidFill>
                <a:latin typeface="Segoe UI"/>
              </a:defRPr>
            </a:pPr>
            <a:r>
              <a:t>Review admin roles vs site permissions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690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Compare your SP Admin role access to your site owner permissions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8640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32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78D4"/>
                </a:solidFill>
                <a:latin typeface="Segoe UI"/>
              </a:defRPr>
            </a:pPr>
            <a:r>
              <a:t>📸 Capture: org sharing level, site sharing config, guest invite status, role vs permission comparison.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Segoe UI"/>
              </a:defRPr>
            </a:pPr>
            <a:r>
              <a:t>📝 Module 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✅ Identity (Entra ID) is the foundation — many 'SharePoint problems' are identity problems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✅ Admin roles (tenant) ≠ Site permissions (resource) — use least privilege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✅ External sharing has 3 layers: Entra → Org-level → Site-level (each constrains the next)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✅ OneDrive sharing ≤ SharePoint sharing — always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✅ Guest lifecycle: Invite → Redeem → Access → Review — check invitation status when troubleshooting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✅ Conditional Access adds context-aware enforcement (MFA, device, location, risk)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Segoe UI"/>
              </a:defRPr>
            </a:pPr>
            <a:r>
              <a:t>🧠 Knowledge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48640" cy="457200"/>
          </a:xfrm>
          <a:prstGeom prst="roundRect">
            <a:avLst>
              <a:gd name="adj" fmla="val 5000"/>
            </a:avLst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1247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97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What is the difference between a SharePoint Administrator role and a site owner?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→ Admin role → admin center/tenant; Site owner → permissions within a specific site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548640" cy="457200"/>
          </a:xfrm>
          <a:prstGeom prst="roundRect">
            <a:avLst>
              <a:gd name="adj" fmla="val 5000"/>
            </a:avLst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762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Why can a site-level sharing setting never be more permissive than org-level?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06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→ Org-level is the tenant baseline/ceiling; sites inherit that maximum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548640" cy="457200"/>
          </a:xfrm>
          <a:prstGeom prst="roundRect">
            <a:avLst>
              <a:gd name="adj" fmla="val 5000"/>
            </a:avLst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2278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00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Name two common causes of guest access failures.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657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→ Org sharing disabled; invitation not redeemed; CA blocks; site sharing too restrictive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51960"/>
            <a:ext cx="548640" cy="457200"/>
          </a:xfrm>
          <a:prstGeom prst="roundRect">
            <a:avLst>
              <a:gd name="adj" fmla="val 5000"/>
            </a:avLst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2793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51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What is Conditional Access trying to accomplish?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→ Enforce access requirements based on identity and context (device, location, risk)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69D6"/>
                </a:solidFill>
                <a:latin typeface="Segoe UI"/>
              </a:defRPr>
            </a:pPr>
            <a:r>
              <a:t>💬 Discuss with your neighbour — then we'll share answers.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2  |  Identity, Access &amp; External Sharing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